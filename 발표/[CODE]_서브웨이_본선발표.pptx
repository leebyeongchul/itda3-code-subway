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Lbls>
            <c:numFmt formatCode="0.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dPt>
            <c:idx val="7"/>
            <c:invertIfNegative val="0"/>
            <c:bubble3D val="0"/>
            <c:spPr>
              <a:solidFill>
                <a:srgbClr val="B9B9B9"/>
              </a:solidFill>
              <a:effectLst/>
            </c:spPr>
          </c:dPt>
          <c:dPt>
            <c:idx val="8"/>
            <c:invertIfNegative val="0"/>
            <c:bubble3D val="0"/>
            <c:spPr>
              <a:solidFill>
                <a:srgbClr val="B9B9B9"/>
              </a:solidFill>
              <a:effectLst/>
            </c:spPr>
          </c:dPt>
          <c:dPt>
            <c:idx val="9"/>
            <c:invertIfNegative val="0"/>
            <c:bubble3D val="0"/>
            <c:spPr>
              <a:solidFill>
                <a:srgbClr val="5A5A5A"/>
              </a:solidFill>
              <a:effectLst/>
            </c:spPr>
          </c:dPt>
          <c:dPt>
            <c:idx val="10"/>
            <c:invertIfNegative val="0"/>
            <c:bubble3D val="0"/>
            <c:spPr>
              <a:solidFill>
                <a:srgbClr val="8B0000"/>
              </a:solidFill>
              <a:effectLst/>
            </c:spPr>
          </c:dPt>
          <c:cat>
            <c:multiLvlStrRef>
              <c:f>Sheet1!$A$2:$A$12</c:f>
              <c:multiLvlStrCache>
                <c:ptCount val="11"/>
                <c:lvl>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lvl>
              </c:multiLvlStrCache>
            </c:multiLvlStrRef>
          </c:cat>
          <c:val>
            <c:numRef>
              <c:f>Sheet1!$B$2:$B$12</c:f>
              <c:numCache>
                <c:formatCode>General</c:formatCode>
                <c:ptCount val="11"/>
                <c:pt idx="0">
                  <c:v>39.1</c:v>
                </c:pt>
                <c:pt idx="1">
                  <c:v>44.4</c:v>
                </c:pt>
                <c:pt idx="2">
                  <c:v>60.9</c:v>
                </c:pt>
                <c:pt idx="3">
                  <c:v>71.2</c:v>
                </c:pt>
                <c:pt idx="4">
                  <c:v>73.6</c:v>
                </c:pt>
                <c:pt idx="5">
                  <c:v>77</c:v>
                </c:pt>
                <c:pt idx="6">
                  <c:v>78.4</c:v>
                </c:pt>
                <c:pt idx="7">
                  <c:v>81.8</c:v>
                </c:pt>
                <c:pt idx="8">
                  <c:v>83.2</c:v>
                </c:pt>
                <c:pt idx="9">
                  <c:v>84.2</c:v>
                </c:pt>
                <c:pt idx="10">
                  <c:v>86.2</c:v>
                </c:pt>
              </c:numCache>
            </c:numRef>
          </c:val>
        </c:ser>
        <c:dLbls>
          <c:numFmt formatCode="0.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맑은 고딕"/>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Lbls>
            <c:numFmt formatCode="0.0" sourceLinked="0"/>
            <c:txPr>
              <a:bodyPr/>
              <a:lstStyle/>
              <a:p>
                <a:pPr>
                  <a:defRPr b="0" i="0" strike="noStrike" sz="10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5A5A5A"/>
              </a:solidFill>
              <a:effectLst/>
            </c:spPr>
          </c:dPt>
          <c:dPt>
            <c:idx val="1"/>
            <c:invertIfNegative val="0"/>
            <c:bubble3D val="0"/>
            <c:spPr>
              <a:solidFill>
                <a:srgbClr val="8B0000"/>
              </a:solidFill>
              <a:effectLst/>
            </c:spPr>
          </c:dPt>
          <c:cat>
            <c:multiLvlStrRef>
              <c:f>Sheet1!$A$2:$A$3</c:f>
              <c:multiLvlStrCache>
                <c:ptCount val="2"/>
                <c:lvl>
                  <c:pt idx="0">
                    <c:v>배포 데이터 (봉인 500장)</c:v>
                  </c:pt>
                  <c:pt idx="1">
                    <c:v>직접 촬영 (약점 유형)</c:v>
                  </c:pt>
                </c:lvl>
              </c:multiLvlStrCache>
            </c:multiLvlStrRef>
          </c:cat>
          <c:val>
            <c:numRef>
              <c:f>Sheet1!$B$2:$B$3</c:f>
              <c:numCache>
                <c:formatCode>General</c:formatCode>
                <c:ptCount val="2"/>
                <c:pt idx="0">
                  <c:v>86.2</c:v>
                </c:pt>
                <c:pt idx="1">
                  <c:v>45.2</c:v>
                </c:pt>
              </c:numCache>
            </c:numRef>
          </c:val>
        </c:ser>
        <c:dLbls>
          <c:numFmt formatCode="0.0" sourceLinked="0"/>
          <c:txPr>
            <a:bodyPr/>
            <a:lstStyle/>
            <a:p>
              <a:pPr>
                <a:defRPr b="0"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맑은 고딕"/>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물류 현장에서 어떤 의미인지 10분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86.0으로 올랐고, 한 번도 보지 않은 봉인 셋에서도 같이 올랐기 때문에 튜닝 셋에 과적합된 상승이 아니라고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현장 적용의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현장 적용입니다.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신선식품 물류센터의 입고 검수입니다. 공급사가 신고한 기한과 실제 상품의 기한이 맞는지는 지금 사람이 눈으로 확인합니다. 검수자가 로트별로 대표 상품을 찍으면 OCR이 읽고, 읽은 값을 공급사 신고값과 대조합니다. 일치하면 자동 통과, 어긋나거나 못 읽은 건만 사람에게 갑니다. 여기서 중요한 점은, OCR이 틀리게 읽어도 신고값과 어긋나기 때문에 사람에게 간다는 겁니다. 즉 정확도는 안전성이 아니라 자동화율을 결정합니다. 정말 위험한 건 못 읽는 게 아니라 틀린 값을 자신 있게 내는 것이고, 그래서 저희는 확신이 없으면 NONE을 내도록 설계했습니다.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전체가 21메가바이트이고 GPU가 필요 없어서, 검수 단말에 넣으면 통신이 안 되는 냉동 구역에서도 동작하고, 서버 한 대에 두면 시간당 1,200장을 처리합니다. 라이선스 0원, GPU 0대이고, 남는 비용은 사람이 확인하는 인건비입니다. 하루 2,000로트를 건당 20초씩 본다고 가정하면 지금은 하루 11시간입니다. 도입 후에는 예외 400건만 보면 됩니다. 건당 8초는 저희가 오답 446장을 다시 볼 때 잰 실측값이고, 로트 수와 현재 확인 시간은 가정입니다.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한계를 말씀드리겠습니다. 저희는 86퍼센트라는 숫자를 그대로 믿지 않았습니다. 오답이 몰린 유형, 즉 도트 인쇄와 각인, 두 날짜 병기만 골라서 팀원들이 편의점에서 직접 사진을 찍었고, 모델이 한 번도 본 적 없는 그 사진에 돌렸더니 45퍼센트가 나왔습니다. 약점의 실제 크기는 이만큼입니다. 남은 오답은 규칙이 아니라 인식 품질의 문제라서, 촬영 단계에서 날짜를 가까이 찍게 안내하고, 못 읽은 날짜 줄을 사람이 골라 재학습하는 방향으로 보완합니다.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구조는 식품에만 쓰이지 않습니다. 의약품이나 화학 제품의 출하 표시물에서 제조번호와 사용기한을 검증하는 일도 같은 구조입니다. 모델은 글자를 읽는 일만 하고 도메인 지식은 규칙 문서에 있기 때문에, 형식 규칙만 바꾸면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말하는 시스템이기 때문에, 현장에서 사람과 함께 일할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indent="0" marL="0">
              <a:buNone/>
            </a:pPr>
            <a:r>
              <a:rPr lang="en-US" sz="3000" b="1" dirty="0">
                <a:solidFill>
                  <a:srgbClr val="FFFFFF"/>
                </a:solidFill>
                <a:latin typeface="맑은 고딕" pitchFamily="34" charset="0"/>
                <a:ea typeface="맑은 고딕" pitchFamily="34" charset="-122"/>
                <a:cs typeface="맑은 고딕"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소비기한 추출 파이프라인과 물류 입고 검수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indent="0" marL="0">
              <a:buNone/>
            </a:pPr>
            <a:r>
              <a:rPr lang="en-US" sz="1300" dirty="0">
                <a:solidFill>
                  <a:srgbClr val="FFFFFF"/>
                </a:solidFill>
                <a:latin typeface="맑은 고딕" pitchFamily="34" charset="0"/>
                <a:ea typeface="맑은 고딕" pitchFamily="34" charset="-122"/>
                <a:cs typeface="맑은 고딕"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맑은 고딕" pitchFamily="34" charset="0"/>
                <a:ea typeface="맑은 고딕" pitchFamily="34" charset="-122"/>
                <a:cs typeface="맑은 고딕"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b="1" dirty="0">
                <a:solidFill>
                  <a:srgbClr val="FFFFFF"/>
                </a:solidFill>
                <a:latin typeface="Arial" pitchFamily="34" charset="0"/>
                <a:ea typeface="Arial" pitchFamily="34" charset="-122"/>
                <a:cs typeface="Arial"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출발점 : </a:t>
            </a:r>
            <a:pPr indent="0" marL="0">
              <a:buNone/>
            </a:pPr>
            <a:r>
              <a:rPr lang="en-US" sz="1900" b="1" dirty="0">
                <a:solidFill>
                  <a:srgbClr val="8B0000"/>
                </a:solidFill>
                <a:latin typeface="맑은 고딕" pitchFamily="34" charset="0"/>
                <a:ea typeface="맑은 고딕" pitchFamily="34" charset="-122"/>
                <a:cs typeface="맑은 고딕"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indent="0" marL="0">
              <a:buNone/>
            </a:pPr>
            <a:r>
              <a:rPr lang="en-US" sz="3400" b="1" dirty="0">
                <a:solidFill>
                  <a:srgbClr val="8B0000"/>
                </a:solidFill>
                <a:latin typeface="Arial" pitchFamily="34" charset="0"/>
                <a:ea typeface="Arial" pitchFamily="34" charset="-122"/>
                <a:cs typeface="Arial"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indent="0" marL="0">
              <a:buNone/>
            </a:pPr>
            <a:r>
              <a:rPr lang="en-US" sz="1350" b="1" dirty="0">
                <a:solidFill>
                  <a:srgbClr val="1A1A1A"/>
                </a:solidFill>
                <a:latin typeface="맑은 고딕" pitchFamily="34" charset="0"/>
                <a:ea typeface="맑은 고딕" pitchFamily="34" charset="-122"/>
                <a:cs typeface="맑은 고딕"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맑은 고딕" pitchFamily="34" charset="0"/>
                <a:ea typeface="맑은 고딕" pitchFamily="34" charset="-122"/>
                <a:cs typeface="맑은 고딕" pitchFamily="34" charset="-120"/>
              </a:rPr>
              <a:t>상품 뒷면 사진만 제공. 정확도를 잴 자(尺)부터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indent="0" marL="0">
              <a:buNone/>
            </a:pPr>
            <a:r>
              <a:rPr lang="en-US" sz="3400" b="1" dirty="0">
                <a:solidFill>
                  <a:srgbClr val="8B0000"/>
                </a:solidFill>
                <a:latin typeface="Arial" pitchFamily="34" charset="0"/>
                <a:ea typeface="Arial" pitchFamily="34" charset="-122"/>
                <a:cs typeface="Arial"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indent="0" marL="0">
              <a:buNone/>
            </a:pPr>
            <a:r>
              <a:rPr lang="en-US" sz="1350" b="1" dirty="0">
                <a:solidFill>
                  <a:srgbClr val="1A1A1A"/>
                </a:solidFill>
                <a:latin typeface="맑은 고딕" pitchFamily="34" charset="0"/>
                <a:ea typeface="맑은 고딕" pitchFamily="34" charset="-122"/>
                <a:cs typeface="맑은 고딕"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맑은 고딕" pitchFamily="34" charset="0"/>
                <a:ea typeface="맑은 고딕" pitchFamily="34" charset="-122"/>
                <a:cs typeface="맑은 고딕"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indent="0" marL="0">
              <a:buNone/>
            </a:pPr>
            <a:r>
              <a:rPr lang="en-US" sz="3400" b="1" dirty="0">
                <a:solidFill>
                  <a:srgbClr val="8B0000"/>
                </a:solidFill>
                <a:latin typeface="Arial" pitchFamily="34" charset="0"/>
                <a:ea typeface="Arial" pitchFamily="34" charset="-122"/>
                <a:cs typeface="Arial"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indent="0" marL="0">
              <a:buNone/>
            </a:pPr>
            <a:r>
              <a:rPr lang="en-US" sz="1350" b="1" dirty="0">
                <a:solidFill>
                  <a:srgbClr val="1A1A1A"/>
                </a:solidFill>
                <a:latin typeface="맑은 고딕" pitchFamily="34" charset="0"/>
                <a:ea typeface="맑은 고딕" pitchFamily="34" charset="-122"/>
                <a:cs typeface="맑은 고딕"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맑은 고딕" pitchFamily="34" charset="0"/>
                <a:ea typeface="맑은 고딕" pitchFamily="34" charset="-122"/>
                <a:cs typeface="맑은 고딕"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맑은 고딕" pitchFamily="34" charset="0"/>
                <a:ea typeface="맑은 고딕" pitchFamily="34" charset="-122"/>
                <a:cs typeface="맑은 고딕" pitchFamily="34" charset="-120"/>
              </a:rPr>
              <a:t>첫 파이프라인(EasyOCR)은 4코어에서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장당 5.8초, 500장 2,905초</a:t>
            </a:r>
            <a:pPr algn="ctr" indent="0" marL="0">
              <a:buNone/>
            </a:pPr>
            <a:r>
              <a:rPr lang="en-US" sz="1250" dirty="0">
                <a:solidFill>
                  <a:srgbClr val="1A1A1A"/>
                </a:solidFill>
                <a:latin typeface="맑은 고딕" pitchFamily="34" charset="0"/>
                <a:ea typeface="맑은 고딕" pitchFamily="34" charset="-122"/>
                <a:cs typeface="맑은 고딕"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맑은 고딕" pitchFamily="34" charset="0"/>
                <a:ea typeface="맑은 고딕" pitchFamily="34" charset="-122"/>
                <a:cs typeface="맑은 고딕" pitchFamily="34" charset="-120"/>
              </a:rPr>
              <a:t>정확도를 올리기 전에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"끝까지 돌아가는가"</a:t>
            </a:r>
            <a:pPr algn="ctr" indent="0" marL="0">
              <a:buNone/>
            </a:pPr>
            <a:r>
              <a:rPr lang="en-US" sz="1250" dirty="0">
                <a:solidFill>
                  <a:srgbClr val="1A1A1A"/>
                </a:solidFill>
                <a:latin typeface="맑은 고딕" pitchFamily="34" charset="0"/>
                <a:ea typeface="맑은 고딕" pitchFamily="34" charset="-122"/>
                <a:cs typeface="맑은 고딕"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그래서 모든 설계 결정에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정확도와 시간을 함께</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b="1" dirty="0">
                <a:solidFill>
                  <a:srgbClr val="FFFFFF"/>
                </a:solidFill>
                <a:latin typeface="Arial" pitchFamily="34" charset="0"/>
                <a:ea typeface="Arial" pitchFamily="34" charset="-122"/>
                <a:cs typeface="Arial"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검증 설계 : </a:t>
            </a:r>
            <a:pPr indent="0" marL="0">
              <a:buNone/>
            </a:pPr>
            <a:r>
              <a:rPr lang="en-US" sz="1900" b="1" dirty="0">
                <a:solidFill>
                  <a:srgbClr val="8B0000"/>
                </a:solidFill>
                <a:latin typeface="맑은 고딕" pitchFamily="34" charset="0"/>
                <a:ea typeface="맑은 고딕" pitchFamily="34" charset="-122"/>
                <a:cs typeface="맑은 고딕"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indent="0" marL="0">
              <a:buNone/>
            </a:pPr>
            <a:r>
              <a:rPr lang="en-US" sz="1100" dirty="0">
                <a:solidFill>
                  <a:srgbClr val="6B6B6B"/>
                </a:solidFill>
                <a:latin typeface="맑은 고딕" pitchFamily="34" charset="0"/>
                <a:ea typeface="맑은 고딕" pitchFamily="34" charset="-122"/>
                <a:cs typeface="맑은 고딕"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맑은 고딕" pitchFamily="34" charset="0"/>
                <a:ea typeface="맑은 고딕" pitchFamily="34" charset="-122"/>
                <a:cs typeface="맑은 고딕"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맑은 고딕" pitchFamily="34" charset="0"/>
                <a:ea typeface="맑은 고딕" pitchFamily="34" charset="-122"/>
                <a:cs typeface="맑은 고딕" pitchFamily="34" charset="-120"/>
              </a:rPr>
              <a:t>도트 인쇄·각인·두 날짜 병기 위주 494장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algn="ctr" indent="0" marL="0">
              <a:buNone/>
            </a:pPr>
            <a:r>
              <a:rPr lang="en-US" sz="1200" b="1" dirty="0">
                <a:solidFill>
                  <a:srgbClr val="1A1A1A"/>
                </a:solidFill>
                <a:latin typeface="Arial" pitchFamily="34" charset="0"/>
                <a:ea typeface="Arial" pitchFamily="34" charset="-122"/>
                <a:cs typeface="Arial"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indent="0" marL="0">
              <a:buNone/>
            </a:pPr>
            <a:r>
              <a:rPr lang="en-US" sz="1100" b="1" dirty="0">
                <a:solidFill>
                  <a:srgbClr val="8B0000"/>
                </a:solidFill>
                <a:latin typeface="맑은 고딕" pitchFamily="34" charset="0"/>
                <a:ea typeface="맑은 고딕" pitchFamily="34" charset="-122"/>
                <a:cs typeface="맑은 고딕" pitchFamily="34" charset="-120"/>
              </a:rPr>
              <a:t>봉인 500장</a:t>
            </a:r>
            <a:pPr indent="0" marL="0">
              <a:buNone/>
            </a:pPr>
            <a:r>
              <a:rPr lang="en-US" sz="1100" dirty="0">
                <a:solidFill>
                  <a:srgbClr val="1A1A1A"/>
                </a:solidFill>
                <a:latin typeface="맑은 고딕" pitchFamily="34" charset="0"/>
                <a:ea typeface="맑은 고딕" pitchFamily="34" charset="-122"/>
                <a:cs typeface="맑은 고딕"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indent="0" marL="0">
              <a:buNone/>
            </a:pPr>
            <a:r>
              <a:rPr lang="en-US" sz="1100" b="1" dirty="0">
                <a:solidFill>
                  <a:srgbClr val="8B0000"/>
                </a:solidFill>
                <a:latin typeface="맑은 고딕" pitchFamily="34" charset="0"/>
                <a:ea typeface="맑은 고딕" pitchFamily="34" charset="-122"/>
                <a:cs typeface="맑은 고딕" pitchFamily="34" charset="-120"/>
              </a:rPr>
              <a:t>판정용 2,852장</a:t>
            </a:r>
            <a:pPr indent="0" marL="0">
              <a:buNone/>
            </a:pPr>
            <a:r>
              <a:rPr lang="en-US" sz="1100" dirty="0">
                <a:solidFill>
                  <a:srgbClr val="1A1A1A"/>
                </a:solidFill>
                <a:latin typeface="맑은 고딕" pitchFamily="34" charset="0"/>
                <a:ea typeface="맑은 고딕" pitchFamily="34" charset="-122"/>
                <a:cs typeface="맑은 고딕"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맑은 고딕" pitchFamily="34" charset="0"/>
                <a:ea typeface="맑은 고딕" pitchFamily="34" charset="-122"/>
                <a:cs typeface="맑은 고딕"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맑은 고딕" pitchFamily="34" charset="0"/>
                <a:ea typeface="맑은 고딕" pitchFamily="34" charset="-122"/>
                <a:cs typeface="맑은 고딕"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맑은 고딕" pitchFamily="34" charset="0"/>
                <a:ea typeface="맑은 고딕" pitchFamily="34" charset="-122"/>
                <a:cs typeface="맑은 고딕"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정답 라벨도 검증 대상 : 고친 라벨 23장 중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16장은 모델이 맞은 쪽</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b="1" dirty="0">
                <a:solidFill>
                  <a:srgbClr val="FFFFFF"/>
                </a:solidFill>
                <a:latin typeface="Arial" pitchFamily="34" charset="0"/>
                <a:ea typeface="Arial" pitchFamily="34" charset="-122"/>
                <a:cs typeface="Arial"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전체 파이프라인 : </a:t>
            </a:r>
            <a:pPr indent="0" marL="0">
              <a:buNone/>
            </a:pPr>
            <a:r>
              <a:rPr lang="en-US" sz="1900" b="1" dirty="0">
                <a:solidFill>
                  <a:srgbClr val="8B0000"/>
                </a:solidFill>
                <a:latin typeface="맑은 고딕" pitchFamily="34" charset="0"/>
                <a:ea typeface="맑은 고딕" pitchFamily="34" charset="-122"/>
                <a:cs typeface="맑은 고딕"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EXIF 보정</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PP-OCRv5 det</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PP-OCRv5 rec</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후보 줄만 원본으로</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형식 정규화</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맑은 고딕" pitchFamily="34" charset="0"/>
                <a:ea typeface="맑은 고딕" pitchFamily="34" charset="-122"/>
                <a:cs typeface="맑은 고딕" pitchFamily="34" charset="-120"/>
              </a:rPr>
              <a:t>YYYY-MM-DD</a:t>
            </a:r>
            <a:endParaRPr lang="en-US" sz="950" dirty="0"/>
          </a:p>
          <a:p>
            <a:pPr algn="ctr" indent="0" marL="0">
              <a:buNone/>
            </a:pPr>
            <a:r>
              <a:rPr lang="en-US" sz="950" dirty="0">
                <a:solidFill>
                  <a:srgbClr val="FFFFFF"/>
                </a:solidFill>
                <a:latin typeface="맑은 고딕" pitchFamily="34" charset="0"/>
                <a:ea typeface="맑은 고딕" pitchFamily="34" charset="-122"/>
                <a:cs typeface="맑은 고딕"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indent="0" marL="0">
              <a:buNone/>
            </a:pPr>
            <a:r>
              <a:rPr lang="en-US" sz="950" b="1" dirty="0">
                <a:solidFill>
                  <a:srgbClr val="8B0000"/>
                </a:solidFill>
                <a:latin typeface="맑은 고딕" pitchFamily="34" charset="0"/>
                <a:ea typeface="맑은 고딕" pitchFamily="34" charset="-122"/>
                <a:cs typeface="맑은 고딕" pitchFamily="34" charset="-120"/>
              </a:rPr>
              <a:t>■ </a:t>
            </a:r>
            <a:pPr indent="0" marL="0">
              <a:buNone/>
            </a:pPr>
            <a:r>
              <a:rPr lang="en-US" sz="950" dirty="0">
                <a:solidFill>
                  <a:srgbClr val="6B6B6B"/>
                </a:solidFill>
                <a:latin typeface="맑은 고딕" pitchFamily="34" charset="0"/>
                <a:ea typeface="맑은 고딕" pitchFamily="34" charset="-122"/>
                <a:cs typeface="맑은 고딕"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indent="0" marL="0">
              <a:buNone/>
            </a:pPr>
            <a:r>
              <a:rPr lang="en-US" sz="950" dirty="0">
                <a:solidFill>
                  <a:srgbClr val="6B6B6B"/>
                </a:solidFill>
                <a:latin typeface="맑은 고딕" pitchFamily="34" charset="0"/>
                <a:ea typeface="맑은 고딕" pitchFamily="34" charset="-122"/>
                <a:cs typeface="맑은 고딕"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조건이 맞을 때만 동작하는 단계</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914400"/>
        </p:xfrm>
        <a:graphic>
          <a:graphicData uri="http://schemas.openxmlformats.org/drawingml/2006/table">
            <a:tbl>
              <a:tblPr/>
              <a:tblGrid>
                <a:gridCol w="1554480"/>
                <a:gridCol w="2651760"/>
                <a:gridCol w="3108960"/>
                <a:gridCol w="1280160"/>
              </a:tblGrid>
              <a:tr h="265176">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장치</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발동 조건</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동작</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효과</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이웃 줄 재탐지</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후보 줄 옆에 크기 비슷한 숫자 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그 주변만 원본 해상도로 다시 탐지</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병기 +5 / −1</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도트 인쇄 폴백</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후보 없음</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점을 이어 붙이는 전처리 후 재시도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+17 / −0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파인튜닝 인식기</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그래도 후보 없음</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우리 라벨로 학습한 인식기로 재시도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+7 / −0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시간 예산 가드</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예상 소요 2,000초 초과</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폴백 생략 → 2패스 생략 → NONE</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완주 보장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딥러닝은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"읽기"</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만, 소비기한을 고르는 판단은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설명 가능한 규칙</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설계 사고 : </a:t>
            </a:r>
            <a:pPr indent="0" marL="0">
              <a:buNone/>
            </a:pPr>
            <a:r>
              <a:rPr lang="en-US" sz="1900" b="1" dirty="0">
                <a:solidFill>
                  <a:srgbClr val="8B0000"/>
                </a:solidFill>
                <a:latin typeface="맑은 고딕" pitchFamily="34" charset="0"/>
                <a:ea typeface="맑은 고딕" pitchFamily="34" charset="-122"/>
                <a:cs typeface="맑은 고딕"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맑은 고딕" pitchFamily="34" charset="0"/>
                <a:ea typeface="맑은 고딕" pitchFamily="34" charset="-122"/>
                <a:cs typeface="맑은 고딕" pitchFamily="34" charset="-120"/>
              </a:rPr>
              <a:t>예선 구성의 오답 </a:t>
            </a:r>
            <a:pPr indent="0" marL="0">
              <a:buNone/>
            </a:pPr>
            <a:r>
              <a:rPr lang="en-US" sz="1200" b="1" dirty="0">
                <a:solidFill>
                  <a:srgbClr val="8B0000"/>
                </a:solidFill>
                <a:latin typeface="맑은 고딕" pitchFamily="34" charset="0"/>
                <a:ea typeface="맑은 고딕" pitchFamily="34" charset="-122"/>
                <a:cs typeface="맑은 고딕" pitchFamily="34" charset="-120"/>
              </a:rPr>
              <a:t>603장</a:t>
            </a:r>
            <a:pPr indent="0" marL="0">
              <a:buNone/>
            </a:pPr>
            <a:r>
              <a:rPr lang="en-US" sz="1200" dirty="0">
                <a:solidFill>
                  <a:srgbClr val="1A1A1A"/>
                </a:solidFill>
                <a:latin typeface="맑은 고딕" pitchFamily="34" charset="0"/>
                <a:ea typeface="맑은 고딕" pitchFamily="34" charset="-122"/>
                <a:cs typeface="맑은 고딕"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indent="0" marL="0">
              <a:buNone/>
            </a:pPr>
            <a:r>
              <a:rPr lang="en-US" sz="3200" b="1" dirty="0">
                <a:solidFill>
                  <a:srgbClr val="8B0000"/>
                </a:solidFill>
                <a:latin typeface="Arial" pitchFamily="34" charset="0"/>
                <a:ea typeface="Arial" pitchFamily="34" charset="-122"/>
                <a:cs typeface="Arial"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indent="0" marL="0">
              <a:buNone/>
            </a:pPr>
            <a:r>
              <a:rPr lang="en-US" sz="1050" b="1" dirty="0">
                <a:solidFill>
                  <a:srgbClr val="1A1A1A"/>
                </a:solidFill>
                <a:latin typeface="맑은 고딕" pitchFamily="34" charset="0"/>
                <a:ea typeface="맑은 고딕" pitchFamily="34" charset="-122"/>
                <a:cs typeface="맑은 고딕" pitchFamily="34" charset="-120"/>
              </a:rPr>
              <a:t>원본 재탐지</a:t>
            </a:r>
            <a:endParaRPr lang="en-US" sz="1050" dirty="0"/>
          </a:p>
          <a:p>
            <a:pPr indent="0" marL="0">
              <a:buNone/>
            </a:pPr>
            <a:r>
              <a:rPr lang="en-US" sz="1050" b="1" dirty="0">
                <a:solidFill>
                  <a:srgbClr val="1A1A1A"/>
                </a:solidFill>
                <a:latin typeface="맑은 고딕" pitchFamily="34" charset="0"/>
                <a:ea typeface="맑은 고딕" pitchFamily="34" charset="-122"/>
                <a:cs typeface="맑은 고딕"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indent="0" marL="0">
              <a:buNone/>
            </a:pPr>
            <a:r>
              <a:rPr lang="en-US" sz="3200" b="1" dirty="0">
                <a:solidFill>
                  <a:srgbClr val="8B0000"/>
                </a:solidFill>
                <a:latin typeface="Arial" pitchFamily="34" charset="0"/>
                <a:ea typeface="Arial" pitchFamily="34" charset="-122"/>
                <a:cs typeface="Arial"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indent="0" marL="0">
              <a:buNone/>
            </a:pPr>
            <a:r>
              <a:rPr lang="en-US" sz="1050" b="1" dirty="0">
                <a:solidFill>
                  <a:srgbClr val="1A1A1A"/>
                </a:solidFill>
                <a:latin typeface="맑은 고딕" pitchFamily="34" charset="0"/>
                <a:ea typeface="맑은 고딕" pitchFamily="34" charset="-122"/>
                <a:cs typeface="맑은 고딕" pitchFamily="34" charset="-120"/>
              </a:rPr>
              <a:t>후처리 규칙 보강</a:t>
            </a:r>
            <a:endParaRPr lang="en-US" sz="1050" dirty="0"/>
          </a:p>
          <a:p>
            <a:pPr indent="0" marL="0">
              <a:buNone/>
            </a:pPr>
            <a:r>
              <a:rPr lang="en-US" sz="1050" b="1" dirty="0">
                <a:solidFill>
                  <a:srgbClr val="1A1A1A"/>
                </a:solidFill>
                <a:latin typeface="맑은 고딕" pitchFamily="34" charset="0"/>
                <a:ea typeface="맑은 고딕" pitchFamily="34" charset="-122"/>
                <a:cs typeface="맑은 고딕"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indent="0" marL="0">
              <a:buNone/>
            </a:pPr>
            <a:r>
              <a:rPr lang="en-US" sz="3200" b="1" dirty="0">
                <a:solidFill>
                  <a:srgbClr val="8B0000"/>
                </a:solidFill>
                <a:latin typeface="Arial" pitchFamily="34" charset="0"/>
                <a:ea typeface="Arial" pitchFamily="34" charset="-122"/>
                <a:cs typeface="Arial"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indent="0" marL="0">
              <a:buNone/>
            </a:pPr>
            <a:r>
              <a:rPr lang="en-US" sz="1050" b="1" dirty="0">
                <a:solidFill>
                  <a:srgbClr val="1A1A1A"/>
                </a:solidFill>
                <a:latin typeface="맑은 고딕" pitchFamily="34" charset="0"/>
                <a:ea typeface="맑은 고딕" pitchFamily="34" charset="-122"/>
                <a:cs typeface="맑은 고딕" pitchFamily="34" charset="-120"/>
              </a:rPr>
              <a:t>"교정만, 삭제 금지"</a:t>
            </a:r>
            <a:endParaRPr lang="en-US" sz="1050" dirty="0"/>
          </a:p>
          <a:p>
            <a:pPr indent="0" marL="0">
              <a:buNone/>
            </a:pPr>
            <a:r>
              <a:rPr lang="en-US" sz="1050" b="1" dirty="0">
                <a:solidFill>
                  <a:srgbClr val="1A1A1A"/>
                </a:solidFill>
                <a:latin typeface="맑은 고딕" pitchFamily="34" charset="0"/>
                <a:ea typeface="맑은 고딕" pitchFamily="34" charset="-122"/>
                <a:cs typeface="맑은 고딕"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indent="0" marL="0">
              <a:buNone/>
            </a:pPr>
            <a:r>
              <a:rPr lang="en-US" sz="3200" b="1" dirty="0">
                <a:solidFill>
                  <a:srgbClr val="8B0000"/>
                </a:solidFill>
                <a:latin typeface="Arial" pitchFamily="34" charset="0"/>
                <a:ea typeface="Arial" pitchFamily="34" charset="-122"/>
                <a:cs typeface="Arial"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indent="0" marL="0">
              <a:buNone/>
            </a:pPr>
            <a:r>
              <a:rPr lang="en-US" sz="1300" b="1" dirty="0">
                <a:solidFill>
                  <a:srgbClr val="1A1A1A"/>
                </a:solidFill>
                <a:latin typeface="맑은 고딕" pitchFamily="34" charset="0"/>
                <a:ea typeface="맑은 고딕" pitchFamily="34" charset="-122"/>
                <a:cs typeface="맑은 고딕"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indent="0" marL="0">
              <a:buNone/>
            </a:pPr>
            <a:r>
              <a:rPr lang="en-US" sz="1050" b="1" dirty="0">
                <a:solidFill>
                  <a:srgbClr val="1A1A1A"/>
                </a:solidFill>
                <a:latin typeface="맑은 고딕" pitchFamily="34" charset="0"/>
                <a:ea typeface="맑은 고딕" pitchFamily="34" charset="-122"/>
                <a:cs typeface="맑은 고딕"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맑은 고딕" pitchFamily="34" charset="0"/>
                <a:ea typeface="맑은 고딕" pitchFamily="34" charset="-122"/>
                <a:cs typeface="맑은 고딕"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맑은 고딕" pitchFamily="34" charset="0"/>
                <a:ea typeface="맑은 고딕" pitchFamily="34" charset="-122"/>
                <a:cs typeface="맑은 고딕"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오답을 뭉뚱그려 "모델을 키우자" 가 아니라,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원인별로 가장 싼 처방</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후처리 규칙 : </a:t>
            </a:r>
            <a:pPr indent="0" marL="0">
              <a:buNone/>
            </a:pPr>
            <a:r>
              <a:rPr lang="en-US" sz="1900" b="1" dirty="0">
                <a:solidFill>
                  <a:srgbClr val="8B0000"/>
                </a:solidFill>
                <a:latin typeface="맑은 고딕" pitchFamily="34" charset="0"/>
                <a:ea typeface="맑은 고딕" pitchFamily="34" charset="-122"/>
                <a:cs typeface="맑은 고딕"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1737360"/>
                <a:gridCol w="3246120"/>
                <a:gridCol w="2057400"/>
              </a:tblGrid>
              <a:tr h="329184">
                <a:tc>
                  <a:txBody>
                    <a:bodyPr/>
                    <a:lstStyle/>
                    <a:p>
                      <a:pPr algn="l" indent="0" marL="0">
                        <a:buNone/>
                      </a:pPr>
                      <a:r>
                        <a:rPr lang="en-US" sz="960" b="1" dirty="0">
                          <a:solidFill>
                            <a:srgbClr val="FFFFFF"/>
                          </a:solidFill>
                          <a:latin typeface="맑은 고딕" pitchFamily="34" charset="0"/>
                          <a:ea typeface="맑은 고딕" pitchFamily="34" charset="-122"/>
                          <a:cs typeface="맑은 고딕" pitchFamily="34" charset="-120"/>
                        </a:rPr>
                        <a:t>구분 대상</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b="1" dirty="0">
                          <a:solidFill>
                            <a:srgbClr val="FFFFFF"/>
                          </a:solidFill>
                          <a:latin typeface="맑은 고딕" pitchFamily="34" charset="0"/>
                          <a:ea typeface="맑은 고딕" pitchFamily="34" charset="-122"/>
                          <a:cs typeface="맑은 고딕" pitchFamily="34" charset="-120"/>
                        </a:rPr>
                        <a:t>실제 예</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b="1" dirty="0">
                          <a:solidFill>
                            <a:srgbClr val="FFFFFF"/>
                          </a:solidFill>
                          <a:latin typeface="맑은 고딕" pitchFamily="34" charset="0"/>
                          <a:ea typeface="맑은 고딕" pitchFamily="34" charset="-122"/>
                          <a:cs typeface="맑은 고딕" pitchFamily="34" charset="-120"/>
                        </a:rPr>
                        <a:t>규칙</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b="1" dirty="0">
                          <a:solidFill>
                            <a:srgbClr val="FFFFFF"/>
                          </a:solidFill>
                          <a:latin typeface="맑은 고딕" pitchFamily="34" charset="0"/>
                          <a:ea typeface="맑은 고딕" pitchFamily="34" charset="-122"/>
                          <a:cs typeface="맑은 고딕" pitchFamily="34" charset="-120"/>
                        </a:rPr>
                        <a:t>근거</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품목보고번호 · 바코드</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20130628332176</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9자리 이상 숫자열은 통째로 제거</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앞 8자리가 완전한 날짜 형식</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영양성분표 · 중량</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78 7 5 31 / 30.4 GRAMS</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신뢰 등급 : 완전 날짜 &gt; 공백·압축 &gt; 연월 &gt; 월일</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잡음이 이긴 오답 15장에서 도출</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제조일자 · 유통기한</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25.06.26  /  26.06.25</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가장 좋은 등급 안에서 가장 늦은 날짜</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소비기한 ≥ 유통기한 ≥ 제조일</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시각 · 로트번호</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13:11  /  A03  /  L8</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날짜 패턴에서 제외, 옆 글자는 일(日)로 읽지 않음</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도트 인쇄 제품에 흔함</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연·월·일 순서</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30.07.26  /  24/12/21</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년월일 우선. 무효·2028년 이후면 일월년</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라벨 : 년월일 344 · 일월년 102</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범위 밖 연도</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2033, 2009</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2017 ~ 2031 만 인정</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맑은 고딕" pitchFamily="34" charset="0"/>
                          <a:ea typeface="맑은 고딕" pitchFamily="34" charset="-122"/>
                          <a:cs typeface="맑은 고딕" pitchFamily="34" charset="-120"/>
                        </a:rPr>
                        <a:t>전수 라벨 최소 2017</a:t>
                      </a:r>
                      <a:endParaRPr lang="en-US" sz="96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후보가 하나도 없으면 추측하지 않는다. 연도나 일만 없으면 그 칸만 NONE (NONE-10-14, 2027-07-NONE)</a:t>
            </a:r>
            <a:endParaRPr lang="en-US" sz="1050" dirty="0"/>
          </a:p>
        </p:txBody>
      </p:sp>
      <p:sp>
        <p:nvSpPr>
          <p:cNvPr id="10"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규칙마다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어떤 오답에서 나왔는지</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와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회복·퇴보 수</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b="1" dirty="0">
                <a:solidFill>
                  <a:srgbClr val="FFFFFF"/>
                </a:solidFill>
                <a:latin typeface="Arial" pitchFamily="34" charset="0"/>
                <a:ea typeface="Arial" pitchFamily="34" charset="-122"/>
                <a:cs typeface="Arial"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정확도 : </a:t>
            </a:r>
            <a:pPr indent="0" marL="0">
              <a:buNone/>
            </a:pPr>
            <a:r>
              <a:rPr lang="en-US" sz="1900" b="1" dirty="0">
                <a:solidFill>
                  <a:srgbClr val="8B0000"/>
                </a:solidFill>
                <a:latin typeface="맑은 고딕" pitchFamily="34" charset="0"/>
                <a:ea typeface="맑은 고딕" pitchFamily="34" charset="-122"/>
                <a:cs typeface="맑은 고딕"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11</a:t>
            </a:r>
            <a:endParaRPr lang="en-US" sz="900" dirty="0"/>
          </a:p>
        </p:txBody>
      </p:sp>
      <p:graphicFrame>
        <p:nvGraphicFramePr>
          <p:cNvPr id="6" name="Chart 0" descr=""/>
          <p:cNvGraphicFramePr/>
          <p:nvPr/>
        </p:nvGraphicFramePr>
        <p:xfrm>
          <a:off x="274320" y="868680"/>
          <a:ext cx="557784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indent="0" marL="0">
              <a:buNone/>
            </a:pPr>
            <a:r>
              <a:rPr lang="en-US" sz="850" dirty="0">
                <a:solidFill>
                  <a:srgbClr val="6B6B6B"/>
                </a:solidFill>
                <a:latin typeface="맑은 고딕" pitchFamily="34" charset="0"/>
                <a:ea typeface="맑은 고딕" pitchFamily="34" charset="-122"/>
                <a:cs typeface="맑은 고딕"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indent="0" marL="0">
              <a:buNone/>
            </a:pPr>
            <a:r>
              <a:rPr lang="en-US" sz="3400" b="1" dirty="0">
                <a:solidFill>
                  <a:srgbClr val="8B0000"/>
                </a:solidFill>
                <a:latin typeface="Arial" pitchFamily="34" charset="0"/>
                <a:ea typeface="Arial" pitchFamily="34" charset="-122"/>
                <a:cs typeface="Arial"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indent="0" marL="0">
              <a:buNone/>
            </a:pPr>
            <a:r>
              <a:rPr lang="en-US" sz="1050" dirty="0">
                <a:solidFill>
                  <a:srgbClr val="1A1A1A"/>
                </a:solidFill>
                <a:latin typeface="맑은 고딕" pitchFamily="34" charset="0"/>
                <a:ea typeface="맑은 고딕" pitchFamily="34" charset="-122"/>
                <a:cs typeface="맑은 고딕"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914400"/>
        </p:xfrm>
        <a:graphic>
          <a:graphicData uri="http://schemas.openxmlformats.org/drawingml/2006/table">
            <a:tbl>
              <a:tblPr/>
              <a:tblGrid>
                <a:gridCol w="1828800"/>
                <a:gridCol w="1005840"/>
              </a:tblGrid>
              <a:tr h="265176">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구분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정확도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필드 평균 (채점 방식)</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8B0000"/>
                          </a:solidFill>
                          <a:latin typeface="맑은 고딕" pitchFamily="34" charset="0"/>
                          <a:ea typeface="맑은 고딕" pitchFamily="34" charset="-122"/>
                          <a:cs typeface="맑은 고딕" pitchFamily="34" charset="-120"/>
                        </a:rPr>
                        <a:t>90.8%</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작은 사진 (≤700px)</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83.7%</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중간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89.5%</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큰 사진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86.7%</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두 날짜 병기</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78.4%</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미인식률</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3.0%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판정용 2,852장에서도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82.3 → 86.0%</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모델·대안 비교 : </a:t>
            </a:r>
            <a:pPr indent="0" marL="0">
              <a:buNone/>
            </a:pPr>
            <a:r>
              <a:rPr lang="en-US" sz="1900" b="1" dirty="0">
                <a:solidFill>
                  <a:srgbClr val="8B0000"/>
                </a:solidFill>
                <a:latin typeface="맑은 고딕" pitchFamily="34" charset="0"/>
                <a:ea typeface="맑은 고딕" pitchFamily="34" charset="-122"/>
                <a:cs typeface="맑은 고딕"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2194560"/>
                <a:gridCol w="731520"/>
                <a:gridCol w="2926080"/>
              </a:tblGrid>
              <a:tr h="315468">
                <a:tc>
                  <a:txBody>
                    <a:bodyPr/>
                    <a:lstStyle/>
                    <a:p>
                      <a:pPr algn="l" indent="0" marL="0">
                        <a:buNone/>
                      </a:pPr>
                      <a:r>
                        <a:rPr lang="en-US" sz="980" b="1" dirty="0">
                          <a:solidFill>
                            <a:srgbClr val="FFFFFF"/>
                          </a:solidFill>
                          <a:latin typeface="맑은 고딕" pitchFamily="34" charset="0"/>
                          <a:ea typeface="맑은 고딕" pitchFamily="34" charset="-122"/>
                          <a:cs typeface="맑은 고딕" pitchFamily="34" charset="-120"/>
                        </a:rPr>
                        <a:t>시도</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b="1" dirty="0">
                          <a:solidFill>
                            <a:srgbClr val="FFFFFF"/>
                          </a:solidFill>
                          <a:latin typeface="맑은 고딕" pitchFamily="34" charset="0"/>
                          <a:ea typeface="맑은 고딕" pitchFamily="34" charset="-122"/>
                          <a:cs typeface="맑은 고딕" pitchFamily="34" charset="-120"/>
                        </a:rPr>
                        <a:t>결과 (회복 / 퇴보)</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b="1" dirty="0">
                          <a:solidFill>
                            <a:srgbClr val="FFFFFF"/>
                          </a:solidFill>
                          <a:latin typeface="맑은 고딕" pitchFamily="34" charset="0"/>
                          <a:ea typeface="맑은 고딕" pitchFamily="34" charset="-122"/>
                          <a:cs typeface="맑은 고딕" pitchFamily="34" charset="-120"/>
                        </a:rPr>
                        <a:t>판단</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b="1" dirty="0">
                          <a:solidFill>
                            <a:srgbClr val="FFFFFF"/>
                          </a:solidFill>
                          <a:latin typeface="맑은 고딕" pitchFamily="34" charset="0"/>
                          <a:ea typeface="맑은 고딕" pitchFamily="34" charset="-122"/>
                          <a:cs typeface="맑은 고딕" pitchFamily="34" charset="-120"/>
                        </a:rPr>
                        <a:t>이유</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탐지·인식기 PP-OCRv5 mobile 로 교체</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39.1 → 67.7%, 5.8 → 1.8초</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b="1" dirty="0">
                          <a:solidFill>
                            <a:srgbClr val="8B0000"/>
                          </a:solidFill>
                          <a:latin typeface="맑은 고딕" pitchFamily="34" charset="0"/>
                          <a:ea typeface="맑은 고딕" pitchFamily="34" charset="-122"/>
                          <a:cs typeface="맑은 고딕" pitchFamily="34" charset="-120"/>
                        </a:rPr>
                        <a:t>채택</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속도 한도와 정확도를 동시에 해결</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2패스 "교정만, 삭제 금지"</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+45 / −4</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b="1" dirty="0">
                          <a:solidFill>
                            <a:srgbClr val="8B0000"/>
                          </a:solidFill>
                          <a:latin typeface="맑은 고딕" pitchFamily="34" charset="0"/>
                          <a:ea typeface="맑은 고딕" pitchFamily="34" charset="-122"/>
                          <a:cs typeface="맑은 고딕" pitchFamily="34" charset="-120"/>
                        </a:rPr>
                        <a:t>채택</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코드 로직 결함 수정</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본선 규칙 합계 (위 포함 7개)</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+102 / −7</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b="1" dirty="0">
                          <a:solidFill>
                            <a:srgbClr val="8B0000"/>
                          </a:solidFill>
                          <a:latin typeface="맑은 고딕" pitchFamily="34" charset="0"/>
                          <a:ea typeface="맑은 고딕" pitchFamily="34" charset="-122"/>
                          <a:cs typeface="맑은 고딕" pitchFamily="34" charset="-120"/>
                        </a:rPr>
                        <a:t>채택</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병기 64 → 78%</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이웃 줄 원본 재탐지</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병기 +5 / −1, 그 외 0 / 0</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b="1" dirty="0">
                          <a:solidFill>
                            <a:srgbClr val="8B0000"/>
                          </a:solidFill>
                          <a:latin typeface="맑은 고딕" pitchFamily="34" charset="0"/>
                          <a:ea typeface="맑은 고딕" pitchFamily="34" charset="-122"/>
                          <a:cs typeface="맑은 고딕" pitchFamily="34" charset="-120"/>
                        </a:rPr>
                        <a:t>채택</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게이트로 비용을 병기에만</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파인튜닝 인식기를 1순위로</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+86 / −64 (+0.8%p)</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기각</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맞던 답을 흔든다 → 폴백으로만 사용</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합성 도트 데이터 3,000장 학습</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76.8% (정밀도 84 → 81%)</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기각</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진짜 글씨를 대충 읽게 됨</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탐지 해상도 상향 (5구성)</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±1%p, 시간 +30~50%</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기각</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원인이 해상도가 아님</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한국어 인식기 2차 의견</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+14 / −1 → 최신 규칙 위 0 / 0</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보류</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시간 +18%, 기여가 사라짐</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회전 · 탐지 임계 완화 재시도</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회복 0, 엉뚱한 값 6</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기각</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맑은 고딕" pitchFamily="34" charset="0"/>
                          <a:ea typeface="맑은 고딕" pitchFamily="34" charset="-122"/>
                          <a:cs typeface="맑은 고딕" pitchFamily="34" charset="-120"/>
                        </a:rPr>
                        <a:t>미인식을 오답으로 바꿀 뿐</a:t>
                      </a:r>
                      <a:endParaRPr lang="en-US" sz="98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파인튜닝은 +0.8%p 였지만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퇴보 64장</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속도·효율 : </a:t>
            </a:r>
            <a:pPr indent="0" marL="0">
              <a:buNone/>
            </a:pPr>
            <a:r>
              <a:rPr lang="en-US" sz="1900" b="1" dirty="0">
                <a:solidFill>
                  <a:srgbClr val="8B0000"/>
                </a:solidFill>
                <a:latin typeface="맑은 고딕" pitchFamily="34" charset="0"/>
                <a:ea typeface="맑은 고딕" pitchFamily="34" charset="-122"/>
                <a:cs typeface="맑은 고딕"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indent="0" marL="0">
              <a:buNone/>
            </a:pPr>
            <a:r>
              <a:rPr lang="en-US" sz="2400" b="1" dirty="0">
                <a:solidFill>
                  <a:srgbClr val="8B0000"/>
                </a:solidFill>
                <a:latin typeface="맑은 고딕" pitchFamily="34" charset="0"/>
                <a:ea typeface="맑은 고딕" pitchFamily="34" charset="-122"/>
                <a:cs typeface="맑은 고딕"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indent="0" marL="0">
              <a:buNone/>
            </a:pPr>
            <a:r>
              <a:rPr lang="en-US" sz="2400" b="1" dirty="0">
                <a:solidFill>
                  <a:srgbClr val="8B0000"/>
                </a:solidFill>
                <a:latin typeface="맑은 고딕" pitchFamily="34" charset="0"/>
                <a:ea typeface="맑은 고딕" pitchFamily="34" charset="-122"/>
                <a:cs typeface="맑은 고딕"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indent="0" marL="0">
              <a:buNone/>
            </a:pPr>
            <a:r>
              <a:rPr lang="en-US" sz="2400" b="1" dirty="0">
                <a:solidFill>
                  <a:srgbClr val="8B0000"/>
                </a:solidFill>
                <a:latin typeface="맑은 고딕" pitchFamily="34" charset="0"/>
                <a:ea typeface="맑은 고딕" pitchFamily="34" charset="-122"/>
                <a:cs typeface="맑은 고딕"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indent="0" marL="0">
              <a:buNone/>
            </a:pPr>
            <a:r>
              <a:rPr lang="en-US" sz="2400" b="1" dirty="0">
                <a:solidFill>
                  <a:srgbClr val="8B0000"/>
                </a:solidFill>
                <a:latin typeface="맑은 고딕" pitchFamily="34" charset="0"/>
                <a:ea typeface="맑은 고딕" pitchFamily="34" charset="-122"/>
                <a:cs typeface="맑은 고딕"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indent="0" marL="0">
              <a:buNone/>
            </a:pPr>
            <a:r>
              <a:rPr lang="en-US" sz="1050" dirty="0">
                <a:solidFill>
                  <a:srgbClr val="6B6B6B"/>
                </a:solidFill>
                <a:latin typeface="맑은 고딕" pitchFamily="34" charset="0"/>
                <a:ea typeface="맑은 고딕" pitchFamily="34" charset="-122"/>
                <a:cs typeface="맑은 고딕"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맑은 고딕" pitchFamily="34" charset="0"/>
                <a:ea typeface="맑은 고딕" pitchFamily="34" charset="-122"/>
                <a:cs typeface="맑은 고딕"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맑은 고딕" pitchFamily="34" charset="0"/>
                <a:ea typeface="맑은 고딕" pitchFamily="34" charset="-122"/>
                <a:cs typeface="맑은 고딕"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맑은 고딕" pitchFamily="34" charset="0"/>
                <a:ea typeface="맑은 고딕" pitchFamily="34" charset="-122"/>
                <a:cs typeface="맑은 고딕"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채점 서버 속도를 모르는 상황에서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"느리면 0점"</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실행 화면 : </a:t>
            </a:r>
            <a:pPr indent="0" marL="0">
              <a:buNone/>
            </a:pPr>
            <a:r>
              <a:rPr lang="en-US" sz="1900" b="1" dirty="0">
                <a:solidFill>
                  <a:srgbClr val="8B0000"/>
                </a:solidFill>
                <a:latin typeface="맑은 고딕" pitchFamily="34" charset="0"/>
                <a:ea typeface="맑은 고딕" pitchFamily="34" charset="-122"/>
                <a:cs typeface="맑은 고딕"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14</a:t>
            </a:r>
            <a:endParaRPr lang="en-US" sz="900" dirty="0"/>
          </a:p>
        </p:txBody>
      </p:sp>
      <p:pic>
        <p:nvPicPr>
          <p:cNvPr id="6" name="Image 0" descr="C:\Users\user\AppData\Local\Temp\claude\C--Users-user-Desktop-itda\bf40759d-3db3-4682-9251-a5dfc70e5b9d\scratchpad\deck\img\demo_plain.png">    </p:cNvPr>
          <p:cNvPicPr>
            <a:picLocks noChangeAspect="1"/>
          </p:cNvPicPr>
          <p:nvPr/>
        </p:nvPicPr>
        <p:blipFill>
          <a:blip r:embed="rId1"/>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algn="ctr" indent="0" marL="0">
              <a:buNone/>
            </a:pPr>
            <a:r>
              <a:rPr lang="en-US" sz="1150" b="1" dirty="0">
                <a:solidFill>
                  <a:srgbClr val="1A1A1A"/>
                </a:solidFill>
                <a:latin typeface="맑은 고딕" pitchFamily="34" charset="0"/>
                <a:ea typeface="맑은 고딕" pitchFamily="34" charset="-122"/>
                <a:cs typeface="맑은 고딕" pitchFamily="34" charset="-120"/>
              </a:rPr>
              <a:t>일반 인쇄</a:t>
            </a:r>
            <a:endParaRPr lang="en-US" sz="1150" dirty="0"/>
          </a:p>
        </p:txBody>
      </p:sp>
      <p:pic>
        <p:nvPicPr>
          <p:cNvPr id="8" name="Image 1" descr="C:\Users\user\AppData\Local\Temp\claude\C--Users-user-Desktop-itda\bf40759d-3db3-4682-9251-a5dfc70e5b9d\scratchpad\deck\img\demo_two.png">    </p:cNvPr>
          <p:cNvPicPr>
            <a:picLocks noChangeAspect="1"/>
          </p:cNvPicPr>
          <p:nvPr/>
        </p:nvPicPr>
        <p:blipFill>
          <a:blip r:embed="rId2"/>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algn="ctr" indent="0" marL="0">
              <a:buNone/>
            </a:pPr>
            <a:r>
              <a:rPr lang="en-US" sz="1150" b="1" dirty="0">
                <a:solidFill>
                  <a:srgbClr val="1A1A1A"/>
                </a:solidFill>
                <a:latin typeface="맑은 고딕" pitchFamily="34" charset="0"/>
                <a:ea typeface="맑은 고딕" pitchFamily="34" charset="-122"/>
                <a:cs typeface="맑은 고딕" pitchFamily="34" charset="-120"/>
              </a:rPr>
              <a:t>제조·소비 병기</a:t>
            </a:r>
            <a:endParaRPr lang="en-US" sz="1150" dirty="0"/>
          </a:p>
        </p:txBody>
      </p:sp>
      <p:pic>
        <p:nvPicPr>
          <p:cNvPr id="10" name="Image 2" descr="C:\Users\user\AppData\Local\Temp\claude\C--Users-user-Desktop-itda\bf40759d-3db3-4682-9251-a5dfc70e5b9d\scratchpad\deck\img\demo_dot.png">    </p:cNvPr>
          <p:cNvPicPr>
            <a:picLocks noChangeAspect="1"/>
          </p:cNvPicPr>
          <p:nvPr/>
        </p:nvPicPr>
        <p:blipFill>
          <a:blip r:embed="rId3"/>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algn="ctr" indent="0" marL="0">
              <a:buNone/>
            </a:pPr>
            <a:r>
              <a:rPr lang="en-US" sz="1150" b="1" dirty="0">
                <a:solidFill>
                  <a:srgbClr val="1A1A1A"/>
                </a:solidFill>
                <a:latin typeface="맑은 고딕" pitchFamily="34" charset="0"/>
                <a:ea typeface="맑은 고딕" pitchFamily="34" charset="-122"/>
                <a:cs typeface="맑은 고딕" pitchFamily="34" charset="-120"/>
              </a:rPr>
              <a:t>도트 인쇄 (폴백)</a:t>
            </a:r>
            <a:endParaRPr lang="en-US" sz="1150" dirty="0"/>
          </a:p>
        </p:txBody>
      </p:sp>
      <p:pic>
        <p:nvPicPr>
          <p:cNvPr id="12" name="Image 3" descr="C:\Users\user\AppData\Local\Temp\claude\C--Users-user-Desktop-itda\bf40759d-3db3-4682-9251-a5dfc70e5b9d\scratchpad\deck\img\demo_none.png">    </p:cNvPr>
          <p:cNvPicPr>
            <a:picLocks noChangeAspect="1"/>
          </p:cNvPicPr>
          <p:nvPr/>
        </p:nvPicPr>
        <p:blipFill>
          <a:blip r:embed="rId4"/>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algn="ctr" indent="0" marL="0">
              <a:buNone/>
            </a:pPr>
            <a:r>
              <a:rPr lang="en-US" sz="1150" b="1" dirty="0">
                <a:solidFill>
                  <a:srgbClr val="1A1A1A"/>
                </a:solidFill>
                <a:latin typeface="맑은 고딕" pitchFamily="34" charset="0"/>
                <a:ea typeface="맑은 고딕" pitchFamily="34" charset="-122"/>
                <a:cs typeface="맑은 고딕" pitchFamily="34" charset="-120"/>
              </a:rPr>
              <a:t>미인식 → 사람 확인</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네 번째 : 후보가 없으면 날짜를 지어내지 않고 NONE. 현장에서는 이 건만 사람에게 간다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재현 : 새 환경에서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설치 → 가중치 다운로드 → Run All</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b="1" dirty="0">
                <a:solidFill>
                  <a:srgbClr val="FFFFFF"/>
                </a:solidFill>
                <a:latin typeface="Arial" pitchFamily="34" charset="0"/>
                <a:ea typeface="Arial" pitchFamily="34" charset="-122"/>
                <a:cs typeface="Arial"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물류센터 입고 검수</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적용 도메인 : </a:t>
            </a:r>
            <a:pPr indent="0" marL="0">
              <a:buNone/>
            </a:pPr>
            <a:r>
              <a:rPr lang="en-US" sz="1900" b="1" dirty="0">
                <a:solidFill>
                  <a:srgbClr val="8B0000"/>
                </a:solidFill>
                <a:latin typeface="맑은 고딕" pitchFamily="34" charset="0"/>
                <a:ea typeface="맑은 고딕" pitchFamily="34" charset="-122"/>
                <a:cs typeface="맑은 고딕" pitchFamily="34" charset="-120"/>
              </a:rPr>
              <a:t>신선식품 물류센터 입고 검수</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맑은 고딕" pitchFamily="34" charset="0"/>
                <a:ea typeface="맑은 고딕" pitchFamily="34" charset="-122"/>
                <a:cs typeface="맑은 고딕" pitchFamily="34" charset="-120"/>
              </a:rPr>
              <a:t>센터는 기한이 빠른 상품부터 출고한다. 그런데 </a:t>
            </a:r>
            <a:pPr indent="0" marL="0">
              <a:buNone/>
            </a:pPr>
            <a:r>
              <a:rPr lang="en-US" sz="1200" b="1" dirty="0">
                <a:solidFill>
                  <a:srgbClr val="8B0000"/>
                </a:solidFill>
                <a:latin typeface="맑은 고딕" pitchFamily="34" charset="0"/>
                <a:ea typeface="맑은 고딕" pitchFamily="34" charset="-122"/>
                <a:cs typeface="맑은 고딕" pitchFamily="34" charset="-120"/>
              </a:rPr>
              <a:t>공급사가 신고한 기한과 실물이 맞는지</a:t>
            </a:r>
            <a:pPr indent="0" marL="0">
              <a:buNone/>
            </a:pPr>
            <a:r>
              <a:rPr lang="en-US" sz="1200" dirty="0">
                <a:solidFill>
                  <a:srgbClr val="1A1A1A"/>
                </a:solidFill>
                <a:latin typeface="맑은 고딕" pitchFamily="34" charset="0"/>
                <a:ea typeface="맑은 고딕" pitchFamily="34" charset="-122"/>
                <a:cs typeface="맑은 고딕" pitchFamily="34" charset="-120"/>
              </a:rPr>
              <a:t> 는 지금 사람이 눈으로 확인한다</a:t>
            </a:r>
            <a:endParaRPr lang="en-US" sz="120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algn="ctr" indent="0" marL="0">
              <a:buNone/>
            </a:pPr>
            <a:r>
              <a:rPr lang="en-US" sz="980" dirty="0">
                <a:solidFill>
                  <a:srgbClr val="FFFFFF"/>
                </a:solidFill>
                <a:latin typeface="맑은 고딕" pitchFamily="34" charset="0"/>
                <a:ea typeface="맑은 고딕" pitchFamily="34" charset="-122"/>
                <a:cs typeface="맑은 고딕" pitchFamily="34" charset="-120"/>
              </a:rPr>
              <a:t>검수자가 로트별</a:t>
            </a:r>
            <a:endParaRPr lang="en-US" sz="980" dirty="0"/>
          </a:p>
          <a:p>
            <a:pPr algn="ctr" indent="0" marL="0">
              <a:buNone/>
            </a:pPr>
            <a:r>
              <a:rPr lang="en-US" sz="980" dirty="0">
                <a:solidFill>
                  <a:srgbClr val="FFFFFF"/>
                </a:solidFill>
                <a:latin typeface="맑은 고딕" pitchFamily="34" charset="0"/>
                <a:ea typeface="맑은 고딕" pitchFamily="34" charset="-122"/>
                <a:cs typeface="맑은 고딕" pitchFamily="34" charset="-120"/>
              </a:rPr>
              <a:t>대표 상품 표시면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algn="ctr" indent="0" marL="0">
              <a:buNone/>
            </a:pPr>
            <a:r>
              <a:rPr lang="en-US" sz="980" dirty="0">
                <a:solidFill>
                  <a:srgbClr val="FFFFFF"/>
                </a:solidFill>
                <a:latin typeface="맑은 고딕" pitchFamily="34" charset="0"/>
                <a:ea typeface="맑은 고딕" pitchFamily="34" charset="-122"/>
                <a:cs typeface="맑은 고딕" pitchFamily="34" charset="-120"/>
              </a:rPr>
              <a:t>온디바이스 또는</a:t>
            </a:r>
            <a:endParaRPr lang="en-US" sz="980" dirty="0"/>
          </a:p>
          <a:p>
            <a:pPr algn="ctr" indent="0" marL="0">
              <a:buNone/>
            </a:pPr>
            <a:r>
              <a:rPr lang="en-US" sz="980" dirty="0">
                <a:solidFill>
                  <a:srgbClr val="FFFFFF"/>
                </a:solidFill>
                <a:latin typeface="맑은 고딕" pitchFamily="34" charset="0"/>
                <a:ea typeface="맑은 고딕" pitchFamily="34" charset="-122"/>
                <a:cs typeface="맑은 고딕" pitchFamily="34" charset="-120"/>
              </a:rPr>
              <a:t>센터 내 CPU 서버</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대조</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algn="ctr" indent="0" marL="0">
              <a:buNone/>
            </a:pPr>
            <a:r>
              <a:rPr lang="en-US" sz="980" dirty="0">
                <a:solidFill>
                  <a:srgbClr val="FFFFFF"/>
                </a:solidFill>
                <a:latin typeface="맑은 고딕" pitchFamily="34" charset="0"/>
                <a:ea typeface="맑은 고딕" pitchFamily="34" charset="-122"/>
                <a:cs typeface="맑은 고딕" pitchFamily="34" charset="-120"/>
              </a:rPr>
              <a:t>읽은 값 vs 공급사 신고값</a:t>
            </a:r>
            <a:endParaRPr lang="en-US" sz="980" dirty="0"/>
          </a:p>
          <a:p>
            <a:pPr algn="ctr" indent="0" marL="0">
              <a:buNone/>
            </a:pPr>
            <a:r>
              <a:rPr lang="en-US" sz="980" dirty="0">
                <a:solidFill>
                  <a:srgbClr val="FFFFFF"/>
                </a:solidFill>
                <a:latin typeface="맑은 고딕" pitchFamily="34" charset="0"/>
                <a:ea typeface="맑은 고딕" pitchFamily="34" charset="-122"/>
                <a:cs typeface="맑은 고딕" pitchFamily="34" charset="-120"/>
              </a:rPr>
              <a:t>잔여기한 기준 계산</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Arial" pitchFamily="34" charset="0"/>
                <a:ea typeface="Arial" pitchFamily="34" charset="-122"/>
                <a:cs typeface="Arial"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indent="0" marL="0">
              <a:buNone/>
            </a:pPr>
            <a:r>
              <a:rPr lang="en-US" sz="1150" b="1" dirty="0">
                <a:solidFill>
                  <a:srgbClr val="8B0000"/>
                </a:solidFill>
                <a:latin typeface="맑은 고딕" pitchFamily="34" charset="0"/>
                <a:ea typeface="맑은 고딕" pitchFamily="34" charset="-122"/>
                <a:cs typeface="맑은 고딕" pitchFamily="34" charset="-120"/>
              </a:rPr>
              <a:t>일치</a:t>
            </a:r>
            <a:pPr indent="0" marL="0">
              <a:buNone/>
            </a:pPr>
            <a:r>
              <a:rPr lang="en-US" sz="1150" dirty="0">
                <a:solidFill>
                  <a:srgbClr val="1A1A1A"/>
                </a:solidFill>
                <a:latin typeface="맑은 고딕" pitchFamily="34" charset="0"/>
                <a:ea typeface="맑은 고딕" pitchFamily="34" charset="-122"/>
                <a:cs typeface="맑은 고딕" pitchFamily="34" charset="-120"/>
              </a:rPr>
              <a:t>  →  자동 통과 (약 80%)</a:t>
            </a:r>
            <a:endParaRPr lang="en-US" sz="115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indent="0" marL="0">
              <a:buNone/>
            </a:pPr>
            <a:r>
              <a:rPr lang="en-US" sz="1100" b="1" dirty="0">
                <a:solidFill>
                  <a:srgbClr val="8B0000"/>
                </a:solidFill>
                <a:latin typeface="맑은 고딕" pitchFamily="34" charset="0"/>
                <a:ea typeface="맑은 고딕" pitchFamily="34" charset="-122"/>
                <a:cs typeface="맑은 고딕" pitchFamily="34" charset="-120"/>
              </a:rPr>
              <a:t>불일치 · 미인식 · 기준 미달</a:t>
            </a:r>
            <a:pPr indent="0" marL="0">
              <a:buNone/>
            </a:pPr>
            <a:endParaRPr lang="en-US" sz="1100" dirty="0"/>
          </a:p>
          <a:p>
            <a:pPr indent="0" marL="0">
              <a:buNone/>
            </a:pPr>
            <a:r>
              <a:rPr lang="en-US" sz="1100" dirty="0">
                <a:solidFill>
                  <a:srgbClr val="1A1A1A"/>
                </a:solidFill>
                <a:latin typeface="맑은 고딕" pitchFamily="34" charset="0"/>
                <a:ea typeface="맑은 고딕" pitchFamily="34" charset="-122"/>
                <a:cs typeface="맑은 고딕" pitchFamily="34" charset="-120"/>
              </a:rPr>
              <a:t>→  사람 확인 대기열</a:t>
            </a:r>
            <a:endParaRPr lang="en-US" sz="110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indent="0" marL="0">
              <a:buNone/>
            </a:pPr>
            <a:r>
              <a:rPr lang="en-US" sz="1080" dirty="0">
                <a:solidFill>
                  <a:srgbClr val="1A1A1A"/>
                </a:solidFill>
                <a:latin typeface="맑은 고딕" pitchFamily="34" charset="0"/>
                <a:ea typeface="맑은 고딕" pitchFamily="34" charset="-122"/>
                <a:cs typeface="맑은 고딕" pitchFamily="34" charset="-120"/>
              </a:rPr>
              <a:t>OCR이 잘못 읽어도 신고값과 어긋나 사람에게 간다. 그래서 정확도는 </a:t>
            </a:r>
            <a:pPr indent="0" marL="0">
              <a:buNone/>
            </a:pPr>
            <a:r>
              <a:rPr lang="en-US" sz="1080" b="1" dirty="0">
                <a:solidFill>
                  <a:srgbClr val="8B0000"/>
                </a:solidFill>
                <a:latin typeface="맑은 고딕" pitchFamily="34" charset="0"/>
                <a:ea typeface="맑은 고딕" pitchFamily="34" charset="-122"/>
                <a:cs typeface="맑은 고딕" pitchFamily="34" charset="-120"/>
              </a:rPr>
              <a:t>안전성이 아니라 자동화율</a:t>
            </a:r>
            <a:pPr indent="0" marL="0">
              <a:buNone/>
            </a:pPr>
            <a:r>
              <a:rPr lang="en-US" sz="1080" dirty="0">
                <a:solidFill>
                  <a:srgbClr val="1A1A1A"/>
                </a:solidFill>
                <a:latin typeface="맑은 고딕" pitchFamily="34" charset="0"/>
                <a:ea typeface="맑은 고딕" pitchFamily="34" charset="-122"/>
                <a:cs typeface="맑은 고딕" pitchFamily="34" charset="-120"/>
              </a:rPr>
              <a:t> 을 결정한다. 위험한 것은 "못 읽음" 이 아니라 "틀린 값을 자신 있게 냄" 이고, 우리는 그래서 NONE 을 설계했다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운영에서 더 세지는 신호</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읽은 날짜가 오늘보다 이르면 경고 (대회 데이터에서 이 신호의 오답률 72%)</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제조·포장 키워드만 읽히면 경고 (오답률 57%)</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사람이 고친 값은 이력과 함께 재학습 데이터로</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기한 정보가 담긴 QR 이 없는 상품을 맡는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보완 수단</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 제조사 수천 곳이 아니라 읽는 쪽 한 곳만 바뀌면 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운영 구조와 비용 : </a:t>
            </a:r>
            <a:pPr indent="0" marL="0">
              <a:buNone/>
            </a:pPr>
            <a:r>
              <a:rPr lang="en-US" sz="1900" b="1" dirty="0">
                <a:solidFill>
                  <a:srgbClr val="8B0000"/>
                </a:solidFill>
                <a:latin typeface="맑은 고딕" pitchFamily="34" charset="0"/>
                <a:ea typeface="맑은 고딕" pitchFamily="34" charset="-122"/>
                <a:cs typeface="맑은 고딕" pitchFamily="34" charset="-120"/>
              </a:rPr>
              <a:t>CPU 한 대로 시작한다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914400"/>
        </p:xfrm>
        <a:graphic>
          <a:graphicData uri="http://schemas.openxmlformats.org/drawingml/2006/table">
            <a:tbl>
              <a:tblPr/>
              <a:tblGrid>
                <a:gridCol w="1097280"/>
                <a:gridCol w="2011680"/>
                <a:gridCol w="2011680"/>
              </a:tblGrid>
              <a:tr h="310896">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구성</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온디바이스 (검수 단말)</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센터 내 서버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환경</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핸디 단말·태블릿 CPU</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4코어 CPU 서버 1대, GPU 없음</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모델</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탐지 5MB + 인식 8MB × 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동일 (총 21MB)</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네트워크</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불필요 (오프라인 동작 검증)</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센터 내부망</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처리량</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장당 약 3초</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시간당 약 1,200장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적합한 곳</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냉장·냉동 구역, 통신 음영</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검수대 고정 촬영, 이력 집계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비용 구조</a:t>
            </a:r>
            <a:endParaRPr lang="en-US" sz="1200" dirty="0"/>
          </a:p>
        </p:txBody>
      </p:sp>
      <p:sp>
        <p:nvSpPr>
          <p:cNvPr id="9" name="Text 6"/>
          <p:cNvSpPr txBox="1"/>
          <p:nvPr/>
        </p:nvSpPr>
        <p:spPr>
          <a:xfrm>
            <a:off x="5715000" y="1252728"/>
            <a:ext cx="30175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라이선스 0원 (오픈소스 모델, 외부 API 없음)</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GPU 0대, 학습 비용 0원</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서버 1대 또는 기존 단말 활용</a:t>
            </a:r>
            <a:endParaRPr lang="en-US" sz="1050" dirty="0"/>
          </a:p>
          <a:p>
            <a:pPr marL="342900" indent="-342900">
              <a:spcAft>
                <a:spcPts val="3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남는 비용은 사람 확인 인건비</a:t>
            </a:r>
            <a:endParaRPr lang="en-US" sz="105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절감 효과 계산 (가정을 명시한 추정)</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914400"/>
        </p:xfrm>
        <a:graphic>
          <a:graphicData uri="http://schemas.openxmlformats.org/drawingml/2006/table">
            <a:tbl>
              <a:tblPr/>
              <a:tblGrid>
                <a:gridCol w="2011680"/>
                <a:gridCol w="2926080"/>
                <a:gridCol w="1737360"/>
                <a:gridCol w="1920240"/>
              </a:tblGrid>
              <a:tr h="265176">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항목</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가정</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계산</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결과</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현재 : 전수 육안 확인</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하루 2,000 로트, 건당 20초</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2,000 × 20초</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하루 11.1시간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도입 후 : 예외만 확인</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자동 통과 80%, 확인 건당 8초 (실측)</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400 × 8초 + 촬영</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8B0000"/>
                          </a:solidFill>
                          <a:latin typeface="맑은 고딕" pitchFamily="34" charset="0"/>
                          <a:ea typeface="맑은 고딕" pitchFamily="34" charset="-122"/>
                          <a:cs typeface="맑은 고딕" pitchFamily="34" charset="-120"/>
                        </a:rPr>
                        <a:t>하루 0.9시간 + 촬영</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실측 근거</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오답 446장 점검에 61분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장당 평균 8초</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불일치율 15.6%</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로트 수·건당 시간은 가정값.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확인 건당 8초와 불일치율은 우리가 직접 잰 값</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이다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한계 : </a:t>
            </a:r>
            <a:pPr indent="0" marL="0">
              <a:buNone/>
            </a:pPr>
            <a:r>
              <a:rPr lang="en-US" sz="1900" b="1" dirty="0">
                <a:solidFill>
                  <a:srgbClr val="8B0000"/>
                </a:solidFill>
                <a:latin typeface="맑은 고딕" pitchFamily="34" charset="0"/>
                <a:ea typeface="맑은 고딕" pitchFamily="34" charset="-122"/>
                <a:cs typeface="맑은 고딕" pitchFamily="34" charset="-120"/>
              </a:rPr>
              <a:t>약점만 모은 새 시험지에서는 45%</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직접 촬영 166장 (도트·각인·병기만)</a:t>
            </a:r>
            <a:endParaRPr lang="en-US" sz="1200" dirty="0"/>
          </a:p>
        </p:txBody>
      </p:sp>
      <p:graphicFrame>
        <p:nvGraphicFramePr>
          <p:cNvPr id="8" name="Chart 0" descr=""/>
          <p:cNvGraphicFramePr/>
          <p:nvPr/>
        </p:nvGraphicFramePr>
        <p:xfrm>
          <a:off x="365760" y="1234440"/>
          <a:ext cx="4023360" cy="1645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도트 인쇄·각인 : 규칙으로는 끝. 인식기 학습 데이터가 답</a:t>
            </a:r>
            <a:endParaRPr lang="en-US" sz="1050" dirty="0"/>
          </a:p>
          <a:p>
            <a:pPr marL="342900" indent="-342900">
              <a:spcAft>
                <a:spcPts val="4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작은 사진 (전체의 33%) : 글자 8~12픽셀, 확대·해상도 상향 모두 효과 없음</a:t>
            </a:r>
            <a:endParaRPr lang="en-US" sz="1050" dirty="0"/>
          </a:p>
          <a:p>
            <a:pPr marL="342900" indent="-342900">
              <a:spcAft>
                <a:spcPts val="400"/>
              </a:spcAft>
              <a:buSzPct val="100000"/>
              <a:buChar char="•"/>
            </a:pPr>
            <a:r>
              <a:rPr lang="en-US" sz="1050" dirty="0">
                <a:solidFill>
                  <a:srgbClr val="1A1A1A"/>
                </a:solidFill>
                <a:latin typeface="맑은 고딕" pitchFamily="34" charset="0"/>
                <a:ea typeface="맑은 고딕" pitchFamily="34" charset="-122"/>
                <a:cs typeface="맑은 고딕" pitchFamily="34" charset="-120"/>
              </a:rPr>
              <a:t>제조일자만 있는 사진 (정답 NONE) : 한글 단서가 필요해 미지원, 0.5% 미만</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indent="0" marL="0">
              <a:buNone/>
            </a:pPr>
            <a:r>
              <a:rPr lang="en-US" sz="1250" b="1" dirty="0">
                <a:solidFill>
                  <a:srgbClr val="1A1A1A"/>
                </a:solidFill>
                <a:latin typeface="맑은 고딕" pitchFamily="34" charset="0"/>
                <a:ea typeface="맑은 고딕" pitchFamily="34" charset="-122"/>
                <a:cs typeface="맑은 고딕"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"날짜를 가운데, 가까이" 가이드와 반사 감지 재촬영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어려운 크롭을 사람이 고른다</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미인식 사진의 날짜 줄을 검수해 재학습</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indent="0" marL="0">
              <a:buNone/>
            </a:pPr>
            <a:r>
              <a:rPr lang="en-US" sz="1150" b="1" dirty="0">
                <a:solidFill>
                  <a:srgbClr val="1A1A1A"/>
                </a:solidFill>
                <a:latin typeface="맑은 고딕" pitchFamily="34" charset="0"/>
                <a:ea typeface="맑은 고딕" pitchFamily="34" charset="-122"/>
                <a:cs typeface="맑은 고딕" pitchFamily="34" charset="-120"/>
              </a:rPr>
              <a:t>경고를 붙인다</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맑은 고딕" pitchFamily="34" charset="0"/>
                <a:ea typeface="맑은 고딕" pitchFamily="34" charset="-122"/>
                <a:cs typeface="맑은 고딕" pitchFamily="34" charset="-120"/>
              </a:rPr>
              <a:t>답은 바꾸지 않고 의심 신호에 사람 확인 표시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86% 는 쉬운 사진이 섞인 평균이다.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약점의 실제 크기를 따로 재서 공개</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확장성 : </a:t>
            </a:r>
            <a:pPr indent="0" marL="0">
              <a:buNone/>
            </a:pPr>
            <a:r>
              <a:rPr lang="en-US" sz="1900" b="1" dirty="0">
                <a:solidFill>
                  <a:srgbClr val="8B0000"/>
                </a:solidFill>
                <a:latin typeface="맑은 고딕" pitchFamily="34" charset="0"/>
                <a:ea typeface="맑은 고딕" pitchFamily="34" charset="-122"/>
                <a:cs typeface="맑은 고딕"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834640"/>
                <a:gridCol w="1828800"/>
                <a:gridCol w="2011680"/>
                <a:gridCol w="1920240"/>
              </a:tblGrid>
              <a:tr h="347472">
                <a:tc>
                  <a:txBody>
                    <a:bodyPr/>
                    <a:lstStyle/>
                    <a:p>
                      <a:pPr algn="l" indent="0" marL="0">
                        <a:buNone/>
                      </a:pPr>
                      <a:r>
                        <a:rPr lang="en-US" sz="1030" b="1" dirty="0">
                          <a:solidFill>
                            <a:srgbClr val="FFFFFF"/>
                          </a:solidFill>
                          <a:latin typeface="맑은 고딕" pitchFamily="34" charset="0"/>
                          <a:ea typeface="맑은 고딕" pitchFamily="34" charset="-122"/>
                          <a:cs typeface="맑은 고딕" pitchFamily="34" charset="-120"/>
                        </a:rPr>
                        <a:t>적용 분야</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30" b="1" dirty="0">
                          <a:solidFill>
                            <a:srgbClr val="FFFFFF"/>
                          </a:solidFill>
                          <a:latin typeface="맑은 고딕" pitchFamily="34" charset="0"/>
                          <a:ea typeface="맑은 고딕" pitchFamily="34" charset="-122"/>
                          <a:cs typeface="맑은 고딕" pitchFamily="34" charset="-120"/>
                        </a:rPr>
                        <a:t>읽는 값</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30" b="1" dirty="0">
                          <a:solidFill>
                            <a:srgbClr val="FFFFFF"/>
                          </a:solidFill>
                          <a:latin typeface="맑은 고딕" pitchFamily="34" charset="0"/>
                          <a:ea typeface="맑은 고딕" pitchFamily="34" charset="-122"/>
                          <a:cs typeface="맑은 고딕" pitchFamily="34" charset="-120"/>
                        </a:rPr>
                        <a:t>바꿀 것</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30" b="1" dirty="0">
                          <a:solidFill>
                            <a:srgbClr val="FFFFFF"/>
                          </a:solidFill>
                          <a:latin typeface="맑은 고딕" pitchFamily="34" charset="0"/>
                          <a:ea typeface="맑은 고딕" pitchFamily="34" charset="-122"/>
                          <a:cs typeface="맑은 고딕" pitchFamily="34" charset="-120"/>
                        </a:rPr>
                        <a:t>그대로 쓰는 것</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47472">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의약품·화학 제품 출하 표시물 검증</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제조번호 · 사용기한</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표기 형식 규칙</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읽기 · 신고값 대조 · 예외 처리</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온라인 식품 발송 시점 기한 검증</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소비기한</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대조 대상 (판매 페이지 약속)</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파이프라인 전체</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단체급식 식재료 검수일지</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소비기한</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출력 양식 (검수일지)</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파이프라인 전체</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고압가스 용기 · 소화기 점검</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재검사 기한 · 제조연월</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형식 규칙, 각인 전처리</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30" dirty="0">
                          <a:solidFill>
                            <a:srgbClr val="1A1A1A"/>
                          </a:solidFill>
                          <a:latin typeface="맑은 고딕" pitchFamily="34" charset="0"/>
                          <a:ea typeface="맑은 고딕" pitchFamily="34" charset="-122"/>
                          <a:cs typeface="맑은 고딕" pitchFamily="34" charset="-120"/>
                        </a:rPr>
                        <a:t>탐지 · 폴백 구조</a:t>
                      </a:r>
                      <a:endParaRPr lang="en-US" sz="103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indent="0" marL="0">
              <a:buNone/>
            </a:pPr>
            <a:r>
              <a:rPr lang="en-US" sz="1200" b="1" dirty="0">
                <a:solidFill>
                  <a:srgbClr val="1A1A1A"/>
                </a:solidFill>
                <a:latin typeface="맑은 고딕" pitchFamily="34" charset="0"/>
                <a:ea typeface="맑은 고딕" pitchFamily="34" charset="-122"/>
                <a:cs typeface="맑은 고딕"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사람이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규칙 계층만 바꾸면 되는 구조 :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algn="ctr" indent="0" marL="0">
              <a:buNone/>
            </a:pPr>
            <a:r>
              <a:rPr lang="en-US" sz="1600" b="1" dirty="0">
                <a:solidFill>
                  <a:srgbClr val="8B0000"/>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맑은 고딕" pitchFamily="34" charset="0"/>
                <a:ea typeface="맑은 고딕" pitchFamily="34" charset="-122"/>
                <a:cs typeface="맑은 고딕"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algn="ctr" indent="0" marL="0">
              <a:buNone/>
            </a:pPr>
            <a:r>
              <a:rPr lang="en-US" sz="1600" b="1" dirty="0">
                <a:solidFill>
                  <a:srgbClr val="8B0000"/>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맑은 고딕" pitchFamily="34" charset="0"/>
                <a:ea typeface="맑은 고딕" pitchFamily="34" charset="-122"/>
                <a:cs typeface="맑은 고딕"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algn="ctr" indent="0" marL="0">
              <a:buNone/>
            </a:pPr>
            <a:r>
              <a:rPr lang="en-US" sz="1600" b="1" dirty="0">
                <a:solidFill>
                  <a:srgbClr val="8B0000"/>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맑은 고딕" pitchFamily="34" charset="0"/>
                <a:ea typeface="맑은 고딕" pitchFamily="34" charset="-122"/>
                <a:cs typeface="맑은 고딕" pitchFamily="34" charset="-120"/>
              </a:rPr>
              <a:t>확신이 없으면 NONE. 현장에서는 정확도가 안전성이 아니라 자동화율이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부록 : </a:t>
            </a:r>
            <a:pPr indent="0" marL="0">
              <a:buNone/>
            </a:pPr>
            <a:r>
              <a:rPr lang="en-US" sz="1900" b="1" dirty="0">
                <a:solidFill>
                  <a:srgbClr val="8B0000"/>
                </a:solidFill>
                <a:latin typeface="맑은 고딕" pitchFamily="34" charset="0"/>
                <a:ea typeface="맑은 고딕" pitchFamily="34" charset="-122"/>
                <a:cs typeface="맑은 고딕"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3840480"/>
                <a:gridCol w="2011680"/>
              </a:tblGrid>
              <a:tr h="352044">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상황</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해석</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근거 (전수 라벨 3,352장)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4자리 연도가 앞 / 뒤</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앞이면 년/월/일, 뒤면 일/월/년. 구분자 종류는 무관</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연도 앞 2,217 · 연도 뒤 362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2자리 세 개 (26.03.20)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년/월/일 우선. 무효이거나 연도 2028 이상이면 일/월/년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년월일 344 : 일월년 102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영문 유통 문구 (BBD, BEST BEFORE, EXP)</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같은 사진에 있으면 일/월/년 우선</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수입품 표기 관행</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공백 구분 (30 12 23)</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일/월/년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전부 수입품</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영문 월 (04-Jul-21, 22OCT2021)</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월 위치 확정, 4자리는 연도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148장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월/일/년 (06/18/23)</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일/월/년이 불가능할 때만 (가운데 13 이상)</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확정 미국식 2장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연월만 / 월일만</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YYYY-MM-NONE / NONE-MM-DD</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운영진 확정</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날짜가 여럿</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가장 좋은 등급 안에서 가장 늦은 날짜</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병기 345장 (10.3%)</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해석 기본값은 감이 아니라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직접 단 라벨의 통계</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b="1" dirty="0">
                <a:solidFill>
                  <a:srgbClr val="1A1A1A"/>
                </a:solidFill>
                <a:latin typeface="맑은 고딕" pitchFamily="34" charset="0"/>
                <a:ea typeface="맑은 고딕" pitchFamily="34" charset="-122"/>
                <a:cs typeface="맑은 고딕" pitchFamily="34" charset="-120"/>
              </a:rPr>
              <a:t>부록 : </a:t>
            </a:r>
            <a:pPr indent="0" marL="0">
              <a:buNone/>
            </a:pPr>
            <a:r>
              <a:rPr lang="en-US" sz="1900" b="1" dirty="0">
                <a:solidFill>
                  <a:srgbClr val="8B0000"/>
                </a:solidFill>
                <a:latin typeface="맑은 고딕" pitchFamily="34" charset="0"/>
                <a:ea typeface="맑은 고딕" pitchFamily="34" charset="-122"/>
                <a:cs typeface="맑은 고딕"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2743200"/>
                <a:gridCol w="1097280"/>
                <a:gridCol w="1097280"/>
                <a:gridCol w="2103120"/>
              </a:tblGrid>
              <a:tr h="329184">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측정셋</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구성</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완전일치</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필드평균</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b="1" dirty="0">
                          <a:solidFill>
                            <a:srgbClr val="FFFFFF"/>
                          </a:solidFill>
                          <a:latin typeface="맑은 고딕" pitchFamily="34" charset="0"/>
                          <a:ea typeface="맑은 고딕" pitchFamily="34" charset="-122"/>
                          <a:cs typeface="맑은 고딕" pitchFamily="34" charset="-120"/>
                        </a:rPr>
                        <a:t>비고</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봉인 500장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예선 제출본 (9/13)</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84.2%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88.8%</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미인식 17</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봉인 500장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본선 통합본 (9/28)</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8B0000"/>
                          </a:solidFill>
                          <a:latin typeface="맑은 고딕" pitchFamily="34" charset="0"/>
                          <a:ea typeface="맑은 고딕" pitchFamily="34" charset="-122"/>
                          <a:cs typeface="맑은 고딕" pitchFamily="34" charset="-120"/>
                        </a:rPr>
                        <a:t>86.2%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8B0000"/>
                          </a:solidFill>
                          <a:latin typeface="맑은 고딕" pitchFamily="34" charset="0"/>
                          <a:ea typeface="맑은 고딕" pitchFamily="34" charset="-122"/>
                          <a:cs typeface="맑은 고딕" pitchFamily="34" charset="-120"/>
                        </a:rPr>
                        <a:t>90.8%</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미인식 15, 정밀도 88.9%</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판정용 2,852장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예선 구성</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81.9%</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라벨 점검 후 82.3%, 병기 64.1%</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판정용 2,852장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본선 규칙 + 한국어 2차 의견</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86.0%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라벨 점검 후, 병기 77.9%</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판정용 2,852장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통합본 (9/24, 규칙 4개 전)</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85.1%</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89.8%</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예선 대비 +97 / −6</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직접 촬영 166장</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본선 통합본</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45.2%</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59.0%</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맑은 고딕" pitchFamily="34" charset="0"/>
                          <a:ea typeface="맑은 고딕" pitchFamily="34" charset="-122"/>
                          <a:cs typeface="맑은 고딕" pitchFamily="34" charset="-120"/>
                        </a:rPr>
                        <a:t>약점 유형만, 미인식 23%</a:t>
                      </a:r>
                      <a:endParaRPr lang="en-US" sz="1000" dirty="0">
                        <a:latin typeface="맑은 고딕" charset="0"/>
                        <a:ea typeface="맑은 고딕" charset="0"/>
                        <a:cs typeface="맑은 고딕"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맑은 고딕" pitchFamily="34" charset="0"/>
                <a:ea typeface="맑은 고딕" pitchFamily="34" charset="-122"/>
                <a:cs typeface="맑은 고딕"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b="1" dirty="0">
                <a:solidFill>
                  <a:srgbClr val="1A1A1A"/>
                </a:solidFill>
                <a:latin typeface="맑은 고딕" pitchFamily="34" charset="0"/>
                <a:ea typeface="맑은 고딕" pitchFamily="34" charset="-122"/>
                <a:cs typeface="맑은 고딕" pitchFamily="34" charset="-120"/>
              </a:rPr>
              <a:t>모든 수치의 예측 파일과 실험 기록은 </a:t>
            </a:r>
            <a:pPr algn="ctr" indent="0" marL="0">
              <a:buNone/>
            </a:pPr>
            <a:r>
              <a:rPr lang="en-US" sz="1250" b="1" dirty="0">
                <a:solidFill>
                  <a:srgbClr val="8B0000"/>
                </a:solidFill>
                <a:latin typeface="맑은 고딕" pitchFamily="34" charset="0"/>
                <a:ea typeface="맑은 고딕" pitchFamily="34" charset="-122"/>
                <a:cs typeface="맑은 고딕" pitchFamily="34" charset="-120"/>
              </a:rPr>
              <a:t>저장소 results/ · docs/실험_기록.md</a:t>
            </a:r>
            <a:pPr algn="ctr" indent="0" marL="0">
              <a:buNone/>
            </a:pPr>
            <a:r>
              <a:rPr lang="en-US" sz="1250" b="1" dirty="0">
                <a:solidFill>
                  <a:srgbClr val="1A1A1A"/>
                </a:solidFill>
                <a:latin typeface="맑은 고딕" pitchFamily="34" charset="0"/>
                <a:ea typeface="맑은 고딕" pitchFamily="34" charset="-122"/>
                <a:cs typeface="맑은 고딕"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PptxGenJS</cp:lastModifiedBy>
  <cp:revision>1</cp:revision>
  <dcterms:created xsi:type="dcterms:W3CDTF">2026-09-28T08:31:21Z</dcterms:created>
  <dcterms:modified xsi:type="dcterms:W3CDTF">2026-09-28T08:31:21Z</dcterms:modified>
</cp:coreProperties>
</file>