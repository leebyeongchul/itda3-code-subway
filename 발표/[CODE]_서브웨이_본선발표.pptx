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8288000" cy="10287000"/>
  <p:notesSz cx="6858000" cy="9144000"/>
  <p:embeddedFontLst>
    <p:embeddedFont>
      <p:font typeface="프리텐다드" panose="02000503000000020004" pitchFamily="2" charset="-127"/>
      <p:regular r:id="rId27"/>
    </p:embeddedFont>
    <p:embeddedFont>
      <p:font typeface="프리텐다드 Bold" panose="02000803000000020004" pitchFamily="2" charset="-127"/>
      <p:regular r:id="rId28"/>
      <p:bold r:id="rId29"/>
    </p:embeddedFont>
    <p:embeddedFont>
      <p:font typeface="프리텐다드 Heavy" panose="02000A03000000020004" pitchFamily="2" charset="-127"/>
      <p:regular r:id="rId30"/>
      <p:bold r:id="rId31"/>
    </p:embeddedFont>
    <p:embeddedFont>
      <p:font typeface="프리텐다드 Medium" panose="02000603000000020004" pitchFamily="2" charset="-127"/>
      <p:regular r:id="rId32"/>
    </p:embeddedFont>
    <p:embeddedFont>
      <p:font typeface="프리텐다드 Ultra-Bold" panose="02000903000000020004" pitchFamily="2" charset="-127"/>
      <p:regular r:id="rId33"/>
      <p:bold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75173" autoAdjust="0"/>
  </p:normalViewPr>
  <p:slideViewPr>
    <p:cSldViewPr>
      <p:cViewPr>
        <p:scale>
          <a:sx n="73" d="100"/>
          <a:sy n="73" d="100"/>
        </p:scale>
        <p:origin x="-272"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02.10.2026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안녕하세요</a:t>
            </a:r>
            <a:r>
              <a:rPr lang="en-US" dirty="0"/>
              <a:t>, CODE </a:t>
            </a:r>
            <a:r>
              <a:rPr lang="en-US" dirty="0" err="1"/>
              <a:t>서브웨이</a:t>
            </a:r>
            <a:r>
              <a:rPr lang="en-US" dirty="0"/>
              <a:t> </a:t>
            </a:r>
            <a:r>
              <a:rPr lang="en-US" dirty="0" err="1"/>
              <a:t>팀입니다</a:t>
            </a:r>
            <a:r>
              <a:rPr lang="en-US" dirty="0"/>
              <a:t>. </a:t>
            </a:r>
            <a:r>
              <a:rPr lang="en-US" dirty="0" err="1"/>
              <a:t>저희는</a:t>
            </a:r>
            <a:r>
              <a:rPr lang="en-US" dirty="0"/>
              <a:t> </a:t>
            </a:r>
            <a:r>
              <a:rPr lang="en-US" dirty="0" err="1"/>
              <a:t>상품</a:t>
            </a:r>
            <a:r>
              <a:rPr lang="en-US" dirty="0"/>
              <a:t> </a:t>
            </a:r>
            <a:r>
              <a:rPr lang="en-US" dirty="0" err="1"/>
              <a:t>뒷면</a:t>
            </a:r>
            <a:r>
              <a:rPr lang="en-US" dirty="0"/>
              <a:t> </a:t>
            </a:r>
            <a:r>
              <a:rPr lang="en-US" dirty="0" err="1"/>
              <a:t>사진에서</a:t>
            </a:r>
            <a:r>
              <a:rPr lang="en-US" dirty="0"/>
              <a:t> </a:t>
            </a:r>
            <a:r>
              <a:rPr lang="en-US" dirty="0" err="1"/>
              <a:t>소비기한을</a:t>
            </a:r>
            <a:r>
              <a:rPr lang="en-US" dirty="0"/>
              <a:t> </a:t>
            </a:r>
            <a:r>
              <a:rPr lang="en-US" dirty="0" err="1"/>
              <a:t>읽는</a:t>
            </a:r>
            <a:r>
              <a:rPr lang="en-US" dirty="0"/>
              <a:t> </a:t>
            </a:r>
            <a:r>
              <a:rPr lang="en-US" dirty="0" err="1"/>
              <a:t>OCR을</a:t>
            </a:r>
            <a:r>
              <a:rPr lang="en-US" dirty="0"/>
              <a:t> </a:t>
            </a:r>
            <a:r>
              <a:rPr lang="en-US" dirty="0" err="1"/>
              <a:t>만들었습니다</a:t>
            </a:r>
            <a:r>
              <a:rPr lang="en-US" dirty="0"/>
              <a:t>. </a:t>
            </a:r>
            <a:r>
              <a:rPr lang="en-US" dirty="0" err="1"/>
              <a:t>오늘</a:t>
            </a:r>
            <a:r>
              <a:rPr lang="en-US" dirty="0"/>
              <a:t> </a:t>
            </a:r>
            <a:r>
              <a:rPr lang="en-US" dirty="0" err="1"/>
              <a:t>드릴</a:t>
            </a:r>
            <a:r>
              <a:rPr lang="en-US" dirty="0"/>
              <a:t> </a:t>
            </a:r>
            <a:r>
              <a:rPr lang="en-US" dirty="0" err="1"/>
              <a:t>말씀의</a:t>
            </a:r>
            <a:r>
              <a:rPr lang="en-US" dirty="0"/>
              <a:t> </a:t>
            </a:r>
            <a:r>
              <a:rPr lang="en-US" dirty="0" err="1"/>
              <a:t>핵심은</a:t>
            </a:r>
            <a:r>
              <a:rPr lang="en-US" dirty="0"/>
              <a:t> </a:t>
            </a:r>
            <a:r>
              <a:rPr lang="en-US" dirty="0" err="1"/>
              <a:t>제목</a:t>
            </a:r>
            <a:r>
              <a:rPr lang="en-US" dirty="0"/>
              <a:t> </a:t>
            </a:r>
            <a:r>
              <a:rPr lang="en-US" dirty="0" err="1"/>
              <a:t>그대로입니다</a:t>
            </a:r>
            <a:r>
              <a:rPr lang="en-US" dirty="0"/>
              <a:t>. </a:t>
            </a:r>
            <a:r>
              <a:rPr lang="en-US" dirty="0" err="1"/>
              <a:t>저희</a:t>
            </a:r>
            <a:r>
              <a:rPr lang="en-US" dirty="0"/>
              <a:t> </a:t>
            </a:r>
            <a:r>
              <a:rPr lang="en-US" dirty="0" err="1"/>
              <a:t>시스템은</a:t>
            </a:r>
            <a:r>
              <a:rPr lang="en-US" dirty="0"/>
              <a:t> 잘 </a:t>
            </a:r>
            <a:r>
              <a:rPr lang="en-US" dirty="0" err="1"/>
              <a:t>읽는</a:t>
            </a:r>
            <a:r>
              <a:rPr lang="en-US" dirty="0"/>
              <a:t> </a:t>
            </a:r>
            <a:r>
              <a:rPr lang="en-US" dirty="0" err="1"/>
              <a:t>것만큼</a:t>
            </a:r>
            <a:r>
              <a:rPr lang="en-US" dirty="0"/>
              <a:t>, 못 </a:t>
            </a:r>
            <a:r>
              <a:rPr lang="en-US" dirty="0" err="1"/>
              <a:t>읽었을</a:t>
            </a:r>
            <a:r>
              <a:rPr lang="en-US" dirty="0"/>
              <a:t> 때 못 </a:t>
            </a:r>
            <a:r>
              <a:rPr lang="en-US" dirty="0" err="1"/>
              <a:t>읽었다고</a:t>
            </a:r>
            <a:r>
              <a:rPr lang="en-US" dirty="0"/>
              <a:t> </a:t>
            </a:r>
            <a:r>
              <a:rPr lang="en-US" dirty="0" err="1"/>
              <a:t>말하는</a:t>
            </a:r>
            <a:r>
              <a:rPr lang="en-US" dirty="0"/>
              <a:t> </a:t>
            </a:r>
            <a:r>
              <a:rPr lang="en-US" dirty="0" err="1"/>
              <a:t>것을</a:t>
            </a:r>
            <a:r>
              <a:rPr lang="en-US" dirty="0"/>
              <a:t> </a:t>
            </a:r>
            <a:r>
              <a:rPr lang="en-US" dirty="0" err="1"/>
              <a:t>중요하게</a:t>
            </a:r>
            <a:r>
              <a:rPr lang="en-US" dirty="0"/>
              <a:t> </a:t>
            </a:r>
            <a:r>
              <a:rPr lang="en-US" dirty="0" err="1"/>
              <a:t>설계했습니다</a:t>
            </a:r>
            <a:r>
              <a:rPr lang="en-US" dirty="0"/>
              <a:t>. 왜 </a:t>
            </a:r>
            <a:r>
              <a:rPr lang="en-US" dirty="0" err="1"/>
              <a:t>그렇게</a:t>
            </a:r>
            <a:r>
              <a:rPr lang="en-US" dirty="0"/>
              <a:t> </a:t>
            </a:r>
            <a:r>
              <a:rPr lang="en-US" dirty="0" err="1"/>
              <a:t>했는지</a:t>
            </a:r>
            <a:r>
              <a:rPr lang="en-US" dirty="0"/>
              <a:t>, </a:t>
            </a:r>
            <a:r>
              <a:rPr lang="en-US" dirty="0" err="1"/>
              <a:t>그리고</a:t>
            </a:r>
            <a:r>
              <a:rPr lang="en-US" dirty="0"/>
              <a:t> 그 </a:t>
            </a:r>
            <a:r>
              <a:rPr lang="en-US" dirty="0" err="1"/>
              <a:t>설계가</a:t>
            </a:r>
            <a:r>
              <a:rPr lang="en-US" dirty="0"/>
              <a:t> </a:t>
            </a:r>
            <a:r>
              <a:rPr lang="en-US" dirty="0" err="1"/>
              <a:t>중고거래</a:t>
            </a:r>
            <a:r>
              <a:rPr lang="en-US" dirty="0"/>
              <a:t> </a:t>
            </a:r>
            <a:r>
              <a:rPr lang="en-US" dirty="0" err="1"/>
              <a:t>서비스에서</a:t>
            </a:r>
            <a:r>
              <a:rPr lang="en-US" dirty="0"/>
              <a:t> </a:t>
            </a:r>
            <a:r>
              <a:rPr lang="en-US" dirty="0" err="1"/>
              <a:t>어떤</a:t>
            </a:r>
            <a:r>
              <a:rPr lang="en-US" dirty="0"/>
              <a:t> </a:t>
            </a:r>
            <a:r>
              <a:rPr lang="en-US" dirty="0" err="1"/>
              <a:t>의미인지</a:t>
            </a:r>
            <a:r>
              <a:rPr lang="en-US" dirty="0"/>
              <a:t> 10분 </a:t>
            </a:r>
            <a:r>
              <a:rPr lang="en-US" dirty="0" err="1"/>
              <a:t>동안</a:t>
            </a:r>
            <a:r>
              <a:rPr lang="en-US" dirty="0"/>
              <a:t> </a:t>
            </a:r>
            <a:r>
              <a:rPr lang="en-US" dirty="0" err="1"/>
              <a:t>말씀드리겠습니다</a:t>
            </a:r>
            <a:r>
              <a:rPr lang="en-US" dirty="0"/>
              <a:t>.</a:t>
            </a:r>
          </a:p>
          <a:p>
            <a:r>
              <a:rPr lang="en-US" dirty="0"/>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먼저 문제와 제약입니다.</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이 대회는 세 가지 제약이 있었습니다. 첫째, 사진 3,352장에 정답이 없습니다. 둘째, 채점 서버는 GPU 없는 4코어 CPU이고 인터넷이 끊겨 있습니다. 셋째, 500장을 2,500초 안에 끝내야 하고, 넘기면 결과 파일 자체가 안 나와 정확도까지 0점입니다. 초기 구성은 500장에 2,905초가 걸려 이미 탈락이었습니다. 그래서 정확도보다 먼저, 끝까지 돌아가는 구조에서 출발했습니다.</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두 번째는 검증 설계입니다. 심사에서 가장 먼저 확인하실 부분이라고 생각합니다.</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정답이</a:t>
            </a:r>
            <a:r>
              <a:rPr lang="en-US" dirty="0"/>
              <a:t> </a:t>
            </a:r>
            <a:r>
              <a:rPr lang="en-US" dirty="0" err="1"/>
              <a:t>없으니</a:t>
            </a:r>
            <a:r>
              <a:rPr lang="en-US" dirty="0"/>
              <a:t> </a:t>
            </a:r>
            <a:r>
              <a:rPr lang="ko-KR" altLang="en-US" dirty="0"/>
              <a:t>정확도를 판단할 기준</a:t>
            </a:r>
            <a:r>
              <a:rPr lang="en-US" dirty="0" err="1"/>
              <a:t>부터</a:t>
            </a:r>
            <a:r>
              <a:rPr lang="en-US" dirty="0"/>
              <a:t> </a:t>
            </a:r>
            <a:r>
              <a:rPr lang="en-US" dirty="0" err="1"/>
              <a:t>만들었습니다</a:t>
            </a:r>
            <a:r>
              <a:rPr lang="en-US" dirty="0"/>
              <a:t>. </a:t>
            </a:r>
            <a:r>
              <a:rPr lang="en-US" dirty="0" err="1"/>
              <a:t>먼저</a:t>
            </a:r>
            <a:r>
              <a:rPr lang="en-US" dirty="0"/>
              <a:t> </a:t>
            </a:r>
            <a:r>
              <a:rPr lang="en-US" dirty="0" err="1"/>
              <a:t>날짜를</a:t>
            </a:r>
            <a:r>
              <a:rPr lang="en-US" dirty="0"/>
              <a:t> </a:t>
            </a:r>
            <a:r>
              <a:rPr lang="en-US" dirty="0" err="1"/>
              <a:t>어떻게</a:t>
            </a:r>
            <a:r>
              <a:rPr lang="en-US" dirty="0"/>
              <a:t> </a:t>
            </a:r>
            <a:r>
              <a:rPr lang="en-US" dirty="0" err="1"/>
              <a:t>해석할지</a:t>
            </a:r>
            <a:r>
              <a:rPr lang="en-US" dirty="0"/>
              <a:t> </a:t>
            </a:r>
            <a:r>
              <a:rPr lang="en-US" dirty="0" err="1"/>
              <a:t>규칙을</a:t>
            </a:r>
            <a:r>
              <a:rPr lang="en-US" dirty="0"/>
              <a:t> </a:t>
            </a:r>
            <a:r>
              <a:rPr lang="en-US" dirty="0" err="1"/>
              <a:t>문서로</a:t>
            </a:r>
            <a:r>
              <a:rPr lang="en-US" dirty="0"/>
              <a:t> </a:t>
            </a:r>
            <a:r>
              <a:rPr lang="en-US" dirty="0" err="1"/>
              <a:t>정하고</a:t>
            </a:r>
            <a:r>
              <a:rPr lang="en-US" dirty="0"/>
              <a:t>, 그 </a:t>
            </a:r>
            <a:r>
              <a:rPr lang="en-US" dirty="0" err="1"/>
              <a:t>규칙대로</a:t>
            </a:r>
            <a:r>
              <a:rPr lang="en-US" dirty="0"/>
              <a:t> </a:t>
            </a:r>
            <a:r>
              <a:rPr lang="en-US" dirty="0" err="1"/>
              <a:t>동작하는</a:t>
            </a:r>
            <a:r>
              <a:rPr lang="en-US" dirty="0"/>
              <a:t> </a:t>
            </a:r>
            <a:r>
              <a:rPr lang="en-US" dirty="0" err="1"/>
              <a:t>라벨링</a:t>
            </a:r>
            <a:r>
              <a:rPr lang="en-US" dirty="0"/>
              <a:t> </a:t>
            </a:r>
            <a:r>
              <a:rPr lang="en-US" dirty="0" err="1"/>
              <a:t>도구를</a:t>
            </a:r>
            <a:r>
              <a:rPr lang="en-US" dirty="0"/>
              <a:t> </a:t>
            </a:r>
            <a:r>
              <a:rPr lang="en-US" dirty="0" err="1"/>
              <a:t>만들어</a:t>
            </a:r>
            <a:r>
              <a:rPr lang="en-US" dirty="0"/>
              <a:t> 3,352장 </a:t>
            </a:r>
            <a:r>
              <a:rPr lang="en-US" dirty="0" err="1"/>
              <a:t>전부에</a:t>
            </a:r>
            <a:r>
              <a:rPr lang="en-US" dirty="0"/>
              <a:t> </a:t>
            </a:r>
            <a:r>
              <a:rPr lang="en-US" dirty="0" err="1"/>
              <a:t>다섯</a:t>
            </a:r>
            <a:r>
              <a:rPr lang="en-US" dirty="0"/>
              <a:t> </a:t>
            </a:r>
            <a:r>
              <a:rPr lang="en-US" dirty="0" err="1"/>
              <a:t>명이</a:t>
            </a:r>
            <a:r>
              <a:rPr lang="en-US" dirty="0"/>
              <a:t> </a:t>
            </a:r>
            <a:r>
              <a:rPr lang="en-US" dirty="0" err="1"/>
              <a:t>직접</a:t>
            </a:r>
            <a:r>
              <a:rPr lang="en-US" dirty="0"/>
              <a:t> </a:t>
            </a:r>
            <a:r>
              <a:rPr lang="en-US" dirty="0" err="1"/>
              <a:t>라벨을</a:t>
            </a:r>
            <a:r>
              <a:rPr lang="en-US" dirty="0"/>
              <a:t> </a:t>
            </a:r>
            <a:r>
              <a:rPr lang="en-US" dirty="0" err="1"/>
              <a:t>달았습니다</a:t>
            </a:r>
            <a:r>
              <a:rPr lang="en-US" dirty="0"/>
              <a:t>. </a:t>
            </a:r>
            <a:r>
              <a:rPr lang="en-US" dirty="0" err="1"/>
              <a:t>그중</a:t>
            </a:r>
            <a:r>
              <a:rPr lang="en-US" dirty="0"/>
              <a:t> 500장은 </a:t>
            </a:r>
            <a:r>
              <a:rPr lang="en-US" dirty="0" err="1"/>
              <a:t>따로</a:t>
            </a:r>
            <a:r>
              <a:rPr lang="en-US" dirty="0"/>
              <a:t> </a:t>
            </a:r>
            <a:r>
              <a:rPr lang="en-US" dirty="0" err="1"/>
              <a:t>봉인해서</a:t>
            </a:r>
            <a:r>
              <a:rPr lang="en-US" dirty="0"/>
              <a:t> </a:t>
            </a:r>
            <a:r>
              <a:rPr lang="en-US" dirty="0" err="1"/>
              <a:t>학습과</a:t>
            </a:r>
            <a:r>
              <a:rPr lang="en-US" dirty="0"/>
              <a:t> </a:t>
            </a:r>
            <a:r>
              <a:rPr lang="en-US" dirty="0" err="1"/>
              <a:t>규칙</a:t>
            </a:r>
            <a:r>
              <a:rPr lang="en-US" dirty="0"/>
              <a:t> </a:t>
            </a:r>
            <a:r>
              <a:rPr lang="en-US" dirty="0" err="1"/>
              <a:t>도출에</a:t>
            </a:r>
            <a:r>
              <a:rPr lang="en-US" dirty="0"/>
              <a:t> </a:t>
            </a:r>
            <a:r>
              <a:rPr lang="en-US" dirty="0" err="1"/>
              <a:t>쓰지</a:t>
            </a:r>
            <a:r>
              <a:rPr lang="en-US" dirty="0"/>
              <a:t> </a:t>
            </a:r>
            <a:r>
              <a:rPr lang="en-US" dirty="0" err="1"/>
              <a:t>않고</a:t>
            </a:r>
            <a:r>
              <a:rPr lang="en-US" dirty="0"/>
              <a:t> </a:t>
            </a:r>
            <a:r>
              <a:rPr lang="en-US" dirty="0" err="1"/>
              <a:t>측정에만</a:t>
            </a:r>
            <a:r>
              <a:rPr lang="en-US" dirty="0"/>
              <a:t> </a:t>
            </a:r>
            <a:r>
              <a:rPr lang="en-US" dirty="0" err="1"/>
              <a:t>썼고</a:t>
            </a:r>
            <a:r>
              <a:rPr lang="en-US" dirty="0"/>
              <a:t>, </a:t>
            </a:r>
            <a:r>
              <a:rPr lang="en-US" dirty="0" err="1"/>
              <a:t>오늘</a:t>
            </a:r>
            <a:r>
              <a:rPr lang="en-US" dirty="0"/>
              <a:t> </a:t>
            </a:r>
            <a:r>
              <a:rPr lang="en-US" dirty="0" err="1"/>
              <a:t>말씀드리는</a:t>
            </a:r>
            <a:r>
              <a:rPr lang="en-US" dirty="0"/>
              <a:t> </a:t>
            </a:r>
            <a:r>
              <a:rPr lang="en-US" dirty="0" err="1"/>
              <a:t>공식</a:t>
            </a:r>
            <a:r>
              <a:rPr lang="en-US" dirty="0"/>
              <a:t> </a:t>
            </a:r>
            <a:r>
              <a:rPr lang="en-US" dirty="0" err="1"/>
              <a:t>수치는</a:t>
            </a:r>
            <a:r>
              <a:rPr lang="en-US" dirty="0"/>
              <a:t> </a:t>
            </a:r>
            <a:r>
              <a:rPr lang="en-US" dirty="0" err="1"/>
              <a:t>전부</a:t>
            </a:r>
            <a:r>
              <a:rPr lang="en-US" dirty="0"/>
              <a:t> 이 500장 </a:t>
            </a:r>
            <a:r>
              <a:rPr lang="en-US" dirty="0" err="1"/>
              <a:t>기준입니다</a:t>
            </a:r>
            <a:r>
              <a:rPr lang="en-US" dirty="0"/>
              <a:t>. </a:t>
            </a:r>
            <a:r>
              <a:rPr lang="en-US" dirty="0" err="1"/>
              <a:t>기능을</a:t>
            </a:r>
            <a:r>
              <a:rPr lang="en-US" dirty="0"/>
              <a:t> </a:t>
            </a:r>
            <a:r>
              <a:rPr lang="en-US" dirty="0" err="1"/>
              <a:t>넣을지는</a:t>
            </a:r>
            <a:r>
              <a:rPr lang="en-US" dirty="0"/>
              <a:t> </a:t>
            </a:r>
            <a:r>
              <a:rPr lang="en-US" dirty="0" err="1"/>
              <a:t>나머지</a:t>
            </a:r>
            <a:r>
              <a:rPr lang="en-US" dirty="0"/>
              <a:t> 2,852장에서 </a:t>
            </a:r>
            <a:r>
              <a:rPr lang="en-US" dirty="0" err="1"/>
              <a:t>판정했고</a:t>
            </a:r>
            <a:r>
              <a:rPr lang="en-US" dirty="0"/>
              <a:t>, </a:t>
            </a:r>
            <a:r>
              <a:rPr lang="en-US" dirty="0" err="1"/>
              <a:t>새로</a:t>
            </a:r>
            <a:r>
              <a:rPr lang="en-US" dirty="0"/>
              <a:t> </a:t>
            </a:r>
            <a:r>
              <a:rPr lang="en-US" dirty="0" err="1"/>
              <a:t>맞힌</a:t>
            </a:r>
            <a:r>
              <a:rPr lang="en-US" dirty="0"/>
              <a:t> </a:t>
            </a:r>
            <a:r>
              <a:rPr lang="en-US" dirty="0" err="1"/>
              <a:t>장과</a:t>
            </a:r>
            <a:r>
              <a:rPr lang="en-US" dirty="0"/>
              <a:t> </a:t>
            </a:r>
            <a:r>
              <a:rPr lang="en-US" dirty="0" err="1"/>
              <a:t>새로</a:t>
            </a:r>
            <a:r>
              <a:rPr lang="en-US" dirty="0"/>
              <a:t> </a:t>
            </a:r>
            <a:r>
              <a:rPr lang="en-US" dirty="0" err="1"/>
              <a:t>틀린</a:t>
            </a:r>
            <a:r>
              <a:rPr lang="en-US" dirty="0"/>
              <a:t> </a:t>
            </a:r>
            <a:r>
              <a:rPr lang="en-US" dirty="0" err="1"/>
              <a:t>장을</a:t>
            </a:r>
            <a:r>
              <a:rPr lang="en-US" dirty="0"/>
              <a:t> </a:t>
            </a:r>
            <a:r>
              <a:rPr lang="en-US" dirty="0" err="1"/>
              <a:t>따로</a:t>
            </a:r>
            <a:r>
              <a:rPr lang="en-US" dirty="0"/>
              <a:t> </a:t>
            </a:r>
            <a:r>
              <a:rPr lang="en-US" dirty="0" err="1"/>
              <a:t>세어</a:t>
            </a:r>
            <a:r>
              <a:rPr lang="en-US" dirty="0"/>
              <a:t> </a:t>
            </a:r>
            <a:r>
              <a:rPr lang="en-US" dirty="0" err="1"/>
              <a:t>퇴보가</a:t>
            </a:r>
            <a:r>
              <a:rPr lang="en-US" dirty="0"/>
              <a:t> </a:t>
            </a:r>
            <a:r>
              <a:rPr lang="en-US" dirty="0" err="1"/>
              <a:t>크면</a:t>
            </a:r>
            <a:r>
              <a:rPr lang="en-US" dirty="0"/>
              <a:t> </a:t>
            </a:r>
            <a:r>
              <a:rPr lang="en-US" dirty="0" err="1"/>
              <a:t>점수가</a:t>
            </a:r>
            <a:r>
              <a:rPr lang="en-US" dirty="0"/>
              <a:t> </a:t>
            </a:r>
            <a:r>
              <a:rPr lang="en-US" dirty="0" err="1"/>
              <a:t>올라도</a:t>
            </a:r>
            <a:r>
              <a:rPr lang="en-US" dirty="0"/>
              <a:t> </a:t>
            </a:r>
            <a:r>
              <a:rPr lang="en-US" dirty="0" err="1"/>
              <a:t>버렸습니다</a:t>
            </a:r>
            <a:r>
              <a:rPr lang="en-US" dirty="0"/>
              <a:t>. </a:t>
            </a:r>
            <a:r>
              <a:rPr lang="en-US" dirty="0" err="1"/>
              <a:t>정답</a:t>
            </a:r>
            <a:r>
              <a:rPr lang="en-US" dirty="0"/>
              <a:t> </a:t>
            </a:r>
            <a:r>
              <a:rPr lang="en-US" dirty="0" err="1"/>
              <a:t>라벨도</a:t>
            </a:r>
            <a:r>
              <a:rPr lang="en-US" dirty="0"/>
              <a:t> </a:t>
            </a:r>
            <a:r>
              <a:rPr lang="en-US" dirty="0" err="1"/>
              <a:t>의심했습니다</a:t>
            </a:r>
            <a:r>
              <a:rPr lang="en-US" dirty="0"/>
              <a:t>. </a:t>
            </a:r>
            <a:r>
              <a:rPr lang="en-US" dirty="0" err="1"/>
              <a:t>오답</a:t>
            </a:r>
            <a:r>
              <a:rPr lang="en-US" dirty="0"/>
              <a:t> 446</a:t>
            </a:r>
            <a:r>
              <a:rPr lang="ko-KR" altLang="en-US" dirty="0"/>
              <a:t>장을</a:t>
            </a:r>
            <a:r>
              <a:rPr lang="en-US" dirty="0"/>
              <a:t> </a:t>
            </a:r>
            <a:r>
              <a:rPr lang="en-US" dirty="0" err="1"/>
              <a:t>다시</a:t>
            </a:r>
            <a:r>
              <a:rPr lang="en-US" dirty="0"/>
              <a:t> </a:t>
            </a:r>
            <a:r>
              <a:rPr lang="en-US" dirty="0" err="1"/>
              <a:t>보니</a:t>
            </a:r>
            <a:r>
              <a:rPr lang="en-US" dirty="0"/>
              <a:t> </a:t>
            </a:r>
            <a:r>
              <a:rPr lang="en-US" dirty="0" err="1"/>
              <a:t>라벨이</a:t>
            </a:r>
            <a:r>
              <a:rPr lang="en-US" dirty="0"/>
              <a:t> </a:t>
            </a:r>
            <a:r>
              <a:rPr lang="en-US" dirty="0" err="1"/>
              <a:t>틀린</a:t>
            </a:r>
            <a:r>
              <a:rPr lang="en-US" dirty="0"/>
              <a:t> </a:t>
            </a:r>
            <a:r>
              <a:rPr lang="en-US" dirty="0" err="1"/>
              <a:t>게</a:t>
            </a:r>
            <a:r>
              <a:rPr lang="en-US" dirty="0"/>
              <a:t> </a:t>
            </a:r>
            <a:r>
              <a:rPr lang="en-US" altLang="ko-KR" dirty="0"/>
              <a:t>16</a:t>
            </a:r>
            <a:r>
              <a:rPr lang="en-US" dirty="0"/>
              <a:t>장, </a:t>
            </a:r>
            <a:r>
              <a:rPr lang="en-US" dirty="0" err="1"/>
              <a:t>그중</a:t>
            </a:r>
            <a:r>
              <a:rPr lang="en-US" dirty="0"/>
              <a:t> 1</a:t>
            </a:r>
            <a:r>
              <a:rPr lang="en-US" altLang="ko-KR" dirty="0"/>
              <a:t>1</a:t>
            </a:r>
            <a:r>
              <a:rPr lang="en-US" dirty="0"/>
              <a:t>장은 </a:t>
            </a:r>
            <a:r>
              <a:rPr lang="en-US" dirty="0" err="1"/>
              <a:t>모델이</a:t>
            </a:r>
            <a:r>
              <a:rPr lang="en-US" dirty="0"/>
              <a:t> </a:t>
            </a:r>
            <a:r>
              <a:rPr lang="en-US" dirty="0" err="1"/>
              <a:t>맞은</a:t>
            </a:r>
            <a:r>
              <a:rPr lang="en-US" dirty="0"/>
              <a:t> </a:t>
            </a:r>
            <a:r>
              <a:rPr lang="en-US" dirty="0" err="1"/>
              <a:t>경우였습니다</a:t>
            </a:r>
            <a:r>
              <a:rPr lang="en-US" dirty="0"/>
              <a:t>.</a:t>
            </a:r>
          </a:p>
          <a:p>
            <a:r>
              <a:rPr lang="en-US" dirty="0"/>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세 번째, 아키텍처입니다.</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구조는 단순합니다. 사진을 640픽셀로 줄여서 글자 위치를 찾고, 큰 글자부터 읽습니다. 날짜로 보이는 줄만 원본 해상도로 다시 읽어서 첫 결과와 다수결합니다. 그다음 규칙이 형식을 해석하고 소비기한을 고릅니다. 빨간 상자 두 개만 딥러닝 모델이고 나머지는 규칙입니다. 중요한 건 아래 표입니다. 비용이 큰 단계는 전부 조건부입니다. 대부분의 사진은 위 한 줄로 끝나고, 어려운 사진에서만 재탐지, 도트 폴백, 파인튜닝 인식기가 차례로 동작합니다.</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본선에서</a:t>
            </a:r>
            <a:r>
              <a:rPr lang="en-US" dirty="0"/>
              <a:t> </a:t>
            </a:r>
            <a:r>
              <a:rPr lang="en-US" dirty="0" err="1"/>
              <a:t>가장</a:t>
            </a:r>
            <a:r>
              <a:rPr lang="en-US" dirty="0"/>
              <a:t> </a:t>
            </a:r>
            <a:r>
              <a:rPr lang="en-US" dirty="0" err="1"/>
              <a:t>먼저</a:t>
            </a:r>
            <a:r>
              <a:rPr lang="en-US" dirty="0"/>
              <a:t> 한 </a:t>
            </a:r>
            <a:r>
              <a:rPr lang="en-US" dirty="0" err="1"/>
              <a:t>일은</a:t>
            </a:r>
            <a:r>
              <a:rPr lang="en-US" dirty="0"/>
              <a:t> </a:t>
            </a:r>
            <a:r>
              <a:rPr lang="en-US" dirty="0" err="1"/>
              <a:t>오답</a:t>
            </a:r>
            <a:r>
              <a:rPr lang="en-US" dirty="0"/>
              <a:t> </a:t>
            </a:r>
            <a:r>
              <a:rPr lang="en-US" dirty="0" err="1"/>
              <a:t>진단입니다</a:t>
            </a:r>
            <a:r>
              <a:rPr lang="en-US" dirty="0"/>
              <a:t>. </a:t>
            </a:r>
            <a:r>
              <a:rPr lang="en-US" dirty="0" err="1"/>
              <a:t>오답</a:t>
            </a:r>
            <a:r>
              <a:rPr lang="en-US" dirty="0"/>
              <a:t> 603장마다 </a:t>
            </a:r>
            <a:r>
              <a:rPr lang="en-US" dirty="0" err="1"/>
              <a:t>정답</a:t>
            </a:r>
            <a:r>
              <a:rPr lang="en-US" dirty="0"/>
              <a:t> </a:t>
            </a:r>
            <a:r>
              <a:rPr lang="en-US" dirty="0" err="1"/>
              <a:t>날짜가</a:t>
            </a:r>
            <a:r>
              <a:rPr lang="en-US" dirty="0"/>
              <a:t> </a:t>
            </a:r>
            <a:r>
              <a:rPr lang="en-US" dirty="0" err="1"/>
              <a:t>어느</a:t>
            </a:r>
            <a:r>
              <a:rPr lang="en-US" dirty="0"/>
              <a:t> </a:t>
            </a:r>
            <a:r>
              <a:rPr lang="en-US" dirty="0" err="1"/>
              <a:t>단계까지</a:t>
            </a:r>
            <a:r>
              <a:rPr lang="en-US" dirty="0"/>
              <a:t> </a:t>
            </a:r>
            <a:r>
              <a:rPr lang="en-US" dirty="0" err="1"/>
              <a:t>살아</a:t>
            </a:r>
            <a:r>
              <a:rPr lang="en-US" dirty="0"/>
              <a:t> </a:t>
            </a:r>
            <a:r>
              <a:rPr lang="en-US" dirty="0" err="1"/>
              <a:t>있었는지를</a:t>
            </a:r>
            <a:r>
              <a:rPr lang="en-US" dirty="0"/>
              <a:t> </a:t>
            </a:r>
            <a:r>
              <a:rPr lang="en-US" dirty="0" err="1"/>
              <a:t>추적했더니</a:t>
            </a:r>
            <a:r>
              <a:rPr lang="en-US" dirty="0"/>
              <a:t> 네 </a:t>
            </a:r>
            <a:r>
              <a:rPr lang="en-US" dirty="0" err="1"/>
              <a:t>가지로</a:t>
            </a:r>
            <a:r>
              <a:rPr lang="en-US" dirty="0"/>
              <a:t> </a:t>
            </a:r>
            <a:r>
              <a:rPr lang="en-US" dirty="0" err="1"/>
              <a:t>갈렸습니다</a:t>
            </a:r>
            <a:r>
              <a:rPr lang="en-US" dirty="0"/>
              <a:t>. 못 </a:t>
            </a:r>
            <a:r>
              <a:rPr lang="en-US" dirty="0" err="1"/>
              <a:t>읽은</a:t>
            </a:r>
            <a:r>
              <a:rPr lang="en-US" dirty="0"/>
              <a:t> 것 183장, </a:t>
            </a:r>
            <a:r>
              <a:rPr lang="en-US" dirty="0" err="1"/>
              <a:t>잘못</a:t>
            </a:r>
            <a:r>
              <a:rPr lang="en-US" dirty="0"/>
              <a:t> </a:t>
            </a:r>
            <a:r>
              <a:rPr lang="en-US" dirty="0" err="1"/>
              <a:t>읽은</a:t>
            </a:r>
            <a:r>
              <a:rPr lang="en-US" dirty="0"/>
              <a:t> 것 290장, </a:t>
            </a:r>
            <a:r>
              <a:rPr lang="en-US" dirty="0" err="1"/>
              <a:t>그리고</a:t>
            </a:r>
            <a:r>
              <a:rPr lang="en-US" dirty="0"/>
              <a:t> </a:t>
            </a:r>
            <a:r>
              <a:rPr lang="en-US" dirty="0" err="1"/>
              <a:t>흥미로운</a:t>
            </a:r>
            <a:r>
              <a:rPr lang="en-US" dirty="0"/>
              <a:t> 게 세 </a:t>
            </a:r>
            <a:r>
              <a:rPr lang="en-US" dirty="0" err="1"/>
              <a:t>번째입니다</a:t>
            </a:r>
            <a:r>
              <a:rPr lang="en-US" dirty="0"/>
              <a:t>. </a:t>
            </a:r>
            <a:r>
              <a:rPr lang="en-US" dirty="0" err="1"/>
              <a:t>처음엔</a:t>
            </a:r>
            <a:r>
              <a:rPr lang="en-US" dirty="0"/>
              <a:t> </a:t>
            </a:r>
            <a:r>
              <a:rPr lang="en-US" dirty="0" err="1"/>
              <a:t>맞게</a:t>
            </a:r>
            <a:r>
              <a:rPr lang="en-US" dirty="0"/>
              <a:t> </a:t>
            </a:r>
            <a:r>
              <a:rPr lang="en-US" dirty="0" err="1"/>
              <a:t>읽었는데</a:t>
            </a:r>
            <a:r>
              <a:rPr lang="en-US" dirty="0"/>
              <a:t> </a:t>
            </a:r>
            <a:r>
              <a:rPr lang="en-US" dirty="0" err="1"/>
              <a:t>다시</a:t>
            </a:r>
            <a:r>
              <a:rPr lang="en-US" dirty="0"/>
              <a:t> </a:t>
            </a:r>
            <a:r>
              <a:rPr lang="en-US" dirty="0" err="1"/>
              <a:t>읽기</a:t>
            </a:r>
            <a:r>
              <a:rPr lang="en-US" dirty="0"/>
              <a:t> </a:t>
            </a:r>
            <a:r>
              <a:rPr lang="en-US" dirty="0" err="1"/>
              <a:t>단계가</a:t>
            </a:r>
            <a:r>
              <a:rPr lang="en-US" dirty="0"/>
              <a:t> 그 </a:t>
            </a:r>
            <a:r>
              <a:rPr lang="en-US" dirty="0" err="1"/>
              <a:t>정답을</a:t>
            </a:r>
            <a:r>
              <a:rPr lang="en-US" dirty="0"/>
              <a:t> </a:t>
            </a:r>
            <a:r>
              <a:rPr lang="en-US" dirty="0" err="1"/>
              <a:t>지워</a:t>
            </a:r>
            <a:r>
              <a:rPr lang="en-US" dirty="0"/>
              <a:t> </a:t>
            </a:r>
            <a:r>
              <a:rPr lang="en-US" dirty="0" err="1"/>
              <a:t>버린</a:t>
            </a:r>
            <a:r>
              <a:rPr lang="en-US" dirty="0"/>
              <a:t> 게 111장이었습니다. </a:t>
            </a:r>
            <a:r>
              <a:rPr lang="en-US" dirty="0" err="1"/>
              <a:t>이건</a:t>
            </a:r>
            <a:r>
              <a:rPr lang="en-US" dirty="0"/>
              <a:t> </a:t>
            </a:r>
            <a:r>
              <a:rPr lang="en-US" dirty="0" err="1"/>
              <a:t>모델</a:t>
            </a:r>
            <a:r>
              <a:rPr lang="en-US" dirty="0"/>
              <a:t> </a:t>
            </a:r>
            <a:r>
              <a:rPr lang="en-US" dirty="0" err="1"/>
              <a:t>문제가</a:t>
            </a:r>
            <a:r>
              <a:rPr lang="en-US" dirty="0"/>
              <a:t> </a:t>
            </a:r>
            <a:r>
              <a:rPr lang="en-US" dirty="0" err="1"/>
              <a:t>아니라</a:t>
            </a:r>
            <a:r>
              <a:rPr lang="en-US" dirty="0"/>
              <a:t> </a:t>
            </a:r>
            <a:r>
              <a:rPr lang="en-US" dirty="0" err="1"/>
              <a:t>저희</a:t>
            </a:r>
            <a:r>
              <a:rPr lang="en-US" dirty="0"/>
              <a:t> </a:t>
            </a:r>
            <a:r>
              <a:rPr lang="en-US" dirty="0" err="1"/>
              <a:t>코드의</a:t>
            </a:r>
            <a:r>
              <a:rPr lang="en-US" dirty="0"/>
              <a:t> </a:t>
            </a:r>
            <a:r>
              <a:rPr lang="en-US" dirty="0" err="1"/>
              <a:t>문제였고</a:t>
            </a:r>
            <a:r>
              <a:rPr lang="en-US" dirty="0"/>
              <a:t>, </a:t>
            </a:r>
            <a:r>
              <a:rPr lang="en-US" dirty="0" err="1"/>
              <a:t>다시</a:t>
            </a:r>
            <a:r>
              <a:rPr lang="en-US" dirty="0"/>
              <a:t> </a:t>
            </a:r>
            <a:r>
              <a:rPr lang="en-US" dirty="0" err="1"/>
              <a:t>읽기는</a:t>
            </a:r>
            <a:r>
              <a:rPr lang="en-US" dirty="0"/>
              <a:t> </a:t>
            </a:r>
            <a:r>
              <a:rPr lang="en-US" dirty="0" err="1"/>
              <a:t>교정만</a:t>
            </a:r>
            <a:r>
              <a:rPr lang="en-US" dirty="0"/>
              <a:t> </a:t>
            </a:r>
            <a:r>
              <a:rPr lang="en-US" dirty="0" err="1"/>
              <a:t>하고</a:t>
            </a:r>
            <a:r>
              <a:rPr lang="en-US" dirty="0"/>
              <a:t> </a:t>
            </a:r>
            <a:r>
              <a:rPr lang="en-US" dirty="0" err="1"/>
              <a:t>삭제는</a:t>
            </a:r>
            <a:r>
              <a:rPr lang="en-US" dirty="0"/>
              <a:t> 못 </a:t>
            </a:r>
            <a:r>
              <a:rPr lang="en-US" dirty="0" err="1"/>
              <a:t>하게</a:t>
            </a:r>
            <a:r>
              <a:rPr lang="en-US" dirty="0"/>
              <a:t> </a:t>
            </a:r>
            <a:r>
              <a:rPr lang="en-US" dirty="0" err="1"/>
              <a:t>규칙을</a:t>
            </a:r>
            <a:r>
              <a:rPr lang="en-US" dirty="0"/>
              <a:t> </a:t>
            </a:r>
            <a:r>
              <a:rPr lang="en-US" dirty="0" err="1"/>
              <a:t>바꿔서</a:t>
            </a:r>
            <a:r>
              <a:rPr lang="en-US" dirty="0"/>
              <a:t> 53장을 </a:t>
            </a:r>
            <a:r>
              <a:rPr lang="en-US" dirty="0" err="1"/>
              <a:t>되찾았습니다</a:t>
            </a:r>
            <a:r>
              <a:rPr lang="en-US" dirty="0"/>
              <a:t>. </a:t>
            </a:r>
            <a:r>
              <a:rPr lang="en-US" dirty="0" err="1"/>
              <a:t>이렇게</a:t>
            </a:r>
            <a:r>
              <a:rPr lang="en-US" dirty="0"/>
              <a:t> </a:t>
            </a:r>
            <a:r>
              <a:rPr lang="en-US" dirty="0" err="1"/>
              <a:t>원인을</a:t>
            </a:r>
            <a:r>
              <a:rPr lang="en-US" dirty="0"/>
              <a:t> </a:t>
            </a:r>
            <a:r>
              <a:rPr lang="en-US" dirty="0" err="1"/>
              <a:t>나눠</a:t>
            </a:r>
            <a:r>
              <a:rPr lang="en-US" dirty="0"/>
              <a:t> </a:t>
            </a:r>
            <a:r>
              <a:rPr lang="en-US" dirty="0" err="1"/>
              <a:t>놓으니</a:t>
            </a:r>
            <a:r>
              <a:rPr lang="en-US" dirty="0"/>
              <a:t>, </a:t>
            </a:r>
            <a:r>
              <a:rPr lang="en-US" dirty="0" err="1"/>
              <a:t>모델을</a:t>
            </a:r>
            <a:r>
              <a:rPr lang="en-US" dirty="0"/>
              <a:t> </a:t>
            </a:r>
            <a:r>
              <a:rPr lang="en-US" dirty="0" err="1"/>
              <a:t>키우는</a:t>
            </a:r>
            <a:r>
              <a:rPr lang="en-US" dirty="0"/>
              <a:t> </a:t>
            </a:r>
            <a:r>
              <a:rPr lang="en-US" dirty="0" err="1"/>
              <a:t>대신</a:t>
            </a:r>
            <a:r>
              <a:rPr lang="en-US" dirty="0"/>
              <a:t> </a:t>
            </a:r>
            <a:r>
              <a:rPr lang="en-US" dirty="0" err="1"/>
              <a:t>원인마다</a:t>
            </a:r>
            <a:r>
              <a:rPr lang="en-US" dirty="0"/>
              <a:t> </a:t>
            </a:r>
            <a:r>
              <a:rPr lang="en-US" dirty="0" err="1"/>
              <a:t>가장</a:t>
            </a:r>
            <a:r>
              <a:rPr lang="en-US" dirty="0"/>
              <a:t> </a:t>
            </a:r>
            <a:r>
              <a:rPr lang="ko-KR" altLang="en-US" dirty="0"/>
              <a:t>간단한</a:t>
            </a:r>
            <a:r>
              <a:rPr lang="en-US" dirty="0"/>
              <a:t> </a:t>
            </a:r>
            <a:r>
              <a:rPr lang="en-US" dirty="0" err="1"/>
              <a:t>처방을</a:t>
            </a:r>
            <a:r>
              <a:rPr lang="en-US" dirty="0"/>
              <a:t> </a:t>
            </a:r>
            <a:r>
              <a:rPr lang="en-US" dirty="0" err="1"/>
              <a:t>고를</a:t>
            </a:r>
            <a:r>
              <a:rPr lang="en-US" dirty="0"/>
              <a:t> 수 </a:t>
            </a:r>
            <a:r>
              <a:rPr lang="en-US" dirty="0" err="1"/>
              <a:t>있었습니다</a:t>
            </a:r>
            <a:r>
              <a:rPr lang="en-US" dirty="0"/>
              <a:t>.</a:t>
            </a:r>
          </a:p>
          <a:p>
            <a:r>
              <a:rPr lang="en-US" dirty="0"/>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소비기한을 다른 숫자와 어떻게 구분하는가입니다. 품목보고번호는 앞 여덟 자리가 완전한 날짜 형식이라, 아홉 자리 이상 숫자열은 통째로 지웁니다. 영양성분표 숫자는 신뢰 등급으로 거릅니다. 구분자가 있는 완전한 날짜가 항상 이깁니다. 제조일자와 소비기한이 같이 있으면 가장 늦은 날짜를 고르고, 연월일 순서가 모호하면 직접 단 라벨의 통계로 정한 기본값을 씁니다. 후보가 없으면 추측하지 않고 NONE을 냅니다. 규칙마다 어떤 오답에서 나왔고 몇 장을 얻고 잃었는지가 기록돼 있습니다.</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네 번째, 결과입니다.</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결과입니다</a:t>
            </a:r>
            <a:r>
              <a:rPr lang="en-US" dirty="0"/>
              <a:t>. </a:t>
            </a:r>
            <a:r>
              <a:rPr lang="en-US" dirty="0" err="1"/>
              <a:t>처음</a:t>
            </a:r>
            <a:r>
              <a:rPr lang="en-US" dirty="0"/>
              <a:t> 39%에서 </a:t>
            </a:r>
            <a:r>
              <a:rPr lang="en-US" dirty="0" err="1"/>
              <a:t>출발해서</a:t>
            </a:r>
            <a:r>
              <a:rPr lang="en-US" dirty="0"/>
              <a:t> </a:t>
            </a:r>
            <a:r>
              <a:rPr lang="en-US" dirty="0" err="1"/>
              <a:t>예선</a:t>
            </a:r>
            <a:r>
              <a:rPr lang="en-US" dirty="0"/>
              <a:t> </a:t>
            </a:r>
            <a:r>
              <a:rPr lang="en-US" dirty="0" err="1"/>
              <a:t>제출</a:t>
            </a:r>
            <a:r>
              <a:rPr lang="en-US" dirty="0"/>
              <a:t> </a:t>
            </a:r>
            <a:r>
              <a:rPr lang="en-US" dirty="0" err="1"/>
              <a:t>때</a:t>
            </a:r>
            <a:r>
              <a:rPr lang="en-US" dirty="0"/>
              <a:t> 84.2%, </a:t>
            </a:r>
            <a:r>
              <a:rPr lang="en-US" dirty="0" err="1"/>
              <a:t>본선</a:t>
            </a:r>
            <a:r>
              <a:rPr lang="en-US" dirty="0"/>
              <a:t> </a:t>
            </a:r>
            <a:r>
              <a:rPr lang="en-US" dirty="0" err="1"/>
              <a:t>통합본은</a:t>
            </a:r>
            <a:r>
              <a:rPr lang="en-US" dirty="0"/>
              <a:t> </a:t>
            </a:r>
            <a:r>
              <a:rPr lang="en-US" dirty="0" err="1"/>
              <a:t>봉인</a:t>
            </a:r>
            <a:r>
              <a:rPr lang="en-US" dirty="0"/>
              <a:t> 500장에서 86.2%입니다. </a:t>
            </a:r>
            <a:r>
              <a:rPr lang="en-US" dirty="0" err="1"/>
              <a:t>연월일을</a:t>
            </a:r>
            <a:r>
              <a:rPr lang="en-US" dirty="0"/>
              <a:t> </a:t>
            </a:r>
            <a:r>
              <a:rPr lang="en-US" dirty="0" err="1"/>
              <a:t>따로</a:t>
            </a:r>
            <a:r>
              <a:rPr lang="en-US" dirty="0"/>
              <a:t> </a:t>
            </a:r>
            <a:r>
              <a:rPr lang="en-US" dirty="0" err="1"/>
              <a:t>채점하는</a:t>
            </a:r>
            <a:r>
              <a:rPr lang="en-US" dirty="0"/>
              <a:t> </a:t>
            </a:r>
            <a:r>
              <a:rPr lang="en-US" dirty="0" err="1"/>
              <a:t>필드</a:t>
            </a:r>
            <a:r>
              <a:rPr lang="en-US" dirty="0"/>
              <a:t> </a:t>
            </a:r>
            <a:r>
              <a:rPr lang="en-US" dirty="0" err="1"/>
              <a:t>평균으로는</a:t>
            </a:r>
            <a:r>
              <a:rPr lang="en-US" dirty="0"/>
              <a:t> 90.8%입니다. </a:t>
            </a:r>
            <a:r>
              <a:rPr lang="en-US" dirty="0" err="1"/>
              <a:t>가장</a:t>
            </a:r>
            <a:r>
              <a:rPr lang="en-US" dirty="0"/>
              <a:t> </a:t>
            </a:r>
            <a:r>
              <a:rPr lang="en-US" dirty="0" err="1"/>
              <a:t>큰</a:t>
            </a:r>
            <a:r>
              <a:rPr lang="en-US" dirty="0"/>
              <a:t> </a:t>
            </a:r>
            <a:r>
              <a:rPr lang="en-US" dirty="0" err="1"/>
              <a:t>도약은</a:t>
            </a:r>
            <a:r>
              <a:rPr lang="en-US" dirty="0"/>
              <a:t> </a:t>
            </a:r>
            <a:r>
              <a:rPr lang="en-US" dirty="0" err="1"/>
              <a:t>탐지기와</a:t>
            </a:r>
            <a:r>
              <a:rPr lang="en-US" dirty="0"/>
              <a:t> </a:t>
            </a:r>
            <a:r>
              <a:rPr lang="en-US" dirty="0" err="1"/>
              <a:t>인식기를</a:t>
            </a:r>
            <a:r>
              <a:rPr lang="en-US" dirty="0"/>
              <a:t> </a:t>
            </a:r>
            <a:r>
              <a:rPr lang="en-US" dirty="0" err="1"/>
              <a:t>교체한</a:t>
            </a:r>
            <a:r>
              <a:rPr lang="en-US" dirty="0"/>
              <a:t> </a:t>
            </a:r>
            <a:r>
              <a:rPr lang="en-US" dirty="0" err="1"/>
              <a:t>구간인데</a:t>
            </a:r>
            <a:r>
              <a:rPr lang="en-US" dirty="0"/>
              <a:t>, </a:t>
            </a:r>
            <a:r>
              <a:rPr lang="en-US" dirty="0" err="1"/>
              <a:t>속도</a:t>
            </a:r>
            <a:r>
              <a:rPr lang="en-US" dirty="0"/>
              <a:t> </a:t>
            </a:r>
            <a:r>
              <a:rPr lang="en-US" dirty="0" err="1"/>
              <a:t>때문에</a:t>
            </a:r>
            <a:r>
              <a:rPr lang="en-US" dirty="0"/>
              <a:t> </a:t>
            </a:r>
            <a:r>
              <a:rPr lang="en-US" dirty="0" err="1"/>
              <a:t>한</a:t>
            </a:r>
            <a:r>
              <a:rPr lang="en-US" dirty="0"/>
              <a:t> </a:t>
            </a:r>
            <a:r>
              <a:rPr lang="en-US" dirty="0" err="1"/>
              <a:t>결정이</a:t>
            </a:r>
            <a:r>
              <a:rPr lang="en-US" dirty="0"/>
              <a:t> </a:t>
            </a:r>
            <a:r>
              <a:rPr lang="en-US" dirty="0" err="1"/>
              <a:t>정확도까지</a:t>
            </a:r>
            <a:r>
              <a:rPr lang="en-US" dirty="0"/>
              <a:t> </a:t>
            </a:r>
            <a:r>
              <a:rPr lang="en-US" dirty="0" err="1"/>
              <a:t>올린</a:t>
            </a:r>
            <a:r>
              <a:rPr lang="en-US" dirty="0"/>
              <a:t> </a:t>
            </a:r>
            <a:r>
              <a:rPr lang="en-US" dirty="0" err="1"/>
              <a:t>경우입니다</a:t>
            </a:r>
            <a:r>
              <a:rPr lang="en-US" dirty="0"/>
              <a:t>. </a:t>
            </a:r>
            <a:r>
              <a:rPr lang="en-US" dirty="0" err="1"/>
              <a:t>튜닝에</a:t>
            </a:r>
            <a:r>
              <a:rPr lang="en-US" dirty="0"/>
              <a:t> </a:t>
            </a:r>
            <a:r>
              <a:rPr lang="en-US" dirty="0" err="1"/>
              <a:t>쓴</a:t>
            </a:r>
            <a:r>
              <a:rPr lang="en-US" dirty="0"/>
              <a:t> 2,852장에서는 82.3에서 86.7로 </a:t>
            </a:r>
            <a:r>
              <a:rPr lang="en-US" dirty="0" err="1"/>
              <a:t>올랐고</a:t>
            </a:r>
            <a:r>
              <a:rPr lang="en-US" dirty="0"/>
              <a:t>, </a:t>
            </a:r>
            <a:r>
              <a:rPr lang="ko-KR" altLang="en-US" dirty="0"/>
              <a:t>채택 판정에는 쓰지 않고 점수만 추적한</a:t>
            </a:r>
            <a:r>
              <a:rPr lang="en-US" dirty="0"/>
              <a:t> </a:t>
            </a:r>
            <a:r>
              <a:rPr lang="en-US" dirty="0" err="1"/>
              <a:t>봉인</a:t>
            </a:r>
            <a:r>
              <a:rPr lang="en-US" dirty="0"/>
              <a:t> </a:t>
            </a:r>
            <a:r>
              <a:rPr lang="en-US" dirty="0" err="1"/>
              <a:t>셋에서도</a:t>
            </a:r>
            <a:r>
              <a:rPr lang="en-US" dirty="0"/>
              <a:t> </a:t>
            </a:r>
            <a:r>
              <a:rPr lang="en-US" dirty="0" err="1"/>
              <a:t>같이</a:t>
            </a:r>
            <a:r>
              <a:rPr lang="en-US" dirty="0"/>
              <a:t> </a:t>
            </a:r>
            <a:r>
              <a:rPr lang="en-US" dirty="0" err="1"/>
              <a:t>올랐기</a:t>
            </a:r>
            <a:r>
              <a:rPr lang="en-US" dirty="0"/>
              <a:t> </a:t>
            </a:r>
            <a:r>
              <a:rPr lang="en-US" dirty="0" err="1"/>
              <a:t>때문에</a:t>
            </a:r>
            <a:r>
              <a:rPr lang="en-US" dirty="0"/>
              <a:t> </a:t>
            </a:r>
            <a:r>
              <a:rPr lang="en-US" dirty="0" err="1"/>
              <a:t>튜닝</a:t>
            </a:r>
            <a:r>
              <a:rPr lang="en-US" dirty="0"/>
              <a:t> </a:t>
            </a:r>
            <a:r>
              <a:rPr lang="en-US" dirty="0" err="1"/>
              <a:t>셋에</a:t>
            </a:r>
            <a:r>
              <a:rPr lang="en-US" dirty="0"/>
              <a:t> </a:t>
            </a:r>
            <a:r>
              <a:rPr lang="en-US" dirty="0" err="1"/>
              <a:t>과적합된</a:t>
            </a:r>
            <a:r>
              <a:rPr lang="en-US" dirty="0"/>
              <a:t> </a:t>
            </a:r>
            <a:r>
              <a:rPr lang="en-US" dirty="0" err="1"/>
              <a:t>상승이</a:t>
            </a:r>
            <a:r>
              <a:rPr lang="en-US" dirty="0"/>
              <a:t> </a:t>
            </a:r>
            <a:r>
              <a:rPr lang="en-US" dirty="0" err="1"/>
              <a:t>아니라고</a:t>
            </a:r>
            <a:r>
              <a:rPr lang="en-US" dirty="0"/>
              <a:t> </a:t>
            </a:r>
            <a:r>
              <a:rPr lang="en-US" dirty="0" err="1"/>
              <a:t>판단합니다</a:t>
            </a:r>
            <a:r>
              <a:rPr lang="en-US" dirty="0"/>
              <a:t>.</a:t>
            </a:r>
          </a:p>
          <a:p>
            <a:r>
              <a:rPr lang="en-US" dirty="0"/>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저희가</a:t>
            </a:r>
            <a:r>
              <a:rPr lang="en-US" dirty="0"/>
              <a:t> </a:t>
            </a:r>
            <a:r>
              <a:rPr lang="en-US" dirty="0" err="1"/>
              <a:t>시도한</a:t>
            </a:r>
            <a:r>
              <a:rPr lang="en-US" dirty="0"/>
              <a:t> 것 중 </a:t>
            </a:r>
            <a:r>
              <a:rPr lang="en-US" dirty="0" err="1"/>
              <a:t>절반은</a:t>
            </a:r>
            <a:r>
              <a:rPr lang="en-US" dirty="0"/>
              <a:t> </a:t>
            </a:r>
            <a:r>
              <a:rPr lang="en-US" dirty="0" err="1"/>
              <a:t>버렸습니다</a:t>
            </a:r>
            <a:r>
              <a:rPr lang="en-US" dirty="0"/>
              <a:t>. </a:t>
            </a:r>
            <a:r>
              <a:rPr lang="en-US" dirty="0" err="1"/>
              <a:t>대표적인</a:t>
            </a:r>
            <a:r>
              <a:rPr lang="en-US" dirty="0"/>
              <a:t> 게 </a:t>
            </a:r>
            <a:r>
              <a:rPr lang="en-US" dirty="0" err="1"/>
              <a:t>파인튜닝입니다</a:t>
            </a:r>
            <a:r>
              <a:rPr lang="en-US" dirty="0"/>
              <a:t>. </a:t>
            </a:r>
            <a:r>
              <a:rPr lang="en-US" dirty="0" err="1"/>
              <a:t>저희</a:t>
            </a:r>
            <a:r>
              <a:rPr lang="en-US" dirty="0"/>
              <a:t> </a:t>
            </a:r>
            <a:r>
              <a:rPr lang="en-US" dirty="0" err="1"/>
              <a:t>라벨로</a:t>
            </a:r>
            <a:r>
              <a:rPr lang="en-US" dirty="0"/>
              <a:t> </a:t>
            </a:r>
            <a:r>
              <a:rPr lang="en-US" dirty="0" err="1"/>
              <a:t>학습시킨</a:t>
            </a:r>
            <a:r>
              <a:rPr lang="en-US" dirty="0"/>
              <a:t> </a:t>
            </a:r>
            <a:r>
              <a:rPr lang="en-US" dirty="0" err="1"/>
              <a:t>인식기를</a:t>
            </a:r>
            <a:r>
              <a:rPr lang="en-US" dirty="0"/>
              <a:t> </a:t>
            </a:r>
            <a:r>
              <a:rPr lang="en-US" dirty="0" err="1"/>
              <a:t>다시</a:t>
            </a:r>
            <a:r>
              <a:rPr lang="en-US" dirty="0"/>
              <a:t> </a:t>
            </a:r>
            <a:r>
              <a:rPr lang="en-US" dirty="0" err="1"/>
              <a:t>읽기</a:t>
            </a:r>
            <a:r>
              <a:rPr lang="en-US" dirty="0"/>
              <a:t> </a:t>
            </a:r>
            <a:r>
              <a:rPr lang="en-US" dirty="0" err="1"/>
              <a:t>단계에</a:t>
            </a:r>
            <a:r>
              <a:rPr lang="en-US" dirty="0"/>
              <a:t> </a:t>
            </a:r>
            <a:r>
              <a:rPr lang="en-US" dirty="0" err="1"/>
              <a:t>썼더니</a:t>
            </a:r>
            <a:r>
              <a:rPr lang="en-US" dirty="0"/>
              <a:t> </a:t>
            </a:r>
            <a:r>
              <a:rPr lang="en-US" dirty="0" err="1"/>
              <a:t>점수는</a:t>
            </a:r>
            <a:r>
              <a:rPr lang="en-US" dirty="0"/>
              <a:t> </a:t>
            </a:r>
            <a:r>
              <a:rPr lang="en-US" dirty="0" err="1"/>
              <a:t>올랐습니다</a:t>
            </a:r>
            <a:r>
              <a:rPr lang="en-US" dirty="0"/>
              <a:t>. </a:t>
            </a:r>
            <a:r>
              <a:rPr lang="en-US" dirty="0" err="1"/>
              <a:t>그런데</a:t>
            </a:r>
            <a:r>
              <a:rPr lang="en-US" dirty="0"/>
              <a:t> </a:t>
            </a:r>
            <a:r>
              <a:rPr lang="en-US" dirty="0" err="1"/>
              <a:t>새로</a:t>
            </a:r>
            <a:r>
              <a:rPr lang="en-US" dirty="0"/>
              <a:t> </a:t>
            </a:r>
            <a:r>
              <a:rPr lang="en-US" dirty="0" err="1"/>
              <a:t>맞힌</a:t>
            </a:r>
            <a:r>
              <a:rPr lang="en-US" dirty="0"/>
              <a:t> 게 86장, </a:t>
            </a:r>
            <a:r>
              <a:rPr lang="en-US" dirty="0" err="1"/>
              <a:t>새로</a:t>
            </a:r>
            <a:r>
              <a:rPr lang="en-US" dirty="0"/>
              <a:t> </a:t>
            </a:r>
            <a:r>
              <a:rPr lang="en-US" dirty="0" err="1"/>
              <a:t>틀린</a:t>
            </a:r>
            <a:r>
              <a:rPr lang="en-US" dirty="0"/>
              <a:t> 게 64장이었습니다. </a:t>
            </a:r>
            <a:r>
              <a:rPr lang="en-US" dirty="0" err="1"/>
              <a:t>전체</a:t>
            </a:r>
            <a:r>
              <a:rPr lang="en-US" dirty="0"/>
              <a:t> </a:t>
            </a:r>
            <a:r>
              <a:rPr lang="en-US" dirty="0" err="1"/>
              <a:t>점수는</a:t>
            </a:r>
            <a:r>
              <a:rPr lang="en-US" dirty="0"/>
              <a:t> </a:t>
            </a:r>
            <a:r>
              <a:rPr lang="en-US" dirty="0" err="1"/>
              <a:t>올랐지만</a:t>
            </a:r>
            <a:r>
              <a:rPr lang="en-US" dirty="0"/>
              <a:t> 잘 </a:t>
            </a:r>
            <a:r>
              <a:rPr lang="en-US" dirty="0" err="1"/>
              <a:t>맞히던</a:t>
            </a:r>
            <a:r>
              <a:rPr lang="en-US" dirty="0"/>
              <a:t> </a:t>
            </a:r>
            <a:r>
              <a:rPr lang="en-US" dirty="0" err="1"/>
              <a:t>사진</a:t>
            </a:r>
            <a:r>
              <a:rPr lang="en-US" dirty="0"/>
              <a:t> 64장을 </a:t>
            </a:r>
            <a:r>
              <a:rPr lang="en-US" dirty="0" err="1"/>
              <a:t>망가뜨린</a:t>
            </a:r>
            <a:r>
              <a:rPr lang="en-US" dirty="0"/>
              <a:t> </a:t>
            </a:r>
            <a:r>
              <a:rPr lang="en-US" dirty="0" err="1"/>
              <a:t>겁니다</a:t>
            </a:r>
            <a:r>
              <a:rPr lang="en-US" dirty="0"/>
              <a:t>. </a:t>
            </a:r>
            <a:r>
              <a:rPr lang="en-US" dirty="0" err="1"/>
              <a:t>그래서</a:t>
            </a:r>
            <a:r>
              <a:rPr lang="en-US" dirty="0"/>
              <a:t> </a:t>
            </a:r>
            <a:r>
              <a:rPr lang="en-US" dirty="0" err="1"/>
              <a:t>기각했고</a:t>
            </a:r>
            <a:r>
              <a:rPr lang="en-US" dirty="0"/>
              <a:t>, </a:t>
            </a:r>
            <a:r>
              <a:rPr lang="en-US" dirty="0" err="1"/>
              <a:t>기존</a:t>
            </a:r>
            <a:r>
              <a:rPr lang="en-US" dirty="0"/>
              <a:t> </a:t>
            </a:r>
            <a:r>
              <a:rPr lang="en-US" dirty="0" err="1"/>
              <a:t>인식기가</a:t>
            </a:r>
            <a:r>
              <a:rPr lang="en-US" dirty="0"/>
              <a:t> 못 </a:t>
            </a:r>
            <a:r>
              <a:rPr lang="en-US" dirty="0" err="1"/>
              <a:t>읽은</a:t>
            </a:r>
            <a:r>
              <a:rPr lang="en-US" dirty="0"/>
              <a:t> </a:t>
            </a:r>
            <a:r>
              <a:rPr lang="en-US" dirty="0" err="1"/>
              <a:t>사진에만</a:t>
            </a:r>
            <a:r>
              <a:rPr lang="en-US" dirty="0"/>
              <a:t> </a:t>
            </a:r>
            <a:r>
              <a:rPr lang="en-US" dirty="0" err="1"/>
              <a:t>쓰는</a:t>
            </a:r>
            <a:r>
              <a:rPr lang="en-US" dirty="0"/>
              <a:t> </a:t>
            </a:r>
            <a:r>
              <a:rPr lang="en-US" dirty="0" err="1"/>
              <a:t>방식으로</a:t>
            </a:r>
            <a:r>
              <a:rPr lang="en-US" dirty="0"/>
              <a:t> </a:t>
            </a:r>
            <a:r>
              <a:rPr lang="en-US" dirty="0" err="1"/>
              <a:t>넣어</a:t>
            </a:r>
            <a:r>
              <a:rPr lang="en-US" dirty="0"/>
              <a:t> </a:t>
            </a:r>
            <a:r>
              <a:rPr lang="en-US" dirty="0" err="1"/>
              <a:t>퇴보</a:t>
            </a:r>
            <a:r>
              <a:rPr lang="en-US" dirty="0"/>
              <a:t> </a:t>
            </a:r>
            <a:r>
              <a:rPr lang="en-US" dirty="0" err="1"/>
              <a:t>없이</a:t>
            </a:r>
            <a:r>
              <a:rPr lang="en-US" dirty="0"/>
              <a:t> 7장을 </a:t>
            </a:r>
            <a:r>
              <a:rPr lang="en-US" dirty="0" err="1"/>
              <a:t>얻었습니다</a:t>
            </a:r>
            <a:r>
              <a:rPr lang="en-US" dirty="0"/>
              <a:t>. </a:t>
            </a:r>
            <a:r>
              <a:rPr lang="en-US" dirty="0" err="1"/>
              <a:t>합성</a:t>
            </a:r>
            <a:r>
              <a:rPr lang="en-US" dirty="0"/>
              <a:t> </a:t>
            </a:r>
            <a:r>
              <a:rPr lang="en-US" dirty="0" err="1"/>
              <a:t>데이터도</a:t>
            </a:r>
            <a:r>
              <a:rPr lang="en-US" dirty="0"/>
              <a:t>, </a:t>
            </a:r>
            <a:r>
              <a:rPr lang="en-US" dirty="0" err="1"/>
              <a:t>해상도</a:t>
            </a:r>
            <a:r>
              <a:rPr lang="en-US" dirty="0"/>
              <a:t> </a:t>
            </a:r>
            <a:r>
              <a:rPr lang="en-US" dirty="0" err="1"/>
              <a:t>상향도</a:t>
            </a:r>
            <a:r>
              <a:rPr lang="en-US" dirty="0"/>
              <a:t> </a:t>
            </a:r>
            <a:r>
              <a:rPr lang="en-US" dirty="0" err="1"/>
              <a:t>같은</a:t>
            </a:r>
            <a:r>
              <a:rPr lang="en-US" dirty="0"/>
              <a:t> </a:t>
            </a:r>
            <a:r>
              <a:rPr lang="en-US" dirty="0" err="1"/>
              <a:t>기준으로</a:t>
            </a:r>
            <a:r>
              <a:rPr lang="en-US" dirty="0"/>
              <a:t> </a:t>
            </a:r>
            <a:r>
              <a:rPr lang="en-US" dirty="0" err="1"/>
              <a:t>버렸습니다</a:t>
            </a:r>
            <a:r>
              <a:rPr lang="en-US" dirty="0"/>
              <a:t>.</a:t>
            </a:r>
          </a:p>
          <a:p>
            <a:r>
              <a:rPr lang="en-US" dirty="0"/>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속도입니다</a:t>
            </a:r>
            <a:r>
              <a:rPr lang="en-US" dirty="0"/>
              <a:t>. </a:t>
            </a:r>
            <a:r>
              <a:rPr lang="en-US" dirty="0" err="1"/>
              <a:t>개발</a:t>
            </a:r>
            <a:r>
              <a:rPr lang="en-US" dirty="0"/>
              <a:t> PC 두 </a:t>
            </a:r>
            <a:r>
              <a:rPr lang="en-US" dirty="0" err="1"/>
              <a:t>대에서</a:t>
            </a:r>
            <a:r>
              <a:rPr lang="en-US" dirty="0"/>
              <a:t> </a:t>
            </a:r>
            <a:r>
              <a:rPr lang="en-US" dirty="0" err="1"/>
              <a:t>스레드를</a:t>
            </a:r>
            <a:r>
              <a:rPr lang="en-US" dirty="0"/>
              <a:t> 4개로 </a:t>
            </a:r>
            <a:r>
              <a:rPr lang="en-US" dirty="0" err="1"/>
              <a:t>제한해</a:t>
            </a:r>
            <a:r>
              <a:rPr lang="en-US" dirty="0"/>
              <a:t> </a:t>
            </a:r>
            <a:r>
              <a:rPr lang="en-US" dirty="0" err="1"/>
              <a:t>쟀을</a:t>
            </a:r>
            <a:r>
              <a:rPr lang="en-US" dirty="0"/>
              <a:t> 때 </a:t>
            </a:r>
            <a:r>
              <a:rPr lang="en-US" dirty="0" err="1"/>
              <a:t>장당</a:t>
            </a:r>
            <a:r>
              <a:rPr lang="en-US" dirty="0"/>
              <a:t> 2.7초에서 4초, 500장에 </a:t>
            </a:r>
            <a:r>
              <a:rPr lang="en-US" dirty="0" err="1"/>
              <a:t>한도의</a:t>
            </a:r>
            <a:r>
              <a:rPr lang="en-US" dirty="0"/>
              <a:t> 55에서 79퍼센트입니다. </a:t>
            </a:r>
            <a:r>
              <a:rPr lang="en-US" dirty="0" err="1"/>
              <a:t>메모리는</a:t>
            </a:r>
            <a:r>
              <a:rPr lang="en-US" dirty="0"/>
              <a:t> 1.25기가, </a:t>
            </a:r>
            <a:r>
              <a:rPr lang="en-US" dirty="0" err="1"/>
              <a:t>학습은</a:t>
            </a:r>
            <a:r>
              <a:rPr lang="en-US" dirty="0"/>
              <a:t> </a:t>
            </a:r>
            <a:r>
              <a:rPr lang="en-US" dirty="0" err="1"/>
              <a:t>무료</a:t>
            </a:r>
            <a:r>
              <a:rPr lang="en-US" dirty="0"/>
              <a:t> </a:t>
            </a:r>
            <a:r>
              <a:rPr lang="en-US" dirty="0" err="1"/>
              <a:t>코랩만</a:t>
            </a:r>
            <a:r>
              <a:rPr lang="en-US" dirty="0"/>
              <a:t> </a:t>
            </a:r>
            <a:r>
              <a:rPr lang="en-US" dirty="0" err="1"/>
              <a:t>써서</a:t>
            </a:r>
            <a:r>
              <a:rPr lang="en-US" dirty="0"/>
              <a:t> </a:t>
            </a:r>
            <a:r>
              <a:rPr lang="en-US" dirty="0" err="1"/>
              <a:t>비용이</a:t>
            </a:r>
            <a:r>
              <a:rPr lang="en-US" dirty="0"/>
              <a:t> 0원입니다. </a:t>
            </a:r>
            <a:r>
              <a:rPr lang="en-US" dirty="0" err="1"/>
              <a:t>탐지는</a:t>
            </a:r>
            <a:r>
              <a:rPr lang="en-US" dirty="0"/>
              <a:t> </a:t>
            </a:r>
            <a:r>
              <a:rPr lang="en-US" dirty="0" err="1"/>
              <a:t>줄인</a:t>
            </a:r>
            <a:r>
              <a:rPr lang="en-US" dirty="0"/>
              <a:t> </a:t>
            </a:r>
            <a:r>
              <a:rPr lang="en-US" dirty="0" err="1"/>
              <a:t>사진에서</a:t>
            </a:r>
            <a:r>
              <a:rPr lang="en-US" dirty="0"/>
              <a:t> 한 </a:t>
            </a:r>
            <a:r>
              <a:rPr lang="en-US" dirty="0" err="1"/>
              <a:t>번만</a:t>
            </a:r>
            <a:r>
              <a:rPr lang="en-US" dirty="0"/>
              <a:t> </a:t>
            </a:r>
            <a:r>
              <a:rPr lang="en-US" dirty="0" err="1"/>
              <a:t>하고</a:t>
            </a:r>
            <a:r>
              <a:rPr lang="en-US" dirty="0"/>
              <a:t>, </a:t>
            </a:r>
            <a:r>
              <a:rPr lang="en-US" dirty="0" err="1"/>
              <a:t>인식은</a:t>
            </a:r>
            <a:r>
              <a:rPr lang="en-US" dirty="0"/>
              <a:t> 큰 </a:t>
            </a:r>
            <a:r>
              <a:rPr lang="en-US" dirty="0" err="1"/>
              <a:t>글자부터</a:t>
            </a:r>
            <a:r>
              <a:rPr lang="en-US" dirty="0"/>
              <a:t> </a:t>
            </a:r>
            <a:r>
              <a:rPr lang="en-US" dirty="0" err="1"/>
              <a:t>읽다가</a:t>
            </a:r>
            <a:r>
              <a:rPr lang="en-US" dirty="0"/>
              <a:t> </a:t>
            </a:r>
            <a:r>
              <a:rPr lang="en-US" dirty="0" err="1"/>
              <a:t>날짜를</a:t>
            </a:r>
            <a:r>
              <a:rPr lang="en-US" dirty="0"/>
              <a:t> </a:t>
            </a:r>
            <a:r>
              <a:rPr lang="en-US" dirty="0" err="1"/>
              <a:t>찾으면</a:t>
            </a:r>
            <a:r>
              <a:rPr lang="en-US" dirty="0"/>
              <a:t> </a:t>
            </a:r>
            <a:r>
              <a:rPr lang="en-US" dirty="0" err="1"/>
              <a:t>멈춥니다</a:t>
            </a:r>
            <a:r>
              <a:rPr lang="en-US" dirty="0"/>
              <a:t>. </a:t>
            </a:r>
            <a:r>
              <a:rPr lang="en-US" dirty="0" err="1"/>
              <a:t>오른쪽이</a:t>
            </a:r>
            <a:r>
              <a:rPr lang="en-US" dirty="0"/>
              <a:t> </a:t>
            </a:r>
            <a:r>
              <a:rPr lang="en-US" dirty="0" err="1"/>
              <a:t>시간</a:t>
            </a:r>
            <a:r>
              <a:rPr lang="en-US" dirty="0"/>
              <a:t> </a:t>
            </a:r>
            <a:r>
              <a:rPr lang="en-US" dirty="0" err="1"/>
              <a:t>가드입니다</a:t>
            </a:r>
            <a:r>
              <a:rPr lang="en-US" dirty="0"/>
              <a:t>. </a:t>
            </a:r>
            <a:r>
              <a:rPr lang="en-US" dirty="0" err="1"/>
              <a:t>채점</a:t>
            </a:r>
            <a:r>
              <a:rPr lang="en-US" dirty="0"/>
              <a:t> </a:t>
            </a:r>
            <a:r>
              <a:rPr lang="en-US" dirty="0" err="1"/>
              <a:t>서버가</a:t>
            </a:r>
            <a:r>
              <a:rPr lang="en-US" dirty="0"/>
              <a:t> </a:t>
            </a:r>
            <a:r>
              <a:rPr lang="en-US" dirty="0" err="1"/>
              <a:t>얼마나</a:t>
            </a:r>
            <a:r>
              <a:rPr lang="en-US" dirty="0"/>
              <a:t> </a:t>
            </a:r>
            <a:r>
              <a:rPr lang="en-US" dirty="0" err="1"/>
              <a:t>빠른지</a:t>
            </a:r>
            <a:r>
              <a:rPr lang="en-US" dirty="0"/>
              <a:t> </a:t>
            </a:r>
            <a:r>
              <a:rPr lang="en-US" dirty="0" err="1"/>
              <a:t>저희는</a:t>
            </a:r>
            <a:r>
              <a:rPr lang="en-US" dirty="0"/>
              <a:t> </a:t>
            </a:r>
            <a:r>
              <a:rPr lang="en-US" dirty="0" err="1"/>
              <a:t>모릅니다</a:t>
            </a:r>
            <a:r>
              <a:rPr lang="en-US" dirty="0"/>
              <a:t>. </a:t>
            </a:r>
            <a:r>
              <a:rPr lang="en-US" dirty="0" err="1"/>
              <a:t>그래서</a:t>
            </a:r>
            <a:r>
              <a:rPr lang="en-US" dirty="0"/>
              <a:t> </a:t>
            </a:r>
            <a:r>
              <a:rPr lang="en-US" dirty="0" err="1"/>
              <a:t>속도를</a:t>
            </a:r>
            <a:r>
              <a:rPr lang="en-US" dirty="0"/>
              <a:t> </a:t>
            </a:r>
            <a:r>
              <a:rPr lang="en-US" dirty="0" err="1"/>
              <a:t>지켜보다가</a:t>
            </a:r>
            <a:r>
              <a:rPr lang="en-US" dirty="0"/>
              <a:t> </a:t>
            </a:r>
            <a:r>
              <a:rPr lang="en-US" dirty="0" err="1"/>
              <a:t>늦을</a:t>
            </a:r>
            <a:r>
              <a:rPr lang="en-US" dirty="0"/>
              <a:t> 것 </a:t>
            </a:r>
            <a:r>
              <a:rPr lang="en-US" dirty="0" err="1"/>
              <a:t>같으면</a:t>
            </a:r>
            <a:r>
              <a:rPr lang="en-US" dirty="0"/>
              <a:t> </a:t>
            </a:r>
            <a:r>
              <a:rPr lang="en-US" dirty="0" err="1"/>
              <a:t>단계적으로</a:t>
            </a:r>
            <a:r>
              <a:rPr lang="en-US" dirty="0"/>
              <a:t> </a:t>
            </a:r>
            <a:r>
              <a:rPr lang="en-US" dirty="0" err="1"/>
              <a:t>가벼워지고</a:t>
            </a:r>
            <a:r>
              <a:rPr lang="en-US" dirty="0"/>
              <a:t>, </a:t>
            </a:r>
            <a:r>
              <a:rPr lang="en-US" dirty="0" err="1"/>
              <a:t>최악의</a:t>
            </a:r>
            <a:r>
              <a:rPr lang="en-US" dirty="0"/>
              <a:t> </a:t>
            </a:r>
            <a:r>
              <a:rPr lang="en-US" dirty="0" err="1"/>
              <a:t>경우에도</a:t>
            </a:r>
            <a:r>
              <a:rPr lang="en-US" dirty="0"/>
              <a:t> </a:t>
            </a:r>
            <a:r>
              <a:rPr lang="en-US" dirty="0" err="1"/>
              <a:t>결과</a:t>
            </a:r>
            <a:r>
              <a:rPr lang="en-US" dirty="0"/>
              <a:t> </a:t>
            </a:r>
            <a:r>
              <a:rPr lang="en-US" dirty="0" err="1"/>
              <a:t>파일은</a:t>
            </a:r>
            <a:r>
              <a:rPr lang="en-US" dirty="0"/>
              <a:t> </a:t>
            </a:r>
            <a:r>
              <a:rPr lang="en-US" dirty="0" err="1"/>
              <a:t>반드시</a:t>
            </a:r>
            <a:r>
              <a:rPr lang="en-US" dirty="0"/>
              <a:t> </a:t>
            </a:r>
            <a:r>
              <a:rPr lang="en-US" dirty="0" err="1"/>
              <a:t>나오게</a:t>
            </a:r>
            <a:r>
              <a:rPr lang="en-US" dirty="0"/>
              <a:t> </a:t>
            </a:r>
            <a:r>
              <a:rPr lang="en-US" dirty="0" err="1"/>
              <a:t>했습니다</a:t>
            </a:r>
            <a:r>
              <a:rPr lang="en-US" dirty="0"/>
              <a:t>.</a:t>
            </a:r>
          </a:p>
          <a:p>
            <a:r>
              <a:rPr lang="en-US" dirty="0"/>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실제 실행 화면입니다. 두 번째가 제조일자와 소비기한이 같이 찍힌 경우입니다. 25년 6월 26일과 26년 6월 25일을 둘 다 읽고 늦은 쪽을 골랐습니다. 세 번째는 도트 인쇄인데, 처음엔 못 읽었다가 점을 이어 붙이는 전처리 후에 읽어 낸 경우입니다. 그리고 네 번째를 일부러 넣었습니다. 못 읽은 사진입니다. 저희 시스템은 여기서 날짜를 지어내지 않고 NONE을 냅니다. 이 선택이 다음에 말씀드릴 중고거래 적용의 핵심입니다.</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마지막으로 서비스 적용입니다.</a:t>
            </a:r>
          </a:p>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적용 대상은 중고거래 플랫폼의 식품과 건강기능식품 게시글입니다. 소비기한은 판매자가 손으로 적고 구매자는 확인할 방법이 없습니다. 약사 단체 모니터링에서 적발된 위반 중 가장 많은 유형이 사용기한 확인 불가였고, 게시글은 한 달에 2만 4천 건인데 전담 모니터링 인력은 다섯 명으로 보도됐습니다. 화면은 시연용 설계안이고, 실제 앱을 만든 것은 아닙니다. 판매자가 날짜면을 찍으면 서버가 읽고, 확신할 때만 날짜 칸을 채웁니다. 확신이 낮으면 읽은 값을 보여 주지 않고 빈칸으로 둡니다. 게시글에는 읽은 날짜와 남은 일수, 날짜면 원본이 붙습니다. 판매자가 마지막에 확인하므로 모델이 틀려도 한 번 고치면 끝나고, 못 읽으면 빈칸이니 지금보다 나빠지지 않습니다. 그래서 정확도는 안전성이 아니라 자동 입력 비율을 정합니다. 플랫폼에는 사진을 읽어 글을 자동으로 써 주는 기능이 이미 있습니다. 저희는 소비기한 판독을 그 게시 흐름에 잇습니다.</a:t>
            </a:r>
          </a:p>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1차 </a:t>
            </a:r>
            <a:r>
              <a:rPr lang="en-US" dirty="0" err="1"/>
              <a:t>대상은</a:t>
            </a:r>
            <a:r>
              <a:rPr lang="en-US" dirty="0"/>
              <a:t> </a:t>
            </a:r>
            <a:r>
              <a:rPr lang="en-US" dirty="0" err="1"/>
              <a:t>위반</a:t>
            </a:r>
            <a:r>
              <a:rPr lang="en-US" dirty="0"/>
              <a:t> </a:t>
            </a:r>
            <a:r>
              <a:rPr lang="en-US" dirty="0" err="1"/>
              <a:t>통계가</a:t>
            </a:r>
            <a:r>
              <a:rPr lang="en-US" dirty="0"/>
              <a:t> </a:t>
            </a:r>
            <a:r>
              <a:rPr lang="en-US" dirty="0" err="1"/>
              <a:t>공개된</a:t>
            </a:r>
            <a:r>
              <a:rPr lang="en-US" dirty="0"/>
              <a:t> </a:t>
            </a:r>
            <a:r>
              <a:rPr lang="en-US" dirty="0" err="1"/>
              <a:t>건강기능식품</a:t>
            </a:r>
            <a:r>
              <a:rPr lang="en-US" dirty="0"/>
              <a:t> </a:t>
            </a:r>
            <a:r>
              <a:rPr lang="en-US" dirty="0" err="1"/>
              <a:t>카테고리이고</a:t>
            </a:r>
            <a:r>
              <a:rPr lang="en-US" dirty="0"/>
              <a:t>, </a:t>
            </a:r>
            <a:r>
              <a:rPr lang="en-US" dirty="0" err="1"/>
              <a:t>게시글은</a:t>
            </a:r>
            <a:r>
              <a:rPr lang="en-US" dirty="0"/>
              <a:t> </a:t>
            </a:r>
            <a:r>
              <a:rPr lang="en-US" dirty="0" err="1"/>
              <a:t>하루</a:t>
            </a:r>
            <a:r>
              <a:rPr lang="en-US" dirty="0"/>
              <a:t> 800건 </a:t>
            </a:r>
            <a:r>
              <a:rPr lang="en-US" dirty="0" err="1"/>
              <a:t>정도입니다</a:t>
            </a:r>
            <a:r>
              <a:rPr lang="en-US" dirty="0"/>
              <a:t>. </a:t>
            </a:r>
            <a:r>
              <a:rPr lang="en-US" dirty="0" err="1"/>
              <a:t>서버</a:t>
            </a:r>
            <a:r>
              <a:rPr lang="en-US" dirty="0"/>
              <a:t> 한 </a:t>
            </a:r>
            <a:r>
              <a:rPr lang="en-US" dirty="0" err="1"/>
              <a:t>대의</a:t>
            </a:r>
            <a:r>
              <a:rPr lang="en-US" dirty="0"/>
              <a:t> 4에서 10퍼센트면 </a:t>
            </a:r>
            <a:r>
              <a:rPr lang="en-US" dirty="0" err="1"/>
              <a:t>되고</a:t>
            </a:r>
            <a:r>
              <a:rPr lang="en-US" dirty="0"/>
              <a:t>, </a:t>
            </a:r>
            <a:r>
              <a:rPr lang="en-US" dirty="0" err="1"/>
              <a:t>게시글</a:t>
            </a:r>
            <a:r>
              <a:rPr lang="en-US" dirty="0"/>
              <a:t> 한 </a:t>
            </a:r>
            <a:r>
              <a:rPr lang="en-US" dirty="0" err="1"/>
              <a:t>건당</a:t>
            </a:r>
            <a:r>
              <a:rPr lang="en-US" dirty="0"/>
              <a:t> 0.2원에서 5.8원입니다. </a:t>
            </a:r>
            <a:r>
              <a:rPr lang="en-US" dirty="0" err="1"/>
              <a:t>아래</a:t>
            </a:r>
            <a:r>
              <a:rPr lang="en-US" dirty="0"/>
              <a:t> </a:t>
            </a:r>
            <a:r>
              <a:rPr lang="en-US" dirty="0" err="1"/>
              <a:t>표는</a:t>
            </a:r>
            <a:r>
              <a:rPr lang="en-US" dirty="0"/>
              <a:t> </a:t>
            </a:r>
            <a:r>
              <a:rPr lang="en-US" dirty="0" err="1"/>
              <a:t>직접</a:t>
            </a:r>
            <a:r>
              <a:rPr lang="en-US" dirty="0"/>
              <a:t> </a:t>
            </a:r>
            <a:r>
              <a:rPr lang="en-US" dirty="0" err="1"/>
              <a:t>찍은</a:t>
            </a:r>
            <a:r>
              <a:rPr lang="en-US" dirty="0"/>
              <a:t> 폰 </a:t>
            </a:r>
            <a:r>
              <a:rPr lang="en-US" dirty="0" err="1"/>
              <a:t>사진</a:t>
            </a:r>
            <a:r>
              <a:rPr lang="en-US" dirty="0"/>
              <a:t> 389장으로 잰 </a:t>
            </a:r>
            <a:r>
              <a:rPr lang="en-US" dirty="0" err="1"/>
              <a:t>값입니다</a:t>
            </a:r>
            <a:r>
              <a:rPr lang="en-US" dirty="0"/>
              <a:t>. </a:t>
            </a:r>
            <a:r>
              <a:rPr lang="en-US" dirty="0" err="1"/>
              <a:t>읽히는</a:t>
            </a:r>
            <a:r>
              <a:rPr lang="en-US" dirty="0"/>
              <a:t> </a:t>
            </a:r>
            <a:r>
              <a:rPr lang="en-US" dirty="0" err="1"/>
              <a:t>대로</a:t>
            </a:r>
            <a:r>
              <a:rPr lang="en-US" dirty="0"/>
              <a:t> </a:t>
            </a:r>
            <a:r>
              <a:rPr lang="en-US" dirty="0" err="1"/>
              <a:t>채우면</a:t>
            </a:r>
            <a:r>
              <a:rPr lang="en-US" dirty="0"/>
              <a:t> </a:t>
            </a:r>
            <a:r>
              <a:rPr lang="en-US" dirty="0" err="1"/>
              <a:t>판매자</a:t>
            </a:r>
            <a:r>
              <a:rPr lang="en-US" dirty="0"/>
              <a:t> </a:t>
            </a:r>
            <a:r>
              <a:rPr lang="en-US" dirty="0" err="1"/>
              <a:t>다섯</a:t>
            </a:r>
            <a:r>
              <a:rPr lang="en-US" dirty="0"/>
              <a:t> 명 중 한 </a:t>
            </a:r>
            <a:r>
              <a:rPr lang="en-US" dirty="0" err="1"/>
              <a:t>명이</a:t>
            </a:r>
            <a:r>
              <a:rPr lang="en-US" dirty="0"/>
              <a:t> </a:t>
            </a:r>
            <a:r>
              <a:rPr lang="en-US" dirty="0" err="1"/>
              <a:t>틀린</a:t>
            </a:r>
            <a:r>
              <a:rPr lang="en-US" dirty="0"/>
              <a:t> </a:t>
            </a:r>
            <a:r>
              <a:rPr lang="en-US" dirty="0" err="1"/>
              <a:t>값을</a:t>
            </a:r>
            <a:r>
              <a:rPr lang="en-US" dirty="0"/>
              <a:t> </a:t>
            </a:r>
            <a:r>
              <a:rPr lang="en-US" dirty="0" err="1"/>
              <a:t>받습니다</a:t>
            </a:r>
            <a:r>
              <a:rPr lang="en-US" dirty="0"/>
              <a:t>. </a:t>
            </a:r>
            <a:r>
              <a:rPr lang="ko-KR" altLang="en-US" dirty="0"/>
              <a:t>이때 모델이 자신의 답을 얼마나 믿는지를 </a:t>
            </a:r>
            <a:r>
              <a:rPr lang="en-US" altLang="ko-KR" dirty="0"/>
              <a:t>0</a:t>
            </a:r>
            <a:r>
              <a:rPr lang="ko-KR" altLang="en-US" dirty="0"/>
              <a:t>부터 </a:t>
            </a:r>
            <a:r>
              <a:rPr lang="en-US" altLang="ko-KR" dirty="0"/>
              <a:t>1 </a:t>
            </a:r>
            <a:r>
              <a:rPr lang="ko-KR" altLang="en-US" dirty="0"/>
              <a:t>사이의 값으로 나타낸 것을 확신도라고 정의하겠습니다</a:t>
            </a:r>
            <a:r>
              <a:rPr lang="en-US" altLang="ko-KR" dirty="0"/>
              <a:t>. </a:t>
            </a:r>
            <a:r>
              <a:rPr lang="en-US" dirty="0" err="1"/>
              <a:t>확신도</a:t>
            </a:r>
            <a:r>
              <a:rPr lang="ko-KR" altLang="en-US" dirty="0"/>
              <a:t>가</a:t>
            </a:r>
            <a:r>
              <a:rPr lang="en-US" dirty="0"/>
              <a:t> 0.7 </a:t>
            </a:r>
            <a:r>
              <a:rPr lang="en-US" dirty="0" err="1"/>
              <a:t>이상이고</a:t>
            </a:r>
            <a:r>
              <a:rPr lang="en-US" dirty="0"/>
              <a:t> 10초 </a:t>
            </a:r>
            <a:r>
              <a:rPr lang="en-US" dirty="0" err="1"/>
              <a:t>안에</a:t>
            </a:r>
            <a:r>
              <a:rPr lang="en-US" dirty="0"/>
              <a:t> </a:t>
            </a:r>
            <a:r>
              <a:rPr lang="en-US" dirty="0" err="1"/>
              <a:t>읽힌</a:t>
            </a:r>
            <a:r>
              <a:rPr lang="en-US" dirty="0"/>
              <a:t> </a:t>
            </a:r>
            <a:r>
              <a:rPr lang="en-US" dirty="0" err="1"/>
              <a:t>것만</a:t>
            </a:r>
            <a:r>
              <a:rPr lang="en-US" dirty="0"/>
              <a:t> </a:t>
            </a:r>
            <a:r>
              <a:rPr lang="en-US" dirty="0" err="1"/>
              <a:t>채우면</a:t>
            </a:r>
            <a:r>
              <a:rPr lang="en-US" dirty="0"/>
              <a:t> 41퍼센트가 </a:t>
            </a:r>
            <a:r>
              <a:rPr lang="en-US" dirty="0" err="1"/>
              <a:t>자동으로</a:t>
            </a:r>
            <a:r>
              <a:rPr lang="en-US" dirty="0"/>
              <a:t> </a:t>
            </a:r>
            <a:r>
              <a:rPr lang="en-US" dirty="0" err="1"/>
              <a:t>채워지고</a:t>
            </a:r>
            <a:r>
              <a:rPr lang="en-US" dirty="0"/>
              <a:t> </a:t>
            </a:r>
            <a:r>
              <a:rPr lang="en-US" dirty="0" err="1"/>
              <a:t>틀린</a:t>
            </a:r>
            <a:r>
              <a:rPr lang="en-US" dirty="0"/>
              <a:t> </a:t>
            </a:r>
            <a:r>
              <a:rPr lang="en-US" dirty="0" err="1"/>
              <a:t>값은</a:t>
            </a:r>
            <a:r>
              <a:rPr lang="en-US" dirty="0"/>
              <a:t> 8퍼센트로 </a:t>
            </a:r>
            <a:r>
              <a:rPr lang="en-US" dirty="0" err="1"/>
              <a:t>줄어듭니다</a:t>
            </a:r>
            <a:r>
              <a:rPr lang="en-US" dirty="0"/>
              <a:t>. </a:t>
            </a:r>
            <a:r>
              <a:rPr lang="en-US" dirty="0" err="1"/>
              <a:t>이익은</a:t>
            </a:r>
            <a:r>
              <a:rPr lang="en-US" dirty="0"/>
              <a:t> </a:t>
            </a:r>
            <a:r>
              <a:rPr lang="en-US" dirty="0" err="1"/>
              <a:t>부풀리지</a:t>
            </a:r>
            <a:r>
              <a:rPr lang="en-US" dirty="0"/>
              <a:t> </a:t>
            </a:r>
            <a:r>
              <a:rPr lang="en-US" dirty="0" err="1"/>
              <a:t>않았습니다</a:t>
            </a:r>
            <a:r>
              <a:rPr lang="en-US" dirty="0"/>
              <a:t>. </a:t>
            </a:r>
            <a:r>
              <a:rPr lang="en-US" dirty="0" err="1"/>
              <a:t>위반</a:t>
            </a:r>
            <a:r>
              <a:rPr lang="en-US" dirty="0"/>
              <a:t> </a:t>
            </a:r>
            <a:r>
              <a:rPr lang="en-US" dirty="0" err="1"/>
              <a:t>처리비</a:t>
            </a:r>
            <a:r>
              <a:rPr lang="en-US" dirty="0"/>
              <a:t> </a:t>
            </a:r>
            <a:r>
              <a:rPr lang="en-US" dirty="0" err="1"/>
              <a:t>절감만으로는</a:t>
            </a:r>
            <a:r>
              <a:rPr lang="en-US" dirty="0"/>
              <a:t> </a:t>
            </a:r>
            <a:r>
              <a:rPr lang="en-US" dirty="0" err="1"/>
              <a:t>본전이</a:t>
            </a:r>
            <a:r>
              <a:rPr lang="en-US" dirty="0"/>
              <a:t> </a:t>
            </a:r>
            <a:r>
              <a:rPr lang="en-US" dirty="0" err="1"/>
              <a:t>되지</a:t>
            </a:r>
            <a:r>
              <a:rPr lang="en-US" dirty="0"/>
              <a:t> </a:t>
            </a:r>
            <a:r>
              <a:rPr lang="en-US" dirty="0" err="1"/>
              <a:t>않는다는</a:t>
            </a:r>
            <a:r>
              <a:rPr lang="en-US" dirty="0"/>
              <a:t> </a:t>
            </a:r>
            <a:r>
              <a:rPr lang="en-US" dirty="0" err="1"/>
              <a:t>계산을</a:t>
            </a:r>
            <a:r>
              <a:rPr lang="en-US" dirty="0"/>
              <a:t> </a:t>
            </a:r>
            <a:r>
              <a:rPr lang="en-US" dirty="0" err="1"/>
              <a:t>먼저</a:t>
            </a:r>
            <a:r>
              <a:rPr lang="en-US" dirty="0"/>
              <a:t> </a:t>
            </a:r>
            <a:r>
              <a:rPr lang="en-US" dirty="0" err="1"/>
              <a:t>공개합니다</a:t>
            </a:r>
            <a:r>
              <a:rPr lang="en-US" dirty="0"/>
              <a:t>. </a:t>
            </a:r>
            <a:r>
              <a:rPr lang="en-US" dirty="0" err="1"/>
              <a:t>플랫폼이</a:t>
            </a:r>
            <a:r>
              <a:rPr lang="en-US" dirty="0"/>
              <a:t> </a:t>
            </a:r>
            <a:r>
              <a:rPr lang="en-US" dirty="0" err="1"/>
              <a:t>도입할</a:t>
            </a:r>
            <a:r>
              <a:rPr lang="en-US" dirty="0"/>
              <a:t> </a:t>
            </a:r>
            <a:r>
              <a:rPr lang="en-US" dirty="0" err="1"/>
              <a:t>이유는</a:t>
            </a:r>
            <a:r>
              <a:rPr lang="en-US" dirty="0"/>
              <a:t> </a:t>
            </a:r>
            <a:r>
              <a:rPr lang="en-US" dirty="0" err="1"/>
              <a:t>규제</a:t>
            </a:r>
            <a:r>
              <a:rPr lang="en-US" dirty="0"/>
              <a:t> </a:t>
            </a:r>
            <a:r>
              <a:rPr lang="en-US" dirty="0" err="1"/>
              <a:t>대응입니다</a:t>
            </a:r>
            <a:r>
              <a:rPr lang="en-US" dirty="0"/>
              <a:t>. </a:t>
            </a:r>
            <a:r>
              <a:rPr lang="en-US" dirty="0" err="1"/>
              <a:t>건강기능식품</a:t>
            </a:r>
            <a:r>
              <a:rPr lang="en-US" dirty="0"/>
              <a:t> </a:t>
            </a:r>
            <a:r>
              <a:rPr lang="en-US" dirty="0" err="1"/>
              <a:t>개인</a:t>
            </a:r>
            <a:r>
              <a:rPr lang="en-US" dirty="0"/>
              <a:t> 간 </a:t>
            </a:r>
            <a:r>
              <a:rPr lang="en-US" dirty="0" err="1"/>
              <a:t>거래는</a:t>
            </a:r>
            <a:r>
              <a:rPr lang="en-US" dirty="0"/>
              <a:t> </a:t>
            </a:r>
            <a:r>
              <a:rPr lang="en-US" dirty="0" err="1"/>
              <a:t>아직</a:t>
            </a:r>
            <a:r>
              <a:rPr lang="en-US" dirty="0"/>
              <a:t> </a:t>
            </a:r>
            <a:r>
              <a:rPr lang="en-US" dirty="0" err="1"/>
              <a:t>시범사업이고</a:t>
            </a:r>
            <a:r>
              <a:rPr lang="en-US" dirty="0"/>
              <a:t>, </a:t>
            </a:r>
            <a:r>
              <a:rPr lang="en-US" dirty="0" err="1"/>
              <a:t>게시글마다</a:t>
            </a:r>
            <a:r>
              <a:rPr lang="en-US" dirty="0"/>
              <a:t> </a:t>
            </a:r>
            <a:r>
              <a:rPr lang="en-US" dirty="0" err="1"/>
              <a:t>남는</a:t>
            </a:r>
            <a:r>
              <a:rPr lang="en-US" dirty="0"/>
              <a:t> </a:t>
            </a:r>
            <a:r>
              <a:rPr lang="en-US" dirty="0" err="1"/>
              <a:t>날짜</a:t>
            </a:r>
            <a:r>
              <a:rPr lang="en-US" dirty="0"/>
              <a:t> </a:t>
            </a:r>
            <a:r>
              <a:rPr lang="en-US" dirty="0" err="1"/>
              <a:t>사진과</a:t>
            </a:r>
            <a:r>
              <a:rPr lang="en-US" dirty="0"/>
              <a:t> </a:t>
            </a:r>
            <a:r>
              <a:rPr lang="en-US" dirty="0" err="1"/>
              <a:t>판독</a:t>
            </a:r>
            <a:r>
              <a:rPr lang="en-US" dirty="0"/>
              <a:t> </a:t>
            </a:r>
            <a:r>
              <a:rPr lang="en-US" dirty="0" err="1"/>
              <a:t>기록이</a:t>
            </a:r>
            <a:r>
              <a:rPr lang="en-US" dirty="0"/>
              <a:t> </a:t>
            </a:r>
            <a:r>
              <a:rPr lang="en-US" dirty="0" err="1"/>
              <a:t>관리</a:t>
            </a:r>
            <a:r>
              <a:rPr lang="en-US" dirty="0"/>
              <a:t> </a:t>
            </a:r>
            <a:r>
              <a:rPr lang="en-US" dirty="0" err="1"/>
              <a:t>체계의</a:t>
            </a:r>
            <a:r>
              <a:rPr lang="en-US" dirty="0"/>
              <a:t> </a:t>
            </a:r>
            <a:r>
              <a:rPr lang="en-US" dirty="0" err="1"/>
              <a:t>증거가</a:t>
            </a:r>
            <a:r>
              <a:rPr lang="en-US" dirty="0"/>
              <a:t> </a:t>
            </a:r>
            <a:r>
              <a:rPr lang="en-US" dirty="0" err="1"/>
              <a:t>됩니다</a:t>
            </a:r>
            <a:r>
              <a:rPr lang="en-US" dirty="0"/>
              <a:t>.</a:t>
            </a:r>
          </a:p>
          <a:p>
            <a:r>
              <a:rPr lang="en-US" dirty="0"/>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운영</a:t>
            </a:r>
            <a:r>
              <a:rPr lang="en-US" dirty="0"/>
              <a:t> </a:t>
            </a:r>
            <a:r>
              <a:rPr lang="en-US" dirty="0" err="1"/>
              <a:t>아키텍처입니다</a:t>
            </a:r>
            <a:r>
              <a:rPr lang="en-US" dirty="0"/>
              <a:t>. </a:t>
            </a:r>
            <a:r>
              <a:rPr lang="en-US" dirty="0" err="1"/>
              <a:t>지금은</a:t>
            </a:r>
            <a:r>
              <a:rPr lang="en-US" dirty="0"/>
              <a:t> </a:t>
            </a:r>
            <a:r>
              <a:rPr lang="en-US" dirty="0" err="1"/>
              <a:t>서버</a:t>
            </a:r>
            <a:r>
              <a:rPr lang="en-US" dirty="0"/>
              <a:t> </a:t>
            </a:r>
            <a:r>
              <a:rPr lang="en-US" dirty="0" err="1"/>
              <a:t>추론</a:t>
            </a:r>
            <a:r>
              <a:rPr lang="en-US" dirty="0"/>
              <a:t> </a:t>
            </a:r>
            <a:r>
              <a:rPr lang="en-US" dirty="0" err="1"/>
              <a:t>하나만</a:t>
            </a:r>
            <a:r>
              <a:rPr lang="en-US" dirty="0"/>
              <a:t> </a:t>
            </a:r>
            <a:r>
              <a:rPr lang="en-US" dirty="0" err="1"/>
              <a:t>돌아갑니다</a:t>
            </a:r>
            <a:r>
              <a:rPr lang="en-US" dirty="0"/>
              <a:t>. </a:t>
            </a:r>
            <a:r>
              <a:rPr lang="en-US" dirty="0" err="1"/>
              <a:t>모델이</a:t>
            </a:r>
            <a:r>
              <a:rPr lang="en-US" dirty="0"/>
              <a:t> 21메가바이트로 </a:t>
            </a:r>
            <a:r>
              <a:rPr lang="en-US" dirty="0" err="1"/>
              <a:t>작아</a:t>
            </a:r>
            <a:r>
              <a:rPr lang="en-US" dirty="0"/>
              <a:t> 폰 </a:t>
            </a:r>
            <a:r>
              <a:rPr lang="en-US" dirty="0" err="1"/>
              <a:t>안에서</a:t>
            </a:r>
            <a:r>
              <a:rPr lang="en-US" dirty="0"/>
              <a:t> </a:t>
            </a:r>
            <a:r>
              <a:rPr lang="en-US" dirty="0" err="1"/>
              <a:t>직접</a:t>
            </a:r>
            <a:r>
              <a:rPr lang="en-US" dirty="0"/>
              <a:t> </a:t>
            </a:r>
            <a:r>
              <a:rPr lang="en-US" dirty="0" err="1"/>
              <a:t>돌리는</a:t>
            </a:r>
            <a:r>
              <a:rPr lang="en-US" dirty="0"/>
              <a:t> </a:t>
            </a:r>
            <a:r>
              <a:rPr lang="en-US" dirty="0" err="1"/>
              <a:t>온디바이스도</a:t>
            </a:r>
            <a:r>
              <a:rPr lang="en-US" dirty="0"/>
              <a:t> </a:t>
            </a:r>
            <a:r>
              <a:rPr lang="en-US" dirty="0" err="1"/>
              <a:t>가능할</a:t>
            </a:r>
            <a:r>
              <a:rPr lang="en-US" dirty="0"/>
              <a:t> </a:t>
            </a:r>
            <a:r>
              <a:rPr lang="en-US" dirty="0" err="1"/>
              <a:t>걸로</a:t>
            </a:r>
            <a:r>
              <a:rPr lang="en-US" dirty="0"/>
              <a:t> </a:t>
            </a:r>
            <a:r>
              <a:rPr lang="en-US" dirty="0" err="1"/>
              <a:t>보지만</a:t>
            </a:r>
            <a:r>
              <a:rPr lang="en-US" dirty="0"/>
              <a:t>, </a:t>
            </a:r>
            <a:r>
              <a:rPr lang="en-US" dirty="0" err="1"/>
              <a:t>아직</a:t>
            </a:r>
            <a:r>
              <a:rPr lang="en-US" dirty="0"/>
              <a:t> 재 </a:t>
            </a:r>
            <a:r>
              <a:rPr lang="en-US" dirty="0" err="1"/>
              <a:t>보지</a:t>
            </a:r>
            <a:r>
              <a:rPr lang="en-US" dirty="0"/>
              <a:t> </a:t>
            </a:r>
            <a:r>
              <a:rPr lang="en-US" dirty="0" err="1"/>
              <a:t>않아</a:t>
            </a:r>
            <a:r>
              <a:rPr lang="en-US" dirty="0"/>
              <a:t> </a:t>
            </a:r>
            <a:r>
              <a:rPr lang="en-US" dirty="0" err="1"/>
              <a:t>다음</a:t>
            </a:r>
            <a:r>
              <a:rPr lang="en-US" dirty="0"/>
              <a:t> </a:t>
            </a:r>
            <a:r>
              <a:rPr lang="en-US" dirty="0" err="1"/>
              <a:t>단계로</a:t>
            </a:r>
            <a:r>
              <a:rPr lang="en-US" dirty="0"/>
              <a:t> </a:t>
            </a:r>
            <a:r>
              <a:rPr lang="en-US" dirty="0" err="1"/>
              <a:t>남겨</a:t>
            </a:r>
            <a:r>
              <a:rPr lang="en-US" dirty="0"/>
              <a:t> </a:t>
            </a:r>
            <a:r>
              <a:rPr lang="en-US" dirty="0" err="1"/>
              <a:t>뒀습니다</a:t>
            </a:r>
            <a:r>
              <a:rPr lang="en-US" dirty="0"/>
              <a:t>.</a:t>
            </a:r>
          </a:p>
          <a:p>
            <a:r>
              <a:rPr lang="en-US" dirty="0"/>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손실</a:t>
            </a:r>
            <a:r>
              <a:rPr lang="en-US" dirty="0"/>
              <a:t> </a:t>
            </a:r>
            <a:r>
              <a:rPr lang="en-US" dirty="0" err="1"/>
              <a:t>절감과</a:t>
            </a:r>
            <a:r>
              <a:rPr lang="en-US" dirty="0"/>
              <a:t> </a:t>
            </a:r>
            <a:r>
              <a:rPr lang="en-US" dirty="0" err="1"/>
              <a:t>ROI입니다</a:t>
            </a:r>
            <a:r>
              <a:rPr lang="en-US" dirty="0"/>
              <a:t>. </a:t>
            </a:r>
            <a:r>
              <a:rPr lang="en-US" dirty="0" err="1"/>
              <a:t>손익분기</a:t>
            </a:r>
            <a:r>
              <a:rPr lang="en-US" dirty="0"/>
              <a:t> </a:t>
            </a:r>
            <a:r>
              <a:rPr lang="en-US" dirty="0" err="1"/>
              <a:t>처리비가</a:t>
            </a:r>
            <a:r>
              <a:rPr lang="en-US" dirty="0"/>
              <a:t> </a:t>
            </a:r>
            <a:r>
              <a:rPr lang="en-US" dirty="0" err="1"/>
              <a:t>사람</a:t>
            </a:r>
            <a:r>
              <a:rPr lang="en-US" dirty="0"/>
              <a:t> </a:t>
            </a:r>
            <a:r>
              <a:rPr lang="en-US" dirty="0" err="1"/>
              <a:t>검토</a:t>
            </a:r>
            <a:r>
              <a:rPr lang="en-US" dirty="0"/>
              <a:t> </a:t>
            </a:r>
            <a:r>
              <a:rPr lang="en-US" dirty="0" err="1"/>
              <a:t>비용</a:t>
            </a:r>
            <a:r>
              <a:rPr lang="en-US" dirty="0"/>
              <a:t> 86원의 9배에서 220배라, </a:t>
            </a:r>
            <a:r>
              <a:rPr lang="en-US" dirty="0" err="1"/>
              <a:t>저희는</a:t>
            </a:r>
            <a:r>
              <a:rPr lang="en-US" dirty="0"/>
              <a:t> </a:t>
            </a:r>
            <a:r>
              <a:rPr lang="en-US" dirty="0" err="1"/>
              <a:t>비용</a:t>
            </a:r>
            <a:r>
              <a:rPr lang="en-US" dirty="0"/>
              <a:t> </a:t>
            </a:r>
            <a:r>
              <a:rPr lang="en-US" dirty="0" err="1"/>
              <a:t>절감이</a:t>
            </a:r>
            <a:r>
              <a:rPr lang="en-US" dirty="0"/>
              <a:t> </a:t>
            </a:r>
            <a:r>
              <a:rPr lang="en-US" dirty="0" err="1"/>
              <a:t>아니라</a:t>
            </a:r>
            <a:r>
              <a:rPr lang="en-US" dirty="0"/>
              <a:t> </a:t>
            </a:r>
            <a:r>
              <a:rPr lang="en-US" dirty="0" err="1"/>
              <a:t>규제</a:t>
            </a:r>
            <a:r>
              <a:rPr lang="en-US" dirty="0"/>
              <a:t> </a:t>
            </a:r>
            <a:r>
              <a:rPr lang="en-US" dirty="0" err="1"/>
              <a:t>대응을</a:t>
            </a:r>
            <a:r>
              <a:rPr lang="en-US" dirty="0"/>
              <a:t> </a:t>
            </a:r>
            <a:r>
              <a:rPr lang="en-US" dirty="0" err="1"/>
              <a:t>도입</a:t>
            </a:r>
            <a:r>
              <a:rPr lang="en-US" dirty="0"/>
              <a:t> </a:t>
            </a:r>
            <a:r>
              <a:rPr lang="en-US" dirty="0" err="1"/>
              <a:t>이유로</a:t>
            </a:r>
            <a:r>
              <a:rPr lang="en-US" dirty="0"/>
              <a:t> </a:t>
            </a:r>
            <a:r>
              <a:rPr lang="en-US" dirty="0" err="1"/>
              <a:t>듭니다</a:t>
            </a:r>
            <a:r>
              <a:rPr lang="en-US" dirty="0"/>
              <a:t>.</a:t>
            </a:r>
          </a:p>
          <a:p>
            <a:r>
              <a:rPr lang="en-US" dirty="0"/>
              <a:t>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한계입니다</a:t>
            </a:r>
            <a:r>
              <a:rPr lang="en-US" dirty="0"/>
              <a:t>. </a:t>
            </a:r>
            <a:r>
              <a:rPr lang="ko-KR" altLang="en-US" dirty="0"/>
              <a:t>어려운 조건의 폰 </a:t>
            </a:r>
            <a:r>
              <a:rPr lang="en-US" dirty="0" err="1"/>
              <a:t>사진이</a:t>
            </a:r>
            <a:r>
              <a:rPr lang="en-US" dirty="0"/>
              <a:t> </a:t>
            </a:r>
            <a:r>
              <a:rPr lang="en-US" dirty="0" err="1"/>
              <a:t>저희</a:t>
            </a:r>
            <a:r>
              <a:rPr lang="en-US" dirty="0"/>
              <a:t> </a:t>
            </a:r>
            <a:r>
              <a:rPr lang="en-US" dirty="0" err="1"/>
              <a:t>약점입니다</a:t>
            </a:r>
            <a:r>
              <a:rPr lang="en-US" dirty="0"/>
              <a:t>. </a:t>
            </a:r>
            <a:r>
              <a:rPr lang="en-US" dirty="0" err="1"/>
              <a:t>팀원</a:t>
            </a:r>
            <a:r>
              <a:rPr lang="en-US" dirty="0"/>
              <a:t> </a:t>
            </a:r>
            <a:r>
              <a:rPr lang="en-US" dirty="0" err="1"/>
              <a:t>네</a:t>
            </a:r>
            <a:r>
              <a:rPr lang="en-US" dirty="0"/>
              <a:t> </a:t>
            </a:r>
            <a:r>
              <a:rPr lang="en-US" dirty="0" err="1"/>
              <a:t>명이</a:t>
            </a:r>
            <a:r>
              <a:rPr lang="en-US" dirty="0"/>
              <a:t> </a:t>
            </a:r>
            <a:r>
              <a:rPr lang="en-US" dirty="0" err="1"/>
              <a:t>어려운</a:t>
            </a:r>
            <a:r>
              <a:rPr lang="en-US" dirty="0"/>
              <a:t> </a:t>
            </a:r>
            <a:r>
              <a:rPr lang="en-US" dirty="0" err="1"/>
              <a:t>유형</a:t>
            </a:r>
            <a:r>
              <a:rPr lang="en-US" dirty="0"/>
              <a:t> </a:t>
            </a:r>
            <a:r>
              <a:rPr lang="en-US" dirty="0" err="1"/>
              <a:t>위주로</a:t>
            </a:r>
            <a:r>
              <a:rPr lang="en-US" dirty="0"/>
              <a:t> 389장을 </a:t>
            </a:r>
            <a:r>
              <a:rPr lang="en-US" dirty="0" err="1"/>
              <a:t>직접</a:t>
            </a:r>
            <a:r>
              <a:rPr lang="en-US" dirty="0"/>
              <a:t> </a:t>
            </a:r>
            <a:r>
              <a:rPr lang="en-US" dirty="0" err="1"/>
              <a:t>찍어</a:t>
            </a:r>
            <a:r>
              <a:rPr lang="en-US" dirty="0"/>
              <a:t> </a:t>
            </a:r>
            <a:r>
              <a:rPr lang="en-US" dirty="0" err="1"/>
              <a:t>돌렸더니</a:t>
            </a:r>
            <a:r>
              <a:rPr lang="en-US" dirty="0"/>
              <a:t> </a:t>
            </a:r>
            <a:r>
              <a:rPr lang="en-US" dirty="0" err="1"/>
              <a:t>다섯</a:t>
            </a:r>
            <a:r>
              <a:rPr lang="en-US" dirty="0"/>
              <a:t> </a:t>
            </a:r>
            <a:r>
              <a:rPr lang="en-US" dirty="0" err="1"/>
              <a:t>장</a:t>
            </a:r>
            <a:r>
              <a:rPr lang="en-US" dirty="0"/>
              <a:t> </a:t>
            </a:r>
            <a:r>
              <a:rPr lang="en-US" dirty="0" err="1"/>
              <a:t>중</a:t>
            </a:r>
            <a:r>
              <a:rPr lang="en-US" dirty="0"/>
              <a:t> </a:t>
            </a:r>
            <a:r>
              <a:rPr lang="en-US" dirty="0" err="1"/>
              <a:t>한</a:t>
            </a:r>
            <a:r>
              <a:rPr lang="en-US" dirty="0"/>
              <a:t> </a:t>
            </a:r>
            <a:r>
              <a:rPr lang="en-US" dirty="0" err="1"/>
              <a:t>장은</a:t>
            </a:r>
            <a:r>
              <a:rPr lang="en-US" dirty="0"/>
              <a:t> </a:t>
            </a:r>
            <a:r>
              <a:rPr lang="en-US" dirty="0" err="1"/>
              <a:t>읽지</a:t>
            </a:r>
            <a:r>
              <a:rPr lang="en-US" dirty="0"/>
              <a:t> </a:t>
            </a:r>
            <a:r>
              <a:rPr lang="en-US" dirty="0" err="1"/>
              <a:t>못했습니다</a:t>
            </a:r>
            <a:r>
              <a:rPr lang="en-US" dirty="0"/>
              <a:t>. </a:t>
            </a:r>
            <a:r>
              <a:rPr lang="en-US" dirty="0" err="1"/>
              <a:t>봉인</a:t>
            </a:r>
            <a:r>
              <a:rPr lang="en-US" dirty="0"/>
              <a:t> 500장의 </a:t>
            </a:r>
            <a:r>
              <a:rPr lang="en-US" dirty="0" err="1"/>
              <a:t>일곱</a:t>
            </a:r>
            <a:r>
              <a:rPr lang="en-US" dirty="0"/>
              <a:t> </a:t>
            </a:r>
            <a:r>
              <a:rPr lang="en-US" dirty="0" err="1"/>
              <a:t>배입니다</a:t>
            </a:r>
            <a:r>
              <a:rPr lang="en-US" dirty="0"/>
              <a:t>. </a:t>
            </a:r>
            <a:r>
              <a:rPr lang="en-US" dirty="0" err="1"/>
              <a:t>가장</a:t>
            </a:r>
            <a:r>
              <a:rPr lang="en-US" dirty="0"/>
              <a:t> </a:t>
            </a:r>
            <a:r>
              <a:rPr lang="en-US" dirty="0" err="1"/>
              <a:t>위험한</a:t>
            </a:r>
            <a:r>
              <a:rPr lang="en-US" dirty="0"/>
              <a:t> </a:t>
            </a:r>
            <a:r>
              <a:rPr lang="en-US" dirty="0" err="1"/>
              <a:t>것은</a:t>
            </a:r>
            <a:r>
              <a:rPr lang="en-US" dirty="0"/>
              <a:t> </a:t>
            </a:r>
            <a:r>
              <a:rPr lang="en-US" dirty="0" err="1"/>
              <a:t>늦게</a:t>
            </a:r>
            <a:r>
              <a:rPr lang="en-US" dirty="0"/>
              <a:t> </a:t>
            </a:r>
            <a:r>
              <a:rPr lang="en-US" dirty="0" err="1"/>
              <a:t>읽어서</a:t>
            </a:r>
            <a:r>
              <a:rPr lang="en-US" dirty="0"/>
              <a:t> </a:t>
            </a:r>
            <a:r>
              <a:rPr lang="en-US" dirty="0" err="1"/>
              <a:t>남은</a:t>
            </a:r>
            <a:r>
              <a:rPr lang="en-US" dirty="0"/>
              <a:t> </a:t>
            </a:r>
            <a:r>
              <a:rPr lang="en-US" dirty="0" err="1"/>
              <a:t>날이</a:t>
            </a:r>
            <a:r>
              <a:rPr lang="en-US" dirty="0"/>
              <a:t> </a:t>
            </a:r>
            <a:r>
              <a:rPr lang="en-US" dirty="0" err="1"/>
              <a:t>많게</a:t>
            </a:r>
            <a:r>
              <a:rPr lang="en-US" dirty="0"/>
              <a:t> </a:t>
            </a:r>
            <a:r>
              <a:rPr lang="en-US" dirty="0" err="1"/>
              <a:t>표시되는</a:t>
            </a:r>
            <a:r>
              <a:rPr lang="en-US" dirty="0"/>
              <a:t> </a:t>
            </a:r>
            <a:r>
              <a:rPr lang="en-US" dirty="0" err="1"/>
              <a:t>경우로</a:t>
            </a:r>
            <a:r>
              <a:rPr lang="en-US" dirty="0"/>
              <a:t> 4.9퍼센트입니다. </a:t>
            </a:r>
            <a:r>
              <a:rPr lang="en-US" dirty="0" err="1"/>
              <a:t>그래서</a:t>
            </a:r>
            <a:r>
              <a:rPr lang="en-US" dirty="0"/>
              <a:t> </a:t>
            </a:r>
            <a:r>
              <a:rPr lang="en-US" dirty="0" err="1"/>
              <a:t>채운</a:t>
            </a:r>
            <a:r>
              <a:rPr lang="en-US" dirty="0"/>
              <a:t> </a:t>
            </a:r>
            <a:r>
              <a:rPr lang="en-US" dirty="0" err="1"/>
              <a:t>값</a:t>
            </a:r>
            <a:r>
              <a:rPr lang="en-US" dirty="0"/>
              <a:t> </a:t>
            </a:r>
            <a:r>
              <a:rPr lang="en-US" dirty="0" err="1"/>
              <a:t>옆에</a:t>
            </a:r>
            <a:r>
              <a:rPr lang="en-US" dirty="0"/>
              <a:t> </a:t>
            </a:r>
            <a:r>
              <a:rPr lang="en-US" dirty="0" err="1"/>
              <a:t>늘</a:t>
            </a:r>
            <a:r>
              <a:rPr lang="en-US" dirty="0"/>
              <a:t> </a:t>
            </a:r>
            <a:r>
              <a:rPr lang="en-US" dirty="0" err="1"/>
              <a:t>날짜</a:t>
            </a:r>
            <a:r>
              <a:rPr lang="en-US" dirty="0"/>
              <a:t> </a:t>
            </a:r>
            <a:r>
              <a:rPr lang="en-US" dirty="0" err="1"/>
              <a:t>확대본을</a:t>
            </a:r>
            <a:r>
              <a:rPr lang="en-US" dirty="0"/>
              <a:t> </a:t>
            </a:r>
            <a:r>
              <a:rPr lang="en-US" dirty="0" err="1"/>
              <a:t>보여</a:t>
            </a:r>
            <a:r>
              <a:rPr lang="en-US" dirty="0"/>
              <a:t> </a:t>
            </a:r>
            <a:r>
              <a:rPr lang="en-US" dirty="0" err="1"/>
              <a:t>주고</a:t>
            </a:r>
            <a:r>
              <a:rPr lang="en-US" dirty="0"/>
              <a:t>, </a:t>
            </a:r>
            <a:r>
              <a:rPr lang="en-US" dirty="0" err="1"/>
              <a:t>읽은</a:t>
            </a:r>
            <a:r>
              <a:rPr lang="en-US" dirty="0"/>
              <a:t> </a:t>
            </a:r>
            <a:r>
              <a:rPr lang="en-US" dirty="0" err="1"/>
              <a:t>값만으로</a:t>
            </a:r>
            <a:r>
              <a:rPr lang="en-US" dirty="0"/>
              <a:t> </a:t>
            </a:r>
            <a:r>
              <a:rPr lang="en-US" dirty="0" err="1"/>
              <a:t>게시를</a:t>
            </a:r>
            <a:r>
              <a:rPr lang="en-US" dirty="0"/>
              <a:t> </a:t>
            </a:r>
            <a:r>
              <a:rPr lang="en-US" dirty="0" err="1"/>
              <a:t>막지</a:t>
            </a:r>
            <a:r>
              <a:rPr lang="en-US" dirty="0"/>
              <a:t> </a:t>
            </a:r>
            <a:r>
              <a:rPr lang="en-US" dirty="0" err="1"/>
              <a:t>않습니다</a:t>
            </a:r>
            <a:r>
              <a:rPr lang="en-US" dirty="0"/>
              <a:t>. </a:t>
            </a:r>
            <a:r>
              <a:rPr lang="en-US" dirty="0" err="1"/>
              <a:t>조작과</a:t>
            </a:r>
            <a:r>
              <a:rPr lang="en-US" dirty="0"/>
              <a:t> </a:t>
            </a:r>
            <a:r>
              <a:rPr lang="en-US" dirty="0" err="1"/>
              <a:t>개봉</a:t>
            </a:r>
            <a:r>
              <a:rPr lang="en-US" dirty="0"/>
              <a:t> </a:t>
            </a:r>
            <a:r>
              <a:rPr lang="en-US" dirty="0" err="1"/>
              <a:t>여부는</a:t>
            </a:r>
            <a:r>
              <a:rPr lang="en-US" dirty="0"/>
              <a:t> </a:t>
            </a:r>
            <a:r>
              <a:rPr lang="en-US" dirty="0" err="1"/>
              <a:t>막지</a:t>
            </a:r>
            <a:r>
              <a:rPr lang="en-US" dirty="0"/>
              <a:t> </a:t>
            </a:r>
            <a:r>
              <a:rPr lang="en-US" dirty="0" err="1"/>
              <a:t>못하고</a:t>
            </a:r>
            <a:r>
              <a:rPr lang="en-US" dirty="0"/>
              <a:t>, </a:t>
            </a:r>
            <a:r>
              <a:rPr lang="en-US" dirty="0" err="1"/>
              <a:t>판매자가</a:t>
            </a:r>
            <a:r>
              <a:rPr lang="en-US" dirty="0"/>
              <a:t> </a:t>
            </a:r>
            <a:r>
              <a:rPr lang="en-US" dirty="0" err="1"/>
              <a:t>보지</a:t>
            </a:r>
            <a:r>
              <a:rPr lang="en-US" dirty="0"/>
              <a:t> </a:t>
            </a:r>
            <a:r>
              <a:rPr lang="en-US" dirty="0" err="1"/>
              <a:t>않고</a:t>
            </a:r>
            <a:r>
              <a:rPr lang="en-US" dirty="0"/>
              <a:t> </a:t>
            </a:r>
            <a:r>
              <a:rPr lang="en-US" dirty="0" err="1"/>
              <a:t>확인을</a:t>
            </a:r>
            <a:r>
              <a:rPr lang="en-US" dirty="0"/>
              <a:t> </a:t>
            </a:r>
            <a:r>
              <a:rPr lang="en-US" dirty="0" err="1"/>
              <a:t>누르는</a:t>
            </a:r>
            <a:r>
              <a:rPr lang="en-US" dirty="0"/>
              <a:t> </a:t>
            </a:r>
            <a:r>
              <a:rPr lang="en-US" dirty="0" err="1"/>
              <a:t>비율은</a:t>
            </a:r>
            <a:r>
              <a:rPr lang="en-US" dirty="0"/>
              <a:t> </a:t>
            </a:r>
            <a:r>
              <a:rPr lang="en-US" dirty="0" err="1"/>
              <a:t>재지</a:t>
            </a:r>
            <a:r>
              <a:rPr lang="en-US" dirty="0"/>
              <a:t> </a:t>
            </a:r>
            <a:r>
              <a:rPr lang="en-US" dirty="0" err="1"/>
              <a:t>못했습니다</a:t>
            </a:r>
            <a:r>
              <a:rPr lang="en-US" dirty="0"/>
              <a:t>.</a:t>
            </a:r>
          </a:p>
          <a:p>
            <a:r>
              <a:rPr lang="en-US" dirty="0"/>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확장입니다. 뼈대는 읽은 값을 기준값과 대조하고 예외만 사람에게 넘기는 것입니다. 건강기능식품에서 시작해 가공식품과 명절 선물세트로 넓히고, 지금은 잡음으로 지우는 품목보고번호를 읽으면 제품 조회와 회수 대상 확인까지 할 수 있습니다. 같은 파이프라인은 공장의 출하 전 날짜 인쇄 확인이나 의약품 표시물 검증에도 형식 규칙만 바꿔 쓸 수 있습니다.</a:t>
            </a:r>
          </a:p>
          <a:p>
            <a:r>
              <a:rPr lang="en-US"/>
              <a:t>21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정리하겠습니다. 첫째, 제약에서 출발해 봉인 500장 86.2퍼센트를 제한 시간 안에 냈습니다. 둘째, 검증을 먼저 세웠습니다. 점수가 올라도 잘 맞히던 걸 망가뜨리면 버렸습니다. 셋째, 틀리는 방식을 설계했습니다. 확신이 없으면 못 읽었다고 말하기 때문에, 판매자가 믿고 쓸 수 있습니다. 감사합니다.</a:t>
            </a:r>
          </a:p>
          <a:p>
            <a:r>
              <a:rPr lang="en-US"/>
              <a:t>22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질의응답용 부록입니다. 모호한 날짜 표기를 어떻게 해석하는지와 그 근거입니다.</a:t>
            </a:r>
          </a:p>
          <a:p>
            <a:r>
              <a:rPr lang="en-US"/>
              <a:t>23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질의응답용 부록입니다. 측정셋별 수치 전체입니다.</a:t>
            </a:r>
          </a:p>
          <a:p>
            <a:r>
              <a:rPr lang="en-US"/>
              <a:t>24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8B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434276"/>
            <a:ext cx="201260" cy="2709224"/>
            <a:chOff x="0" y="0"/>
            <a:chExt cx="228943" cy="3081871"/>
          </a:xfrm>
        </p:grpSpPr>
        <p:sp>
          <p:nvSpPr>
            <p:cNvPr id="3" name="Freeform 3"/>
            <p:cNvSpPr/>
            <p:nvPr/>
          </p:nvSpPr>
          <p:spPr>
            <a:xfrm>
              <a:off x="0" y="0"/>
              <a:ext cx="228981" cy="3081909"/>
            </a:xfrm>
            <a:custGeom>
              <a:avLst/>
              <a:gdLst/>
              <a:ahLst/>
              <a:cxnLst/>
              <a:rect l="l" t="t" r="r" b="b"/>
              <a:pathLst>
                <a:path w="228981" h="3081909">
                  <a:moveTo>
                    <a:pt x="0" y="0"/>
                  </a:moveTo>
                  <a:lnTo>
                    <a:pt x="228981" y="0"/>
                  </a:lnTo>
                  <a:lnTo>
                    <a:pt x="228981" y="3081909"/>
                  </a:lnTo>
                  <a:lnTo>
                    <a:pt x="0" y="3081909"/>
                  </a:lnTo>
                  <a:close/>
                </a:path>
              </a:pathLst>
            </a:custGeom>
            <a:solidFill>
              <a:srgbClr val="FFFFFF"/>
            </a:solidFill>
            <a:ln w="25400" cap="sq">
              <a:solidFill>
                <a:srgbClr val="FFFFFF"/>
              </a:solidFill>
              <a:prstDash val="solid"/>
              <a:miter/>
            </a:ln>
          </p:spPr>
          <p:txBody>
            <a:bodyPr/>
            <a:lstStyle/>
            <a:p>
              <a:endParaRPr lang="ko-KR" altLang="en-US"/>
            </a:p>
          </p:txBody>
        </p:sp>
      </p:grpSp>
      <p:grpSp>
        <p:nvGrpSpPr>
          <p:cNvPr id="4" name="Group 4"/>
          <p:cNvGrpSpPr/>
          <p:nvPr/>
        </p:nvGrpSpPr>
        <p:grpSpPr>
          <a:xfrm>
            <a:off x="1645920" y="2377126"/>
            <a:ext cx="15727680" cy="1284572"/>
            <a:chOff x="0" y="0"/>
            <a:chExt cx="20970240" cy="1712763"/>
          </a:xfrm>
        </p:grpSpPr>
        <p:sp>
          <p:nvSpPr>
            <p:cNvPr id="5" name="Freeform 5"/>
            <p:cNvSpPr/>
            <p:nvPr/>
          </p:nvSpPr>
          <p:spPr>
            <a:xfrm>
              <a:off x="0" y="0"/>
              <a:ext cx="20970239" cy="1712763"/>
            </a:xfrm>
            <a:custGeom>
              <a:avLst/>
              <a:gdLst/>
              <a:ahLst/>
              <a:cxnLst/>
              <a:rect l="l" t="t" r="r" b="b"/>
              <a:pathLst>
                <a:path w="20970239" h="1712763">
                  <a:moveTo>
                    <a:pt x="0" y="0"/>
                  </a:moveTo>
                  <a:lnTo>
                    <a:pt x="20970239" y="0"/>
                  </a:lnTo>
                  <a:lnTo>
                    <a:pt x="20970239" y="1712763"/>
                  </a:lnTo>
                  <a:lnTo>
                    <a:pt x="0" y="1712763"/>
                  </a:lnTo>
                  <a:close/>
                </a:path>
              </a:pathLst>
            </a:custGeom>
            <a:blipFill>
              <a:blip r:embed="rId3">
                <a:alphaModFix amt="0"/>
              </a:blip>
              <a:stretch>
                <a:fillRect t="-188737" b="-188393"/>
              </a:stretch>
            </a:blipFill>
          </p:spPr>
          <p:txBody>
            <a:bodyPr/>
            <a:lstStyle/>
            <a:p>
              <a:endParaRPr lang="ko-KR" altLang="en-US"/>
            </a:p>
          </p:txBody>
        </p:sp>
        <p:sp>
          <p:nvSpPr>
            <p:cNvPr id="6" name="TextBox 6"/>
            <p:cNvSpPr txBox="1"/>
            <p:nvPr/>
          </p:nvSpPr>
          <p:spPr>
            <a:xfrm>
              <a:off x="0" y="-9525"/>
              <a:ext cx="20970240" cy="1722288"/>
            </a:xfrm>
            <a:prstGeom prst="rect">
              <a:avLst/>
            </a:prstGeom>
          </p:spPr>
          <p:txBody>
            <a:bodyPr lIns="0" tIns="0" rIns="0" bIns="0" rtlCol="0" anchor="ctr"/>
            <a:lstStyle/>
            <a:p>
              <a:pPr algn="l">
                <a:lnSpc>
                  <a:spcPts val="7559"/>
                </a:lnSpc>
              </a:pPr>
              <a:r>
                <a:rPr lang="ko-KR" altLang="en-US" sz="6299" b="1" dirty="0">
                  <a:solidFill>
                    <a:srgbClr val="FFFFFF"/>
                  </a:solidFill>
                  <a:latin typeface="프리텐다드 Bold"/>
                  <a:ea typeface="프리텐다드 Bold"/>
                  <a:cs typeface="프리텐다드 Bold"/>
                  <a:sym typeface="프리텐다드 Bold"/>
                </a:rPr>
                <a:t>맞히는 </a:t>
              </a:r>
              <a:r>
                <a:rPr lang="en-US" altLang="ko-KR" sz="6299" b="1" dirty="0">
                  <a:solidFill>
                    <a:srgbClr val="FFFFFF"/>
                  </a:solidFill>
                  <a:latin typeface="프리텐다드 Bold"/>
                  <a:ea typeface="프리텐다드 Bold"/>
                  <a:cs typeface="프리텐다드 Bold"/>
                  <a:sym typeface="프리텐다드 Bold"/>
                </a:rPr>
                <a:t>OCR</a:t>
              </a:r>
              <a:r>
                <a:rPr lang="ko-KR" altLang="en-US" sz="6299" b="1" dirty="0">
                  <a:solidFill>
                    <a:srgbClr val="FFFFFF"/>
                  </a:solidFill>
                  <a:latin typeface="프리텐다드 Bold"/>
                  <a:ea typeface="프리텐다드 Bold"/>
                  <a:cs typeface="프리텐다드 Bold"/>
                  <a:sym typeface="프리텐다드 Bold"/>
                </a:rPr>
                <a:t>에서</a:t>
              </a:r>
              <a:r>
                <a:rPr lang="en-US" altLang="ko-KR" sz="6299" b="1" dirty="0">
                  <a:solidFill>
                    <a:srgbClr val="FFFFFF"/>
                  </a:solidFill>
                  <a:latin typeface="프리텐다드 Bold"/>
                  <a:ea typeface="프리텐다드 Bold"/>
                  <a:cs typeface="프리텐다드 Bold"/>
                  <a:sym typeface="프리텐다드 Bold"/>
                </a:rPr>
                <a:t>, </a:t>
              </a:r>
              <a:r>
                <a:rPr lang="ko-KR" altLang="en-US" sz="6299" b="1" dirty="0">
                  <a:solidFill>
                    <a:srgbClr val="FFFFFF"/>
                  </a:solidFill>
                  <a:latin typeface="프리텐다드 Bold"/>
                  <a:ea typeface="프리텐다드 Bold"/>
                  <a:cs typeface="프리텐다드 Bold"/>
                  <a:sym typeface="프리텐다드 Bold"/>
                </a:rPr>
                <a:t>믿을 수 있는 </a:t>
              </a:r>
              <a:r>
                <a:rPr lang="en-US" altLang="ko-KR" sz="6299" b="1" dirty="0">
                  <a:solidFill>
                    <a:srgbClr val="FFFFFF"/>
                  </a:solidFill>
                  <a:latin typeface="프리텐다드 Bold"/>
                  <a:ea typeface="프리텐다드 Bold"/>
                  <a:cs typeface="프리텐다드 Bold"/>
                  <a:sym typeface="프리텐다드 Bold"/>
                </a:rPr>
                <a:t>OCR</a:t>
              </a:r>
              <a:r>
                <a:rPr lang="ko-KR" altLang="en-US" sz="6299" b="1" dirty="0">
                  <a:solidFill>
                    <a:srgbClr val="FFFFFF"/>
                  </a:solidFill>
                  <a:latin typeface="프리텐다드 Bold"/>
                  <a:ea typeface="프리텐다드 Bold"/>
                  <a:cs typeface="프리텐다드 Bold"/>
                  <a:sym typeface="프리텐다드 Bold"/>
                </a:rPr>
                <a:t>로</a:t>
              </a:r>
              <a:endParaRPr lang="en-US" sz="6299" b="1" dirty="0">
                <a:solidFill>
                  <a:srgbClr val="FFFFFF"/>
                </a:solidFill>
                <a:latin typeface="프리텐다드 Bold"/>
                <a:ea typeface="프리텐다드 Bold"/>
                <a:cs typeface="프리텐다드 Bold"/>
                <a:sym typeface="프리텐다드 Bold"/>
              </a:endParaRPr>
            </a:p>
          </p:txBody>
        </p:sp>
      </p:grpSp>
      <p:grpSp>
        <p:nvGrpSpPr>
          <p:cNvPr id="7" name="Group 7"/>
          <p:cNvGrpSpPr/>
          <p:nvPr/>
        </p:nvGrpSpPr>
        <p:grpSpPr>
          <a:xfrm>
            <a:off x="1645920" y="3438144"/>
            <a:ext cx="15727680" cy="1005840"/>
            <a:chOff x="0" y="0"/>
            <a:chExt cx="20970240" cy="1341120"/>
          </a:xfrm>
        </p:grpSpPr>
        <p:sp>
          <p:nvSpPr>
            <p:cNvPr id="8" name="Freeform 8"/>
            <p:cNvSpPr/>
            <p:nvPr/>
          </p:nvSpPr>
          <p:spPr>
            <a:xfrm>
              <a:off x="0" y="0"/>
              <a:ext cx="20970239" cy="1341120"/>
            </a:xfrm>
            <a:custGeom>
              <a:avLst/>
              <a:gdLst/>
              <a:ahLst/>
              <a:cxnLst/>
              <a:rect l="l" t="t" r="r" b="b"/>
              <a:pathLst>
                <a:path w="20970239" h="1341120">
                  <a:moveTo>
                    <a:pt x="0" y="0"/>
                  </a:moveTo>
                  <a:lnTo>
                    <a:pt x="20970239" y="0"/>
                  </a:lnTo>
                  <a:lnTo>
                    <a:pt x="20970239" y="1341120"/>
                  </a:lnTo>
                  <a:lnTo>
                    <a:pt x="0" y="1341120"/>
                  </a:lnTo>
                  <a:close/>
                </a:path>
              </a:pathLst>
            </a:custGeom>
            <a:blipFill>
              <a:blip r:embed="rId3">
                <a:alphaModFix amt="0"/>
              </a:blip>
              <a:stretch>
                <a:fillRect t="-254675" b="-254675"/>
              </a:stretch>
            </a:blipFill>
          </p:spPr>
          <p:txBody>
            <a:bodyPr/>
            <a:lstStyle/>
            <a:p>
              <a:endParaRPr lang="ko-KR" altLang="en-US"/>
            </a:p>
          </p:txBody>
        </p:sp>
        <p:sp>
          <p:nvSpPr>
            <p:cNvPr id="9" name="TextBox 9"/>
            <p:cNvSpPr txBox="1"/>
            <p:nvPr/>
          </p:nvSpPr>
          <p:spPr>
            <a:xfrm>
              <a:off x="0" y="0"/>
              <a:ext cx="20970240" cy="1341120"/>
            </a:xfrm>
            <a:prstGeom prst="rect">
              <a:avLst/>
            </a:prstGeom>
          </p:spPr>
          <p:txBody>
            <a:bodyPr lIns="0" tIns="0" rIns="0" bIns="0" rtlCol="0" anchor="ctr"/>
            <a:lstStyle/>
            <a:p>
              <a:pPr algn="l">
                <a:lnSpc>
                  <a:spcPts val="4799"/>
                </a:lnSpc>
              </a:pPr>
              <a:r>
                <a:rPr lang="en-US" sz="3999" b="1">
                  <a:solidFill>
                    <a:srgbClr val="FFFFFF"/>
                  </a:solidFill>
                  <a:latin typeface="프리텐다드 Medium"/>
                  <a:ea typeface="프리텐다드 Medium"/>
                  <a:cs typeface="프리텐다드 Medium"/>
                  <a:sym typeface="프리텐다드 Medium"/>
                </a:rPr>
                <a:t>소비기한 추출 파이프라인과 중고거래 게시글 적용</a:t>
              </a:r>
            </a:p>
          </p:txBody>
        </p:sp>
      </p:grpSp>
      <p:sp>
        <p:nvSpPr>
          <p:cNvPr id="10" name="TextBox 10"/>
          <p:cNvSpPr txBox="1"/>
          <p:nvPr/>
        </p:nvSpPr>
        <p:spPr>
          <a:xfrm>
            <a:off x="1645920" y="4434459"/>
            <a:ext cx="9126901" cy="400050"/>
          </a:xfrm>
          <a:prstGeom prst="rect">
            <a:avLst/>
          </a:prstGeom>
        </p:spPr>
        <p:txBody>
          <a:bodyPr lIns="0" tIns="0" rIns="0" bIns="0" rtlCol="0" anchor="t">
            <a:spAutoFit/>
          </a:bodyPr>
          <a:lstStyle/>
          <a:p>
            <a:pPr algn="l">
              <a:lnSpc>
                <a:spcPts val="3120"/>
              </a:lnSpc>
            </a:pPr>
            <a:r>
              <a:rPr lang="en-US" sz="2600">
                <a:solidFill>
                  <a:srgbClr val="FFFFFF"/>
                </a:solidFill>
                <a:latin typeface="프리텐다드"/>
                <a:ea typeface="프리텐다드"/>
                <a:cs typeface="프리텐다드"/>
                <a:sym typeface="프리텐다드"/>
              </a:rPr>
              <a:t>4코어 CPU · GPU 없음 · 오프라인 환경에서의 경량 OCR 설계와 검증</a:t>
            </a:r>
          </a:p>
        </p:txBody>
      </p:sp>
      <p:grpSp>
        <p:nvGrpSpPr>
          <p:cNvPr id="11" name="Group 11"/>
          <p:cNvGrpSpPr/>
          <p:nvPr/>
        </p:nvGrpSpPr>
        <p:grpSpPr>
          <a:xfrm>
            <a:off x="685800" y="8877300"/>
            <a:ext cx="9525000" cy="714375"/>
            <a:chOff x="0" y="0"/>
            <a:chExt cx="20238720" cy="1054100"/>
          </a:xfrm>
        </p:grpSpPr>
        <p:sp>
          <p:nvSpPr>
            <p:cNvPr id="12" name="TextBox 12"/>
            <p:cNvSpPr txBox="1"/>
            <p:nvPr/>
          </p:nvSpPr>
          <p:spPr>
            <a:xfrm>
              <a:off x="0" y="0"/>
              <a:ext cx="20238720" cy="535982"/>
            </a:xfrm>
            <a:prstGeom prst="rect">
              <a:avLst/>
            </a:prstGeom>
          </p:spPr>
          <p:txBody>
            <a:bodyPr lIns="0" tIns="0" rIns="0" bIns="0" rtlCol="0" anchor="t">
              <a:spAutoFit/>
            </a:bodyPr>
            <a:lstStyle/>
            <a:p>
              <a:pPr algn="l">
                <a:lnSpc>
                  <a:spcPts val="2999"/>
                </a:lnSpc>
              </a:pPr>
              <a:r>
                <a:rPr lang="en-US" sz="2400" dirty="0">
                  <a:solidFill>
                    <a:srgbClr val="FFFFFF"/>
                  </a:solidFill>
                  <a:latin typeface="프리텐다드"/>
                  <a:ea typeface="프리텐다드"/>
                  <a:cs typeface="프리텐다드"/>
                  <a:sym typeface="프리텐다드"/>
                </a:rPr>
                <a:t>제3회 ITDA </a:t>
              </a:r>
              <a:r>
                <a:rPr lang="en-US" sz="2400" dirty="0" err="1">
                  <a:solidFill>
                    <a:srgbClr val="FFFFFF"/>
                  </a:solidFill>
                  <a:latin typeface="프리텐다드"/>
                  <a:ea typeface="프리텐다드"/>
                  <a:cs typeface="프리텐다드"/>
                  <a:sym typeface="프리텐다드"/>
                </a:rPr>
                <a:t>연합학술제</a:t>
              </a:r>
              <a:r>
                <a:rPr lang="en-US" sz="2400" dirty="0">
                  <a:solidFill>
                    <a:srgbClr val="FFFFFF"/>
                  </a:solidFill>
                  <a:latin typeface="프리텐다드"/>
                  <a:ea typeface="프리텐다드"/>
                  <a:cs typeface="프리텐다드"/>
                  <a:sym typeface="프리텐다드"/>
                </a:rPr>
                <a:t> </a:t>
              </a:r>
              <a:r>
                <a:rPr lang="en-US" sz="2400" dirty="0" err="1">
                  <a:solidFill>
                    <a:srgbClr val="FFFFFF"/>
                  </a:solidFill>
                  <a:latin typeface="프리텐다드"/>
                  <a:ea typeface="프리텐다드"/>
                  <a:cs typeface="프리텐다드"/>
                  <a:sym typeface="프리텐다드"/>
                </a:rPr>
                <a:t>본선</a:t>
              </a:r>
              <a:r>
                <a:rPr lang="en-US" sz="2400" dirty="0">
                  <a:solidFill>
                    <a:srgbClr val="FFFFFF"/>
                  </a:solidFill>
                  <a:latin typeface="프리텐다드"/>
                  <a:ea typeface="프리텐다드"/>
                  <a:cs typeface="프리텐다드"/>
                  <a:sym typeface="프리텐다드"/>
                </a:rPr>
                <a:t>  |  [CODE]_</a:t>
              </a:r>
              <a:r>
                <a:rPr lang="en-US" sz="2400" dirty="0" err="1">
                  <a:solidFill>
                    <a:srgbClr val="FFFFFF"/>
                  </a:solidFill>
                  <a:latin typeface="프리텐다드"/>
                  <a:ea typeface="프리텐다드"/>
                  <a:cs typeface="프리텐다드"/>
                  <a:sym typeface="프리텐다드"/>
                </a:rPr>
                <a:t>서브웨이</a:t>
              </a:r>
              <a:endParaRPr lang="en-US" sz="2400" dirty="0">
                <a:solidFill>
                  <a:srgbClr val="FFFFFF"/>
                </a:solidFill>
                <a:latin typeface="프리텐다드"/>
                <a:ea typeface="프리텐다드"/>
                <a:cs typeface="프리텐다드"/>
                <a:sym typeface="프리텐다드"/>
              </a:endParaRPr>
            </a:p>
          </p:txBody>
        </p:sp>
        <p:sp>
          <p:nvSpPr>
            <p:cNvPr id="13" name="TextBox 13"/>
            <p:cNvSpPr txBox="1"/>
            <p:nvPr/>
          </p:nvSpPr>
          <p:spPr>
            <a:xfrm>
              <a:off x="0" y="558800"/>
              <a:ext cx="20238720" cy="495300"/>
            </a:xfrm>
            <a:prstGeom prst="rect">
              <a:avLst/>
            </a:prstGeom>
          </p:spPr>
          <p:txBody>
            <a:bodyPr lIns="0" tIns="0" rIns="0" bIns="0" rtlCol="0" anchor="t">
              <a:spAutoFit/>
            </a:bodyPr>
            <a:lstStyle/>
            <a:p>
              <a:pPr algn="l">
                <a:lnSpc>
                  <a:spcPts val="2999"/>
                </a:lnSpc>
              </a:pPr>
              <a:r>
                <a:rPr lang="en-US" sz="2499" dirty="0" err="1">
                  <a:solidFill>
                    <a:srgbClr val="FFFFFF"/>
                  </a:solidFill>
                  <a:latin typeface="프리텐다드"/>
                  <a:ea typeface="프리텐다드"/>
                  <a:cs typeface="프리텐다드"/>
                  <a:sym typeface="프리텐다드"/>
                </a:rPr>
                <a:t>민섭</a:t>
              </a:r>
              <a:r>
                <a:rPr lang="en-US" sz="2499" dirty="0">
                  <a:solidFill>
                    <a:srgbClr val="FFFFFF"/>
                  </a:solidFill>
                  <a:latin typeface="프리텐다드"/>
                  <a:ea typeface="프리텐다드"/>
                  <a:cs typeface="프리텐다드"/>
                  <a:sym typeface="프리텐다드"/>
                </a:rPr>
                <a:t> · </a:t>
              </a:r>
              <a:r>
                <a:rPr lang="en-US" sz="2499" dirty="0" err="1">
                  <a:solidFill>
                    <a:srgbClr val="FFFFFF"/>
                  </a:solidFill>
                  <a:latin typeface="프리텐다드"/>
                  <a:ea typeface="프리텐다드"/>
                  <a:cs typeface="프리텐다드"/>
                  <a:sym typeface="프리텐다드"/>
                </a:rPr>
                <a:t>서현</a:t>
              </a:r>
              <a:r>
                <a:rPr lang="en-US" sz="2499" dirty="0">
                  <a:solidFill>
                    <a:srgbClr val="FFFFFF"/>
                  </a:solidFill>
                  <a:latin typeface="프리텐다드"/>
                  <a:ea typeface="프리텐다드"/>
                  <a:cs typeface="프리텐다드"/>
                  <a:sym typeface="프리텐다드"/>
                </a:rPr>
                <a:t> · </a:t>
              </a:r>
              <a:r>
                <a:rPr lang="en-US" sz="2499" dirty="0" err="1">
                  <a:solidFill>
                    <a:srgbClr val="FFFFFF"/>
                  </a:solidFill>
                  <a:latin typeface="프리텐다드"/>
                  <a:ea typeface="프리텐다드"/>
                  <a:cs typeface="프리텐다드"/>
                  <a:sym typeface="프리텐다드"/>
                </a:rPr>
                <a:t>병철</a:t>
              </a:r>
              <a:r>
                <a:rPr lang="en-US" sz="2499" dirty="0">
                  <a:solidFill>
                    <a:srgbClr val="FFFFFF"/>
                  </a:solidFill>
                  <a:latin typeface="프리텐다드"/>
                  <a:ea typeface="프리텐다드"/>
                  <a:cs typeface="프리텐다드"/>
                  <a:sym typeface="프리텐다드"/>
                </a:rPr>
                <a:t> · 승아 · </a:t>
              </a:r>
              <a:r>
                <a:rPr lang="en-US" sz="2499" dirty="0" err="1">
                  <a:solidFill>
                    <a:srgbClr val="FFFFFF"/>
                  </a:solidFill>
                  <a:latin typeface="프리텐다드"/>
                  <a:ea typeface="프리텐다드"/>
                  <a:cs typeface="프리텐다드"/>
                  <a:sym typeface="프리텐다드"/>
                </a:rPr>
                <a:t>서영</a:t>
              </a:r>
              <a:endParaRPr lang="en-US" sz="2499" dirty="0">
                <a:solidFill>
                  <a:srgbClr val="FFFFFF"/>
                </a:solidFill>
                <a:latin typeface="프리텐다드"/>
                <a:ea typeface="프리텐다드"/>
                <a:cs typeface="프리텐다드"/>
                <a:sym typeface="프리텐다드"/>
              </a:endParaRPr>
            </a:p>
          </p:txBody>
        </p:sp>
      </p:grpSp>
      <p:grpSp>
        <p:nvGrpSpPr>
          <p:cNvPr id="14" name="Group 14"/>
          <p:cNvGrpSpPr/>
          <p:nvPr/>
        </p:nvGrpSpPr>
        <p:grpSpPr>
          <a:xfrm>
            <a:off x="17007840" y="219456"/>
            <a:ext cx="914400" cy="457200"/>
            <a:chOff x="0" y="0"/>
            <a:chExt cx="1219200" cy="609600"/>
          </a:xfrm>
        </p:grpSpPr>
        <p:sp>
          <p:nvSpPr>
            <p:cNvPr id="15" name="Freeform 15"/>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16" name="TextBox 16"/>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FFFFFF"/>
                  </a:solidFill>
                  <a:latin typeface="프리텐다드"/>
                  <a:ea typeface="프리텐다드"/>
                  <a:cs typeface="프리텐다드"/>
                  <a:sym typeface="프리텐다드"/>
                </a:rPr>
                <a:t>1</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8B0000"/>
        </a:solidFill>
        <a:effectLst/>
      </p:bgPr>
    </p:bg>
    <p:spTree>
      <p:nvGrpSpPr>
        <p:cNvPr id="1" name=""/>
        <p:cNvGrpSpPr/>
        <p:nvPr/>
      </p:nvGrpSpPr>
      <p:grpSpPr>
        <a:xfrm>
          <a:off x="0" y="0"/>
          <a:ext cx="0" cy="0"/>
          <a:chOff x="0" y="0"/>
          <a:chExt cx="0" cy="0"/>
        </a:xfrm>
      </p:grpSpPr>
      <p:grpSp>
        <p:nvGrpSpPr>
          <p:cNvPr id="2" name="Group 2"/>
          <p:cNvGrpSpPr/>
          <p:nvPr/>
        </p:nvGrpSpPr>
        <p:grpSpPr>
          <a:xfrm>
            <a:off x="8481060" y="-2754581"/>
            <a:ext cx="8778240" cy="16408810"/>
            <a:chOff x="0" y="0"/>
            <a:chExt cx="11704320" cy="21878413"/>
          </a:xfrm>
        </p:grpSpPr>
        <p:sp>
          <p:nvSpPr>
            <p:cNvPr id="3" name="Freeform 3"/>
            <p:cNvSpPr/>
            <p:nvPr/>
          </p:nvSpPr>
          <p:spPr>
            <a:xfrm>
              <a:off x="0" y="0"/>
              <a:ext cx="11704320" cy="21878413"/>
            </a:xfrm>
            <a:custGeom>
              <a:avLst/>
              <a:gdLst/>
              <a:ahLst/>
              <a:cxnLst/>
              <a:rect l="l" t="t" r="r" b="b"/>
              <a:pathLst>
                <a:path w="11704320" h="21878413">
                  <a:moveTo>
                    <a:pt x="0" y="0"/>
                  </a:moveTo>
                  <a:lnTo>
                    <a:pt x="11704320" y="0"/>
                  </a:lnTo>
                  <a:lnTo>
                    <a:pt x="11704320" y="21878413"/>
                  </a:lnTo>
                  <a:lnTo>
                    <a:pt x="0" y="21878413"/>
                  </a:lnTo>
                  <a:close/>
                </a:path>
              </a:pathLst>
            </a:custGeom>
            <a:blipFill>
              <a:blip r:embed="rId3">
                <a:alphaModFix amt="0"/>
              </a:blip>
              <a:stretch>
                <a:fillRect l="-94341" r="-94341" b="39815"/>
              </a:stretch>
            </a:blipFill>
          </p:spPr>
          <p:txBody>
            <a:bodyPr/>
            <a:lstStyle/>
            <a:p>
              <a:endParaRPr lang="ko-KR" altLang="en-US"/>
            </a:p>
          </p:txBody>
        </p:sp>
        <p:sp>
          <p:nvSpPr>
            <p:cNvPr id="4" name="TextBox 4"/>
            <p:cNvSpPr txBox="1"/>
            <p:nvPr/>
          </p:nvSpPr>
          <p:spPr>
            <a:xfrm>
              <a:off x="0" y="-19050"/>
              <a:ext cx="11704320" cy="21897463"/>
            </a:xfrm>
            <a:prstGeom prst="rect">
              <a:avLst/>
            </a:prstGeom>
          </p:spPr>
          <p:txBody>
            <a:bodyPr lIns="0" tIns="0" rIns="0" bIns="0" rtlCol="0" anchor="ctr"/>
            <a:lstStyle/>
            <a:p>
              <a:pPr algn="r">
                <a:lnSpc>
                  <a:spcPts val="96000"/>
                </a:lnSpc>
              </a:pPr>
              <a:r>
                <a:rPr lang="en-US" sz="80000">
                  <a:solidFill>
                    <a:srgbClr val="FFFFFF"/>
                  </a:solidFill>
                  <a:latin typeface="프리텐다드"/>
                  <a:ea typeface="프리텐다드"/>
                  <a:cs typeface="프리텐다드"/>
                  <a:sym typeface="프리텐다드"/>
                </a:rPr>
                <a:t>1</a:t>
              </a:r>
            </a:p>
          </p:txBody>
        </p:sp>
      </p:grpSp>
      <p:grpSp>
        <p:nvGrpSpPr>
          <p:cNvPr id="5" name="Group 5"/>
          <p:cNvGrpSpPr/>
          <p:nvPr/>
        </p:nvGrpSpPr>
        <p:grpSpPr>
          <a:xfrm>
            <a:off x="1907543" y="5565143"/>
            <a:ext cx="153419" cy="939803"/>
            <a:chOff x="0" y="0"/>
            <a:chExt cx="204559" cy="1253071"/>
          </a:xfrm>
        </p:grpSpPr>
        <p:sp>
          <p:nvSpPr>
            <p:cNvPr id="6" name="Freeform 6"/>
            <p:cNvSpPr/>
            <p:nvPr/>
          </p:nvSpPr>
          <p:spPr>
            <a:xfrm>
              <a:off x="0" y="0"/>
              <a:ext cx="204597" cy="1253109"/>
            </a:xfrm>
            <a:custGeom>
              <a:avLst/>
              <a:gdLst/>
              <a:ahLst/>
              <a:cxnLst/>
              <a:rect l="l" t="t" r="r" b="b"/>
              <a:pathLst>
                <a:path w="204597" h="1253109">
                  <a:moveTo>
                    <a:pt x="0" y="0"/>
                  </a:moveTo>
                  <a:lnTo>
                    <a:pt x="204597" y="0"/>
                  </a:lnTo>
                  <a:lnTo>
                    <a:pt x="204597" y="1253109"/>
                  </a:lnTo>
                  <a:lnTo>
                    <a:pt x="0" y="1253109"/>
                  </a:lnTo>
                  <a:close/>
                </a:path>
              </a:pathLst>
            </a:custGeom>
            <a:solidFill>
              <a:srgbClr val="FFFFFF"/>
            </a:solidFill>
            <a:ln w="25400" cap="sq">
              <a:solidFill>
                <a:srgbClr val="FFFFFF"/>
              </a:solidFill>
              <a:prstDash val="solid"/>
              <a:miter/>
            </a:ln>
          </p:spPr>
          <p:txBody>
            <a:bodyPr/>
            <a:lstStyle/>
            <a:p>
              <a:endParaRPr lang="ko-KR" altLang="en-US"/>
            </a:p>
          </p:txBody>
        </p:sp>
      </p:grpSp>
      <p:grpSp>
        <p:nvGrpSpPr>
          <p:cNvPr id="7" name="Group 7"/>
          <p:cNvGrpSpPr/>
          <p:nvPr/>
        </p:nvGrpSpPr>
        <p:grpSpPr>
          <a:xfrm>
            <a:off x="2231136" y="5442680"/>
            <a:ext cx="9144000" cy="1195864"/>
            <a:chOff x="0" y="-9525"/>
            <a:chExt cx="12192000" cy="1594485"/>
          </a:xfrm>
        </p:grpSpPr>
        <p:sp>
          <p:nvSpPr>
            <p:cNvPr id="8" name="Freeform 8"/>
            <p:cNvSpPr/>
            <p:nvPr/>
          </p:nvSpPr>
          <p:spPr>
            <a:xfrm>
              <a:off x="0" y="0"/>
              <a:ext cx="12192000" cy="1584960"/>
            </a:xfrm>
            <a:custGeom>
              <a:avLst/>
              <a:gdLst/>
              <a:ahLst/>
              <a:cxnLst/>
              <a:rect l="l" t="t" r="r" b="b"/>
              <a:pathLst>
                <a:path w="12192000" h="1584960">
                  <a:moveTo>
                    <a:pt x="0" y="0"/>
                  </a:moveTo>
                  <a:lnTo>
                    <a:pt x="12192000" y="0"/>
                  </a:lnTo>
                  <a:lnTo>
                    <a:pt x="12192000" y="1584960"/>
                  </a:lnTo>
                  <a:lnTo>
                    <a:pt x="0" y="1584960"/>
                  </a:lnTo>
                  <a:close/>
                </a:path>
              </a:pathLst>
            </a:custGeom>
            <a:blipFill>
              <a:blip r:embed="rId3">
                <a:alphaModFix amt="0"/>
              </a:blip>
              <a:stretch>
                <a:fillRect t="-99884" b="-99884"/>
              </a:stretch>
            </a:blipFill>
          </p:spPr>
          <p:txBody>
            <a:bodyPr/>
            <a:lstStyle/>
            <a:p>
              <a:endParaRPr lang="ko-KR" altLang="en-US"/>
            </a:p>
          </p:txBody>
        </p:sp>
        <p:sp>
          <p:nvSpPr>
            <p:cNvPr id="9" name="TextBox 9"/>
            <p:cNvSpPr txBox="1"/>
            <p:nvPr/>
          </p:nvSpPr>
          <p:spPr>
            <a:xfrm>
              <a:off x="276352" y="-9525"/>
              <a:ext cx="6778752" cy="1594485"/>
            </a:xfrm>
            <a:prstGeom prst="rect">
              <a:avLst/>
            </a:prstGeom>
          </p:spPr>
          <p:txBody>
            <a:bodyPr lIns="0" tIns="0" rIns="0" bIns="0" rtlCol="0" anchor="ctr"/>
            <a:lstStyle/>
            <a:p>
              <a:pPr algn="l">
                <a:lnSpc>
                  <a:spcPts val="6720"/>
                </a:lnSpc>
              </a:pPr>
              <a:r>
                <a:rPr lang="en-US" sz="5600" b="1" dirty="0" err="1">
                  <a:solidFill>
                    <a:srgbClr val="FFFFFF"/>
                  </a:solidFill>
                  <a:latin typeface="프리텐다드 Ultra-Bold"/>
                  <a:ea typeface="프리텐다드 Ultra-Bold"/>
                  <a:cs typeface="프리텐다드 Ultra-Bold"/>
                  <a:sym typeface="프리텐다드 Ultra-Bold"/>
                </a:rPr>
                <a:t>문제</a:t>
              </a:r>
              <a:r>
                <a:rPr lang="en-US" sz="5600" b="1" dirty="0">
                  <a:solidFill>
                    <a:srgbClr val="FFFFFF"/>
                  </a:solidFill>
                  <a:latin typeface="프리텐다드 Ultra-Bold"/>
                  <a:ea typeface="프리텐다드 Ultra-Bold"/>
                  <a:cs typeface="프리텐다드 Ultra-Bold"/>
                  <a:sym typeface="프리텐다드 Ultra-Bold"/>
                </a:rPr>
                <a:t> </a:t>
              </a:r>
              <a:r>
                <a:rPr lang="en-US" sz="5600" b="1" dirty="0" err="1">
                  <a:solidFill>
                    <a:srgbClr val="FFFFFF"/>
                  </a:solidFill>
                  <a:latin typeface="프리텐다드 Ultra-Bold"/>
                  <a:ea typeface="프리텐다드 Ultra-Bold"/>
                  <a:cs typeface="프리텐다드 Ultra-Bold"/>
                  <a:sym typeface="프리텐다드 Ultra-Bold"/>
                </a:rPr>
                <a:t>정의</a:t>
              </a:r>
              <a:endParaRPr lang="en-US" sz="5600" b="1" dirty="0">
                <a:solidFill>
                  <a:srgbClr val="FFFFFF"/>
                </a:solidFill>
                <a:latin typeface="프리텐다드 Ultra-Bold"/>
                <a:ea typeface="프리텐다드 Ultra-Bold"/>
                <a:cs typeface="프리텐다드 Ultra-Bold"/>
                <a:sym typeface="프리텐다드 Ultra-Bold"/>
              </a:endParaRPr>
            </a:p>
          </p:txBody>
        </p:sp>
      </p:grpSp>
      <p:grpSp>
        <p:nvGrpSpPr>
          <p:cNvPr id="10" name="Group 10"/>
          <p:cNvGrpSpPr/>
          <p:nvPr/>
        </p:nvGrpSpPr>
        <p:grpSpPr>
          <a:xfrm>
            <a:off x="2459736" y="6631400"/>
            <a:ext cx="9808464" cy="738664"/>
            <a:chOff x="0" y="-9525"/>
            <a:chExt cx="13077952" cy="984885"/>
          </a:xfrm>
        </p:grpSpPr>
        <p:sp>
          <p:nvSpPr>
            <p:cNvPr id="11" name="Freeform 11"/>
            <p:cNvSpPr/>
            <p:nvPr/>
          </p:nvSpPr>
          <p:spPr>
            <a:xfrm>
              <a:off x="398272" y="0"/>
              <a:ext cx="12679680" cy="975360"/>
            </a:xfrm>
            <a:custGeom>
              <a:avLst/>
              <a:gdLst/>
              <a:ahLst/>
              <a:cxnLst/>
              <a:rect l="l" t="t" r="r" b="b"/>
              <a:pathLst>
                <a:path w="12679680" h="975360">
                  <a:moveTo>
                    <a:pt x="0" y="0"/>
                  </a:moveTo>
                  <a:lnTo>
                    <a:pt x="12679680" y="0"/>
                  </a:lnTo>
                  <a:lnTo>
                    <a:pt x="12679680" y="975360"/>
                  </a:lnTo>
                  <a:lnTo>
                    <a:pt x="0" y="975360"/>
                  </a:lnTo>
                  <a:close/>
                </a:path>
              </a:pathLst>
            </a:custGeom>
            <a:blipFill>
              <a:blip r:embed="rId3">
                <a:alphaModFix amt="0"/>
              </a:blip>
              <a:stretch>
                <a:fillRect t="-203305" b="-203305"/>
              </a:stretch>
            </a:blipFill>
          </p:spPr>
          <p:txBody>
            <a:bodyPr/>
            <a:lstStyle/>
            <a:p>
              <a:endParaRPr lang="ko-KR" altLang="en-US"/>
            </a:p>
          </p:txBody>
        </p:sp>
        <p:sp>
          <p:nvSpPr>
            <p:cNvPr id="12" name="TextBox 12"/>
            <p:cNvSpPr txBox="1"/>
            <p:nvPr/>
          </p:nvSpPr>
          <p:spPr>
            <a:xfrm>
              <a:off x="0" y="-9525"/>
              <a:ext cx="12679680" cy="984885"/>
            </a:xfrm>
            <a:prstGeom prst="rect">
              <a:avLst/>
            </a:prstGeom>
          </p:spPr>
          <p:txBody>
            <a:bodyPr lIns="0" tIns="0" rIns="0" bIns="0" rtlCol="0" anchor="ctr"/>
            <a:lstStyle/>
            <a:p>
              <a:pPr algn="l">
                <a:lnSpc>
                  <a:spcPts val="2879"/>
                </a:lnSpc>
              </a:pPr>
              <a:r>
                <a:rPr lang="en-US" sz="2400" b="1" dirty="0" err="1">
                  <a:solidFill>
                    <a:srgbClr val="FFFFFF"/>
                  </a:solidFill>
                  <a:latin typeface="프리텐다드 Bold"/>
                  <a:ea typeface="프리텐다드 Bold"/>
                  <a:cs typeface="프리텐다드 Bold"/>
                  <a:sym typeface="프리텐다드 Bold"/>
                </a:rPr>
                <a:t>무엇을</a:t>
              </a:r>
              <a:r>
                <a:rPr lang="en-US" sz="2400" b="1" dirty="0">
                  <a:solidFill>
                    <a:srgbClr val="FFFFFF"/>
                  </a:solidFill>
                  <a:latin typeface="프리텐다드 Bold"/>
                  <a:ea typeface="프리텐다드 Bold"/>
                  <a:cs typeface="프리텐다드 Bold"/>
                  <a:sym typeface="프리텐다드 Bold"/>
                </a:rPr>
                <a:t>, </a:t>
              </a:r>
              <a:r>
                <a:rPr lang="en-US" sz="2400" b="1" dirty="0" err="1">
                  <a:solidFill>
                    <a:srgbClr val="FFFFFF"/>
                  </a:solidFill>
                  <a:latin typeface="프리텐다드 Bold"/>
                  <a:ea typeface="프리텐다드 Bold"/>
                  <a:cs typeface="프리텐다드 Bold"/>
                  <a:sym typeface="프리텐다드 Bold"/>
                </a:rPr>
                <a:t>어떤</a:t>
              </a:r>
              <a:r>
                <a:rPr lang="en-US" sz="2400" b="1" dirty="0">
                  <a:solidFill>
                    <a:srgbClr val="FFFFFF"/>
                  </a:solidFill>
                  <a:latin typeface="프리텐다드 Bold"/>
                  <a:ea typeface="프리텐다드 Bold"/>
                  <a:cs typeface="프리텐다드 Bold"/>
                  <a:sym typeface="프리텐다드 Bold"/>
                </a:rPr>
                <a:t> </a:t>
              </a:r>
              <a:r>
                <a:rPr lang="en-US" sz="2400" b="1" dirty="0" err="1">
                  <a:solidFill>
                    <a:srgbClr val="FFFFFF"/>
                  </a:solidFill>
                  <a:latin typeface="프리텐다드 Bold"/>
                  <a:ea typeface="프리텐다드 Bold"/>
                  <a:cs typeface="프리텐다드 Bold"/>
                  <a:sym typeface="프리텐다드 Bold"/>
                </a:rPr>
                <a:t>제약</a:t>
              </a:r>
              <a:r>
                <a:rPr lang="en-US" sz="2400" b="1" dirty="0">
                  <a:solidFill>
                    <a:srgbClr val="FFFFFF"/>
                  </a:solidFill>
                  <a:latin typeface="프리텐다드 Bold"/>
                  <a:ea typeface="프리텐다드 Bold"/>
                  <a:cs typeface="프리텐다드 Bold"/>
                  <a:sym typeface="프리텐다드 Bold"/>
                </a:rPr>
                <a:t> </a:t>
              </a:r>
              <a:r>
                <a:rPr lang="en-US" sz="2400" b="1" dirty="0" err="1">
                  <a:solidFill>
                    <a:srgbClr val="FFFFFF"/>
                  </a:solidFill>
                  <a:latin typeface="프리텐다드 Bold"/>
                  <a:ea typeface="프리텐다드 Bold"/>
                  <a:cs typeface="프리텐다드 Bold"/>
                  <a:sym typeface="프리텐다드 Bold"/>
                </a:rPr>
                <a:t>아래에서</a:t>
              </a:r>
              <a:r>
                <a:rPr lang="en-US" sz="2400" b="1" dirty="0">
                  <a:solidFill>
                    <a:srgbClr val="FFFFFF"/>
                  </a:solidFill>
                  <a:latin typeface="프리텐다드 Bold"/>
                  <a:ea typeface="프리텐다드 Bold"/>
                  <a:cs typeface="프리텐다드 Bold"/>
                  <a:sym typeface="프리텐다드 Bold"/>
                </a:rPr>
                <a:t> </a:t>
              </a:r>
              <a:r>
                <a:rPr lang="en-US" sz="2400" b="1" dirty="0" err="1">
                  <a:solidFill>
                    <a:srgbClr val="FFFFFF"/>
                  </a:solidFill>
                  <a:latin typeface="프리텐다드 Bold"/>
                  <a:ea typeface="프리텐다드 Bold"/>
                  <a:cs typeface="프리텐다드 Bold"/>
                  <a:sym typeface="프리텐다드 Bold"/>
                </a:rPr>
                <a:t>풀었는가</a:t>
              </a:r>
              <a:endParaRPr lang="en-US" sz="2400" b="1" dirty="0">
                <a:solidFill>
                  <a:srgbClr val="FFFFFF"/>
                </a:solidFill>
                <a:latin typeface="프리텐다드 Bold"/>
                <a:ea typeface="프리텐다드 Bold"/>
                <a:cs typeface="프리텐다드 Bold"/>
                <a:sym typeface="프리텐다드 Bold"/>
              </a:endParaRPr>
            </a:p>
          </p:txBody>
        </p:sp>
      </p:grpSp>
      <p:grpSp>
        <p:nvGrpSpPr>
          <p:cNvPr id="13" name="Group 13"/>
          <p:cNvGrpSpPr/>
          <p:nvPr/>
        </p:nvGrpSpPr>
        <p:grpSpPr>
          <a:xfrm>
            <a:off x="17007840" y="219456"/>
            <a:ext cx="914400" cy="457200"/>
            <a:chOff x="0" y="0"/>
            <a:chExt cx="1219200" cy="609600"/>
          </a:xfrm>
        </p:grpSpPr>
        <p:sp>
          <p:nvSpPr>
            <p:cNvPr id="14" name="Freeform 14"/>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15" name="TextBox 15"/>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FFFFFF"/>
                  </a:solidFill>
                  <a:latin typeface="프리텐다드"/>
                  <a:ea typeface="프리텐다드"/>
                  <a:cs typeface="프리텐다드"/>
                  <a:sym typeface="프리텐다드"/>
                </a:rPr>
                <a:t>2</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5943" y="535943"/>
            <a:ext cx="153419" cy="756923"/>
            <a:chOff x="0" y="0"/>
            <a:chExt cx="204559" cy="1009231"/>
          </a:xfrm>
        </p:grpSpPr>
        <p:sp>
          <p:nvSpPr>
            <p:cNvPr id="3" name="Freeform 3"/>
            <p:cNvSpPr/>
            <p:nvPr/>
          </p:nvSpPr>
          <p:spPr>
            <a:xfrm>
              <a:off x="0" y="0"/>
              <a:ext cx="204597" cy="1009269"/>
            </a:xfrm>
            <a:custGeom>
              <a:avLst/>
              <a:gdLst/>
              <a:ahLst/>
              <a:cxnLst/>
              <a:rect l="l" t="t" r="r" b="b"/>
              <a:pathLst>
                <a:path w="204597" h="1009269">
                  <a:moveTo>
                    <a:pt x="0" y="0"/>
                  </a:moveTo>
                  <a:lnTo>
                    <a:pt x="204597" y="0"/>
                  </a:lnTo>
                  <a:lnTo>
                    <a:pt x="204597" y="1009269"/>
                  </a:lnTo>
                  <a:lnTo>
                    <a:pt x="0" y="1009269"/>
                  </a:ln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4" name="Group 4"/>
          <p:cNvGrpSpPr/>
          <p:nvPr/>
        </p:nvGrpSpPr>
        <p:grpSpPr>
          <a:xfrm>
            <a:off x="822960" y="457200"/>
            <a:ext cx="15910560" cy="914400"/>
            <a:chOff x="0" y="0"/>
            <a:chExt cx="21214080" cy="1219200"/>
          </a:xfrm>
        </p:grpSpPr>
        <p:sp>
          <p:nvSpPr>
            <p:cNvPr id="5" name="Freeform 5"/>
            <p:cNvSpPr/>
            <p:nvPr/>
          </p:nvSpPr>
          <p:spPr>
            <a:xfrm>
              <a:off x="0" y="0"/>
              <a:ext cx="21214080" cy="1219200"/>
            </a:xfrm>
            <a:custGeom>
              <a:avLst/>
              <a:gdLst/>
              <a:ahLst/>
              <a:cxnLst/>
              <a:rect l="l" t="t" r="r" b="b"/>
              <a:pathLst>
                <a:path w="21214080" h="1219200">
                  <a:moveTo>
                    <a:pt x="0" y="0"/>
                  </a:moveTo>
                  <a:lnTo>
                    <a:pt x="21214080" y="0"/>
                  </a:lnTo>
                  <a:lnTo>
                    <a:pt x="21214080" y="1219200"/>
                  </a:lnTo>
                  <a:lnTo>
                    <a:pt x="0" y="1219200"/>
                  </a:lnTo>
                  <a:close/>
                </a:path>
              </a:pathLst>
            </a:custGeom>
            <a:blipFill>
              <a:blip r:embed="rId3">
                <a:alphaModFix amt="0"/>
              </a:blip>
              <a:stretch>
                <a:fillRect t="-289039" b="-289039"/>
              </a:stretch>
            </a:blipFill>
          </p:spPr>
          <p:txBody>
            <a:bodyPr/>
            <a:lstStyle/>
            <a:p>
              <a:endParaRPr lang="ko-KR" altLang="en-US"/>
            </a:p>
          </p:txBody>
        </p:sp>
        <p:sp>
          <p:nvSpPr>
            <p:cNvPr id="6" name="TextBox 6"/>
            <p:cNvSpPr txBox="1"/>
            <p:nvPr/>
          </p:nvSpPr>
          <p:spPr>
            <a:xfrm>
              <a:off x="0" y="0"/>
              <a:ext cx="21214080" cy="1219200"/>
            </a:xfrm>
            <a:prstGeom prst="rect">
              <a:avLst/>
            </a:prstGeom>
          </p:spPr>
          <p:txBody>
            <a:bodyPr lIns="0" tIns="0" rIns="0" bIns="0" rtlCol="0" anchor="ctr"/>
            <a:lstStyle/>
            <a:p>
              <a:pPr algn="l">
                <a:lnSpc>
                  <a:spcPts val="4560"/>
                </a:lnSpc>
              </a:pPr>
              <a:r>
                <a:rPr lang="en-US" sz="3800" b="1">
                  <a:solidFill>
                    <a:srgbClr val="1A1A1A"/>
                  </a:solidFill>
                  <a:latin typeface="프리텐다드 Bold"/>
                  <a:ea typeface="프리텐다드 Bold"/>
                  <a:cs typeface="프리텐다드 Bold"/>
                  <a:sym typeface="프리텐다드 Bold"/>
                </a:rPr>
                <a:t>출발점 : </a:t>
              </a:r>
              <a:r>
                <a:rPr lang="en-US" sz="3800" b="1">
                  <a:solidFill>
                    <a:srgbClr val="8B0000"/>
                  </a:solidFill>
                  <a:latin typeface="프리텐다드 Bold"/>
                  <a:ea typeface="프리텐다드 Bold"/>
                  <a:cs typeface="프리텐다드 Bold"/>
                  <a:sym typeface="프리텐다드 Bold"/>
                </a:rPr>
                <a:t>제약이 설계를 결정했습니다</a:t>
              </a:r>
            </a:p>
          </p:txBody>
        </p:sp>
      </p:grpSp>
      <p:sp>
        <p:nvSpPr>
          <p:cNvPr id="7" name="AutoShape 7"/>
          <p:cNvSpPr/>
          <p:nvPr/>
        </p:nvSpPr>
        <p:spPr>
          <a:xfrm rot="3780">
            <a:off x="539105" y="1494854"/>
            <a:ext cx="17209780" cy="0"/>
          </a:xfrm>
          <a:prstGeom prst="line">
            <a:avLst/>
          </a:prstGeom>
          <a:ln w="9525" cap="rnd">
            <a:solidFill>
              <a:srgbClr val="BFBFBF"/>
            </a:solidFill>
            <a:prstDash val="solid"/>
            <a:headEnd type="none" w="sm" len="sm"/>
            <a:tailEnd type="none" w="sm" len="sm"/>
          </a:ln>
        </p:spPr>
        <p:txBody>
          <a:bodyPr/>
          <a:lstStyle/>
          <a:p>
            <a:endParaRPr lang="ko-KR" altLang="en-US"/>
          </a:p>
        </p:txBody>
      </p:sp>
      <p:grpSp>
        <p:nvGrpSpPr>
          <p:cNvPr id="8" name="Group 8"/>
          <p:cNvGrpSpPr/>
          <p:nvPr/>
        </p:nvGrpSpPr>
        <p:grpSpPr>
          <a:xfrm>
            <a:off x="17007840" y="219456"/>
            <a:ext cx="914400" cy="457200"/>
            <a:chOff x="0" y="0"/>
            <a:chExt cx="1219200" cy="609600"/>
          </a:xfrm>
        </p:grpSpPr>
        <p:sp>
          <p:nvSpPr>
            <p:cNvPr id="9" name="Freeform 9"/>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10" name="TextBox 10"/>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1A1A1A"/>
                  </a:solidFill>
                  <a:latin typeface="프리텐다드"/>
                  <a:ea typeface="프리텐다드"/>
                  <a:cs typeface="프리텐다드"/>
                  <a:sym typeface="프리텐다드"/>
                </a:rPr>
                <a:t>3</a:t>
              </a:r>
            </a:p>
          </p:txBody>
        </p:sp>
      </p:grpSp>
      <p:grpSp>
        <p:nvGrpSpPr>
          <p:cNvPr id="11" name="Group 11"/>
          <p:cNvGrpSpPr/>
          <p:nvPr/>
        </p:nvGrpSpPr>
        <p:grpSpPr>
          <a:xfrm>
            <a:off x="535943" y="1907543"/>
            <a:ext cx="5584955" cy="4505963"/>
            <a:chOff x="0" y="0"/>
            <a:chExt cx="7446607" cy="6007951"/>
          </a:xfrm>
        </p:grpSpPr>
        <p:sp>
          <p:nvSpPr>
            <p:cNvPr id="12" name="Freeform 12"/>
            <p:cNvSpPr/>
            <p:nvPr/>
          </p:nvSpPr>
          <p:spPr>
            <a:xfrm>
              <a:off x="0" y="0"/>
              <a:ext cx="7446645" cy="6007989"/>
            </a:xfrm>
            <a:custGeom>
              <a:avLst/>
              <a:gdLst/>
              <a:ahLst/>
              <a:cxnLst/>
              <a:rect l="l" t="t" r="r" b="b"/>
              <a:pathLst>
                <a:path w="7446645" h="6007989">
                  <a:moveTo>
                    <a:pt x="0" y="196215"/>
                  </a:moveTo>
                  <a:cubicBezTo>
                    <a:pt x="0" y="87884"/>
                    <a:pt x="87884" y="0"/>
                    <a:pt x="196215" y="0"/>
                  </a:cubicBezTo>
                  <a:lnTo>
                    <a:pt x="7250430" y="0"/>
                  </a:lnTo>
                  <a:cubicBezTo>
                    <a:pt x="7358762" y="0"/>
                    <a:pt x="7446645" y="87884"/>
                    <a:pt x="7446645" y="196215"/>
                  </a:cubicBezTo>
                  <a:lnTo>
                    <a:pt x="7446645" y="5811774"/>
                  </a:lnTo>
                  <a:cubicBezTo>
                    <a:pt x="7446645" y="5920105"/>
                    <a:pt x="7358762" y="6007989"/>
                    <a:pt x="7250430" y="6007989"/>
                  </a:cubicBezTo>
                  <a:lnTo>
                    <a:pt x="196215" y="6007989"/>
                  </a:lnTo>
                  <a:cubicBezTo>
                    <a:pt x="87884" y="6007989"/>
                    <a:pt x="0" y="5920105"/>
                    <a:pt x="0" y="5811774"/>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13" name="Group 13"/>
          <p:cNvGrpSpPr/>
          <p:nvPr/>
        </p:nvGrpSpPr>
        <p:grpSpPr>
          <a:xfrm>
            <a:off x="914400" y="2231136"/>
            <a:ext cx="4828032" cy="1387128"/>
            <a:chOff x="0" y="0"/>
            <a:chExt cx="6437376" cy="1849504"/>
          </a:xfrm>
        </p:grpSpPr>
        <p:sp>
          <p:nvSpPr>
            <p:cNvPr id="14" name="Freeform 14"/>
            <p:cNvSpPr/>
            <p:nvPr/>
          </p:nvSpPr>
          <p:spPr>
            <a:xfrm>
              <a:off x="0" y="0"/>
              <a:ext cx="6437376" cy="1849504"/>
            </a:xfrm>
            <a:custGeom>
              <a:avLst/>
              <a:gdLst/>
              <a:ahLst/>
              <a:cxnLst/>
              <a:rect l="l" t="t" r="r" b="b"/>
              <a:pathLst>
                <a:path w="6437376" h="1849504">
                  <a:moveTo>
                    <a:pt x="0" y="0"/>
                  </a:moveTo>
                  <a:lnTo>
                    <a:pt x="6437376" y="0"/>
                  </a:lnTo>
                  <a:lnTo>
                    <a:pt x="6437376" y="1849504"/>
                  </a:lnTo>
                  <a:lnTo>
                    <a:pt x="0" y="1849504"/>
                  </a:lnTo>
                  <a:close/>
                </a:path>
              </a:pathLst>
            </a:custGeom>
            <a:blipFill>
              <a:blip r:embed="rId3">
                <a:alphaModFix amt="0"/>
              </a:blip>
              <a:stretch>
                <a:fillRect t="-21675" b="-13963"/>
              </a:stretch>
            </a:blipFill>
          </p:spPr>
          <p:txBody>
            <a:bodyPr/>
            <a:lstStyle/>
            <a:p>
              <a:endParaRPr lang="ko-KR" altLang="en-US"/>
            </a:p>
          </p:txBody>
        </p:sp>
        <p:sp>
          <p:nvSpPr>
            <p:cNvPr id="15" name="TextBox 15"/>
            <p:cNvSpPr txBox="1"/>
            <p:nvPr/>
          </p:nvSpPr>
          <p:spPr>
            <a:xfrm>
              <a:off x="0" y="-9525"/>
              <a:ext cx="6437376" cy="1859029"/>
            </a:xfrm>
            <a:prstGeom prst="rect">
              <a:avLst/>
            </a:prstGeom>
          </p:spPr>
          <p:txBody>
            <a:bodyPr lIns="0" tIns="0" rIns="0" bIns="0" rtlCol="0" anchor="ctr"/>
            <a:lstStyle/>
            <a:p>
              <a:pPr algn="l">
                <a:lnSpc>
                  <a:spcPts val="8160"/>
                </a:lnSpc>
              </a:pPr>
              <a:r>
                <a:rPr lang="en-US" sz="6800" b="1">
                  <a:solidFill>
                    <a:srgbClr val="8B0000"/>
                  </a:solidFill>
                  <a:latin typeface="프리텐다드 Bold"/>
                  <a:ea typeface="프리텐다드 Bold"/>
                  <a:cs typeface="프리텐다드 Bold"/>
                  <a:sym typeface="프리텐다드 Bold"/>
                </a:rPr>
                <a:t>3,352장</a:t>
              </a:r>
            </a:p>
          </p:txBody>
        </p:sp>
      </p:grpSp>
      <p:sp>
        <p:nvSpPr>
          <p:cNvPr id="16" name="TextBox 16"/>
          <p:cNvSpPr txBox="1"/>
          <p:nvPr/>
        </p:nvSpPr>
        <p:spPr>
          <a:xfrm>
            <a:off x="914400" y="3703320"/>
            <a:ext cx="4828032" cy="419100"/>
          </a:xfrm>
          <a:prstGeom prst="rect">
            <a:avLst/>
          </a:prstGeom>
        </p:spPr>
        <p:txBody>
          <a:bodyPr lIns="0" tIns="0" rIns="0" bIns="0" rtlCol="0" anchor="t">
            <a:spAutoFit/>
          </a:bodyPr>
          <a:lstStyle/>
          <a:p>
            <a:pPr algn="l">
              <a:lnSpc>
                <a:spcPts val="3240"/>
              </a:lnSpc>
            </a:pPr>
            <a:r>
              <a:rPr lang="en-US" sz="2700" b="1">
                <a:solidFill>
                  <a:srgbClr val="1A1A1A"/>
                </a:solidFill>
                <a:latin typeface="프리텐다드 Bold"/>
                <a:ea typeface="프리텐다드 Bold"/>
                <a:cs typeface="프리텐다드 Bold"/>
                <a:sym typeface="프리텐다드 Bold"/>
              </a:rPr>
              <a:t>정답 라벨 없음</a:t>
            </a:r>
          </a:p>
        </p:txBody>
      </p:sp>
      <p:sp>
        <p:nvSpPr>
          <p:cNvPr id="17" name="TextBox 17"/>
          <p:cNvSpPr txBox="1"/>
          <p:nvPr/>
        </p:nvSpPr>
        <p:spPr>
          <a:xfrm>
            <a:off x="914400" y="4379595"/>
            <a:ext cx="4828032" cy="1097416"/>
          </a:xfrm>
          <a:prstGeom prst="rect">
            <a:avLst/>
          </a:prstGeom>
        </p:spPr>
        <p:txBody>
          <a:bodyPr lIns="0" tIns="0" rIns="0" bIns="0" rtlCol="0" anchor="t">
            <a:spAutoFit/>
          </a:bodyPr>
          <a:lstStyle/>
          <a:p>
            <a:pPr algn="l">
              <a:lnSpc>
                <a:spcPts val="2879"/>
              </a:lnSpc>
            </a:pPr>
            <a:r>
              <a:rPr lang="en-US" sz="2400" dirty="0" err="1">
                <a:solidFill>
                  <a:srgbClr val="6B6B6B"/>
                </a:solidFill>
                <a:latin typeface="프리텐다드"/>
                <a:ea typeface="프리텐다드"/>
                <a:cs typeface="프리텐다드"/>
                <a:sym typeface="프리텐다드"/>
              </a:rPr>
              <a:t>상품</a:t>
            </a:r>
            <a:r>
              <a:rPr lang="en-US" sz="2400" dirty="0">
                <a:solidFill>
                  <a:srgbClr val="6B6B6B"/>
                </a:solidFill>
                <a:latin typeface="프리텐다드"/>
                <a:ea typeface="프리텐다드"/>
                <a:cs typeface="프리텐다드"/>
                <a:sym typeface="프리텐다드"/>
              </a:rPr>
              <a:t> </a:t>
            </a:r>
            <a:r>
              <a:rPr lang="en-US" sz="2400" dirty="0" err="1">
                <a:solidFill>
                  <a:srgbClr val="6B6B6B"/>
                </a:solidFill>
                <a:latin typeface="프리텐다드"/>
                <a:ea typeface="프리텐다드"/>
                <a:cs typeface="프리텐다드"/>
                <a:sym typeface="프리텐다드"/>
              </a:rPr>
              <a:t>뒷면</a:t>
            </a:r>
            <a:r>
              <a:rPr lang="en-US" sz="2400" dirty="0">
                <a:solidFill>
                  <a:srgbClr val="6B6B6B"/>
                </a:solidFill>
                <a:latin typeface="프리텐다드"/>
                <a:ea typeface="프리텐다드"/>
                <a:cs typeface="프리텐다드"/>
                <a:sym typeface="프리텐다드"/>
              </a:rPr>
              <a:t> </a:t>
            </a:r>
            <a:r>
              <a:rPr lang="en-US" sz="2400" dirty="0" err="1">
                <a:solidFill>
                  <a:srgbClr val="6B6B6B"/>
                </a:solidFill>
                <a:latin typeface="프리텐다드"/>
                <a:ea typeface="프리텐다드"/>
                <a:cs typeface="프리텐다드"/>
                <a:sym typeface="프리텐다드"/>
              </a:rPr>
              <a:t>사진만</a:t>
            </a:r>
            <a:r>
              <a:rPr lang="en-US" sz="2400" dirty="0">
                <a:solidFill>
                  <a:srgbClr val="6B6B6B"/>
                </a:solidFill>
                <a:latin typeface="프리텐다드"/>
                <a:ea typeface="프리텐다드"/>
                <a:cs typeface="프리텐다드"/>
                <a:sym typeface="프리텐다드"/>
              </a:rPr>
              <a:t> </a:t>
            </a:r>
            <a:r>
              <a:rPr lang="en-US" sz="2400" dirty="0" err="1">
                <a:solidFill>
                  <a:srgbClr val="6B6B6B"/>
                </a:solidFill>
                <a:latin typeface="프리텐다드"/>
                <a:ea typeface="프리텐다드"/>
                <a:cs typeface="프리텐다드"/>
                <a:sym typeface="프리텐다드"/>
              </a:rPr>
              <a:t>제공</a:t>
            </a:r>
            <a:endParaRPr lang="en-US" sz="2400" dirty="0">
              <a:solidFill>
                <a:srgbClr val="6B6B6B"/>
              </a:solidFill>
              <a:latin typeface="프리텐다드"/>
              <a:ea typeface="프리텐다드"/>
              <a:cs typeface="프리텐다드"/>
              <a:sym typeface="프리텐다드"/>
            </a:endParaRPr>
          </a:p>
          <a:p>
            <a:pPr algn="l">
              <a:lnSpc>
                <a:spcPts val="2879"/>
              </a:lnSpc>
            </a:pPr>
            <a:r>
              <a:rPr lang="en-US" sz="2400" dirty="0" err="1">
                <a:solidFill>
                  <a:srgbClr val="6B6B6B"/>
                </a:solidFill>
                <a:latin typeface="프리텐다드"/>
                <a:ea typeface="프리텐다드"/>
                <a:cs typeface="프리텐다드"/>
                <a:sym typeface="프리텐다드"/>
              </a:rPr>
              <a:t>정확도를</a:t>
            </a:r>
            <a:r>
              <a:rPr lang="en-US" sz="2400" dirty="0">
                <a:solidFill>
                  <a:srgbClr val="6B6B6B"/>
                </a:solidFill>
                <a:latin typeface="프리텐다드"/>
                <a:ea typeface="프리텐다드"/>
                <a:cs typeface="프리텐다드"/>
                <a:sym typeface="프리텐다드"/>
              </a:rPr>
              <a:t> 잴 </a:t>
            </a:r>
            <a:r>
              <a:rPr lang="en-US" sz="2400" dirty="0" err="1">
                <a:solidFill>
                  <a:srgbClr val="6B6B6B"/>
                </a:solidFill>
                <a:latin typeface="프리텐다드"/>
                <a:ea typeface="프리텐다드"/>
                <a:cs typeface="프리텐다드"/>
                <a:sym typeface="프리텐다드"/>
              </a:rPr>
              <a:t>기준부터</a:t>
            </a:r>
            <a:endParaRPr lang="en-US" sz="2400" dirty="0">
              <a:solidFill>
                <a:srgbClr val="6B6B6B"/>
              </a:solidFill>
              <a:latin typeface="프리텐다드"/>
              <a:ea typeface="프리텐다드"/>
              <a:cs typeface="프리텐다드"/>
              <a:sym typeface="프리텐다드"/>
            </a:endParaRPr>
          </a:p>
          <a:p>
            <a:pPr algn="l">
              <a:lnSpc>
                <a:spcPts val="2879"/>
              </a:lnSpc>
            </a:pPr>
            <a:r>
              <a:rPr lang="en-US" sz="2400" dirty="0" err="1">
                <a:solidFill>
                  <a:srgbClr val="6B6B6B"/>
                </a:solidFill>
                <a:latin typeface="프리텐다드"/>
                <a:ea typeface="프리텐다드"/>
                <a:cs typeface="프리텐다드"/>
                <a:sym typeface="프리텐다드"/>
              </a:rPr>
              <a:t>직접</a:t>
            </a:r>
            <a:r>
              <a:rPr lang="en-US" sz="2400" dirty="0">
                <a:solidFill>
                  <a:srgbClr val="6B6B6B"/>
                </a:solidFill>
                <a:latin typeface="프리텐다드"/>
                <a:ea typeface="프리텐다드"/>
                <a:cs typeface="프리텐다드"/>
                <a:sym typeface="프리텐다드"/>
              </a:rPr>
              <a:t> </a:t>
            </a:r>
            <a:r>
              <a:rPr lang="en-US" sz="2400" dirty="0" err="1">
                <a:solidFill>
                  <a:srgbClr val="6B6B6B"/>
                </a:solidFill>
                <a:latin typeface="프리텐다드"/>
                <a:ea typeface="프리텐다드"/>
                <a:cs typeface="프리텐다드"/>
                <a:sym typeface="프리텐다드"/>
              </a:rPr>
              <a:t>만들어야</a:t>
            </a:r>
            <a:r>
              <a:rPr lang="en-US" sz="2400" dirty="0">
                <a:solidFill>
                  <a:srgbClr val="6B6B6B"/>
                </a:solidFill>
                <a:latin typeface="프리텐다드"/>
                <a:ea typeface="프리텐다드"/>
                <a:cs typeface="프리텐다드"/>
                <a:sym typeface="프리텐다드"/>
              </a:rPr>
              <a:t> </a:t>
            </a:r>
            <a:r>
              <a:rPr lang="en-US" sz="2400" dirty="0" err="1">
                <a:solidFill>
                  <a:srgbClr val="6B6B6B"/>
                </a:solidFill>
                <a:latin typeface="프리텐다드"/>
                <a:ea typeface="프리텐다드"/>
                <a:cs typeface="프리텐다드"/>
                <a:sym typeface="프리텐다드"/>
              </a:rPr>
              <a:t>했습니다</a:t>
            </a:r>
            <a:r>
              <a:rPr lang="en-US" sz="2400" dirty="0">
                <a:solidFill>
                  <a:srgbClr val="6B6B6B"/>
                </a:solidFill>
                <a:latin typeface="프리텐다드"/>
                <a:ea typeface="프리텐다드"/>
                <a:cs typeface="프리텐다드"/>
                <a:sym typeface="프리텐다드"/>
              </a:rPr>
              <a:t>.</a:t>
            </a:r>
          </a:p>
        </p:txBody>
      </p:sp>
      <p:grpSp>
        <p:nvGrpSpPr>
          <p:cNvPr id="18" name="Group 18"/>
          <p:cNvGrpSpPr/>
          <p:nvPr/>
        </p:nvGrpSpPr>
        <p:grpSpPr>
          <a:xfrm>
            <a:off x="6351527" y="1907543"/>
            <a:ext cx="5584955" cy="4505963"/>
            <a:chOff x="0" y="0"/>
            <a:chExt cx="7446607" cy="6007951"/>
          </a:xfrm>
        </p:grpSpPr>
        <p:sp>
          <p:nvSpPr>
            <p:cNvPr id="19" name="Freeform 19"/>
            <p:cNvSpPr/>
            <p:nvPr/>
          </p:nvSpPr>
          <p:spPr>
            <a:xfrm>
              <a:off x="0" y="0"/>
              <a:ext cx="7446645" cy="6007989"/>
            </a:xfrm>
            <a:custGeom>
              <a:avLst/>
              <a:gdLst/>
              <a:ahLst/>
              <a:cxnLst/>
              <a:rect l="l" t="t" r="r" b="b"/>
              <a:pathLst>
                <a:path w="7446645" h="6007989">
                  <a:moveTo>
                    <a:pt x="0" y="196215"/>
                  </a:moveTo>
                  <a:cubicBezTo>
                    <a:pt x="0" y="87884"/>
                    <a:pt x="87884" y="0"/>
                    <a:pt x="196215" y="0"/>
                  </a:cubicBezTo>
                  <a:lnTo>
                    <a:pt x="7250430" y="0"/>
                  </a:lnTo>
                  <a:cubicBezTo>
                    <a:pt x="7358762" y="0"/>
                    <a:pt x="7446645" y="87884"/>
                    <a:pt x="7446645" y="196215"/>
                  </a:cubicBezTo>
                  <a:lnTo>
                    <a:pt x="7446645" y="5811774"/>
                  </a:lnTo>
                  <a:cubicBezTo>
                    <a:pt x="7446645" y="5920105"/>
                    <a:pt x="7358762" y="6007989"/>
                    <a:pt x="7250430" y="6007989"/>
                  </a:cubicBezTo>
                  <a:lnTo>
                    <a:pt x="196215" y="6007989"/>
                  </a:lnTo>
                  <a:cubicBezTo>
                    <a:pt x="87884" y="6007989"/>
                    <a:pt x="0" y="5920105"/>
                    <a:pt x="0" y="5811774"/>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20" name="Group 20"/>
          <p:cNvGrpSpPr/>
          <p:nvPr/>
        </p:nvGrpSpPr>
        <p:grpSpPr>
          <a:xfrm>
            <a:off x="6729984" y="2231136"/>
            <a:ext cx="4828032" cy="1387128"/>
            <a:chOff x="0" y="0"/>
            <a:chExt cx="6437376" cy="1849504"/>
          </a:xfrm>
        </p:grpSpPr>
        <p:sp>
          <p:nvSpPr>
            <p:cNvPr id="21" name="Freeform 21"/>
            <p:cNvSpPr/>
            <p:nvPr/>
          </p:nvSpPr>
          <p:spPr>
            <a:xfrm>
              <a:off x="0" y="0"/>
              <a:ext cx="6437376" cy="1849504"/>
            </a:xfrm>
            <a:custGeom>
              <a:avLst/>
              <a:gdLst/>
              <a:ahLst/>
              <a:cxnLst/>
              <a:rect l="l" t="t" r="r" b="b"/>
              <a:pathLst>
                <a:path w="6437376" h="1849504">
                  <a:moveTo>
                    <a:pt x="0" y="0"/>
                  </a:moveTo>
                  <a:lnTo>
                    <a:pt x="6437376" y="0"/>
                  </a:lnTo>
                  <a:lnTo>
                    <a:pt x="6437376" y="1849504"/>
                  </a:lnTo>
                  <a:lnTo>
                    <a:pt x="0" y="1849504"/>
                  </a:lnTo>
                  <a:close/>
                </a:path>
              </a:pathLst>
            </a:custGeom>
            <a:blipFill>
              <a:blip r:embed="rId3">
                <a:alphaModFix amt="0"/>
              </a:blip>
              <a:stretch>
                <a:fillRect t="-21675" b="-13963"/>
              </a:stretch>
            </a:blipFill>
          </p:spPr>
          <p:txBody>
            <a:bodyPr/>
            <a:lstStyle/>
            <a:p>
              <a:endParaRPr lang="ko-KR" altLang="en-US"/>
            </a:p>
          </p:txBody>
        </p:sp>
        <p:sp>
          <p:nvSpPr>
            <p:cNvPr id="22" name="TextBox 22"/>
            <p:cNvSpPr txBox="1"/>
            <p:nvPr/>
          </p:nvSpPr>
          <p:spPr>
            <a:xfrm>
              <a:off x="0" y="-9525"/>
              <a:ext cx="6437376" cy="1859029"/>
            </a:xfrm>
            <a:prstGeom prst="rect">
              <a:avLst/>
            </a:prstGeom>
          </p:spPr>
          <p:txBody>
            <a:bodyPr lIns="0" tIns="0" rIns="0" bIns="0" rtlCol="0" anchor="ctr"/>
            <a:lstStyle/>
            <a:p>
              <a:pPr algn="l">
                <a:lnSpc>
                  <a:spcPts val="8160"/>
                </a:lnSpc>
              </a:pPr>
              <a:r>
                <a:rPr lang="en-US" sz="6800" b="1">
                  <a:solidFill>
                    <a:srgbClr val="8B0000"/>
                  </a:solidFill>
                  <a:latin typeface="프리텐다드 Bold"/>
                  <a:ea typeface="프리텐다드 Bold"/>
                  <a:cs typeface="프리텐다드 Bold"/>
                  <a:sym typeface="프리텐다드 Bold"/>
                </a:rPr>
                <a:t>4코어 CPU</a:t>
              </a:r>
            </a:p>
          </p:txBody>
        </p:sp>
      </p:grpSp>
      <p:sp>
        <p:nvSpPr>
          <p:cNvPr id="23" name="TextBox 23"/>
          <p:cNvSpPr txBox="1"/>
          <p:nvPr/>
        </p:nvSpPr>
        <p:spPr>
          <a:xfrm>
            <a:off x="6729984" y="3703320"/>
            <a:ext cx="4828032" cy="419100"/>
          </a:xfrm>
          <a:prstGeom prst="rect">
            <a:avLst/>
          </a:prstGeom>
        </p:spPr>
        <p:txBody>
          <a:bodyPr lIns="0" tIns="0" rIns="0" bIns="0" rtlCol="0" anchor="t">
            <a:spAutoFit/>
          </a:bodyPr>
          <a:lstStyle/>
          <a:p>
            <a:pPr algn="l">
              <a:lnSpc>
                <a:spcPts val="3240"/>
              </a:lnSpc>
            </a:pPr>
            <a:r>
              <a:rPr lang="en-US" sz="2700" b="1">
                <a:solidFill>
                  <a:srgbClr val="1A1A1A"/>
                </a:solidFill>
                <a:latin typeface="프리텐다드 Bold"/>
                <a:ea typeface="프리텐다드 Bold"/>
                <a:cs typeface="프리텐다드 Bold"/>
                <a:sym typeface="프리텐다드 Bold"/>
              </a:rPr>
              <a:t>GPU 없음 · 오프라인</a:t>
            </a:r>
          </a:p>
        </p:txBody>
      </p:sp>
      <p:sp>
        <p:nvSpPr>
          <p:cNvPr id="24" name="TextBox 24"/>
          <p:cNvSpPr txBox="1"/>
          <p:nvPr/>
        </p:nvSpPr>
        <p:spPr>
          <a:xfrm>
            <a:off x="6729984" y="4379595"/>
            <a:ext cx="4828032" cy="733425"/>
          </a:xfrm>
          <a:prstGeom prst="rect">
            <a:avLst/>
          </a:prstGeom>
        </p:spPr>
        <p:txBody>
          <a:bodyPr lIns="0" tIns="0" rIns="0" bIns="0" rtlCol="0" anchor="t">
            <a:spAutoFit/>
          </a:bodyPr>
          <a:lstStyle/>
          <a:p>
            <a:pPr algn="l">
              <a:lnSpc>
                <a:spcPts val="2879"/>
              </a:lnSpc>
            </a:pPr>
            <a:r>
              <a:rPr lang="en-US" sz="2400" dirty="0" err="1">
                <a:solidFill>
                  <a:srgbClr val="6B6B6B"/>
                </a:solidFill>
                <a:latin typeface="프리텐다드"/>
                <a:ea typeface="프리텐다드"/>
                <a:cs typeface="프리텐다드"/>
                <a:sym typeface="프리텐다드"/>
              </a:rPr>
              <a:t>채점</a:t>
            </a:r>
            <a:r>
              <a:rPr lang="en-US" sz="2400" dirty="0">
                <a:solidFill>
                  <a:srgbClr val="6B6B6B"/>
                </a:solidFill>
                <a:latin typeface="프리텐다드"/>
                <a:ea typeface="프리텐다드"/>
                <a:cs typeface="프리텐다드"/>
                <a:sym typeface="프리텐다드"/>
              </a:rPr>
              <a:t> </a:t>
            </a:r>
            <a:r>
              <a:rPr lang="en-US" sz="2400" dirty="0" err="1">
                <a:solidFill>
                  <a:srgbClr val="6B6B6B"/>
                </a:solidFill>
                <a:latin typeface="프리텐다드"/>
                <a:ea typeface="프리텐다드"/>
                <a:cs typeface="프리텐다드"/>
                <a:sym typeface="프리텐다드"/>
              </a:rPr>
              <a:t>서버</a:t>
            </a:r>
            <a:r>
              <a:rPr lang="en-US" sz="2400" dirty="0">
                <a:solidFill>
                  <a:srgbClr val="6B6B6B"/>
                </a:solidFill>
                <a:latin typeface="프리텐다드"/>
                <a:ea typeface="프리텐다드"/>
                <a:cs typeface="프리텐다드"/>
                <a:sym typeface="프리텐다드"/>
              </a:rPr>
              <a:t> Ubuntu 22.04, RAM 8GB </a:t>
            </a:r>
            <a:r>
              <a:rPr lang="en-US" sz="2400" dirty="0" err="1">
                <a:solidFill>
                  <a:srgbClr val="6B6B6B"/>
                </a:solidFill>
                <a:latin typeface="프리텐다드"/>
                <a:ea typeface="프리텐다드"/>
                <a:cs typeface="프리텐다드"/>
                <a:sym typeface="프리텐다드"/>
              </a:rPr>
              <a:t>무거운</a:t>
            </a:r>
            <a:r>
              <a:rPr lang="en-US" sz="2400" dirty="0">
                <a:solidFill>
                  <a:srgbClr val="6B6B6B"/>
                </a:solidFill>
                <a:latin typeface="프리텐다드"/>
                <a:ea typeface="프리텐다드"/>
                <a:cs typeface="프리텐다드"/>
                <a:sym typeface="프리텐다드"/>
              </a:rPr>
              <a:t> </a:t>
            </a:r>
            <a:r>
              <a:rPr lang="en-US" sz="2400" dirty="0" err="1">
                <a:solidFill>
                  <a:srgbClr val="6B6B6B"/>
                </a:solidFill>
                <a:latin typeface="프리텐다드"/>
                <a:ea typeface="프리텐다드"/>
                <a:cs typeface="프리텐다드"/>
                <a:sym typeface="프리텐다드"/>
              </a:rPr>
              <a:t>모델·외부</a:t>
            </a:r>
            <a:r>
              <a:rPr lang="en-US" sz="2400" dirty="0">
                <a:solidFill>
                  <a:srgbClr val="6B6B6B"/>
                </a:solidFill>
                <a:latin typeface="프리텐다드"/>
                <a:ea typeface="프리텐다드"/>
                <a:cs typeface="프리텐다드"/>
                <a:sym typeface="프리텐다드"/>
              </a:rPr>
              <a:t> API </a:t>
            </a:r>
            <a:r>
              <a:rPr lang="en-US" sz="2400" dirty="0" err="1">
                <a:solidFill>
                  <a:srgbClr val="6B6B6B"/>
                </a:solidFill>
                <a:latin typeface="프리텐다드"/>
                <a:ea typeface="프리텐다드"/>
                <a:cs typeface="프리텐다드"/>
                <a:sym typeface="프리텐다드"/>
              </a:rPr>
              <a:t>사용</a:t>
            </a:r>
            <a:r>
              <a:rPr lang="en-US" sz="2400" dirty="0">
                <a:solidFill>
                  <a:srgbClr val="6B6B6B"/>
                </a:solidFill>
                <a:latin typeface="프리텐다드"/>
                <a:ea typeface="프리텐다드"/>
                <a:cs typeface="프리텐다드"/>
                <a:sym typeface="프리텐다드"/>
              </a:rPr>
              <a:t> </a:t>
            </a:r>
            <a:r>
              <a:rPr lang="en-US" sz="2400" dirty="0" err="1">
                <a:solidFill>
                  <a:srgbClr val="6B6B6B"/>
                </a:solidFill>
                <a:latin typeface="프리텐다드"/>
                <a:ea typeface="프리텐다드"/>
                <a:cs typeface="프리텐다드"/>
                <a:sym typeface="프리텐다드"/>
              </a:rPr>
              <a:t>불가</a:t>
            </a:r>
            <a:endParaRPr lang="en-US" sz="2400" dirty="0">
              <a:solidFill>
                <a:srgbClr val="6B6B6B"/>
              </a:solidFill>
              <a:latin typeface="프리텐다드"/>
              <a:ea typeface="프리텐다드"/>
              <a:cs typeface="프리텐다드"/>
              <a:sym typeface="프리텐다드"/>
            </a:endParaRPr>
          </a:p>
        </p:txBody>
      </p:sp>
      <p:grpSp>
        <p:nvGrpSpPr>
          <p:cNvPr id="25" name="Group 25"/>
          <p:cNvGrpSpPr/>
          <p:nvPr/>
        </p:nvGrpSpPr>
        <p:grpSpPr>
          <a:xfrm>
            <a:off x="12167111" y="1907543"/>
            <a:ext cx="5584955" cy="4505963"/>
            <a:chOff x="0" y="0"/>
            <a:chExt cx="7446607" cy="6007951"/>
          </a:xfrm>
        </p:grpSpPr>
        <p:sp>
          <p:nvSpPr>
            <p:cNvPr id="26" name="Freeform 26"/>
            <p:cNvSpPr/>
            <p:nvPr/>
          </p:nvSpPr>
          <p:spPr>
            <a:xfrm>
              <a:off x="0" y="0"/>
              <a:ext cx="7446645" cy="6007989"/>
            </a:xfrm>
            <a:custGeom>
              <a:avLst/>
              <a:gdLst/>
              <a:ahLst/>
              <a:cxnLst/>
              <a:rect l="l" t="t" r="r" b="b"/>
              <a:pathLst>
                <a:path w="7446645" h="6007989">
                  <a:moveTo>
                    <a:pt x="0" y="196215"/>
                  </a:moveTo>
                  <a:cubicBezTo>
                    <a:pt x="0" y="87884"/>
                    <a:pt x="87884" y="0"/>
                    <a:pt x="196215" y="0"/>
                  </a:cubicBezTo>
                  <a:lnTo>
                    <a:pt x="7250430" y="0"/>
                  </a:lnTo>
                  <a:cubicBezTo>
                    <a:pt x="7358762" y="0"/>
                    <a:pt x="7446645" y="87884"/>
                    <a:pt x="7446645" y="196215"/>
                  </a:cubicBezTo>
                  <a:lnTo>
                    <a:pt x="7446645" y="5811774"/>
                  </a:lnTo>
                  <a:cubicBezTo>
                    <a:pt x="7446645" y="5920105"/>
                    <a:pt x="7358762" y="6007989"/>
                    <a:pt x="7250430" y="6007989"/>
                  </a:cubicBezTo>
                  <a:lnTo>
                    <a:pt x="196215" y="6007989"/>
                  </a:lnTo>
                  <a:cubicBezTo>
                    <a:pt x="87884" y="6007989"/>
                    <a:pt x="0" y="5920105"/>
                    <a:pt x="0" y="5811774"/>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27" name="Group 27"/>
          <p:cNvGrpSpPr/>
          <p:nvPr/>
        </p:nvGrpSpPr>
        <p:grpSpPr>
          <a:xfrm>
            <a:off x="12545568" y="2231136"/>
            <a:ext cx="4828032" cy="1387128"/>
            <a:chOff x="0" y="0"/>
            <a:chExt cx="6437376" cy="1849504"/>
          </a:xfrm>
        </p:grpSpPr>
        <p:sp>
          <p:nvSpPr>
            <p:cNvPr id="28" name="Freeform 28"/>
            <p:cNvSpPr/>
            <p:nvPr/>
          </p:nvSpPr>
          <p:spPr>
            <a:xfrm>
              <a:off x="0" y="0"/>
              <a:ext cx="6437376" cy="1849504"/>
            </a:xfrm>
            <a:custGeom>
              <a:avLst/>
              <a:gdLst/>
              <a:ahLst/>
              <a:cxnLst/>
              <a:rect l="l" t="t" r="r" b="b"/>
              <a:pathLst>
                <a:path w="6437376" h="1849504">
                  <a:moveTo>
                    <a:pt x="0" y="0"/>
                  </a:moveTo>
                  <a:lnTo>
                    <a:pt x="6437376" y="0"/>
                  </a:lnTo>
                  <a:lnTo>
                    <a:pt x="6437376" y="1849504"/>
                  </a:lnTo>
                  <a:lnTo>
                    <a:pt x="0" y="1849504"/>
                  </a:lnTo>
                  <a:close/>
                </a:path>
              </a:pathLst>
            </a:custGeom>
            <a:blipFill>
              <a:blip r:embed="rId3">
                <a:alphaModFix amt="0"/>
              </a:blip>
              <a:stretch>
                <a:fillRect t="-21675" b="-13963"/>
              </a:stretch>
            </a:blipFill>
          </p:spPr>
          <p:txBody>
            <a:bodyPr/>
            <a:lstStyle/>
            <a:p>
              <a:endParaRPr lang="ko-KR" altLang="en-US"/>
            </a:p>
          </p:txBody>
        </p:sp>
        <p:sp>
          <p:nvSpPr>
            <p:cNvPr id="29" name="TextBox 29"/>
            <p:cNvSpPr txBox="1"/>
            <p:nvPr/>
          </p:nvSpPr>
          <p:spPr>
            <a:xfrm>
              <a:off x="0" y="-9525"/>
              <a:ext cx="6437376" cy="1859029"/>
            </a:xfrm>
            <a:prstGeom prst="rect">
              <a:avLst/>
            </a:prstGeom>
          </p:spPr>
          <p:txBody>
            <a:bodyPr lIns="0" tIns="0" rIns="0" bIns="0" rtlCol="0" anchor="ctr"/>
            <a:lstStyle/>
            <a:p>
              <a:pPr algn="l">
                <a:lnSpc>
                  <a:spcPts val="8160"/>
                </a:lnSpc>
              </a:pPr>
              <a:r>
                <a:rPr lang="en-US" sz="6800" b="1">
                  <a:solidFill>
                    <a:srgbClr val="8B0000"/>
                  </a:solidFill>
                  <a:latin typeface="프리텐다드 Bold"/>
                  <a:ea typeface="프리텐다드 Bold"/>
                  <a:cs typeface="프리텐다드 Bold"/>
                  <a:sym typeface="프리텐다드 Bold"/>
                </a:rPr>
                <a:t>2,500초</a:t>
              </a:r>
            </a:p>
          </p:txBody>
        </p:sp>
      </p:grpSp>
      <p:sp>
        <p:nvSpPr>
          <p:cNvPr id="30" name="TextBox 30"/>
          <p:cNvSpPr txBox="1"/>
          <p:nvPr/>
        </p:nvSpPr>
        <p:spPr>
          <a:xfrm>
            <a:off x="12545568" y="3703320"/>
            <a:ext cx="4828032" cy="419100"/>
          </a:xfrm>
          <a:prstGeom prst="rect">
            <a:avLst/>
          </a:prstGeom>
        </p:spPr>
        <p:txBody>
          <a:bodyPr lIns="0" tIns="0" rIns="0" bIns="0" rtlCol="0" anchor="t">
            <a:spAutoFit/>
          </a:bodyPr>
          <a:lstStyle/>
          <a:p>
            <a:pPr algn="l">
              <a:lnSpc>
                <a:spcPts val="3240"/>
              </a:lnSpc>
            </a:pPr>
            <a:r>
              <a:rPr lang="en-US" sz="2700" b="1">
                <a:solidFill>
                  <a:srgbClr val="1A1A1A"/>
                </a:solidFill>
                <a:latin typeface="프리텐다드 Bold"/>
                <a:ea typeface="프리텐다드 Bold"/>
                <a:cs typeface="프리텐다드 Bold"/>
                <a:sym typeface="프리텐다드 Bold"/>
              </a:rPr>
              <a:t>500장 제한 시간</a:t>
            </a:r>
          </a:p>
        </p:txBody>
      </p:sp>
      <p:sp>
        <p:nvSpPr>
          <p:cNvPr id="31" name="TextBox 31"/>
          <p:cNvSpPr txBox="1"/>
          <p:nvPr/>
        </p:nvSpPr>
        <p:spPr>
          <a:xfrm>
            <a:off x="12545568" y="4379595"/>
            <a:ext cx="4828032" cy="733425"/>
          </a:xfrm>
          <a:prstGeom prst="rect">
            <a:avLst/>
          </a:prstGeom>
        </p:spPr>
        <p:txBody>
          <a:bodyPr lIns="0" tIns="0" rIns="0" bIns="0" rtlCol="0" anchor="t">
            <a:spAutoFit/>
          </a:bodyPr>
          <a:lstStyle/>
          <a:p>
            <a:pPr algn="l">
              <a:lnSpc>
                <a:spcPts val="2879"/>
              </a:lnSpc>
            </a:pPr>
            <a:r>
              <a:rPr lang="en-US" sz="2400" dirty="0" err="1">
                <a:solidFill>
                  <a:srgbClr val="6B6B6B"/>
                </a:solidFill>
                <a:latin typeface="프리텐다드"/>
                <a:ea typeface="프리텐다드"/>
                <a:cs typeface="프리텐다드"/>
                <a:sym typeface="프리텐다드"/>
              </a:rPr>
              <a:t>초과하면</a:t>
            </a:r>
            <a:r>
              <a:rPr lang="en-US" sz="2400" dirty="0">
                <a:solidFill>
                  <a:srgbClr val="6B6B6B"/>
                </a:solidFill>
                <a:latin typeface="프리텐다드"/>
                <a:ea typeface="프리텐다드"/>
                <a:cs typeface="프리텐다드"/>
                <a:sym typeface="프리텐다드"/>
              </a:rPr>
              <a:t> </a:t>
            </a:r>
            <a:r>
              <a:rPr lang="en-US" sz="2400" dirty="0" err="1">
                <a:solidFill>
                  <a:srgbClr val="6B6B6B"/>
                </a:solidFill>
                <a:latin typeface="프리텐다드"/>
                <a:ea typeface="프리텐다드"/>
                <a:cs typeface="프리텐다드"/>
                <a:sym typeface="프리텐다드"/>
              </a:rPr>
              <a:t>결과</a:t>
            </a:r>
            <a:r>
              <a:rPr lang="en-US" sz="2400" dirty="0">
                <a:solidFill>
                  <a:srgbClr val="6B6B6B"/>
                </a:solidFill>
                <a:latin typeface="프리텐다드"/>
                <a:ea typeface="프리텐다드"/>
                <a:cs typeface="프리텐다드"/>
                <a:sym typeface="프리텐다드"/>
              </a:rPr>
              <a:t> </a:t>
            </a:r>
            <a:r>
              <a:rPr lang="en-US" sz="2400" dirty="0" err="1">
                <a:solidFill>
                  <a:srgbClr val="6B6B6B"/>
                </a:solidFill>
                <a:latin typeface="프리텐다드"/>
                <a:ea typeface="프리텐다드"/>
                <a:cs typeface="프리텐다드"/>
                <a:sym typeface="프리텐다드"/>
              </a:rPr>
              <a:t>파일이</a:t>
            </a:r>
            <a:r>
              <a:rPr lang="en-US" sz="2400" dirty="0">
                <a:solidFill>
                  <a:srgbClr val="6B6B6B"/>
                </a:solidFill>
                <a:latin typeface="프리텐다드"/>
                <a:ea typeface="프리텐다드"/>
                <a:cs typeface="프리텐다드"/>
                <a:sym typeface="프리텐다드"/>
              </a:rPr>
              <a:t> </a:t>
            </a:r>
            <a:r>
              <a:rPr lang="en-US" sz="2400" dirty="0" err="1">
                <a:solidFill>
                  <a:srgbClr val="6B6B6B"/>
                </a:solidFill>
                <a:latin typeface="프리텐다드"/>
                <a:ea typeface="프리텐다드"/>
                <a:cs typeface="프리텐다드"/>
                <a:sym typeface="프리텐다드"/>
              </a:rPr>
              <a:t>나오지</a:t>
            </a:r>
            <a:r>
              <a:rPr lang="en-US" sz="2400" dirty="0">
                <a:solidFill>
                  <a:srgbClr val="6B6B6B"/>
                </a:solidFill>
                <a:latin typeface="프리텐다드"/>
                <a:ea typeface="프리텐다드"/>
                <a:cs typeface="프리텐다드"/>
                <a:sym typeface="프리텐다드"/>
              </a:rPr>
              <a:t> </a:t>
            </a:r>
            <a:r>
              <a:rPr lang="en-US" sz="2400" dirty="0" err="1">
                <a:solidFill>
                  <a:srgbClr val="6B6B6B"/>
                </a:solidFill>
                <a:latin typeface="프리텐다드"/>
                <a:ea typeface="프리텐다드"/>
                <a:cs typeface="프리텐다드"/>
                <a:sym typeface="프리텐다드"/>
              </a:rPr>
              <a:t>않아</a:t>
            </a:r>
            <a:endParaRPr lang="en-US" sz="2400" dirty="0">
              <a:solidFill>
                <a:srgbClr val="6B6B6B"/>
              </a:solidFill>
              <a:latin typeface="프리텐다드"/>
              <a:ea typeface="프리텐다드"/>
              <a:cs typeface="프리텐다드"/>
              <a:sym typeface="프리텐다드"/>
            </a:endParaRPr>
          </a:p>
          <a:p>
            <a:pPr algn="l">
              <a:lnSpc>
                <a:spcPts val="2879"/>
              </a:lnSpc>
            </a:pPr>
            <a:r>
              <a:rPr lang="en-US" sz="2400" dirty="0" err="1">
                <a:solidFill>
                  <a:srgbClr val="6B6B6B"/>
                </a:solidFill>
                <a:latin typeface="프리텐다드"/>
                <a:ea typeface="프리텐다드"/>
                <a:cs typeface="프리텐다드"/>
                <a:sym typeface="프리텐다드"/>
              </a:rPr>
              <a:t>정확도까지</a:t>
            </a:r>
            <a:r>
              <a:rPr lang="en-US" sz="2400" dirty="0">
                <a:solidFill>
                  <a:srgbClr val="6B6B6B"/>
                </a:solidFill>
                <a:latin typeface="프리텐다드"/>
                <a:ea typeface="프리텐다드"/>
                <a:cs typeface="프리텐다드"/>
                <a:sym typeface="프리텐다드"/>
              </a:rPr>
              <a:t> 0점. </a:t>
            </a:r>
            <a:r>
              <a:rPr lang="en-US" sz="2400" dirty="0" err="1">
                <a:solidFill>
                  <a:srgbClr val="6B6B6B"/>
                </a:solidFill>
                <a:latin typeface="프리텐다드"/>
                <a:ea typeface="프리텐다드"/>
                <a:cs typeface="프리텐다드"/>
                <a:sym typeface="프리텐다드"/>
              </a:rPr>
              <a:t>장당</a:t>
            </a:r>
            <a:r>
              <a:rPr lang="en-US" sz="2400" dirty="0">
                <a:solidFill>
                  <a:srgbClr val="6B6B6B"/>
                </a:solidFill>
                <a:latin typeface="프리텐다드"/>
                <a:ea typeface="프리텐다드"/>
                <a:cs typeface="프리텐다드"/>
                <a:sym typeface="프리텐다드"/>
              </a:rPr>
              <a:t> 5초가 </a:t>
            </a:r>
            <a:r>
              <a:rPr lang="en-US" sz="2400" dirty="0" err="1">
                <a:solidFill>
                  <a:srgbClr val="6B6B6B"/>
                </a:solidFill>
                <a:latin typeface="프리텐다드"/>
                <a:ea typeface="프리텐다드"/>
                <a:cs typeface="프리텐다드"/>
                <a:sym typeface="프리텐다드"/>
              </a:rPr>
              <a:t>상한</a:t>
            </a:r>
            <a:r>
              <a:rPr lang="en-US" sz="2400" dirty="0">
                <a:solidFill>
                  <a:srgbClr val="6B6B6B"/>
                </a:solidFill>
                <a:latin typeface="프리텐다드"/>
                <a:ea typeface="프리텐다드"/>
                <a:cs typeface="프리텐다드"/>
                <a:sym typeface="프리텐다드"/>
              </a:rPr>
              <a:t>.</a:t>
            </a:r>
          </a:p>
        </p:txBody>
      </p:sp>
      <p:sp>
        <p:nvSpPr>
          <p:cNvPr id="32" name="TextBox 32"/>
          <p:cNvSpPr txBox="1"/>
          <p:nvPr/>
        </p:nvSpPr>
        <p:spPr>
          <a:xfrm>
            <a:off x="548640" y="7040880"/>
            <a:ext cx="17190720" cy="371475"/>
          </a:xfrm>
          <a:prstGeom prst="rect">
            <a:avLst/>
          </a:prstGeom>
        </p:spPr>
        <p:txBody>
          <a:bodyPr lIns="0" tIns="0" rIns="0" bIns="0" rtlCol="0" anchor="t">
            <a:spAutoFit/>
          </a:bodyPr>
          <a:lstStyle/>
          <a:p>
            <a:pPr algn="ctr">
              <a:lnSpc>
                <a:spcPts val="2999"/>
              </a:lnSpc>
            </a:pPr>
            <a:r>
              <a:rPr lang="en-US" sz="2499" dirty="0" err="1">
                <a:solidFill>
                  <a:srgbClr val="1A1A1A"/>
                </a:solidFill>
                <a:latin typeface="프리텐다드"/>
                <a:ea typeface="프리텐다드"/>
                <a:cs typeface="프리텐다드"/>
                <a:sym typeface="프리텐다드"/>
              </a:rPr>
              <a:t>EasyOCR</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탐지기를</a:t>
            </a:r>
            <a:r>
              <a:rPr lang="en-US" sz="2499" dirty="0">
                <a:solidFill>
                  <a:srgbClr val="1A1A1A"/>
                </a:solidFill>
                <a:latin typeface="프리텐다드"/>
                <a:ea typeface="프리텐다드"/>
                <a:cs typeface="프리텐다드"/>
                <a:sym typeface="프리텐다드"/>
              </a:rPr>
              <a:t> 쓴 </a:t>
            </a:r>
            <a:r>
              <a:rPr lang="en-US" sz="2499" dirty="0" err="1">
                <a:solidFill>
                  <a:srgbClr val="1A1A1A"/>
                </a:solidFill>
                <a:latin typeface="프리텐다드"/>
                <a:ea typeface="프리텐다드"/>
                <a:cs typeface="프리텐다드"/>
                <a:sym typeface="프리텐다드"/>
              </a:rPr>
              <a:t>초기</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구성은</a:t>
            </a:r>
            <a:r>
              <a:rPr lang="en-US" sz="2499" dirty="0">
                <a:solidFill>
                  <a:srgbClr val="1A1A1A"/>
                </a:solidFill>
                <a:latin typeface="프리텐다드"/>
                <a:ea typeface="프리텐다드"/>
                <a:cs typeface="프리텐다드"/>
                <a:sym typeface="프리텐다드"/>
              </a:rPr>
              <a:t> 4코어에서 </a:t>
            </a:r>
            <a:r>
              <a:rPr lang="en-US" sz="2499" b="1" dirty="0" err="1">
                <a:solidFill>
                  <a:srgbClr val="8B0000"/>
                </a:solidFill>
                <a:latin typeface="프리텐다드 Bold"/>
                <a:ea typeface="프리텐다드 Bold"/>
                <a:cs typeface="프리텐다드 Bold"/>
                <a:sym typeface="프리텐다드 Bold"/>
              </a:rPr>
              <a:t>장당</a:t>
            </a:r>
            <a:r>
              <a:rPr lang="en-US" sz="2499" b="1" dirty="0">
                <a:solidFill>
                  <a:srgbClr val="8B0000"/>
                </a:solidFill>
                <a:latin typeface="프리텐다드 Bold"/>
                <a:ea typeface="프리텐다드 Bold"/>
                <a:cs typeface="프리텐다드 Bold"/>
                <a:sym typeface="프리텐다드 Bold"/>
              </a:rPr>
              <a:t> 5.8초, 500장 2,905초</a:t>
            </a:r>
            <a:r>
              <a:rPr lang="en-US" sz="2499" dirty="0">
                <a:solidFill>
                  <a:srgbClr val="1A1A1A"/>
                </a:solidFill>
                <a:latin typeface="프리텐다드"/>
                <a:ea typeface="프리텐다드"/>
                <a:cs typeface="프리텐다드"/>
                <a:sym typeface="프리텐다드"/>
              </a:rPr>
              <a:t> 로 </a:t>
            </a:r>
            <a:r>
              <a:rPr lang="en-US" sz="2499" dirty="0" err="1">
                <a:solidFill>
                  <a:srgbClr val="1A1A1A"/>
                </a:solidFill>
                <a:latin typeface="프리텐다드"/>
                <a:ea typeface="프리텐다드"/>
                <a:cs typeface="프리텐다드"/>
                <a:sym typeface="프리텐다드"/>
              </a:rPr>
              <a:t>한도를</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넘겼습니다</a:t>
            </a:r>
            <a:r>
              <a:rPr lang="en-US" sz="2499" dirty="0">
                <a:solidFill>
                  <a:srgbClr val="1A1A1A"/>
                </a:solidFill>
                <a:latin typeface="프리텐다드"/>
                <a:ea typeface="프리텐다드"/>
                <a:cs typeface="프리텐다드"/>
                <a:sym typeface="프리텐다드"/>
              </a:rPr>
              <a:t>.</a:t>
            </a:r>
          </a:p>
        </p:txBody>
      </p:sp>
      <p:sp>
        <p:nvSpPr>
          <p:cNvPr id="33" name="TextBox 33"/>
          <p:cNvSpPr txBox="1"/>
          <p:nvPr/>
        </p:nvSpPr>
        <p:spPr>
          <a:xfrm>
            <a:off x="548640" y="7680960"/>
            <a:ext cx="17190720" cy="371475"/>
          </a:xfrm>
          <a:prstGeom prst="rect">
            <a:avLst/>
          </a:prstGeom>
        </p:spPr>
        <p:txBody>
          <a:bodyPr lIns="0" tIns="0" rIns="0" bIns="0" rtlCol="0" anchor="t">
            <a:spAutoFit/>
          </a:bodyPr>
          <a:lstStyle/>
          <a:p>
            <a:pPr algn="ctr">
              <a:lnSpc>
                <a:spcPts val="2999"/>
              </a:lnSpc>
            </a:pPr>
            <a:r>
              <a:rPr lang="en-US" sz="2499" dirty="0" err="1">
                <a:solidFill>
                  <a:srgbClr val="1A1A1A"/>
                </a:solidFill>
                <a:latin typeface="프리텐다드"/>
                <a:ea typeface="프리텐다드"/>
                <a:cs typeface="프리텐다드"/>
                <a:sym typeface="프리텐다드"/>
              </a:rPr>
              <a:t>정확도를</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올리기</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전에</a:t>
            </a:r>
            <a:r>
              <a:rPr lang="en-US" sz="2499" dirty="0">
                <a:solidFill>
                  <a:srgbClr val="1A1A1A"/>
                </a:solidFill>
                <a:latin typeface="프리텐다드"/>
                <a:ea typeface="프리텐다드"/>
                <a:cs typeface="프리텐다드"/>
                <a:sym typeface="프리텐다드"/>
              </a:rPr>
              <a:t> </a:t>
            </a:r>
            <a:r>
              <a:rPr lang="en-US" sz="2499" b="1" dirty="0">
                <a:solidFill>
                  <a:srgbClr val="8B0000"/>
                </a:solidFill>
                <a:latin typeface="프리텐다드 Bold"/>
                <a:ea typeface="프리텐다드 Bold"/>
                <a:cs typeface="프리텐다드 Bold"/>
                <a:sym typeface="프리텐다드 Bold"/>
              </a:rPr>
              <a:t>“</a:t>
            </a:r>
            <a:r>
              <a:rPr lang="en-US" sz="2499" b="1" dirty="0" err="1">
                <a:solidFill>
                  <a:srgbClr val="8B0000"/>
                </a:solidFill>
                <a:latin typeface="프리텐다드 Bold"/>
                <a:ea typeface="프리텐다드 Bold"/>
                <a:cs typeface="프리텐다드 Bold"/>
                <a:sym typeface="프리텐다드 Bold"/>
              </a:rPr>
              <a:t>끝까지</a:t>
            </a:r>
            <a:r>
              <a:rPr lang="en-US" sz="2499" b="1" dirty="0">
                <a:solidFill>
                  <a:srgbClr val="8B0000"/>
                </a:solidFill>
                <a:latin typeface="프리텐다드 Bold"/>
                <a:ea typeface="프리텐다드 Bold"/>
                <a:cs typeface="프리텐다드 Bold"/>
                <a:sym typeface="프리텐다드 Bold"/>
              </a:rPr>
              <a:t> </a:t>
            </a:r>
            <a:r>
              <a:rPr lang="en-US" sz="2499" b="1" dirty="0" err="1">
                <a:solidFill>
                  <a:srgbClr val="8B0000"/>
                </a:solidFill>
                <a:latin typeface="프리텐다드 Bold"/>
                <a:ea typeface="프리텐다드 Bold"/>
                <a:cs typeface="프리텐다드 Bold"/>
                <a:sym typeface="프리텐다드 Bold"/>
              </a:rPr>
              <a:t>돌아가는가”</a:t>
            </a:r>
            <a:r>
              <a:rPr lang="en-US" sz="2499" dirty="0" err="1">
                <a:solidFill>
                  <a:srgbClr val="1A1A1A"/>
                </a:solidFill>
                <a:latin typeface="프리텐다드"/>
                <a:ea typeface="프리텐다드"/>
                <a:cs typeface="프리텐다드"/>
                <a:sym typeface="프리텐다드"/>
              </a:rPr>
              <a:t>부터</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풀어야</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하는</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문제였습니다</a:t>
            </a:r>
            <a:r>
              <a:rPr lang="en-US" sz="2499" dirty="0">
                <a:solidFill>
                  <a:srgbClr val="1A1A1A"/>
                </a:solidFill>
                <a:latin typeface="프리텐다드"/>
                <a:ea typeface="프리텐다드"/>
                <a:cs typeface="프리텐다드"/>
                <a:sym typeface="프리텐다드"/>
              </a:rPr>
              <a:t>.</a:t>
            </a:r>
          </a:p>
        </p:txBody>
      </p:sp>
      <p:grpSp>
        <p:nvGrpSpPr>
          <p:cNvPr id="34" name="Group 34"/>
          <p:cNvGrpSpPr/>
          <p:nvPr/>
        </p:nvGrpSpPr>
        <p:grpSpPr>
          <a:xfrm>
            <a:off x="535943" y="8674103"/>
            <a:ext cx="17216123" cy="793499"/>
            <a:chOff x="0" y="0"/>
            <a:chExt cx="22954831" cy="1057999"/>
          </a:xfrm>
        </p:grpSpPr>
        <p:sp>
          <p:nvSpPr>
            <p:cNvPr id="35" name="Freeform 35"/>
            <p:cNvSpPr/>
            <p:nvPr/>
          </p:nvSpPr>
          <p:spPr>
            <a:xfrm>
              <a:off x="0" y="0"/>
              <a:ext cx="22954869" cy="1058037"/>
            </a:xfrm>
            <a:custGeom>
              <a:avLst/>
              <a:gdLst/>
              <a:ahLst/>
              <a:cxnLst/>
              <a:rect l="l" t="t" r="r" b="b"/>
              <a:pathLst>
                <a:path w="22954869" h="1058037">
                  <a:moveTo>
                    <a:pt x="0" y="201549"/>
                  </a:moveTo>
                  <a:cubicBezTo>
                    <a:pt x="0" y="90170"/>
                    <a:pt x="90170" y="0"/>
                    <a:pt x="201549" y="0"/>
                  </a:cubicBezTo>
                  <a:lnTo>
                    <a:pt x="22753320" y="0"/>
                  </a:lnTo>
                  <a:cubicBezTo>
                    <a:pt x="22864572" y="0"/>
                    <a:pt x="22954869" y="90170"/>
                    <a:pt x="22954869" y="201549"/>
                  </a:cubicBezTo>
                  <a:lnTo>
                    <a:pt x="22954869" y="856488"/>
                  </a:lnTo>
                  <a:cubicBezTo>
                    <a:pt x="22954869" y="967740"/>
                    <a:pt x="22864699" y="1058037"/>
                    <a:pt x="22753320" y="1058037"/>
                  </a:cubicBezTo>
                  <a:lnTo>
                    <a:pt x="201549" y="1058037"/>
                  </a:lnTo>
                  <a:cubicBezTo>
                    <a:pt x="90170" y="1058037"/>
                    <a:pt x="0" y="967740"/>
                    <a:pt x="0" y="856488"/>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36" name="Group 36"/>
          <p:cNvGrpSpPr/>
          <p:nvPr/>
        </p:nvGrpSpPr>
        <p:grpSpPr>
          <a:xfrm>
            <a:off x="822960" y="8686800"/>
            <a:ext cx="16642080" cy="768096"/>
            <a:chOff x="0" y="0"/>
            <a:chExt cx="22189440" cy="1024128"/>
          </a:xfrm>
        </p:grpSpPr>
        <p:sp>
          <p:nvSpPr>
            <p:cNvPr id="37" name="Freeform 37"/>
            <p:cNvSpPr/>
            <p:nvPr/>
          </p:nvSpPr>
          <p:spPr>
            <a:xfrm>
              <a:off x="0" y="0"/>
              <a:ext cx="22189439" cy="1024128"/>
            </a:xfrm>
            <a:custGeom>
              <a:avLst/>
              <a:gdLst/>
              <a:ahLst/>
              <a:cxnLst/>
              <a:rect l="l" t="t" r="r" b="b"/>
              <a:pathLst>
                <a:path w="22189439" h="1024128">
                  <a:moveTo>
                    <a:pt x="0" y="0"/>
                  </a:moveTo>
                  <a:lnTo>
                    <a:pt x="22189439" y="0"/>
                  </a:lnTo>
                  <a:lnTo>
                    <a:pt x="22189439" y="1024128"/>
                  </a:lnTo>
                  <a:lnTo>
                    <a:pt x="0" y="1024128"/>
                  </a:lnTo>
                  <a:close/>
                </a:path>
              </a:pathLst>
            </a:custGeom>
            <a:blipFill>
              <a:blip r:embed="rId3">
                <a:alphaModFix amt="0"/>
              </a:blip>
              <a:stretch>
                <a:fillRect t="-372175" b="-372175"/>
              </a:stretch>
            </a:blipFill>
          </p:spPr>
          <p:txBody>
            <a:bodyPr/>
            <a:lstStyle/>
            <a:p>
              <a:endParaRPr lang="ko-KR" altLang="en-US"/>
            </a:p>
          </p:txBody>
        </p:sp>
        <p:sp>
          <p:nvSpPr>
            <p:cNvPr id="38" name="TextBox 38"/>
            <p:cNvSpPr txBox="1"/>
            <p:nvPr/>
          </p:nvSpPr>
          <p:spPr>
            <a:xfrm>
              <a:off x="0" y="0"/>
              <a:ext cx="22189440" cy="1024128"/>
            </a:xfrm>
            <a:prstGeom prst="rect">
              <a:avLst/>
            </a:prstGeom>
          </p:spPr>
          <p:txBody>
            <a:bodyPr lIns="0" tIns="0" rIns="0" bIns="0" rtlCol="0" anchor="ctr"/>
            <a:lstStyle/>
            <a:p>
              <a:pPr algn="ctr">
                <a:lnSpc>
                  <a:spcPts val="2999"/>
                </a:lnSpc>
              </a:pPr>
              <a:r>
                <a:rPr lang="en-US" sz="2499" dirty="0" err="1">
                  <a:solidFill>
                    <a:srgbClr val="1A1A1A"/>
                  </a:solidFill>
                  <a:latin typeface="프리텐다드"/>
                  <a:ea typeface="프리텐다드"/>
                  <a:cs typeface="프리텐다드"/>
                  <a:sym typeface="프리텐다드"/>
                </a:rPr>
                <a:t>그래서</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모든</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설계</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결정에</a:t>
              </a:r>
              <a:r>
                <a:rPr lang="en-US" sz="2499" dirty="0">
                  <a:solidFill>
                    <a:srgbClr val="1A1A1A"/>
                  </a:solidFill>
                  <a:latin typeface="프리텐다드"/>
                  <a:ea typeface="프리텐다드"/>
                  <a:cs typeface="프리텐다드"/>
                  <a:sym typeface="프리텐다드"/>
                </a:rPr>
                <a:t> </a:t>
              </a:r>
              <a:r>
                <a:rPr lang="en-US" sz="2499" b="1" dirty="0" err="1">
                  <a:solidFill>
                    <a:srgbClr val="8B0000"/>
                  </a:solidFill>
                  <a:latin typeface="프리텐다드 Bold"/>
                  <a:ea typeface="프리텐다드 Bold"/>
                  <a:cs typeface="프리텐다드 Bold"/>
                  <a:sym typeface="프리텐다드 Bold"/>
                </a:rPr>
                <a:t>정확도와</a:t>
              </a:r>
              <a:r>
                <a:rPr lang="en-US" sz="2499" b="1" dirty="0">
                  <a:solidFill>
                    <a:srgbClr val="8B0000"/>
                  </a:solidFill>
                  <a:latin typeface="프리텐다드 Bold"/>
                  <a:ea typeface="프리텐다드 Bold"/>
                  <a:cs typeface="프리텐다드 Bold"/>
                  <a:sym typeface="프리텐다드 Bold"/>
                </a:rPr>
                <a:t> </a:t>
              </a:r>
              <a:r>
                <a:rPr lang="en-US" sz="2499" b="1" dirty="0" err="1">
                  <a:solidFill>
                    <a:srgbClr val="8B0000"/>
                  </a:solidFill>
                  <a:latin typeface="프리텐다드 Bold"/>
                  <a:ea typeface="프리텐다드 Bold"/>
                  <a:cs typeface="프리텐다드 Bold"/>
                  <a:sym typeface="프리텐다드 Bold"/>
                </a:rPr>
                <a:t>시간을</a:t>
              </a:r>
              <a:r>
                <a:rPr lang="en-US" sz="2499" b="1" dirty="0">
                  <a:solidFill>
                    <a:srgbClr val="8B0000"/>
                  </a:solidFill>
                  <a:latin typeface="프리텐다드 Bold"/>
                  <a:ea typeface="프리텐다드 Bold"/>
                  <a:cs typeface="프리텐다드 Bold"/>
                  <a:sym typeface="프리텐다드 Bold"/>
                </a:rPr>
                <a:t> </a:t>
              </a:r>
              <a:r>
                <a:rPr lang="en-US" sz="2499" b="1" dirty="0" err="1">
                  <a:solidFill>
                    <a:srgbClr val="8B0000"/>
                  </a:solidFill>
                  <a:latin typeface="프리텐다드 Bold"/>
                  <a:ea typeface="프리텐다드 Bold"/>
                  <a:cs typeface="프리텐다드 Bold"/>
                  <a:sym typeface="프리텐다드 Bold"/>
                </a:rPr>
                <a:t>함께</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기록했습니다</a:t>
              </a:r>
              <a:r>
                <a:rPr lang="en-US" sz="2499" dirty="0">
                  <a:solidFill>
                    <a:srgbClr val="1A1A1A"/>
                  </a:solidFill>
                  <a:latin typeface="프리텐다드"/>
                  <a:ea typeface="프리텐다드"/>
                  <a:cs typeface="프리텐다드"/>
                  <a:sym typeface="프리텐다드"/>
                </a:rPr>
                <a:t>.</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8B0000"/>
        </a:solidFill>
        <a:effectLst/>
      </p:bgPr>
    </p:bg>
    <p:spTree>
      <p:nvGrpSpPr>
        <p:cNvPr id="1" name=""/>
        <p:cNvGrpSpPr/>
        <p:nvPr/>
      </p:nvGrpSpPr>
      <p:grpSpPr>
        <a:xfrm>
          <a:off x="0" y="0"/>
          <a:ext cx="0" cy="0"/>
          <a:chOff x="0" y="0"/>
          <a:chExt cx="0" cy="0"/>
        </a:xfrm>
      </p:grpSpPr>
      <p:grpSp>
        <p:nvGrpSpPr>
          <p:cNvPr id="2" name="Group 2"/>
          <p:cNvGrpSpPr/>
          <p:nvPr/>
        </p:nvGrpSpPr>
        <p:grpSpPr>
          <a:xfrm>
            <a:off x="8481060" y="-3060905"/>
            <a:ext cx="8778240" cy="16408810"/>
            <a:chOff x="0" y="0"/>
            <a:chExt cx="11704320" cy="21878413"/>
          </a:xfrm>
        </p:grpSpPr>
        <p:sp>
          <p:nvSpPr>
            <p:cNvPr id="3" name="Freeform 3"/>
            <p:cNvSpPr/>
            <p:nvPr/>
          </p:nvSpPr>
          <p:spPr>
            <a:xfrm>
              <a:off x="0" y="0"/>
              <a:ext cx="11704320" cy="21878413"/>
            </a:xfrm>
            <a:custGeom>
              <a:avLst/>
              <a:gdLst/>
              <a:ahLst/>
              <a:cxnLst/>
              <a:rect l="l" t="t" r="r" b="b"/>
              <a:pathLst>
                <a:path w="11704320" h="21878413">
                  <a:moveTo>
                    <a:pt x="0" y="0"/>
                  </a:moveTo>
                  <a:lnTo>
                    <a:pt x="11704320" y="0"/>
                  </a:lnTo>
                  <a:lnTo>
                    <a:pt x="11704320" y="21878413"/>
                  </a:lnTo>
                  <a:lnTo>
                    <a:pt x="0" y="21878413"/>
                  </a:lnTo>
                  <a:close/>
                </a:path>
              </a:pathLst>
            </a:custGeom>
            <a:blipFill>
              <a:blip r:embed="rId3">
                <a:alphaModFix amt="0"/>
              </a:blip>
              <a:stretch>
                <a:fillRect l="-94341" r="-94341" b="39815"/>
              </a:stretch>
            </a:blipFill>
          </p:spPr>
          <p:txBody>
            <a:bodyPr/>
            <a:lstStyle/>
            <a:p>
              <a:endParaRPr lang="ko-KR" altLang="en-US"/>
            </a:p>
          </p:txBody>
        </p:sp>
        <p:sp>
          <p:nvSpPr>
            <p:cNvPr id="4" name="TextBox 4"/>
            <p:cNvSpPr txBox="1"/>
            <p:nvPr/>
          </p:nvSpPr>
          <p:spPr>
            <a:xfrm>
              <a:off x="0" y="-19050"/>
              <a:ext cx="11704320" cy="21897463"/>
            </a:xfrm>
            <a:prstGeom prst="rect">
              <a:avLst/>
            </a:prstGeom>
          </p:spPr>
          <p:txBody>
            <a:bodyPr lIns="0" tIns="0" rIns="0" bIns="0" rtlCol="0" anchor="ctr"/>
            <a:lstStyle/>
            <a:p>
              <a:pPr algn="r">
                <a:lnSpc>
                  <a:spcPts val="96000"/>
                </a:lnSpc>
              </a:pPr>
              <a:r>
                <a:rPr lang="en-US" sz="80000">
                  <a:solidFill>
                    <a:srgbClr val="FFFFFF"/>
                  </a:solidFill>
                  <a:latin typeface="프리텐다드"/>
                  <a:ea typeface="프리텐다드"/>
                  <a:cs typeface="프리텐다드"/>
                  <a:sym typeface="프리텐다드"/>
                </a:rPr>
                <a:t>2</a:t>
              </a:r>
            </a:p>
          </p:txBody>
        </p:sp>
      </p:grpSp>
      <p:grpSp>
        <p:nvGrpSpPr>
          <p:cNvPr id="5" name="Group 5"/>
          <p:cNvGrpSpPr/>
          <p:nvPr/>
        </p:nvGrpSpPr>
        <p:grpSpPr>
          <a:xfrm>
            <a:off x="1907543" y="5565143"/>
            <a:ext cx="153419" cy="939803"/>
            <a:chOff x="0" y="0"/>
            <a:chExt cx="204559" cy="1253071"/>
          </a:xfrm>
        </p:grpSpPr>
        <p:sp>
          <p:nvSpPr>
            <p:cNvPr id="6" name="Freeform 6"/>
            <p:cNvSpPr/>
            <p:nvPr/>
          </p:nvSpPr>
          <p:spPr>
            <a:xfrm>
              <a:off x="0" y="0"/>
              <a:ext cx="204597" cy="1253109"/>
            </a:xfrm>
            <a:custGeom>
              <a:avLst/>
              <a:gdLst/>
              <a:ahLst/>
              <a:cxnLst/>
              <a:rect l="l" t="t" r="r" b="b"/>
              <a:pathLst>
                <a:path w="204597" h="1253109">
                  <a:moveTo>
                    <a:pt x="0" y="0"/>
                  </a:moveTo>
                  <a:lnTo>
                    <a:pt x="204597" y="0"/>
                  </a:lnTo>
                  <a:lnTo>
                    <a:pt x="204597" y="1253109"/>
                  </a:lnTo>
                  <a:lnTo>
                    <a:pt x="0" y="1253109"/>
                  </a:lnTo>
                  <a:close/>
                </a:path>
              </a:pathLst>
            </a:custGeom>
            <a:solidFill>
              <a:srgbClr val="FFFFFF"/>
            </a:solidFill>
            <a:ln w="25400" cap="sq">
              <a:solidFill>
                <a:srgbClr val="FFFFFF"/>
              </a:solidFill>
              <a:prstDash val="solid"/>
              <a:miter/>
            </a:ln>
          </p:spPr>
          <p:txBody>
            <a:bodyPr/>
            <a:lstStyle/>
            <a:p>
              <a:endParaRPr lang="ko-KR" altLang="en-US"/>
            </a:p>
          </p:txBody>
        </p:sp>
      </p:grpSp>
      <p:grpSp>
        <p:nvGrpSpPr>
          <p:cNvPr id="7" name="Group 7"/>
          <p:cNvGrpSpPr/>
          <p:nvPr/>
        </p:nvGrpSpPr>
        <p:grpSpPr>
          <a:xfrm>
            <a:off x="2383536" y="5442680"/>
            <a:ext cx="9351264" cy="1195864"/>
            <a:chOff x="0" y="-9525"/>
            <a:chExt cx="12468352" cy="1594485"/>
          </a:xfrm>
        </p:grpSpPr>
        <p:sp>
          <p:nvSpPr>
            <p:cNvPr id="8" name="Freeform 8"/>
            <p:cNvSpPr/>
            <p:nvPr/>
          </p:nvSpPr>
          <p:spPr>
            <a:xfrm>
              <a:off x="276352" y="0"/>
              <a:ext cx="12192000" cy="1584960"/>
            </a:xfrm>
            <a:custGeom>
              <a:avLst/>
              <a:gdLst/>
              <a:ahLst/>
              <a:cxnLst/>
              <a:rect l="l" t="t" r="r" b="b"/>
              <a:pathLst>
                <a:path w="12192000" h="1584960">
                  <a:moveTo>
                    <a:pt x="0" y="0"/>
                  </a:moveTo>
                  <a:lnTo>
                    <a:pt x="12192000" y="0"/>
                  </a:lnTo>
                  <a:lnTo>
                    <a:pt x="12192000" y="1584960"/>
                  </a:lnTo>
                  <a:lnTo>
                    <a:pt x="0" y="1584960"/>
                  </a:lnTo>
                  <a:close/>
                </a:path>
              </a:pathLst>
            </a:custGeom>
            <a:blipFill>
              <a:blip r:embed="rId3">
                <a:alphaModFix amt="0"/>
              </a:blip>
              <a:stretch>
                <a:fillRect t="-99884" b="-99884"/>
              </a:stretch>
            </a:blipFill>
          </p:spPr>
          <p:txBody>
            <a:bodyPr/>
            <a:lstStyle/>
            <a:p>
              <a:endParaRPr lang="ko-KR" altLang="en-US"/>
            </a:p>
          </p:txBody>
        </p:sp>
        <p:sp>
          <p:nvSpPr>
            <p:cNvPr id="9" name="TextBox 9"/>
            <p:cNvSpPr txBox="1"/>
            <p:nvPr/>
          </p:nvSpPr>
          <p:spPr>
            <a:xfrm>
              <a:off x="0" y="-9525"/>
              <a:ext cx="12192000" cy="1594485"/>
            </a:xfrm>
            <a:prstGeom prst="rect">
              <a:avLst/>
            </a:prstGeom>
          </p:spPr>
          <p:txBody>
            <a:bodyPr lIns="0" tIns="0" rIns="0" bIns="0" rtlCol="0" anchor="ctr"/>
            <a:lstStyle/>
            <a:p>
              <a:pPr algn="l">
                <a:lnSpc>
                  <a:spcPts val="6720"/>
                </a:lnSpc>
              </a:pPr>
              <a:r>
                <a:rPr lang="en-US" sz="5600" b="1" dirty="0" err="1">
                  <a:solidFill>
                    <a:srgbClr val="FFFFFF"/>
                  </a:solidFill>
                  <a:latin typeface="프리텐다드 Ultra-Bold"/>
                  <a:ea typeface="프리텐다드 Ultra-Bold"/>
                  <a:cs typeface="프리텐다드 Ultra-Bold"/>
                  <a:sym typeface="프리텐다드 Ultra-Bold"/>
                </a:rPr>
                <a:t>데이터와</a:t>
              </a:r>
              <a:r>
                <a:rPr lang="en-US" sz="5600" b="1" dirty="0">
                  <a:solidFill>
                    <a:srgbClr val="FFFFFF"/>
                  </a:solidFill>
                  <a:latin typeface="프리텐다드 Ultra-Bold"/>
                  <a:ea typeface="프리텐다드 Ultra-Bold"/>
                  <a:cs typeface="프리텐다드 Ultra-Bold"/>
                  <a:sym typeface="프리텐다드 Ultra-Bold"/>
                </a:rPr>
                <a:t> </a:t>
              </a:r>
              <a:r>
                <a:rPr lang="en-US" sz="5600" b="1" dirty="0" err="1">
                  <a:solidFill>
                    <a:srgbClr val="FFFFFF"/>
                  </a:solidFill>
                  <a:latin typeface="프리텐다드 Ultra-Bold"/>
                  <a:ea typeface="프리텐다드 Ultra-Bold"/>
                  <a:cs typeface="프리텐다드 Ultra-Bold"/>
                  <a:sym typeface="프리텐다드 Ultra-Bold"/>
                </a:rPr>
                <a:t>검증</a:t>
              </a:r>
              <a:r>
                <a:rPr lang="en-US" sz="5600" b="1" dirty="0">
                  <a:solidFill>
                    <a:srgbClr val="FFFFFF"/>
                  </a:solidFill>
                  <a:latin typeface="프리텐다드 Ultra-Bold"/>
                  <a:ea typeface="프리텐다드 Ultra-Bold"/>
                  <a:cs typeface="프리텐다드 Ultra-Bold"/>
                  <a:sym typeface="프리텐다드 Ultra-Bold"/>
                </a:rPr>
                <a:t> </a:t>
              </a:r>
              <a:r>
                <a:rPr lang="en-US" sz="5600" b="1" dirty="0" err="1">
                  <a:solidFill>
                    <a:srgbClr val="FFFFFF"/>
                  </a:solidFill>
                  <a:latin typeface="프리텐다드 Ultra-Bold"/>
                  <a:ea typeface="프리텐다드 Ultra-Bold"/>
                  <a:cs typeface="프리텐다드 Ultra-Bold"/>
                  <a:sym typeface="프리텐다드 Ultra-Bold"/>
                </a:rPr>
                <a:t>설계</a:t>
              </a:r>
              <a:endParaRPr lang="en-US" sz="5600" b="1" dirty="0">
                <a:solidFill>
                  <a:srgbClr val="FFFFFF"/>
                </a:solidFill>
                <a:latin typeface="프리텐다드 Ultra-Bold"/>
                <a:ea typeface="프리텐다드 Ultra-Bold"/>
                <a:cs typeface="프리텐다드 Ultra-Bold"/>
                <a:sym typeface="프리텐다드 Ultra-Bold"/>
              </a:endParaRPr>
            </a:p>
          </p:txBody>
        </p:sp>
      </p:grpSp>
      <p:grpSp>
        <p:nvGrpSpPr>
          <p:cNvPr id="10" name="Group 10"/>
          <p:cNvGrpSpPr/>
          <p:nvPr/>
        </p:nvGrpSpPr>
        <p:grpSpPr>
          <a:xfrm>
            <a:off x="2377440" y="6504946"/>
            <a:ext cx="9509760" cy="731520"/>
            <a:chOff x="0" y="0"/>
            <a:chExt cx="12679680" cy="975360"/>
          </a:xfrm>
        </p:grpSpPr>
        <p:sp>
          <p:nvSpPr>
            <p:cNvPr id="11" name="Freeform 11"/>
            <p:cNvSpPr/>
            <p:nvPr/>
          </p:nvSpPr>
          <p:spPr>
            <a:xfrm>
              <a:off x="0" y="0"/>
              <a:ext cx="12679680" cy="975360"/>
            </a:xfrm>
            <a:custGeom>
              <a:avLst/>
              <a:gdLst/>
              <a:ahLst/>
              <a:cxnLst/>
              <a:rect l="l" t="t" r="r" b="b"/>
              <a:pathLst>
                <a:path w="12679680" h="975360">
                  <a:moveTo>
                    <a:pt x="0" y="0"/>
                  </a:moveTo>
                  <a:lnTo>
                    <a:pt x="12679680" y="0"/>
                  </a:lnTo>
                  <a:lnTo>
                    <a:pt x="12679680" y="975360"/>
                  </a:lnTo>
                  <a:lnTo>
                    <a:pt x="0" y="975360"/>
                  </a:lnTo>
                  <a:close/>
                </a:path>
              </a:pathLst>
            </a:custGeom>
            <a:blipFill>
              <a:blip r:embed="rId3">
                <a:alphaModFix amt="0"/>
              </a:blip>
              <a:stretch>
                <a:fillRect t="-203305" b="-203305"/>
              </a:stretch>
            </a:blipFill>
          </p:spPr>
          <p:txBody>
            <a:bodyPr/>
            <a:lstStyle/>
            <a:p>
              <a:endParaRPr lang="ko-KR" altLang="en-US"/>
            </a:p>
          </p:txBody>
        </p:sp>
        <p:sp>
          <p:nvSpPr>
            <p:cNvPr id="12" name="TextBox 12"/>
            <p:cNvSpPr txBox="1"/>
            <p:nvPr/>
          </p:nvSpPr>
          <p:spPr>
            <a:xfrm>
              <a:off x="0" y="-9525"/>
              <a:ext cx="12679680" cy="984885"/>
            </a:xfrm>
            <a:prstGeom prst="rect">
              <a:avLst/>
            </a:prstGeom>
          </p:spPr>
          <p:txBody>
            <a:bodyPr lIns="0" tIns="0" rIns="0" bIns="0" rtlCol="0" anchor="ctr"/>
            <a:lstStyle/>
            <a:p>
              <a:pPr algn="l">
                <a:lnSpc>
                  <a:spcPts val="2879"/>
                </a:lnSpc>
              </a:pPr>
              <a:r>
                <a:rPr lang="en-US" sz="2400" b="1">
                  <a:solidFill>
                    <a:srgbClr val="FFFFFF"/>
                  </a:solidFill>
                  <a:latin typeface="프리텐다드 Bold"/>
                  <a:ea typeface="프리텐다드 Bold"/>
                  <a:cs typeface="프리텐다드 Bold"/>
                  <a:sym typeface="프리텐다드 Bold"/>
                </a:rPr>
                <a:t>정답이 없는 데이터에서 정확도를 재는 법</a:t>
              </a:r>
            </a:p>
          </p:txBody>
        </p:sp>
      </p:grpSp>
      <p:grpSp>
        <p:nvGrpSpPr>
          <p:cNvPr id="13" name="Group 13"/>
          <p:cNvGrpSpPr/>
          <p:nvPr/>
        </p:nvGrpSpPr>
        <p:grpSpPr>
          <a:xfrm>
            <a:off x="17007840" y="219456"/>
            <a:ext cx="914400" cy="457200"/>
            <a:chOff x="0" y="0"/>
            <a:chExt cx="1219200" cy="609600"/>
          </a:xfrm>
        </p:grpSpPr>
        <p:sp>
          <p:nvSpPr>
            <p:cNvPr id="14" name="Freeform 14"/>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15" name="TextBox 15"/>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FFFFFF"/>
                  </a:solidFill>
                  <a:latin typeface="프리텐다드"/>
                  <a:ea typeface="프리텐다드"/>
                  <a:cs typeface="프리텐다드"/>
                  <a:sym typeface="프리텐다드"/>
                </a:rPr>
                <a:t>4</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5943" y="535943"/>
            <a:ext cx="153419" cy="756923"/>
            <a:chOff x="0" y="0"/>
            <a:chExt cx="204559" cy="1009231"/>
          </a:xfrm>
        </p:grpSpPr>
        <p:sp>
          <p:nvSpPr>
            <p:cNvPr id="3" name="Freeform 3"/>
            <p:cNvSpPr/>
            <p:nvPr/>
          </p:nvSpPr>
          <p:spPr>
            <a:xfrm>
              <a:off x="0" y="0"/>
              <a:ext cx="204597" cy="1009269"/>
            </a:xfrm>
            <a:custGeom>
              <a:avLst/>
              <a:gdLst/>
              <a:ahLst/>
              <a:cxnLst/>
              <a:rect l="l" t="t" r="r" b="b"/>
              <a:pathLst>
                <a:path w="204597" h="1009269">
                  <a:moveTo>
                    <a:pt x="0" y="0"/>
                  </a:moveTo>
                  <a:lnTo>
                    <a:pt x="204597" y="0"/>
                  </a:lnTo>
                  <a:lnTo>
                    <a:pt x="204597" y="1009269"/>
                  </a:lnTo>
                  <a:lnTo>
                    <a:pt x="0" y="1009269"/>
                  </a:ln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4" name="Group 4"/>
          <p:cNvGrpSpPr/>
          <p:nvPr/>
        </p:nvGrpSpPr>
        <p:grpSpPr>
          <a:xfrm>
            <a:off x="822960" y="457200"/>
            <a:ext cx="15910560" cy="914400"/>
            <a:chOff x="0" y="0"/>
            <a:chExt cx="21214080" cy="1219200"/>
          </a:xfrm>
        </p:grpSpPr>
        <p:sp>
          <p:nvSpPr>
            <p:cNvPr id="5" name="Freeform 5"/>
            <p:cNvSpPr/>
            <p:nvPr/>
          </p:nvSpPr>
          <p:spPr>
            <a:xfrm>
              <a:off x="0" y="0"/>
              <a:ext cx="21214080" cy="1219200"/>
            </a:xfrm>
            <a:custGeom>
              <a:avLst/>
              <a:gdLst/>
              <a:ahLst/>
              <a:cxnLst/>
              <a:rect l="l" t="t" r="r" b="b"/>
              <a:pathLst>
                <a:path w="21214080" h="1219200">
                  <a:moveTo>
                    <a:pt x="0" y="0"/>
                  </a:moveTo>
                  <a:lnTo>
                    <a:pt x="21214080" y="0"/>
                  </a:lnTo>
                  <a:lnTo>
                    <a:pt x="21214080" y="1219200"/>
                  </a:lnTo>
                  <a:lnTo>
                    <a:pt x="0" y="1219200"/>
                  </a:lnTo>
                  <a:close/>
                </a:path>
              </a:pathLst>
            </a:custGeom>
            <a:blipFill>
              <a:blip r:embed="rId3">
                <a:alphaModFix amt="0"/>
              </a:blip>
              <a:stretch>
                <a:fillRect t="-289039" b="-289039"/>
              </a:stretch>
            </a:blipFill>
          </p:spPr>
          <p:txBody>
            <a:bodyPr/>
            <a:lstStyle/>
            <a:p>
              <a:endParaRPr lang="ko-KR" altLang="en-US"/>
            </a:p>
          </p:txBody>
        </p:sp>
        <p:sp>
          <p:nvSpPr>
            <p:cNvPr id="6" name="TextBox 6"/>
            <p:cNvSpPr txBox="1"/>
            <p:nvPr/>
          </p:nvSpPr>
          <p:spPr>
            <a:xfrm>
              <a:off x="0" y="0"/>
              <a:ext cx="21214080" cy="1219200"/>
            </a:xfrm>
            <a:prstGeom prst="rect">
              <a:avLst/>
            </a:prstGeom>
          </p:spPr>
          <p:txBody>
            <a:bodyPr lIns="0" tIns="0" rIns="0" bIns="0" rtlCol="0" anchor="ctr"/>
            <a:lstStyle/>
            <a:p>
              <a:pPr algn="l">
                <a:lnSpc>
                  <a:spcPts val="4560"/>
                </a:lnSpc>
              </a:pPr>
              <a:r>
                <a:rPr lang="en-US" sz="3800" b="1">
                  <a:solidFill>
                    <a:srgbClr val="1A1A1A"/>
                  </a:solidFill>
                  <a:latin typeface="프리텐다드 Bold"/>
                  <a:ea typeface="프리텐다드 Bold"/>
                  <a:cs typeface="프리텐다드 Bold"/>
                  <a:sym typeface="프리텐다드 Bold"/>
                </a:rPr>
                <a:t>검증 설계 : </a:t>
              </a:r>
              <a:r>
                <a:rPr lang="en-US" sz="3800" b="1">
                  <a:solidFill>
                    <a:srgbClr val="8B0000"/>
                  </a:solidFill>
                  <a:latin typeface="프리텐다드 Bold"/>
                  <a:ea typeface="프리텐다드 Bold"/>
                  <a:cs typeface="프리텐다드 Bold"/>
                  <a:sym typeface="프리텐다드 Bold"/>
                </a:rPr>
                <a:t>규칙을 먼저 정하고, 시험지를 봉인했습니다</a:t>
              </a:r>
            </a:p>
          </p:txBody>
        </p:sp>
      </p:grpSp>
      <p:sp>
        <p:nvSpPr>
          <p:cNvPr id="7" name="AutoShape 7"/>
          <p:cNvSpPr/>
          <p:nvPr/>
        </p:nvSpPr>
        <p:spPr>
          <a:xfrm rot="3780">
            <a:off x="539105" y="1494854"/>
            <a:ext cx="17209780" cy="0"/>
          </a:xfrm>
          <a:prstGeom prst="line">
            <a:avLst/>
          </a:prstGeom>
          <a:ln w="9525" cap="rnd">
            <a:solidFill>
              <a:srgbClr val="BFBFBF"/>
            </a:solidFill>
            <a:prstDash val="solid"/>
            <a:headEnd type="none" w="sm" len="sm"/>
            <a:tailEnd type="none" w="sm" len="sm"/>
          </a:ln>
        </p:spPr>
        <p:txBody>
          <a:bodyPr/>
          <a:lstStyle/>
          <a:p>
            <a:endParaRPr lang="ko-KR" altLang="en-US"/>
          </a:p>
        </p:txBody>
      </p:sp>
      <p:grpSp>
        <p:nvGrpSpPr>
          <p:cNvPr id="8" name="Group 8"/>
          <p:cNvGrpSpPr/>
          <p:nvPr/>
        </p:nvGrpSpPr>
        <p:grpSpPr>
          <a:xfrm>
            <a:off x="17007840" y="219456"/>
            <a:ext cx="914400" cy="457200"/>
            <a:chOff x="0" y="0"/>
            <a:chExt cx="1219200" cy="609600"/>
          </a:xfrm>
        </p:grpSpPr>
        <p:sp>
          <p:nvSpPr>
            <p:cNvPr id="9" name="Freeform 9"/>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10" name="TextBox 10"/>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1A1A1A"/>
                  </a:solidFill>
                  <a:latin typeface="프리텐다드"/>
                  <a:ea typeface="프리텐다드"/>
                  <a:cs typeface="프리텐다드"/>
                  <a:sym typeface="프리텐다드"/>
                </a:rPr>
                <a:t>5</a:t>
              </a:r>
            </a:p>
          </p:txBody>
        </p:sp>
      </p:grpSp>
      <p:grpSp>
        <p:nvGrpSpPr>
          <p:cNvPr id="11" name="Group 11"/>
          <p:cNvGrpSpPr/>
          <p:nvPr/>
        </p:nvGrpSpPr>
        <p:grpSpPr>
          <a:xfrm>
            <a:off x="535943" y="1907543"/>
            <a:ext cx="647195" cy="647195"/>
            <a:chOff x="0" y="0"/>
            <a:chExt cx="862927" cy="862927"/>
          </a:xfrm>
        </p:grpSpPr>
        <p:sp>
          <p:nvSpPr>
            <p:cNvPr id="12" name="Freeform 12"/>
            <p:cNvSpPr/>
            <p:nvPr/>
          </p:nvSpPr>
          <p:spPr>
            <a:xfrm>
              <a:off x="0" y="0"/>
              <a:ext cx="862965" cy="862965"/>
            </a:xfrm>
            <a:custGeom>
              <a:avLst/>
              <a:gdLst/>
              <a:ahLst/>
              <a:cxnLst/>
              <a:rect l="l" t="t" r="r" b="b"/>
              <a:pathLst>
                <a:path w="862965" h="862965">
                  <a:moveTo>
                    <a:pt x="0" y="431419"/>
                  </a:moveTo>
                  <a:cubicBezTo>
                    <a:pt x="0" y="193167"/>
                    <a:pt x="193167" y="0"/>
                    <a:pt x="431419" y="0"/>
                  </a:cubicBezTo>
                  <a:cubicBezTo>
                    <a:pt x="669671" y="0"/>
                    <a:pt x="862965" y="193167"/>
                    <a:pt x="862965" y="431419"/>
                  </a:cubicBezTo>
                  <a:cubicBezTo>
                    <a:pt x="862965" y="669671"/>
                    <a:pt x="669798" y="862965"/>
                    <a:pt x="431419" y="862965"/>
                  </a:cubicBezTo>
                  <a:cubicBezTo>
                    <a:pt x="193040" y="862965"/>
                    <a:pt x="0" y="669798"/>
                    <a:pt x="0" y="431419"/>
                  </a:cubicBez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13" name="Group 13"/>
          <p:cNvGrpSpPr/>
          <p:nvPr/>
        </p:nvGrpSpPr>
        <p:grpSpPr>
          <a:xfrm>
            <a:off x="548640" y="1920240"/>
            <a:ext cx="621792" cy="621792"/>
            <a:chOff x="0" y="0"/>
            <a:chExt cx="829056" cy="829056"/>
          </a:xfrm>
        </p:grpSpPr>
        <p:sp>
          <p:nvSpPr>
            <p:cNvPr id="14" name="Freeform 14"/>
            <p:cNvSpPr/>
            <p:nvPr/>
          </p:nvSpPr>
          <p:spPr>
            <a:xfrm>
              <a:off x="0" y="0"/>
              <a:ext cx="829056" cy="829056"/>
            </a:xfrm>
            <a:custGeom>
              <a:avLst/>
              <a:gdLst/>
              <a:ahLst/>
              <a:cxnLst/>
              <a:rect l="l" t="t" r="r" b="b"/>
              <a:pathLst>
                <a:path w="829056" h="829056">
                  <a:moveTo>
                    <a:pt x="0" y="0"/>
                  </a:moveTo>
                  <a:lnTo>
                    <a:pt x="829056" y="0"/>
                  </a:lnTo>
                  <a:lnTo>
                    <a:pt x="829056" y="829056"/>
                  </a:lnTo>
                  <a:lnTo>
                    <a:pt x="0" y="829056"/>
                  </a:lnTo>
                  <a:close/>
                </a:path>
              </a:pathLst>
            </a:custGeom>
            <a:blipFill>
              <a:blip r:embed="rId3">
                <a:alphaModFix amt="0"/>
              </a:blip>
              <a:stretch>
                <a:fillRect l="-78303" r="-78303"/>
              </a:stretch>
            </a:blipFill>
          </p:spPr>
          <p:txBody>
            <a:bodyPr/>
            <a:lstStyle/>
            <a:p>
              <a:endParaRPr lang="ko-KR" altLang="en-US"/>
            </a:p>
          </p:txBody>
        </p:sp>
        <p:sp>
          <p:nvSpPr>
            <p:cNvPr id="15" name="TextBox 15"/>
            <p:cNvSpPr txBox="1"/>
            <p:nvPr/>
          </p:nvSpPr>
          <p:spPr>
            <a:xfrm>
              <a:off x="0" y="-9525"/>
              <a:ext cx="829056" cy="838581"/>
            </a:xfrm>
            <a:prstGeom prst="rect">
              <a:avLst/>
            </a:prstGeom>
          </p:spPr>
          <p:txBody>
            <a:bodyPr lIns="0" tIns="0" rIns="0" bIns="0" rtlCol="0" anchor="ctr"/>
            <a:lstStyle/>
            <a:p>
              <a:pPr algn="ctr">
                <a:lnSpc>
                  <a:spcPts val="2400"/>
                </a:lnSpc>
              </a:pPr>
              <a:r>
                <a:rPr lang="en-US" sz="2000" b="1">
                  <a:solidFill>
                    <a:srgbClr val="FFFFFF"/>
                  </a:solidFill>
                  <a:latin typeface="프리텐다드 Bold"/>
                  <a:ea typeface="프리텐다드 Bold"/>
                  <a:cs typeface="프리텐다드 Bold"/>
                  <a:sym typeface="프리텐다드 Bold"/>
                </a:rPr>
                <a:t>01</a:t>
              </a:r>
            </a:p>
          </p:txBody>
        </p:sp>
      </p:grpSp>
      <p:grpSp>
        <p:nvGrpSpPr>
          <p:cNvPr id="16" name="Group 16"/>
          <p:cNvGrpSpPr/>
          <p:nvPr/>
        </p:nvGrpSpPr>
        <p:grpSpPr>
          <a:xfrm>
            <a:off x="1371600" y="1866900"/>
            <a:ext cx="7315200" cy="621792"/>
            <a:chOff x="0" y="0"/>
            <a:chExt cx="9753600" cy="829056"/>
          </a:xfrm>
        </p:grpSpPr>
        <p:sp>
          <p:nvSpPr>
            <p:cNvPr id="17" name="Freeform 17"/>
            <p:cNvSpPr/>
            <p:nvPr/>
          </p:nvSpPr>
          <p:spPr>
            <a:xfrm>
              <a:off x="0" y="0"/>
              <a:ext cx="9753600" cy="829056"/>
            </a:xfrm>
            <a:custGeom>
              <a:avLst/>
              <a:gdLst/>
              <a:ahLst/>
              <a:cxnLst/>
              <a:rect l="l" t="t" r="r" b="b"/>
              <a:pathLst>
                <a:path w="9753600" h="829056">
                  <a:moveTo>
                    <a:pt x="0" y="0"/>
                  </a:moveTo>
                  <a:lnTo>
                    <a:pt x="9753600" y="0"/>
                  </a:lnTo>
                  <a:lnTo>
                    <a:pt x="9753600" y="829056"/>
                  </a:lnTo>
                  <a:lnTo>
                    <a:pt x="0" y="829056"/>
                  </a:lnTo>
                  <a:close/>
                </a:path>
              </a:pathLst>
            </a:custGeom>
            <a:blipFill>
              <a:blip r:embed="rId3">
                <a:alphaModFix amt="0"/>
              </a:blip>
              <a:stretch>
                <a:fillRect t="-179235" b="-179235"/>
              </a:stretch>
            </a:blipFill>
          </p:spPr>
          <p:txBody>
            <a:bodyPr/>
            <a:lstStyle/>
            <a:p>
              <a:endParaRPr lang="ko-KR" altLang="en-US"/>
            </a:p>
          </p:txBody>
        </p:sp>
        <p:sp>
          <p:nvSpPr>
            <p:cNvPr id="18" name="TextBox 18"/>
            <p:cNvSpPr txBox="1"/>
            <p:nvPr/>
          </p:nvSpPr>
          <p:spPr>
            <a:xfrm>
              <a:off x="0" y="-9525"/>
              <a:ext cx="9753600" cy="838581"/>
            </a:xfrm>
            <a:prstGeom prst="rect">
              <a:avLst/>
            </a:prstGeom>
          </p:spPr>
          <p:txBody>
            <a:bodyPr lIns="0" tIns="0" rIns="0" bIns="0" rtlCol="0" anchor="ctr"/>
            <a:lstStyle/>
            <a:p>
              <a:pPr algn="l">
                <a:lnSpc>
                  <a:spcPts val="3120"/>
                </a:lnSpc>
              </a:pPr>
              <a:r>
                <a:rPr lang="en-US" sz="2600" b="1" dirty="0" err="1">
                  <a:solidFill>
                    <a:srgbClr val="1A1A1A"/>
                  </a:solidFill>
                  <a:latin typeface="프리텐다드 Bold"/>
                  <a:ea typeface="프리텐다드 Bold"/>
                  <a:cs typeface="프리텐다드 Bold"/>
                  <a:sym typeface="프리텐다드 Bold"/>
                </a:rPr>
                <a:t>해석</a:t>
              </a:r>
              <a:r>
                <a:rPr lang="en-US" sz="2600" b="1" dirty="0">
                  <a:solidFill>
                    <a:srgbClr val="1A1A1A"/>
                  </a:solidFill>
                  <a:latin typeface="프리텐다드 Bold"/>
                  <a:ea typeface="프리텐다드 Bold"/>
                  <a:cs typeface="프리텐다드 Bold"/>
                  <a:sym typeface="프리텐다드 Bold"/>
                </a:rPr>
                <a:t> </a:t>
              </a:r>
              <a:r>
                <a:rPr lang="en-US" sz="2600" b="1" dirty="0" err="1">
                  <a:solidFill>
                    <a:srgbClr val="1A1A1A"/>
                  </a:solidFill>
                  <a:latin typeface="프리텐다드 Bold"/>
                  <a:ea typeface="프리텐다드 Bold"/>
                  <a:cs typeface="프리텐다드 Bold"/>
                  <a:sym typeface="프리텐다드 Bold"/>
                </a:rPr>
                <a:t>규칙을</a:t>
              </a:r>
              <a:r>
                <a:rPr lang="en-US" sz="2600" b="1" dirty="0">
                  <a:solidFill>
                    <a:srgbClr val="1A1A1A"/>
                  </a:solidFill>
                  <a:latin typeface="프리텐다드 Bold"/>
                  <a:ea typeface="프리텐다드 Bold"/>
                  <a:cs typeface="프리텐다드 Bold"/>
                  <a:sym typeface="프리텐다드 Bold"/>
                </a:rPr>
                <a:t> </a:t>
              </a:r>
              <a:r>
                <a:rPr lang="en-US" sz="2600" b="1" dirty="0" err="1">
                  <a:solidFill>
                    <a:srgbClr val="1A1A1A"/>
                  </a:solidFill>
                  <a:latin typeface="프리텐다드 Bold"/>
                  <a:ea typeface="프리텐다드 Bold"/>
                  <a:cs typeface="프리텐다드 Bold"/>
                  <a:sym typeface="프리텐다드 Bold"/>
                </a:rPr>
                <a:t>먼저</a:t>
              </a:r>
              <a:r>
                <a:rPr lang="en-US" sz="2600" b="1" dirty="0">
                  <a:solidFill>
                    <a:srgbClr val="1A1A1A"/>
                  </a:solidFill>
                  <a:latin typeface="프리텐다드 Bold"/>
                  <a:ea typeface="프리텐다드 Bold"/>
                  <a:cs typeface="프리텐다드 Bold"/>
                  <a:sym typeface="프리텐다드 Bold"/>
                </a:rPr>
                <a:t> </a:t>
              </a:r>
              <a:r>
                <a:rPr lang="en-US" sz="2600" b="1" dirty="0" err="1">
                  <a:solidFill>
                    <a:srgbClr val="1A1A1A"/>
                  </a:solidFill>
                  <a:latin typeface="프리텐다드 Bold"/>
                  <a:ea typeface="프리텐다드 Bold"/>
                  <a:cs typeface="프리텐다드 Bold"/>
                  <a:sym typeface="프리텐다드 Bold"/>
                </a:rPr>
                <a:t>문서로</a:t>
              </a:r>
              <a:r>
                <a:rPr lang="en-US" sz="2600" b="1" dirty="0">
                  <a:solidFill>
                    <a:srgbClr val="1A1A1A"/>
                  </a:solidFill>
                  <a:latin typeface="프리텐다드 Bold"/>
                  <a:ea typeface="프리텐다드 Bold"/>
                  <a:cs typeface="프리텐다드 Bold"/>
                  <a:sym typeface="프리텐다드 Bold"/>
                </a:rPr>
                <a:t> </a:t>
              </a:r>
              <a:r>
                <a:rPr lang="en-US" sz="2600" b="1" dirty="0" err="1">
                  <a:solidFill>
                    <a:srgbClr val="1A1A1A"/>
                  </a:solidFill>
                  <a:latin typeface="프리텐다드 Bold"/>
                  <a:ea typeface="프리텐다드 Bold"/>
                  <a:cs typeface="프리텐다드 Bold"/>
                  <a:sym typeface="프리텐다드 Bold"/>
                </a:rPr>
                <a:t>확정</a:t>
              </a:r>
              <a:endParaRPr lang="en-US" sz="2600" b="1" dirty="0">
                <a:solidFill>
                  <a:srgbClr val="1A1A1A"/>
                </a:solidFill>
                <a:latin typeface="프리텐다드 Bold"/>
                <a:ea typeface="프리텐다드 Bold"/>
                <a:cs typeface="프리텐다드 Bold"/>
                <a:sym typeface="프리텐다드 Bold"/>
              </a:endParaRPr>
            </a:p>
          </p:txBody>
        </p:sp>
      </p:grpSp>
      <p:sp>
        <p:nvSpPr>
          <p:cNvPr id="19" name="TextBox 19"/>
          <p:cNvSpPr txBox="1"/>
          <p:nvPr/>
        </p:nvSpPr>
        <p:spPr>
          <a:xfrm>
            <a:off x="1295400" y="2497455"/>
            <a:ext cx="6989064" cy="1000274"/>
          </a:xfrm>
          <a:prstGeom prst="rect">
            <a:avLst/>
          </a:prstGeom>
        </p:spPr>
        <p:txBody>
          <a:bodyPr wrap="square" lIns="0" tIns="0" rIns="0" bIns="0" rtlCol="0" anchor="t">
            <a:spAutoFit/>
          </a:bodyPr>
          <a:lstStyle/>
          <a:p>
            <a:pPr algn="l">
              <a:lnSpc>
                <a:spcPts val="2639"/>
              </a:lnSpc>
            </a:pP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라벨러는</a:t>
            </a: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포장에</a:t>
            </a: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찍힌</a:t>
            </a: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그대로만</a:t>
            </a: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입력</a:t>
            </a:r>
            <a:endParaRPr lang="en-US" sz="2199" dirty="0">
              <a:solidFill>
                <a:srgbClr val="6B6B6B"/>
              </a:solidFill>
              <a:latin typeface="프리텐다드"/>
              <a:ea typeface="프리텐다드"/>
              <a:cs typeface="프리텐다드"/>
              <a:sym typeface="프리텐다드"/>
            </a:endParaRPr>
          </a:p>
          <a:p>
            <a:pPr algn="l">
              <a:lnSpc>
                <a:spcPts val="2639"/>
              </a:lnSpc>
            </a:pP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해석</a:t>
            </a:r>
            <a:r>
              <a:rPr lang="en-US" sz="2199" dirty="0">
                <a:solidFill>
                  <a:srgbClr val="6B6B6B"/>
                </a:solidFill>
                <a:latin typeface="프리텐다드"/>
                <a:ea typeface="프리텐다드"/>
                <a:cs typeface="프리텐다드"/>
                <a:sym typeface="프리텐다드"/>
              </a:rPr>
              <a:t>(</a:t>
            </a:r>
            <a:r>
              <a:rPr lang="en-US" sz="2199" dirty="0" err="1">
                <a:solidFill>
                  <a:srgbClr val="6B6B6B"/>
                </a:solidFill>
                <a:latin typeface="프리텐다드"/>
                <a:ea typeface="프리텐다드"/>
                <a:cs typeface="프리텐다드"/>
                <a:sym typeface="프리텐다드"/>
              </a:rPr>
              <a:t>연·월·일</a:t>
            </a: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순서</a:t>
            </a:r>
            <a:r>
              <a:rPr lang="en-US" sz="2199" dirty="0">
                <a:solidFill>
                  <a:srgbClr val="6B6B6B"/>
                </a:solidFill>
                <a:latin typeface="프리텐다드"/>
                <a:ea typeface="프리텐다드"/>
                <a:cs typeface="프리텐다드"/>
                <a:sym typeface="프리텐다드"/>
              </a:rPr>
              <a:t>, 2자리 </a:t>
            </a:r>
            <a:r>
              <a:rPr lang="en-US" sz="2199" dirty="0" err="1">
                <a:solidFill>
                  <a:srgbClr val="6B6B6B"/>
                </a:solidFill>
                <a:latin typeface="프리텐다드"/>
                <a:ea typeface="프리텐다드"/>
                <a:cs typeface="프리텐다드"/>
                <a:sym typeface="프리텐다드"/>
              </a:rPr>
              <a:t>연도</a:t>
            </a:r>
            <a:r>
              <a:rPr lang="en-US" sz="2199" dirty="0">
                <a:solidFill>
                  <a:srgbClr val="6B6B6B"/>
                </a:solidFill>
                <a:latin typeface="프리텐다드"/>
                <a:ea typeface="프리텐다드"/>
                <a:cs typeface="프리텐다드"/>
                <a:sym typeface="프리텐다드"/>
              </a:rPr>
              <a:t>)은 </a:t>
            </a:r>
            <a:r>
              <a:rPr lang="en-US" sz="2199" dirty="0" err="1">
                <a:solidFill>
                  <a:srgbClr val="6B6B6B"/>
                </a:solidFill>
                <a:latin typeface="프리텐다드"/>
                <a:ea typeface="프리텐다드"/>
                <a:cs typeface="프리텐다드"/>
                <a:sym typeface="프리텐다드"/>
              </a:rPr>
              <a:t>도구가</a:t>
            </a: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규칙으로</a:t>
            </a: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처리</a:t>
            </a:r>
            <a:endParaRPr lang="en-US" sz="2199" dirty="0">
              <a:solidFill>
                <a:srgbClr val="6B6B6B"/>
              </a:solidFill>
              <a:latin typeface="프리텐다드"/>
              <a:ea typeface="프리텐다드"/>
              <a:cs typeface="프리텐다드"/>
              <a:sym typeface="프리텐다드"/>
            </a:endParaRPr>
          </a:p>
          <a:p>
            <a:pPr algn="l">
              <a:lnSpc>
                <a:spcPts val="2639"/>
              </a:lnSpc>
            </a:pPr>
            <a:r>
              <a:rPr lang="en-US" sz="2199" dirty="0">
                <a:solidFill>
                  <a:srgbClr val="6B6B6B"/>
                </a:solidFill>
                <a:latin typeface="프리텐다드"/>
                <a:ea typeface="프리텐다드"/>
                <a:cs typeface="프리텐다드"/>
                <a:sym typeface="프리텐다드"/>
              </a:rPr>
              <a:t>   → </a:t>
            </a:r>
            <a:r>
              <a:rPr lang="en-US" sz="2199" dirty="0" err="1">
                <a:solidFill>
                  <a:srgbClr val="6B6B6B"/>
                </a:solidFill>
                <a:latin typeface="프리텐다드"/>
                <a:ea typeface="프리텐다드"/>
                <a:cs typeface="프리텐다드"/>
                <a:sym typeface="프리텐다드"/>
              </a:rPr>
              <a:t>라벨과</a:t>
            </a: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모델이</a:t>
            </a:r>
            <a:r>
              <a:rPr lang="en-US" sz="2199" dirty="0">
                <a:solidFill>
                  <a:srgbClr val="6B6B6B"/>
                </a:solidFill>
                <a:latin typeface="프리텐다드"/>
                <a:ea typeface="프리텐다드"/>
                <a:cs typeface="프리텐다드"/>
                <a:sym typeface="프리텐다드"/>
              </a:rPr>
              <a:t> </a:t>
            </a:r>
            <a:r>
              <a:rPr lang="ko-KR" altLang="en-US" sz="2199" dirty="0">
                <a:solidFill>
                  <a:srgbClr val="6B6B6B"/>
                </a:solidFill>
                <a:latin typeface="프리텐다드"/>
                <a:ea typeface="프리텐다드"/>
                <a:cs typeface="프리텐다드"/>
                <a:sym typeface="프리텐다드"/>
              </a:rPr>
              <a:t>동일한 규칙 공유</a:t>
            </a:r>
            <a:endParaRPr lang="en-US" sz="2199" dirty="0">
              <a:solidFill>
                <a:srgbClr val="6B6B6B"/>
              </a:solidFill>
              <a:latin typeface="프리텐다드"/>
              <a:ea typeface="프리텐다드"/>
              <a:cs typeface="프리텐다드"/>
              <a:sym typeface="프리텐다드"/>
            </a:endParaRPr>
          </a:p>
        </p:txBody>
      </p:sp>
      <p:grpSp>
        <p:nvGrpSpPr>
          <p:cNvPr id="20" name="Group 20"/>
          <p:cNvGrpSpPr/>
          <p:nvPr/>
        </p:nvGrpSpPr>
        <p:grpSpPr>
          <a:xfrm>
            <a:off x="535943" y="4193543"/>
            <a:ext cx="647195" cy="647195"/>
            <a:chOff x="0" y="0"/>
            <a:chExt cx="862927" cy="862927"/>
          </a:xfrm>
        </p:grpSpPr>
        <p:sp>
          <p:nvSpPr>
            <p:cNvPr id="21" name="Freeform 21"/>
            <p:cNvSpPr/>
            <p:nvPr/>
          </p:nvSpPr>
          <p:spPr>
            <a:xfrm>
              <a:off x="0" y="0"/>
              <a:ext cx="862965" cy="862965"/>
            </a:xfrm>
            <a:custGeom>
              <a:avLst/>
              <a:gdLst/>
              <a:ahLst/>
              <a:cxnLst/>
              <a:rect l="l" t="t" r="r" b="b"/>
              <a:pathLst>
                <a:path w="862965" h="862965">
                  <a:moveTo>
                    <a:pt x="0" y="431419"/>
                  </a:moveTo>
                  <a:cubicBezTo>
                    <a:pt x="0" y="193167"/>
                    <a:pt x="193167" y="0"/>
                    <a:pt x="431419" y="0"/>
                  </a:cubicBezTo>
                  <a:cubicBezTo>
                    <a:pt x="669671" y="0"/>
                    <a:pt x="862965" y="193167"/>
                    <a:pt x="862965" y="431419"/>
                  </a:cubicBezTo>
                  <a:cubicBezTo>
                    <a:pt x="862965" y="669671"/>
                    <a:pt x="669798" y="862965"/>
                    <a:pt x="431419" y="862965"/>
                  </a:cubicBezTo>
                  <a:cubicBezTo>
                    <a:pt x="193040" y="862965"/>
                    <a:pt x="0" y="669798"/>
                    <a:pt x="0" y="431419"/>
                  </a:cubicBez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22" name="Group 22"/>
          <p:cNvGrpSpPr/>
          <p:nvPr/>
        </p:nvGrpSpPr>
        <p:grpSpPr>
          <a:xfrm>
            <a:off x="548640" y="4206240"/>
            <a:ext cx="621792" cy="621792"/>
            <a:chOff x="0" y="0"/>
            <a:chExt cx="829056" cy="829056"/>
          </a:xfrm>
        </p:grpSpPr>
        <p:sp>
          <p:nvSpPr>
            <p:cNvPr id="23" name="Freeform 23"/>
            <p:cNvSpPr/>
            <p:nvPr/>
          </p:nvSpPr>
          <p:spPr>
            <a:xfrm>
              <a:off x="0" y="0"/>
              <a:ext cx="829056" cy="829056"/>
            </a:xfrm>
            <a:custGeom>
              <a:avLst/>
              <a:gdLst/>
              <a:ahLst/>
              <a:cxnLst/>
              <a:rect l="l" t="t" r="r" b="b"/>
              <a:pathLst>
                <a:path w="829056" h="829056">
                  <a:moveTo>
                    <a:pt x="0" y="0"/>
                  </a:moveTo>
                  <a:lnTo>
                    <a:pt x="829056" y="0"/>
                  </a:lnTo>
                  <a:lnTo>
                    <a:pt x="829056" y="829056"/>
                  </a:lnTo>
                  <a:lnTo>
                    <a:pt x="0" y="829056"/>
                  </a:lnTo>
                  <a:close/>
                </a:path>
              </a:pathLst>
            </a:custGeom>
            <a:blipFill>
              <a:blip r:embed="rId3">
                <a:alphaModFix amt="0"/>
              </a:blip>
              <a:stretch>
                <a:fillRect l="-78303" r="-78303"/>
              </a:stretch>
            </a:blipFill>
          </p:spPr>
          <p:txBody>
            <a:bodyPr/>
            <a:lstStyle/>
            <a:p>
              <a:endParaRPr lang="ko-KR" altLang="en-US"/>
            </a:p>
          </p:txBody>
        </p:sp>
        <p:sp>
          <p:nvSpPr>
            <p:cNvPr id="24" name="TextBox 24"/>
            <p:cNvSpPr txBox="1"/>
            <p:nvPr/>
          </p:nvSpPr>
          <p:spPr>
            <a:xfrm>
              <a:off x="0" y="-9525"/>
              <a:ext cx="829056" cy="838581"/>
            </a:xfrm>
            <a:prstGeom prst="rect">
              <a:avLst/>
            </a:prstGeom>
          </p:spPr>
          <p:txBody>
            <a:bodyPr lIns="0" tIns="0" rIns="0" bIns="0" rtlCol="0" anchor="ctr"/>
            <a:lstStyle/>
            <a:p>
              <a:pPr algn="ctr">
                <a:lnSpc>
                  <a:spcPts val="2400"/>
                </a:lnSpc>
              </a:pPr>
              <a:r>
                <a:rPr lang="en-US" sz="2000" b="1">
                  <a:solidFill>
                    <a:srgbClr val="FFFFFF"/>
                  </a:solidFill>
                  <a:latin typeface="프리텐다드 Bold"/>
                  <a:ea typeface="프리텐다드 Bold"/>
                  <a:cs typeface="프리텐다드 Bold"/>
                  <a:sym typeface="프리텐다드 Bold"/>
                </a:rPr>
                <a:t>02</a:t>
              </a:r>
            </a:p>
          </p:txBody>
        </p:sp>
      </p:grpSp>
      <p:grpSp>
        <p:nvGrpSpPr>
          <p:cNvPr id="25" name="Group 25"/>
          <p:cNvGrpSpPr/>
          <p:nvPr/>
        </p:nvGrpSpPr>
        <p:grpSpPr>
          <a:xfrm>
            <a:off x="1371600" y="4152900"/>
            <a:ext cx="7315200" cy="621792"/>
            <a:chOff x="0" y="0"/>
            <a:chExt cx="9753600" cy="829056"/>
          </a:xfrm>
        </p:grpSpPr>
        <p:sp>
          <p:nvSpPr>
            <p:cNvPr id="26" name="Freeform 26"/>
            <p:cNvSpPr/>
            <p:nvPr/>
          </p:nvSpPr>
          <p:spPr>
            <a:xfrm>
              <a:off x="0" y="0"/>
              <a:ext cx="9753600" cy="829056"/>
            </a:xfrm>
            <a:custGeom>
              <a:avLst/>
              <a:gdLst/>
              <a:ahLst/>
              <a:cxnLst/>
              <a:rect l="l" t="t" r="r" b="b"/>
              <a:pathLst>
                <a:path w="9753600" h="829056">
                  <a:moveTo>
                    <a:pt x="0" y="0"/>
                  </a:moveTo>
                  <a:lnTo>
                    <a:pt x="9753600" y="0"/>
                  </a:lnTo>
                  <a:lnTo>
                    <a:pt x="9753600" y="829056"/>
                  </a:lnTo>
                  <a:lnTo>
                    <a:pt x="0" y="829056"/>
                  </a:lnTo>
                  <a:close/>
                </a:path>
              </a:pathLst>
            </a:custGeom>
            <a:blipFill>
              <a:blip r:embed="rId3">
                <a:alphaModFix amt="0"/>
              </a:blip>
              <a:stretch>
                <a:fillRect t="-179235" b="-179235"/>
              </a:stretch>
            </a:blipFill>
          </p:spPr>
          <p:txBody>
            <a:bodyPr/>
            <a:lstStyle/>
            <a:p>
              <a:endParaRPr lang="ko-KR" altLang="en-US"/>
            </a:p>
          </p:txBody>
        </p:sp>
        <p:sp>
          <p:nvSpPr>
            <p:cNvPr id="27" name="TextBox 27"/>
            <p:cNvSpPr txBox="1"/>
            <p:nvPr/>
          </p:nvSpPr>
          <p:spPr>
            <a:xfrm>
              <a:off x="0" y="-9525"/>
              <a:ext cx="9753600" cy="838581"/>
            </a:xfrm>
            <a:prstGeom prst="rect">
              <a:avLst/>
            </a:prstGeom>
          </p:spPr>
          <p:txBody>
            <a:bodyPr lIns="0" tIns="0" rIns="0" bIns="0" rtlCol="0" anchor="ctr"/>
            <a:lstStyle/>
            <a:p>
              <a:pPr algn="l">
                <a:lnSpc>
                  <a:spcPts val="3120"/>
                </a:lnSpc>
              </a:pPr>
              <a:r>
                <a:rPr lang="en-US" sz="2600" b="1" dirty="0">
                  <a:solidFill>
                    <a:srgbClr val="1A1A1A"/>
                  </a:solidFill>
                  <a:latin typeface="프리텐다드 Bold"/>
                  <a:ea typeface="프리텐다드 Bold"/>
                  <a:cs typeface="프리텐다드 Bold"/>
                  <a:sym typeface="프리텐다드 Bold"/>
                </a:rPr>
                <a:t>3,352장 </a:t>
              </a:r>
              <a:r>
                <a:rPr lang="en-US" sz="2600" b="1" dirty="0" err="1">
                  <a:solidFill>
                    <a:srgbClr val="1A1A1A"/>
                  </a:solidFill>
                  <a:latin typeface="프리텐다드 Bold"/>
                  <a:ea typeface="프리텐다드 Bold"/>
                  <a:cs typeface="프리텐다드 Bold"/>
                  <a:sym typeface="프리텐다드 Bold"/>
                </a:rPr>
                <a:t>전수</a:t>
              </a:r>
              <a:r>
                <a:rPr lang="en-US" sz="2600" b="1" dirty="0">
                  <a:solidFill>
                    <a:srgbClr val="1A1A1A"/>
                  </a:solidFill>
                  <a:latin typeface="프리텐다드 Bold"/>
                  <a:ea typeface="프리텐다드 Bold"/>
                  <a:cs typeface="프리텐다드 Bold"/>
                  <a:sym typeface="프리텐다드 Bold"/>
                </a:rPr>
                <a:t> </a:t>
              </a:r>
              <a:r>
                <a:rPr lang="en-US" sz="2600" b="1" dirty="0" err="1">
                  <a:solidFill>
                    <a:srgbClr val="1A1A1A"/>
                  </a:solidFill>
                  <a:latin typeface="프리텐다드 Bold"/>
                  <a:ea typeface="프리텐다드 Bold"/>
                  <a:cs typeface="프리텐다드 Bold"/>
                  <a:sym typeface="프리텐다드 Bold"/>
                </a:rPr>
                <a:t>직접</a:t>
              </a:r>
              <a:r>
                <a:rPr lang="en-US" sz="2600" b="1" dirty="0">
                  <a:solidFill>
                    <a:srgbClr val="1A1A1A"/>
                  </a:solidFill>
                  <a:latin typeface="프리텐다드 Bold"/>
                  <a:ea typeface="프리텐다드 Bold"/>
                  <a:cs typeface="프리텐다드 Bold"/>
                  <a:sym typeface="프리텐다드 Bold"/>
                </a:rPr>
                <a:t> </a:t>
              </a:r>
              <a:r>
                <a:rPr lang="en-US" sz="2600" b="1" dirty="0" err="1">
                  <a:solidFill>
                    <a:srgbClr val="1A1A1A"/>
                  </a:solidFill>
                  <a:latin typeface="프리텐다드 Bold"/>
                  <a:ea typeface="프리텐다드 Bold"/>
                  <a:cs typeface="프리텐다드 Bold"/>
                  <a:sym typeface="프리텐다드 Bold"/>
                </a:rPr>
                <a:t>라벨링</a:t>
              </a:r>
              <a:endParaRPr lang="en-US" sz="2600" b="1" dirty="0">
                <a:solidFill>
                  <a:srgbClr val="1A1A1A"/>
                </a:solidFill>
                <a:latin typeface="프리텐다드 Bold"/>
                <a:ea typeface="프리텐다드 Bold"/>
                <a:cs typeface="프리텐다드 Bold"/>
                <a:sym typeface="프리텐다드 Bold"/>
              </a:endParaRPr>
            </a:p>
          </p:txBody>
        </p:sp>
      </p:grpSp>
      <p:sp>
        <p:nvSpPr>
          <p:cNvPr id="28" name="TextBox 28"/>
          <p:cNvSpPr txBox="1"/>
          <p:nvPr/>
        </p:nvSpPr>
        <p:spPr>
          <a:xfrm>
            <a:off x="1295400" y="4783455"/>
            <a:ext cx="7315200" cy="676275"/>
          </a:xfrm>
          <a:prstGeom prst="rect">
            <a:avLst/>
          </a:prstGeom>
        </p:spPr>
        <p:txBody>
          <a:bodyPr lIns="0" tIns="0" rIns="0" bIns="0" rtlCol="0" anchor="t">
            <a:spAutoFit/>
          </a:bodyPr>
          <a:lstStyle/>
          <a:p>
            <a:pPr algn="l">
              <a:lnSpc>
                <a:spcPts val="2639"/>
              </a:lnSpc>
            </a:pPr>
            <a:r>
              <a:rPr lang="en-US" sz="2199" dirty="0">
                <a:solidFill>
                  <a:srgbClr val="6B6B6B"/>
                </a:solidFill>
                <a:latin typeface="프리텐다드"/>
                <a:ea typeface="프리텐다드"/>
                <a:cs typeface="프리텐다드"/>
                <a:sym typeface="프리텐다드"/>
              </a:rPr>
              <a:t>- 5명 </a:t>
            </a:r>
            <a:r>
              <a:rPr lang="en-US" sz="2199" dirty="0" err="1">
                <a:solidFill>
                  <a:srgbClr val="6B6B6B"/>
                </a:solidFill>
                <a:latin typeface="프리텐다드"/>
                <a:ea typeface="프리텐다드"/>
                <a:cs typeface="프리텐다드"/>
                <a:sym typeface="프리텐다드"/>
              </a:rPr>
              <a:t>분담</a:t>
            </a: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자체</a:t>
            </a: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제작</a:t>
            </a: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라벨링</a:t>
            </a: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도구</a:t>
            </a:r>
            <a:r>
              <a:rPr lang="en-US" sz="2199" dirty="0">
                <a:solidFill>
                  <a:srgbClr val="6B6B6B"/>
                </a:solidFill>
                <a:latin typeface="프리텐다드"/>
                <a:ea typeface="프리텐다드"/>
                <a:cs typeface="프리텐다드"/>
                <a:sym typeface="프리텐다드"/>
              </a:rPr>
              <a:t> </a:t>
            </a:r>
            <a:r>
              <a:rPr lang="ko-KR" altLang="en-US" sz="2199" dirty="0">
                <a:solidFill>
                  <a:srgbClr val="6B6B6B"/>
                </a:solidFill>
                <a:latin typeface="프리텐다드"/>
                <a:ea typeface="프리텐다드"/>
                <a:cs typeface="프리텐다드"/>
                <a:sym typeface="프리텐다드"/>
              </a:rPr>
              <a:t>활용</a:t>
            </a:r>
            <a:endParaRPr lang="en-US" sz="2199" dirty="0">
              <a:solidFill>
                <a:srgbClr val="6B6B6B"/>
              </a:solidFill>
              <a:latin typeface="프리텐다드"/>
              <a:ea typeface="프리텐다드"/>
              <a:cs typeface="프리텐다드"/>
              <a:sym typeface="프리텐다드"/>
            </a:endParaRPr>
          </a:p>
          <a:p>
            <a:pPr algn="l">
              <a:lnSpc>
                <a:spcPts val="2639"/>
              </a:lnSpc>
            </a:pP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오답</a:t>
            </a:r>
            <a:r>
              <a:rPr lang="en-US" sz="2199" dirty="0">
                <a:solidFill>
                  <a:srgbClr val="6B6B6B"/>
                </a:solidFill>
                <a:latin typeface="프리텐다드"/>
                <a:ea typeface="프리텐다드"/>
                <a:cs typeface="프리텐다드"/>
                <a:sym typeface="프리텐다드"/>
              </a:rPr>
              <a:t> 446장을 </a:t>
            </a:r>
            <a:r>
              <a:rPr lang="en-US" sz="2199" dirty="0" err="1">
                <a:solidFill>
                  <a:srgbClr val="6B6B6B"/>
                </a:solidFill>
                <a:latin typeface="프리텐다드"/>
                <a:ea typeface="프리텐다드"/>
                <a:cs typeface="프리텐다드"/>
                <a:sym typeface="프리텐다드"/>
              </a:rPr>
              <a:t>사람이</a:t>
            </a: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다시</a:t>
            </a: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보고</a:t>
            </a: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라벨</a:t>
            </a: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오류</a:t>
            </a: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수정</a:t>
            </a:r>
            <a:endParaRPr lang="en-US" sz="2199" dirty="0">
              <a:solidFill>
                <a:srgbClr val="6B6B6B"/>
              </a:solidFill>
              <a:latin typeface="프리텐다드"/>
              <a:ea typeface="프리텐다드"/>
              <a:cs typeface="프리텐다드"/>
              <a:sym typeface="프리텐다드"/>
            </a:endParaRPr>
          </a:p>
        </p:txBody>
      </p:sp>
      <p:grpSp>
        <p:nvGrpSpPr>
          <p:cNvPr id="29" name="Group 29"/>
          <p:cNvGrpSpPr/>
          <p:nvPr/>
        </p:nvGrpSpPr>
        <p:grpSpPr>
          <a:xfrm>
            <a:off x="535943" y="6296663"/>
            <a:ext cx="647195" cy="647195"/>
            <a:chOff x="0" y="0"/>
            <a:chExt cx="862927" cy="862927"/>
          </a:xfrm>
        </p:grpSpPr>
        <p:sp>
          <p:nvSpPr>
            <p:cNvPr id="30" name="Freeform 30"/>
            <p:cNvSpPr/>
            <p:nvPr/>
          </p:nvSpPr>
          <p:spPr>
            <a:xfrm>
              <a:off x="0" y="0"/>
              <a:ext cx="862965" cy="862965"/>
            </a:xfrm>
            <a:custGeom>
              <a:avLst/>
              <a:gdLst/>
              <a:ahLst/>
              <a:cxnLst/>
              <a:rect l="l" t="t" r="r" b="b"/>
              <a:pathLst>
                <a:path w="862965" h="862965">
                  <a:moveTo>
                    <a:pt x="0" y="431419"/>
                  </a:moveTo>
                  <a:cubicBezTo>
                    <a:pt x="0" y="193167"/>
                    <a:pt x="193167" y="0"/>
                    <a:pt x="431419" y="0"/>
                  </a:cubicBezTo>
                  <a:cubicBezTo>
                    <a:pt x="669671" y="0"/>
                    <a:pt x="862965" y="193167"/>
                    <a:pt x="862965" y="431419"/>
                  </a:cubicBezTo>
                  <a:cubicBezTo>
                    <a:pt x="862965" y="669671"/>
                    <a:pt x="669798" y="862965"/>
                    <a:pt x="431419" y="862965"/>
                  </a:cubicBezTo>
                  <a:cubicBezTo>
                    <a:pt x="193040" y="862965"/>
                    <a:pt x="0" y="669798"/>
                    <a:pt x="0" y="431419"/>
                  </a:cubicBez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31" name="Group 31"/>
          <p:cNvGrpSpPr/>
          <p:nvPr/>
        </p:nvGrpSpPr>
        <p:grpSpPr>
          <a:xfrm>
            <a:off x="548640" y="6309360"/>
            <a:ext cx="621792" cy="621792"/>
            <a:chOff x="0" y="0"/>
            <a:chExt cx="829056" cy="829056"/>
          </a:xfrm>
        </p:grpSpPr>
        <p:sp>
          <p:nvSpPr>
            <p:cNvPr id="32" name="Freeform 32"/>
            <p:cNvSpPr/>
            <p:nvPr/>
          </p:nvSpPr>
          <p:spPr>
            <a:xfrm>
              <a:off x="0" y="0"/>
              <a:ext cx="829056" cy="829056"/>
            </a:xfrm>
            <a:custGeom>
              <a:avLst/>
              <a:gdLst/>
              <a:ahLst/>
              <a:cxnLst/>
              <a:rect l="l" t="t" r="r" b="b"/>
              <a:pathLst>
                <a:path w="829056" h="829056">
                  <a:moveTo>
                    <a:pt x="0" y="0"/>
                  </a:moveTo>
                  <a:lnTo>
                    <a:pt x="829056" y="0"/>
                  </a:lnTo>
                  <a:lnTo>
                    <a:pt x="829056" y="829056"/>
                  </a:lnTo>
                  <a:lnTo>
                    <a:pt x="0" y="829056"/>
                  </a:lnTo>
                  <a:close/>
                </a:path>
              </a:pathLst>
            </a:custGeom>
            <a:blipFill>
              <a:blip r:embed="rId3">
                <a:alphaModFix amt="0"/>
              </a:blip>
              <a:stretch>
                <a:fillRect l="-78303" r="-78303"/>
              </a:stretch>
            </a:blipFill>
          </p:spPr>
          <p:txBody>
            <a:bodyPr/>
            <a:lstStyle/>
            <a:p>
              <a:endParaRPr lang="ko-KR" altLang="en-US"/>
            </a:p>
          </p:txBody>
        </p:sp>
        <p:sp>
          <p:nvSpPr>
            <p:cNvPr id="33" name="TextBox 33"/>
            <p:cNvSpPr txBox="1"/>
            <p:nvPr/>
          </p:nvSpPr>
          <p:spPr>
            <a:xfrm>
              <a:off x="0" y="-9525"/>
              <a:ext cx="829056" cy="838581"/>
            </a:xfrm>
            <a:prstGeom prst="rect">
              <a:avLst/>
            </a:prstGeom>
          </p:spPr>
          <p:txBody>
            <a:bodyPr lIns="0" tIns="0" rIns="0" bIns="0" rtlCol="0" anchor="ctr"/>
            <a:lstStyle/>
            <a:p>
              <a:pPr algn="ctr">
                <a:lnSpc>
                  <a:spcPts val="2400"/>
                </a:lnSpc>
              </a:pPr>
              <a:r>
                <a:rPr lang="en-US" sz="2000" b="1">
                  <a:solidFill>
                    <a:srgbClr val="FFFFFF"/>
                  </a:solidFill>
                  <a:latin typeface="프리텐다드 Bold"/>
                  <a:ea typeface="프리텐다드 Bold"/>
                  <a:cs typeface="프리텐다드 Bold"/>
                  <a:sym typeface="프리텐다드 Bold"/>
                </a:rPr>
                <a:t>03</a:t>
              </a:r>
            </a:p>
          </p:txBody>
        </p:sp>
      </p:grpSp>
      <p:grpSp>
        <p:nvGrpSpPr>
          <p:cNvPr id="34" name="Group 34"/>
          <p:cNvGrpSpPr/>
          <p:nvPr/>
        </p:nvGrpSpPr>
        <p:grpSpPr>
          <a:xfrm>
            <a:off x="1371600" y="6309360"/>
            <a:ext cx="7315200" cy="621792"/>
            <a:chOff x="0" y="0"/>
            <a:chExt cx="9753600" cy="829056"/>
          </a:xfrm>
        </p:grpSpPr>
        <p:sp>
          <p:nvSpPr>
            <p:cNvPr id="35" name="Freeform 35"/>
            <p:cNvSpPr/>
            <p:nvPr/>
          </p:nvSpPr>
          <p:spPr>
            <a:xfrm>
              <a:off x="0" y="0"/>
              <a:ext cx="9753600" cy="829056"/>
            </a:xfrm>
            <a:custGeom>
              <a:avLst/>
              <a:gdLst/>
              <a:ahLst/>
              <a:cxnLst/>
              <a:rect l="l" t="t" r="r" b="b"/>
              <a:pathLst>
                <a:path w="9753600" h="829056">
                  <a:moveTo>
                    <a:pt x="0" y="0"/>
                  </a:moveTo>
                  <a:lnTo>
                    <a:pt x="9753600" y="0"/>
                  </a:lnTo>
                  <a:lnTo>
                    <a:pt x="9753600" y="829056"/>
                  </a:lnTo>
                  <a:lnTo>
                    <a:pt x="0" y="829056"/>
                  </a:lnTo>
                  <a:close/>
                </a:path>
              </a:pathLst>
            </a:custGeom>
            <a:blipFill>
              <a:blip r:embed="rId3">
                <a:alphaModFix amt="0"/>
              </a:blip>
              <a:stretch>
                <a:fillRect t="-179235" b="-179235"/>
              </a:stretch>
            </a:blipFill>
          </p:spPr>
          <p:txBody>
            <a:bodyPr/>
            <a:lstStyle/>
            <a:p>
              <a:endParaRPr lang="ko-KR" altLang="en-US"/>
            </a:p>
          </p:txBody>
        </p:sp>
        <p:sp>
          <p:nvSpPr>
            <p:cNvPr id="36" name="TextBox 36"/>
            <p:cNvSpPr txBox="1"/>
            <p:nvPr/>
          </p:nvSpPr>
          <p:spPr>
            <a:xfrm>
              <a:off x="0" y="-9525"/>
              <a:ext cx="9753600" cy="838581"/>
            </a:xfrm>
            <a:prstGeom prst="rect">
              <a:avLst/>
            </a:prstGeom>
          </p:spPr>
          <p:txBody>
            <a:bodyPr lIns="0" tIns="0" rIns="0" bIns="0" rtlCol="0" anchor="ctr"/>
            <a:lstStyle/>
            <a:p>
              <a:pPr algn="l">
                <a:lnSpc>
                  <a:spcPts val="3120"/>
                </a:lnSpc>
              </a:pPr>
              <a:r>
                <a:rPr lang="en-US" sz="2600" b="1" dirty="0" err="1">
                  <a:solidFill>
                    <a:srgbClr val="1A1A1A"/>
                  </a:solidFill>
                  <a:latin typeface="프리텐다드 Bold"/>
                  <a:ea typeface="프리텐다드 Bold"/>
                  <a:cs typeface="프리텐다드 Bold"/>
                  <a:sym typeface="프리텐다드 Bold"/>
                </a:rPr>
                <a:t>약점</a:t>
              </a:r>
              <a:r>
                <a:rPr lang="en-US" sz="2600" b="1" dirty="0">
                  <a:solidFill>
                    <a:srgbClr val="1A1A1A"/>
                  </a:solidFill>
                  <a:latin typeface="프리텐다드 Bold"/>
                  <a:ea typeface="프리텐다드 Bold"/>
                  <a:cs typeface="프리텐다드 Bold"/>
                  <a:sym typeface="프리텐다드 Bold"/>
                </a:rPr>
                <a:t> </a:t>
              </a:r>
              <a:r>
                <a:rPr lang="en-US" sz="2600" b="1" dirty="0" err="1">
                  <a:solidFill>
                    <a:srgbClr val="1A1A1A"/>
                  </a:solidFill>
                  <a:latin typeface="프리텐다드 Bold"/>
                  <a:ea typeface="프리텐다드 Bold"/>
                  <a:cs typeface="프리텐다드 Bold"/>
                  <a:sym typeface="프리텐다드 Bold"/>
                </a:rPr>
                <a:t>유형만</a:t>
              </a:r>
              <a:r>
                <a:rPr lang="en-US" sz="2600" b="1" dirty="0">
                  <a:solidFill>
                    <a:srgbClr val="1A1A1A"/>
                  </a:solidFill>
                  <a:latin typeface="프리텐다드 Bold"/>
                  <a:ea typeface="프리텐다드 Bold"/>
                  <a:cs typeface="프리텐다드 Bold"/>
                  <a:sym typeface="프리텐다드 Bold"/>
                </a:rPr>
                <a:t> </a:t>
              </a:r>
              <a:r>
                <a:rPr lang="en-US" sz="2600" b="1" dirty="0" err="1">
                  <a:solidFill>
                    <a:srgbClr val="1A1A1A"/>
                  </a:solidFill>
                  <a:latin typeface="프리텐다드 Bold"/>
                  <a:ea typeface="프리텐다드 Bold"/>
                  <a:cs typeface="프리텐다드 Bold"/>
                  <a:sym typeface="프리텐다드 Bold"/>
                </a:rPr>
                <a:t>골라</a:t>
              </a:r>
              <a:r>
                <a:rPr lang="en-US" sz="2600" b="1" dirty="0">
                  <a:solidFill>
                    <a:srgbClr val="1A1A1A"/>
                  </a:solidFill>
                  <a:latin typeface="프리텐다드 Bold"/>
                  <a:ea typeface="프리텐다드 Bold"/>
                  <a:cs typeface="프리텐다드 Bold"/>
                  <a:sym typeface="프리텐다드 Bold"/>
                </a:rPr>
                <a:t> </a:t>
              </a:r>
              <a:r>
                <a:rPr lang="en-US" sz="2600" b="1" dirty="0" err="1">
                  <a:solidFill>
                    <a:srgbClr val="1A1A1A"/>
                  </a:solidFill>
                  <a:latin typeface="프리텐다드 Bold"/>
                  <a:ea typeface="프리텐다드 Bold"/>
                  <a:cs typeface="프리텐다드 Bold"/>
                  <a:sym typeface="프리텐다드 Bold"/>
                </a:rPr>
                <a:t>추가</a:t>
              </a:r>
              <a:r>
                <a:rPr lang="en-US" sz="2600" b="1" dirty="0">
                  <a:solidFill>
                    <a:srgbClr val="1A1A1A"/>
                  </a:solidFill>
                  <a:latin typeface="프리텐다드 Bold"/>
                  <a:ea typeface="프리텐다드 Bold"/>
                  <a:cs typeface="프리텐다드 Bold"/>
                  <a:sym typeface="프리텐다드 Bold"/>
                </a:rPr>
                <a:t> </a:t>
              </a:r>
              <a:r>
                <a:rPr lang="en-US" sz="2600" b="1" dirty="0" err="1">
                  <a:solidFill>
                    <a:srgbClr val="1A1A1A"/>
                  </a:solidFill>
                  <a:latin typeface="프리텐다드 Bold"/>
                  <a:ea typeface="프리텐다드 Bold"/>
                  <a:cs typeface="프리텐다드 Bold"/>
                  <a:sym typeface="프리텐다드 Bold"/>
                </a:rPr>
                <a:t>촬영</a:t>
              </a:r>
              <a:endParaRPr lang="en-US" sz="2600" b="1" dirty="0">
                <a:solidFill>
                  <a:srgbClr val="1A1A1A"/>
                </a:solidFill>
                <a:latin typeface="프리텐다드 Bold"/>
                <a:ea typeface="프리텐다드 Bold"/>
                <a:cs typeface="프리텐다드 Bold"/>
                <a:sym typeface="프리텐다드 Bold"/>
              </a:endParaRPr>
            </a:p>
          </p:txBody>
        </p:sp>
      </p:grpSp>
      <p:sp>
        <p:nvSpPr>
          <p:cNvPr id="37" name="TextBox 37"/>
          <p:cNvSpPr txBox="1"/>
          <p:nvPr/>
        </p:nvSpPr>
        <p:spPr>
          <a:xfrm>
            <a:off x="1316736" y="6939915"/>
            <a:ext cx="7315200" cy="676275"/>
          </a:xfrm>
          <a:prstGeom prst="rect">
            <a:avLst/>
          </a:prstGeom>
        </p:spPr>
        <p:txBody>
          <a:bodyPr lIns="0" tIns="0" rIns="0" bIns="0" rtlCol="0" anchor="t">
            <a:spAutoFit/>
          </a:bodyPr>
          <a:lstStyle/>
          <a:p>
            <a:pPr algn="l">
              <a:lnSpc>
                <a:spcPts val="2639"/>
              </a:lnSpc>
            </a:pP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도트</a:t>
            </a: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인쇄·각인·두</a:t>
            </a: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날짜</a:t>
            </a: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병기</a:t>
            </a: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위주</a:t>
            </a:r>
            <a:r>
              <a:rPr lang="ko-KR" altLang="en-US" sz="2199" dirty="0">
                <a:solidFill>
                  <a:srgbClr val="6B6B6B"/>
                </a:solidFill>
                <a:latin typeface="프리텐다드"/>
                <a:ea typeface="프리텐다드"/>
                <a:cs typeface="프리텐다드"/>
                <a:sym typeface="프리텐다드"/>
              </a:rPr>
              <a:t>의 </a:t>
            </a:r>
            <a:r>
              <a:rPr lang="en-US" sz="2199" dirty="0">
                <a:solidFill>
                  <a:srgbClr val="6B6B6B"/>
                </a:solidFill>
                <a:latin typeface="프리텐다드"/>
                <a:ea typeface="프리텐다드"/>
                <a:cs typeface="프리텐다드"/>
                <a:sym typeface="프리텐다드"/>
              </a:rPr>
              <a:t>389장 </a:t>
            </a:r>
            <a:r>
              <a:rPr lang="ko-KR" altLang="en-US" sz="2199" dirty="0">
                <a:solidFill>
                  <a:srgbClr val="6B6B6B"/>
                </a:solidFill>
                <a:latin typeface="프리텐다드"/>
                <a:ea typeface="프리텐다드"/>
                <a:cs typeface="프리텐다드"/>
                <a:sym typeface="프리텐다드"/>
              </a:rPr>
              <a:t>추가 </a:t>
            </a:r>
            <a:r>
              <a:rPr lang="en-US" sz="2199" dirty="0" err="1">
                <a:solidFill>
                  <a:srgbClr val="6B6B6B"/>
                </a:solidFill>
                <a:latin typeface="프리텐다드"/>
                <a:ea typeface="프리텐다드"/>
                <a:cs typeface="프리텐다드"/>
                <a:sym typeface="프리텐다드"/>
              </a:rPr>
              <a:t>촬영</a:t>
            </a:r>
            <a:r>
              <a:rPr lang="en-US" sz="2199" dirty="0">
                <a:solidFill>
                  <a:srgbClr val="6B6B6B"/>
                </a:solidFill>
                <a:latin typeface="프리텐다드"/>
                <a:ea typeface="프리텐다드"/>
                <a:cs typeface="프리텐다드"/>
                <a:sym typeface="프리텐다드"/>
              </a:rPr>
              <a:t> 및 </a:t>
            </a:r>
            <a:r>
              <a:rPr lang="en-US" sz="2199" dirty="0" err="1">
                <a:solidFill>
                  <a:srgbClr val="6B6B6B"/>
                </a:solidFill>
                <a:latin typeface="프리텐다드"/>
                <a:ea typeface="프리텐다드"/>
                <a:cs typeface="프리텐다드"/>
                <a:sym typeface="프리텐다드"/>
              </a:rPr>
              <a:t>라벨링</a:t>
            </a:r>
            <a:r>
              <a:rPr lang="en-US" sz="2199" dirty="0">
                <a:solidFill>
                  <a:srgbClr val="6B6B6B"/>
                </a:solidFill>
                <a:latin typeface="프리텐다드"/>
                <a:ea typeface="프리텐다드"/>
                <a:cs typeface="프리텐다드"/>
                <a:sym typeface="프리텐다드"/>
              </a:rPr>
              <a:t> </a:t>
            </a:r>
          </a:p>
          <a:p>
            <a:pPr algn="l">
              <a:lnSpc>
                <a:spcPts val="2639"/>
              </a:lnSpc>
            </a:pPr>
            <a:r>
              <a:rPr lang="en-US" sz="2199" dirty="0">
                <a:solidFill>
                  <a:srgbClr val="6B6B6B"/>
                </a:solidFill>
                <a:latin typeface="프리텐다드"/>
                <a:ea typeface="프리텐다드"/>
                <a:cs typeface="프리텐다드"/>
                <a:sym typeface="프리텐다드"/>
              </a:rPr>
              <a:t>- 한 </a:t>
            </a:r>
            <a:r>
              <a:rPr lang="en-US" sz="2199" dirty="0" err="1">
                <a:solidFill>
                  <a:srgbClr val="6B6B6B"/>
                </a:solidFill>
                <a:latin typeface="프리텐다드"/>
                <a:ea typeface="프리텐다드"/>
                <a:cs typeface="프리텐다드"/>
                <a:sym typeface="프리텐다드"/>
              </a:rPr>
              <a:t>번도</a:t>
            </a:r>
            <a:r>
              <a:rPr lang="en-US" sz="2199" dirty="0">
                <a:solidFill>
                  <a:srgbClr val="6B6B6B"/>
                </a:solidFill>
                <a:latin typeface="프리텐다드"/>
                <a:ea typeface="프리텐다드"/>
                <a:cs typeface="프리텐다드"/>
                <a:sym typeface="프리텐다드"/>
              </a:rPr>
              <a:t> 본 적 </a:t>
            </a:r>
            <a:r>
              <a:rPr lang="en-US" sz="2199" dirty="0" err="1">
                <a:solidFill>
                  <a:srgbClr val="6B6B6B"/>
                </a:solidFill>
                <a:latin typeface="프리텐다드"/>
                <a:ea typeface="프리텐다드"/>
                <a:cs typeface="프리텐다드"/>
                <a:sym typeface="프리텐다드"/>
              </a:rPr>
              <a:t>없는</a:t>
            </a: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시험지로</a:t>
            </a:r>
            <a:r>
              <a:rPr lang="en-US" sz="2199" dirty="0">
                <a:solidFill>
                  <a:srgbClr val="6B6B6B"/>
                </a:solidFill>
                <a:latin typeface="프리텐다드"/>
                <a:ea typeface="프리텐다드"/>
                <a:cs typeface="프리텐다드"/>
                <a:sym typeface="프리텐다드"/>
              </a:rPr>
              <a:t> </a:t>
            </a:r>
            <a:r>
              <a:rPr lang="en-US" sz="2199" dirty="0" err="1">
                <a:solidFill>
                  <a:srgbClr val="6B6B6B"/>
                </a:solidFill>
                <a:latin typeface="프리텐다드"/>
                <a:ea typeface="프리텐다드"/>
                <a:cs typeface="프리텐다드"/>
                <a:sym typeface="프리텐다드"/>
              </a:rPr>
              <a:t>사용</a:t>
            </a:r>
            <a:endParaRPr lang="en-US" sz="2199" dirty="0">
              <a:solidFill>
                <a:srgbClr val="6B6B6B"/>
              </a:solidFill>
              <a:latin typeface="프리텐다드"/>
              <a:ea typeface="프리텐다드"/>
              <a:cs typeface="프리텐다드"/>
              <a:sym typeface="프리텐다드"/>
            </a:endParaRPr>
          </a:p>
        </p:txBody>
      </p:sp>
      <p:grpSp>
        <p:nvGrpSpPr>
          <p:cNvPr id="38" name="Group 38"/>
          <p:cNvGrpSpPr/>
          <p:nvPr/>
        </p:nvGrpSpPr>
        <p:grpSpPr>
          <a:xfrm>
            <a:off x="9131303" y="1907543"/>
            <a:ext cx="8620763" cy="6426203"/>
            <a:chOff x="0" y="0"/>
            <a:chExt cx="11494351" cy="8568271"/>
          </a:xfrm>
        </p:grpSpPr>
        <p:sp>
          <p:nvSpPr>
            <p:cNvPr id="39" name="Freeform 39"/>
            <p:cNvSpPr/>
            <p:nvPr/>
          </p:nvSpPr>
          <p:spPr>
            <a:xfrm>
              <a:off x="0" y="0"/>
              <a:ext cx="11494262" cy="8568182"/>
            </a:xfrm>
            <a:custGeom>
              <a:avLst/>
              <a:gdLst/>
              <a:ahLst/>
              <a:cxnLst/>
              <a:rect l="l" t="t" r="r" b="b"/>
              <a:pathLst>
                <a:path w="11494262" h="8568182">
                  <a:moveTo>
                    <a:pt x="0" y="195834"/>
                  </a:moveTo>
                  <a:cubicBezTo>
                    <a:pt x="0" y="87757"/>
                    <a:pt x="87757" y="0"/>
                    <a:pt x="195834" y="0"/>
                  </a:cubicBezTo>
                  <a:lnTo>
                    <a:pt x="11298428" y="0"/>
                  </a:lnTo>
                  <a:cubicBezTo>
                    <a:pt x="11406632" y="0"/>
                    <a:pt x="11494262" y="87757"/>
                    <a:pt x="11494262" y="195834"/>
                  </a:cubicBezTo>
                  <a:lnTo>
                    <a:pt x="11494262" y="8372348"/>
                  </a:lnTo>
                  <a:cubicBezTo>
                    <a:pt x="11494262" y="8480552"/>
                    <a:pt x="11406505" y="8568182"/>
                    <a:pt x="11298428" y="8568182"/>
                  </a:cubicBezTo>
                  <a:lnTo>
                    <a:pt x="195834" y="8568182"/>
                  </a:lnTo>
                  <a:cubicBezTo>
                    <a:pt x="87757" y="8568309"/>
                    <a:pt x="0" y="8480552"/>
                    <a:pt x="0" y="8372348"/>
                  </a:cubicBezTo>
                  <a:close/>
                </a:path>
              </a:pathLst>
            </a:custGeom>
            <a:solidFill>
              <a:srgbClr val="F2F2F2"/>
            </a:solidFill>
            <a:ln w="25400" cap="sq">
              <a:solidFill>
                <a:srgbClr val="F2F2F2"/>
              </a:solidFill>
              <a:prstDash val="solid"/>
              <a:miter/>
            </a:ln>
          </p:spPr>
          <p:txBody>
            <a:bodyPr/>
            <a:lstStyle/>
            <a:p>
              <a:endParaRPr lang="ko-KR" altLang="en-US"/>
            </a:p>
          </p:txBody>
        </p:sp>
      </p:grpSp>
      <p:sp>
        <p:nvSpPr>
          <p:cNvPr id="40" name="TextBox 40"/>
          <p:cNvSpPr txBox="1"/>
          <p:nvPr/>
        </p:nvSpPr>
        <p:spPr>
          <a:xfrm>
            <a:off x="9509760" y="2231136"/>
            <a:ext cx="7863840" cy="371475"/>
          </a:xfrm>
          <a:prstGeom prst="rect">
            <a:avLst/>
          </a:prstGeom>
        </p:spPr>
        <p:txBody>
          <a:bodyPr lIns="0" tIns="0" rIns="0" bIns="0" rtlCol="0" anchor="t">
            <a:spAutoFit/>
          </a:bodyPr>
          <a:lstStyle/>
          <a:p>
            <a:pPr algn="l">
              <a:lnSpc>
                <a:spcPts val="2999"/>
              </a:lnSpc>
            </a:pPr>
            <a:r>
              <a:rPr lang="en-US" sz="2499" b="1">
                <a:solidFill>
                  <a:srgbClr val="1A1A1A"/>
                </a:solidFill>
                <a:latin typeface="프리텐다드 Bold"/>
                <a:ea typeface="프리텐다드 Bold"/>
                <a:cs typeface="프리텐다드 Bold"/>
                <a:sym typeface="프리텐다드 Bold"/>
              </a:rPr>
              <a:t>데이터 분리</a:t>
            </a:r>
          </a:p>
        </p:txBody>
      </p:sp>
      <p:grpSp>
        <p:nvGrpSpPr>
          <p:cNvPr id="41" name="Group 41"/>
          <p:cNvGrpSpPr/>
          <p:nvPr/>
        </p:nvGrpSpPr>
        <p:grpSpPr>
          <a:xfrm>
            <a:off x="9497063" y="2821943"/>
            <a:ext cx="1195835" cy="1031243"/>
            <a:chOff x="0" y="0"/>
            <a:chExt cx="1594447" cy="1374991"/>
          </a:xfrm>
        </p:grpSpPr>
        <p:sp>
          <p:nvSpPr>
            <p:cNvPr id="42" name="Freeform 42"/>
            <p:cNvSpPr/>
            <p:nvPr/>
          </p:nvSpPr>
          <p:spPr>
            <a:xfrm>
              <a:off x="0" y="0"/>
              <a:ext cx="1594485" cy="1375029"/>
            </a:xfrm>
            <a:custGeom>
              <a:avLst/>
              <a:gdLst/>
              <a:ahLst/>
              <a:cxnLst/>
              <a:rect l="l" t="t" r="r" b="b"/>
              <a:pathLst>
                <a:path w="1594485" h="1375029">
                  <a:moveTo>
                    <a:pt x="0" y="0"/>
                  </a:moveTo>
                  <a:lnTo>
                    <a:pt x="1594485" y="0"/>
                  </a:lnTo>
                  <a:lnTo>
                    <a:pt x="1594485" y="1375029"/>
                  </a:lnTo>
                  <a:lnTo>
                    <a:pt x="0" y="1375029"/>
                  </a:ln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43" name="Group 43"/>
          <p:cNvGrpSpPr/>
          <p:nvPr/>
        </p:nvGrpSpPr>
        <p:grpSpPr>
          <a:xfrm>
            <a:off x="10667495" y="2821943"/>
            <a:ext cx="6718811" cy="1031243"/>
            <a:chOff x="0" y="0"/>
            <a:chExt cx="8958415" cy="1374991"/>
          </a:xfrm>
        </p:grpSpPr>
        <p:sp>
          <p:nvSpPr>
            <p:cNvPr id="44" name="Freeform 44"/>
            <p:cNvSpPr/>
            <p:nvPr/>
          </p:nvSpPr>
          <p:spPr>
            <a:xfrm>
              <a:off x="0" y="0"/>
              <a:ext cx="8958453" cy="1375029"/>
            </a:xfrm>
            <a:custGeom>
              <a:avLst/>
              <a:gdLst/>
              <a:ahLst/>
              <a:cxnLst/>
              <a:rect l="l" t="t" r="r" b="b"/>
              <a:pathLst>
                <a:path w="8958453" h="1375029">
                  <a:moveTo>
                    <a:pt x="0" y="0"/>
                  </a:moveTo>
                  <a:lnTo>
                    <a:pt x="8958453" y="0"/>
                  </a:lnTo>
                  <a:lnTo>
                    <a:pt x="8958453" y="1375029"/>
                  </a:lnTo>
                  <a:lnTo>
                    <a:pt x="0" y="1375029"/>
                  </a:lnTo>
                  <a:close/>
                </a:path>
              </a:pathLst>
            </a:custGeom>
            <a:solidFill>
              <a:srgbClr val="BDBDBD"/>
            </a:solidFill>
            <a:ln w="25400" cap="sq">
              <a:solidFill>
                <a:srgbClr val="BDBDBD"/>
              </a:solidFill>
              <a:prstDash val="solid"/>
              <a:miter/>
            </a:ln>
          </p:spPr>
          <p:txBody>
            <a:bodyPr/>
            <a:lstStyle/>
            <a:p>
              <a:endParaRPr lang="ko-KR" altLang="en-US"/>
            </a:p>
          </p:txBody>
        </p:sp>
      </p:grpSp>
      <p:grpSp>
        <p:nvGrpSpPr>
          <p:cNvPr id="45" name="Group 45"/>
          <p:cNvGrpSpPr/>
          <p:nvPr/>
        </p:nvGrpSpPr>
        <p:grpSpPr>
          <a:xfrm>
            <a:off x="9509760" y="2834640"/>
            <a:ext cx="1170432" cy="1005840"/>
            <a:chOff x="0" y="0"/>
            <a:chExt cx="1560576" cy="1341120"/>
          </a:xfrm>
        </p:grpSpPr>
        <p:sp>
          <p:nvSpPr>
            <p:cNvPr id="46" name="Freeform 46"/>
            <p:cNvSpPr/>
            <p:nvPr/>
          </p:nvSpPr>
          <p:spPr>
            <a:xfrm>
              <a:off x="0" y="0"/>
              <a:ext cx="1560576" cy="1341120"/>
            </a:xfrm>
            <a:custGeom>
              <a:avLst/>
              <a:gdLst/>
              <a:ahLst/>
              <a:cxnLst/>
              <a:rect l="l" t="t" r="r" b="b"/>
              <a:pathLst>
                <a:path w="1560576" h="1341120">
                  <a:moveTo>
                    <a:pt x="0" y="0"/>
                  </a:moveTo>
                  <a:lnTo>
                    <a:pt x="1560576" y="0"/>
                  </a:lnTo>
                  <a:lnTo>
                    <a:pt x="1560576" y="1341120"/>
                  </a:lnTo>
                  <a:lnTo>
                    <a:pt x="0" y="1341120"/>
                  </a:lnTo>
                  <a:close/>
                </a:path>
              </a:pathLst>
            </a:custGeom>
            <a:blipFill>
              <a:blip r:embed="rId3">
                <a:alphaModFix amt="0"/>
              </a:blip>
              <a:stretch>
                <a:fillRect l="-60260" r="-60260"/>
              </a:stretch>
            </a:blipFill>
          </p:spPr>
          <p:txBody>
            <a:bodyPr/>
            <a:lstStyle/>
            <a:p>
              <a:endParaRPr lang="ko-KR" altLang="en-US"/>
            </a:p>
          </p:txBody>
        </p:sp>
        <p:sp>
          <p:nvSpPr>
            <p:cNvPr id="47" name="TextBox 47"/>
            <p:cNvSpPr txBox="1"/>
            <p:nvPr/>
          </p:nvSpPr>
          <p:spPr>
            <a:xfrm>
              <a:off x="0" y="-9525"/>
              <a:ext cx="1560576" cy="1350645"/>
            </a:xfrm>
            <a:prstGeom prst="rect">
              <a:avLst/>
            </a:prstGeom>
          </p:spPr>
          <p:txBody>
            <a:bodyPr lIns="0" tIns="0" rIns="0" bIns="0" rtlCol="0" anchor="ctr"/>
            <a:lstStyle/>
            <a:p>
              <a:pPr algn="ctr">
                <a:lnSpc>
                  <a:spcPts val="2879"/>
                </a:lnSpc>
              </a:pPr>
              <a:r>
                <a:rPr lang="en-US" sz="2400">
                  <a:solidFill>
                    <a:srgbClr val="FFFFFF"/>
                  </a:solidFill>
                  <a:latin typeface="프리텐다드"/>
                  <a:ea typeface="프리텐다드"/>
                  <a:cs typeface="프리텐다드"/>
                  <a:sym typeface="프리텐다드"/>
                </a:rPr>
                <a:t>500</a:t>
              </a:r>
            </a:p>
          </p:txBody>
        </p:sp>
      </p:grpSp>
      <p:grpSp>
        <p:nvGrpSpPr>
          <p:cNvPr id="48" name="Group 48"/>
          <p:cNvGrpSpPr/>
          <p:nvPr/>
        </p:nvGrpSpPr>
        <p:grpSpPr>
          <a:xfrm>
            <a:off x="10680192" y="2834640"/>
            <a:ext cx="6693408" cy="1005840"/>
            <a:chOff x="0" y="0"/>
            <a:chExt cx="8924544" cy="1341120"/>
          </a:xfrm>
        </p:grpSpPr>
        <p:sp>
          <p:nvSpPr>
            <p:cNvPr id="49" name="Freeform 49"/>
            <p:cNvSpPr/>
            <p:nvPr/>
          </p:nvSpPr>
          <p:spPr>
            <a:xfrm>
              <a:off x="0" y="0"/>
              <a:ext cx="8924544" cy="1341120"/>
            </a:xfrm>
            <a:custGeom>
              <a:avLst/>
              <a:gdLst/>
              <a:ahLst/>
              <a:cxnLst/>
              <a:rect l="l" t="t" r="r" b="b"/>
              <a:pathLst>
                <a:path w="8924544" h="1341120">
                  <a:moveTo>
                    <a:pt x="0" y="0"/>
                  </a:moveTo>
                  <a:lnTo>
                    <a:pt x="8924544" y="0"/>
                  </a:lnTo>
                  <a:lnTo>
                    <a:pt x="8924544" y="1341120"/>
                  </a:lnTo>
                  <a:lnTo>
                    <a:pt x="0" y="1341120"/>
                  </a:lnTo>
                  <a:close/>
                </a:path>
              </a:pathLst>
            </a:custGeom>
            <a:blipFill>
              <a:blip r:embed="rId3">
                <a:alphaModFix amt="0"/>
              </a:blip>
              <a:stretch>
                <a:fillRect t="-79664" b="-79664"/>
              </a:stretch>
            </a:blipFill>
          </p:spPr>
          <p:txBody>
            <a:bodyPr/>
            <a:lstStyle/>
            <a:p>
              <a:endParaRPr lang="ko-KR" altLang="en-US"/>
            </a:p>
          </p:txBody>
        </p:sp>
        <p:sp>
          <p:nvSpPr>
            <p:cNvPr id="50" name="TextBox 50"/>
            <p:cNvSpPr txBox="1"/>
            <p:nvPr/>
          </p:nvSpPr>
          <p:spPr>
            <a:xfrm>
              <a:off x="0" y="-9525"/>
              <a:ext cx="8924544" cy="1350645"/>
            </a:xfrm>
            <a:prstGeom prst="rect">
              <a:avLst/>
            </a:prstGeom>
          </p:spPr>
          <p:txBody>
            <a:bodyPr lIns="0" tIns="0" rIns="0" bIns="0" rtlCol="0" anchor="ctr"/>
            <a:lstStyle/>
            <a:p>
              <a:pPr algn="ctr">
                <a:lnSpc>
                  <a:spcPts val="2879"/>
                </a:lnSpc>
              </a:pPr>
              <a:r>
                <a:rPr lang="en-US" sz="2400">
                  <a:solidFill>
                    <a:srgbClr val="1A1A1A"/>
                  </a:solidFill>
                  <a:latin typeface="프리텐다드"/>
                  <a:ea typeface="프리텐다드"/>
                  <a:cs typeface="프리텐다드"/>
                  <a:sym typeface="프리텐다드"/>
                </a:rPr>
                <a:t>2,852</a:t>
              </a:r>
            </a:p>
          </p:txBody>
        </p:sp>
      </p:grpSp>
      <p:sp>
        <p:nvSpPr>
          <p:cNvPr id="51" name="TextBox 51"/>
          <p:cNvSpPr txBox="1"/>
          <p:nvPr/>
        </p:nvSpPr>
        <p:spPr>
          <a:xfrm>
            <a:off x="9509760" y="4013835"/>
            <a:ext cx="7863840" cy="342900"/>
          </a:xfrm>
          <a:prstGeom prst="rect">
            <a:avLst/>
          </a:prstGeom>
        </p:spPr>
        <p:txBody>
          <a:bodyPr lIns="0" tIns="0" rIns="0" bIns="0" rtlCol="0" anchor="t">
            <a:spAutoFit/>
          </a:bodyPr>
          <a:lstStyle/>
          <a:p>
            <a:pPr algn="l">
              <a:lnSpc>
                <a:spcPts val="2639"/>
              </a:lnSpc>
            </a:pPr>
            <a:r>
              <a:rPr lang="en-US" sz="2199" b="1" dirty="0" err="1">
                <a:solidFill>
                  <a:srgbClr val="8B0000"/>
                </a:solidFill>
                <a:latin typeface="프리텐다드 Bold"/>
                <a:ea typeface="프리텐다드 Bold"/>
                <a:cs typeface="프리텐다드 Bold"/>
                <a:sym typeface="프리텐다드 Bold"/>
              </a:rPr>
              <a:t>봉인</a:t>
            </a:r>
            <a:r>
              <a:rPr lang="en-US" sz="2199" b="1" dirty="0">
                <a:solidFill>
                  <a:srgbClr val="8B0000"/>
                </a:solidFill>
                <a:latin typeface="프리텐다드 Bold"/>
                <a:ea typeface="프리텐다드 Bold"/>
                <a:cs typeface="프리텐다드 Bold"/>
                <a:sym typeface="프리텐다드 Bold"/>
              </a:rPr>
              <a:t> 500장</a:t>
            </a:r>
            <a:r>
              <a:rPr lang="en-US"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학습·규칙</a:t>
            </a:r>
            <a:r>
              <a:rPr lang="en-US"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도출에</a:t>
            </a:r>
            <a:r>
              <a:rPr lang="en-US"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쓰지</a:t>
            </a:r>
            <a:r>
              <a:rPr lang="en-US" sz="2199" dirty="0">
                <a:solidFill>
                  <a:srgbClr val="1A1A1A"/>
                </a:solidFill>
                <a:latin typeface="프리텐다드"/>
                <a:ea typeface="프리텐다드"/>
                <a:cs typeface="프리텐다드"/>
                <a:sym typeface="프리텐다드"/>
              </a:rPr>
              <a:t> 않</a:t>
            </a:r>
            <a:r>
              <a:rPr lang="ko-KR" altLang="en-US" sz="2199" dirty="0">
                <a:solidFill>
                  <a:srgbClr val="1A1A1A"/>
                </a:solidFill>
                <a:latin typeface="프리텐다드"/>
                <a:ea typeface="프리텐다드"/>
                <a:cs typeface="프리텐다드"/>
                <a:sym typeface="프리텐다드"/>
              </a:rPr>
              <a:t>고 측정 전용으로 사용</a:t>
            </a:r>
            <a:endParaRPr lang="en-US" sz="2199" dirty="0">
              <a:solidFill>
                <a:srgbClr val="1A1A1A"/>
              </a:solidFill>
              <a:latin typeface="프리텐다드"/>
              <a:ea typeface="프리텐다드"/>
              <a:cs typeface="프리텐다드"/>
              <a:sym typeface="프리텐다드"/>
            </a:endParaRPr>
          </a:p>
        </p:txBody>
      </p:sp>
      <p:sp>
        <p:nvSpPr>
          <p:cNvPr id="52" name="TextBox 52"/>
          <p:cNvSpPr txBox="1"/>
          <p:nvPr/>
        </p:nvSpPr>
        <p:spPr>
          <a:xfrm>
            <a:off x="9509760" y="4447861"/>
            <a:ext cx="7863840" cy="342900"/>
          </a:xfrm>
          <a:prstGeom prst="rect">
            <a:avLst/>
          </a:prstGeom>
        </p:spPr>
        <p:txBody>
          <a:bodyPr lIns="0" tIns="0" rIns="0" bIns="0" rtlCol="0" anchor="t">
            <a:spAutoFit/>
          </a:bodyPr>
          <a:lstStyle/>
          <a:p>
            <a:pPr algn="l">
              <a:lnSpc>
                <a:spcPts val="2639"/>
              </a:lnSpc>
            </a:pPr>
            <a:r>
              <a:rPr lang="en-US" sz="2199" b="1">
                <a:solidFill>
                  <a:srgbClr val="8B0000"/>
                </a:solidFill>
                <a:latin typeface="프리텐다드 Bold"/>
                <a:ea typeface="프리텐다드 Bold"/>
                <a:cs typeface="프리텐다드 Bold"/>
                <a:sym typeface="프리텐다드 Bold"/>
              </a:rPr>
              <a:t>판정용 2,852장</a:t>
            </a:r>
            <a:r>
              <a:rPr lang="en-US" sz="2199">
                <a:solidFill>
                  <a:srgbClr val="1A1A1A"/>
                </a:solidFill>
                <a:latin typeface="프리텐다드"/>
                <a:ea typeface="프리텐다드"/>
                <a:cs typeface="프리텐다드"/>
                <a:sym typeface="프리텐다드"/>
              </a:rPr>
              <a:t>  모든 채택·기각 판정</a:t>
            </a:r>
          </a:p>
        </p:txBody>
      </p:sp>
      <p:sp>
        <p:nvSpPr>
          <p:cNvPr id="53" name="TextBox 53"/>
          <p:cNvSpPr txBox="1"/>
          <p:nvPr/>
        </p:nvSpPr>
        <p:spPr>
          <a:xfrm>
            <a:off x="9509760" y="5394960"/>
            <a:ext cx="7863840" cy="371475"/>
          </a:xfrm>
          <a:prstGeom prst="rect">
            <a:avLst/>
          </a:prstGeom>
        </p:spPr>
        <p:txBody>
          <a:bodyPr lIns="0" tIns="0" rIns="0" bIns="0" rtlCol="0" anchor="t">
            <a:spAutoFit/>
          </a:bodyPr>
          <a:lstStyle/>
          <a:p>
            <a:pPr algn="l">
              <a:lnSpc>
                <a:spcPts val="2999"/>
              </a:lnSpc>
            </a:pPr>
            <a:r>
              <a:rPr lang="en-US" sz="2499" b="1">
                <a:solidFill>
                  <a:srgbClr val="1A1A1A"/>
                </a:solidFill>
                <a:latin typeface="프리텐다드 Bold"/>
                <a:ea typeface="프리텐다드 Bold"/>
                <a:cs typeface="프리텐다드 Bold"/>
                <a:sym typeface="프리텐다드 Bold"/>
              </a:rPr>
              <a:t>채택 기준</a:t>
            </a:r>
          </a:p>
        </p:txBody>
      </p:sp>
      <p:sp>
        <p:nvSpPr>
          <p:cNvPr id="54" name="TextBox 54"/>
          <p:cNvSpPr txBox="1"/>
          <p:nvPr/>
        </p:nvSpPr>
        <p:spPr>
          <a:xfrm>
            <a:off x="9509760" y="5970651"/>
            <a:ext cx="7863840" cy="1009650"/>
          </a:xfrm>
          <a:prstGeom prst="rect">
            <a:avLst/>
          </a:prstGeom>
        </p:spPr>
        <p:txBody>
          <a:bodyPr lIns="0" tIns="0" rIns="0" bIns="0" rtlCol="0" anchor="t">
            <a:spAutoFit/>
          </a:bodyPr>
          <a:lstStyle/>
          <a:p>
            <a:pPr marL="530859" lvl="1" indent="-265430" algn="l">
              <a:lnSpc>
                <a:spcPts val="2639"/>
              </a:lnSpc>
              <a:buFont typeface="Arial"/>
              <a:buChar char="•"/>
            </a:pPr>
            <a:r>
              <a:rPr lang="en-US" sz="2199" dirty="0" err="1">
                <a:solidFill>
                  <a:srgbClr val="1A1A1A"/>
                </a:solidFill>
                <a:latin typeface="프리텐다드"/>
                <a:ea typeface="프리텐다드"/>
                <a:cs typeface="프리텐다드"/>
                <a:sym typeface="프리텐다드"/>
              </a:rPr>
              <a:t>새로</a:t>
            </a:r>
            <a:r>
              <a:rPr lang="en-US"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맞힌</a:t>
            </a:r>
            <a:r>
              <a:rPr lang="en-US" sz="2199" dirty="0">
                <a:solidFill>
                  <a:srgbClr val="1A1A1A"/>
                </a:solidFill>
                <a:latin typeface="프리텐다드"/>
                <a:ea typeface="프리텐다드"/>
                <a:cs typeface="프리텐다드"/>
                <a:sym typeface="프리텐다드"/>
              </a:rPr>
              <a:t> 장(</a:t>
            </a:r>
            <a:r>
              <a:rPr lang="en-US" sz="2199" dirty="0" err="1">
                <a:solidFill>
                  <a:srgbClr val="1A1A1A"/>
                </a:solidFill>
                <a:latin typeface="프리텐다드"/>
                <a:ea typeface="프리텐다드"/>
                <a:cs typeface="프리텐다드"/>
                <a:sym typeface="프리텐다드"/>
              </a:rPr>
              <a:t>회복</a:t>
            </a:r>
            <a:r>
              <a:rPr lang="en-US" sz="2199" dirty="0">
                <a:solidFill>
                  <a:srgbClr val="1A1A1A"/>
                </a:solidFill>
                <a:latin typeface="프리텐다드"/>
                <a:ea typeface="프리텐다드"/>
                <a:cs typeface="프리텐다드"/>
                <a:sym typeface="프리텐다드"/>
              </a:rPr>
              <a:t>)과 </a:t>
            </a:r>
            <a:r>
              <a:rPr lang="en-US" sz="2199" dirty="0" err="1">
                <a:solidFill>
                  <a:srgbClr val="1A1A1A"/>
                </a:solidFill>
                <a:latin typeface="프리텐다드"/>
                <a:ea typeface="프리텐다드"/>
                <a:cs typeface="프리텐다드"/>
                <a:sym typeface="프리텐다드"/>
              </a:rPr>
              <a:t>새로</a:t>
            </a:r>
            <a:r>
              <a:rPr lang="en-US"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틀린</a:t>
            </a:r>
            <a:r>
              <a:rPr lang="en-US" sz="2199" dirty="0">
                <a:solidFill>
                  <a:srgbClr val="1A1A1A"/>
                </a:solidFill>
                <a:latin typeface="프리텐다드"/>
                <a:ea typeface="프리텐다드"/>
                <a:cs typeface="프리텐다드"/>
                <a:sym typeface="프리텐다드"/>
              </a:rPr>
              <a:t> 장(</a:t>
            </a:r>
            <a:r>
              <a:rPr lang="en-US" sz="2199" dirty="0" err="1">
                <a:solidFill>
                  <a:srgbClr val="1A1A1A"/>
                </a:solidFill>
                <a:latin typeface="프리텐다드"/>
                <a:ea typeface="프리텐다드"/>
                <a:cs typeface="프리텐다드"/>
                <a:sym typeface="프리텐다드"/>
              </a:rPr>
              <a:t>퇴보</a:t>
            </a:r>
            <a:r>
              <a:rPr lang="en-US" sz="2199" dirty="0">
                <a:solidFill>
                  <a:srgbClr val="1A1A1A"/>
                </a:solidFill>
                <a:latin typeface="프리텐다드"/>
                <a:ea typeface="프리텐다드"/>
                <a:cs typeface="프리텐다드"/>
                <a:sym typeface="프리텐다드"/>
              </a:rPr>
              <a:t>)을 </a:t>
            </a:r>
            <a:r>
              <a:rPr lang="ko-KR" altLang="en-US" sz="2199" dirty="0">
                <a:solidFill>
                  <a:srgbClr val="1A1A1A"/>
                </a:solidFill>
                <a:latin typeface="프리텐다드"/>
                <a:ea typeface="프리텐다드"/>
                <a:cs typeface="프리텐다드"/>
                <a:sym typeface="프리텐다드"/>
              </a:rPr>
              <a:t>각각 산정</a:t>
            </a:r>
            <a:endParaRPr lang="en-US" sz="2199" dirty="0">
              <a:solidFill>
                <a:srgbClr val="1A1A1A"/>
              </a:solidFill>
              <a:latin typeface="프리텐다드"/>
              <a:ea typeface="프리텐다드"/>
              <a:cs typeface="프리텐다드"/>
              <a:sym typeface="프리텐다드"/>
            </a:endParaRPr>
          </a:p>
          <a:p>
            <a:pPr marL="530859" lvl="1" indent="-265430" algn="l">
              <a:lnSpc>
                <a:spcPts val="2639"/>
              </a:lnSpc>
              <a:buFont typeface="Arial"/>
              <a:buChar char="•"/>
            </a:pPr>
            <a:r>
              <a:rPr lang="en-US" sz="2199" dirty="0" err="1">
                <a:solidFill>
                  <a:srgbClr val="1A1A1A"/>
                </a:solidFill>
                <a:latin typeface="프리텐다드"/>
                <a:ea typeface="프리텐다드"/>
                <a:cs typeface="프리텐다드"/>
                <a:sym typeface="프리텐다드"/>
              </a:rPr>
              <a:t>퇴보가</a:t>
            </a:r>
            <a:r>
              <a:rPr lang="en-US"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회복의</a:t>
            </a:r>
            <a:r>
              <a:rPr lang="en-US" sz="2199" dirty="0">
                <a:solidFill>
                  <a:srgbClr val="1A1A1A"/>
                </a:solidFill>
                <a:latin typeface="프리텐다드"/>
                <a:ea typeface="프리텐다드"/>
                <a:cs typeface="프리텐다드"/>
                <a:sym typeface="프리텐다드"/>
              </a:rPr>
              <a:t> 1/3을 </a:t>
            </a:r>
            <a:r>
              <a:rPr lang="en-US" sz="2199" dirty="0" err="1">
                <a:solidFill>
                  <a:srgbClr val="1A1A1A"/>
                </a:solidFill>
                <a:latin typeface="프리텐다드"/>
                <a:ea typeface="프리텐다드"/>
                <a:cs typeface="프리텐다드"/>
                <a:sym typeface="프리텐다드"/>
              </a:rPr>
              <a:t>넘으면</a:t>
            </a:r>
            <a:r>
              <a:rPr lang="en-US"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점수가</a:t>
            </a:r>
            <a:r>
              <a:rPr lang="en-US"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올라도</a:t>
            </a:r>
            <a:r>
              <a:rPr lang="en-US"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기각</a:t>
            </a:r>
            <a:endParaRPr lang="en-US" sz="2199" dirty="0">
              <a:solidFill>
                <a:srgbClr val="1A1A1A"/>
              </a:solidFill>
              <a:latin typeface="프리텐다드"/>
              <a:ea typeface="프리텐다드"/>
              <a:cs typeface="프리텐다드"/>
              <a:sym typeface="프리텐다드"/>
            </a:endParaRPr>
          </a:p>
          <a:p>
            <a:pPr marL="530859" lvl="1" indent="-265430" algn="l">
              <a:lnSpc>
                <a:spcPts val="2639"/>
              </a:lnSpc>
              <a:buFont typeface="Arial"/>
              <a:buChar char="•"/>
            </a:pPr>
            <a:r>
              <a:rPr lang="en-US" sz="2199" dirty="0">
                <a:solidFill>
                  <a:srgbClr val="1A1A1A"/>
                </a:solidFill>
                <a:latin typeface="프리텐다드"/>
                <a:ea typeface="프리텐다드"/>
                <a:cs typeface="프리텐다드"/>
                <a:sym typeface="프리텐다드"/>
              </a:rPr>
              <a:t>±1%p는 </a:t>
            </a:r>
            <a:r>
              <a:rPr lang="en-US" sz="2199" dirty="0" err="1">
                <a:solidFill>
                  <a:srgbClr val="1A1A1A"/>
                </a:solidFill>
                <a:latin typeface="프리텐다드"/>
                <a:ea typeface="프리텐다드"/>
                <a:cs typeface="프리텐다드"/>
                <a:sym typeface="프리텐다드"/>
              </a:rPr>
              <a:t>잡음으로</a:t>
            </a:r>
            <a:r>
              <a:rPr lang="en-US"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보고</a:t>
            </a:r>
            <a:r>
              <a:rPr lang="en-US"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근거로</a:t>
            </a:r>
            <a:r>
              <a:rPr lang="en-US" sz="2199" dirty="0">
                <a:solidFill>
                  <a:srgbClr val="1A1A1A"/>
                </a:solidFill>
                <a:latin typeface="프리텐다드"/>
                <a:ea typeface="프리텐다드"/>
                <a:cs typeface="프리텐다드"/>
                <a:sym typeface="프리텐다드"/>
              </a:rPr>
              <a:t> </a:t>
            </a:r>
            <a:r>
              <a:rPr lang="ko-KR" altLang="en-US" sz="2199" dirty="0">
                <a:solidFill>
                  <a:srgbClr val="1A1A1A"/>
                </a:solidFill>
                <a:latin typeface="프리텐다드"/>
                <a:ea typeface="프리텐다드"/>
                <a:cs typeface="프리텐다드"/>
                <a:sym typeface="프리텐다드"/>
              </a:rPr>
              <a:t>사용하지 않음</a:t>
            </a:r>
            <a:endParaRPr lang="en-US" sz="2199" dirty="0">
              <a:solidFill>
                <a:srgbClr val="1A1A1A"/>
              </a:solidFill>
              <a:latin typeface="프리텐다드"/>
              <a:ea typeface="프리텐다드"/>
              <a:cs typeface="프리텐다드"/>
              <a:sym typeface="프리텐다드"/>
            </a:endParaRPr>
          </a:p>
        </p:txBody>
      </p:sp>
      <p:grpSp>
        <p:nvGrpSpPr>
          <p:cNvPr id="55" name="Group 55"/>
          <p:cNvGrpSpPr/>
          <p:nvPr/>
        </p:nvGrpSpPr>
        <p:grpSpPr>
          <a:xfrm>
            <a:off x="535943" y="8674103"/>
            <a:ext cx="17216123" cy="793499"/>
            <a:chOff x="0" y="0"/>
            <a:chExt cx="22954831" cy="1057999"/>
          </a:xfrm>
        </p:grpSpPr>
        <p:sp>
          <p:nvSpPr>
            <p:cNvPr id="56" name="Freeform 56"/>
            <p:cNvSpPr/>
            <p:nvPr/>
          </p:nvSpPr>
          <p:spPr>
            <a:xfrm>
              <a:off x="0" y="0"/>
              <a:ext cx="22954869" cy="1058037"/>
            </a:xfrm>
            <a:custGeom>
              <a:avLst/>
              <a:gdLst/>
              <a:ahLst/>
              <a:cxnLst/>
              <a:rect l="l" t="t" r="r" b="b"/>
              <a:pathLst>
                <a:path w="22954869" h="1058037">
                  <a:moveTo>
                    <a:pt x="0" y="201549"/>
                  </a:moveTo>
                  <a:cubicBezTo>
                    <a:pt x="0" y="90170"/>
                    <a:pt x="90170" y="0"/>
                    <a:pt x="201549" y="0"/>
                  </a:cubicBezTo>
                  <a:lnTo>
                    <a:pt x="22753320" y="0"/>
                  </a:lnTo>
                  <a:cubicBezTo>
                    <a:pt x="22864572" y="0"/>
                    <a:pt x="22954869" y="90170"/>
                    <a:pt x="22954869" y="201549"/>
                  </a:cubicBezTo>
                  <a:lnTo>
                    <a:pt x="22954869" y="856488"/>
                  </a:lnTo>
                  <a:cubicBezTo>
                    <a:pt x="22954869" y="967740"/>
                    <a:pt x="22864699" y="1058037"/>
                    <a:pt x="22753320" y="1058037"/>
                  </a:cubicBezTo>
                  <a:lnTo>
                    <a:pt x="201549" y="1058037"/>
                  </a:lnTo>
                  <a:cubicBezTo>
                    <a:pt x="90170" y="1058037"/>
                    <a:pt x="0" y="967740"/>
                    <a:pt x="0" y="856488"/>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57" name="Group 57"/>
          <p:cNvGrpSpPr/>
          <p:nvPr/>
        </p:nvGrpSpPr>
        <p:grpSpPr>
          <a:xfrm>
            <a:off x="822960" y="8686800"/>
            <a:ext cx="16642080" cy="768096"/>
            <a:chOff x="0" y="0"/>
            <a:chExt cx="22189440" cy="1024128"/>
          </a:xfrm>
        </p:grpSpPr>
        <p:sp>
          <p:nvSpPr>
            <p:cNvPr id="58" name="Freeform 58"/>
            <p:cNvSpPr/>
            <p:nvPr/>
          </p:nvSpPr>
          <p:spPr>
            <a:xfrm>
              <a:off x="0" y="0"/>
              <a:ext cx="22189439" cy="1024128"/>
            </a:xfrm>
            <a:custGeom>
              <a:avLst/>
              <a:gdLst/>
              <a:ahLst/>
              <a:cxnLst/>
              <a:rect l="l" t="t" r="r" b="b"/>
              <a:pathLst>
                <a:path w="22189439" h="1024128">
                  <a:moveTo>
                    <a:pt x="0" y="0"/>
                  </a:moveTo>
                  <a:lnTo>
                    <a:pt x="22189439" y="0"/>
                  </a:lnTo>
                  <a:lnTo>
                    <a:pt x="22189439" y="1024128"/>
                  </a:lnTo>
                  <a:lnTo>
                    <a:pt x="0" y="1024128"/>
                  </a:lnTo>
                  <a:close/>
                </a:path>
              </a:pathLst>
            </a:custGeom>
            <a:blipFill>
              <a:blip r:embed="rId3">
                <a:alphaModFix amt="0"/>
              </a:blip>
              <a:stretch>
                <a:fillRect t="-372175" b="-372175"/>
              </a:stretch>
            </a:blipFill>
          </p:spPr>
          <p:txBody>
            <a:bodyPr/>
            <a:lstStyle/>
            <a:p>
              <a:endParaRPr lang="ko-KR" altLang="en-US"/>
            </a:p>
          </p:txBody>
        </p:sp>
        <p:sp>
          <p:nvSpPr>
            <p:cNvPr id="59" name="TextBox 59"/>
            <p:cNvSpPr txBox="1"/>
            <p:nvPr/>
          </p:nvSpPr>
          <p:spPr>
            <a:xfrm>
              <a:off x="0" y="0"/>
              <a:ext cx="22189440" cy="1024128"/>
            </a:xfrm>
            <a:prstGeom prst="rect">
              <a:avLst/>
            </a:prstGeom>
          </p:spPr>
          <p:txBody>
            <a:bodyPr lIns="0" tIns="0" rIns="0" bIns="0" rtlCol="0" anchor="ctr"/>
            <a:lstStyle/>
            <a:p>
              <a:pPr algn="ctr">
                <a:lnSpc>
                  <a:spcPts val="2999"/>
                </a:lnSpc>
              </a:pPr>
              <a:r>
                <a:rPr lang="en-US" sz="2499" dirty="0" err="1">
                  <a:solidFill>
                    <a:srgbClr val="1A1A1A"/>
                  </a:solidFill>
                  <a:latin typeface="프리텐다드"/>
                  <a:ea typeface="프리텐다드"/>
                  <a:cs typeface="프리텐다드"/>
                  <a:sym typeface="프리텐다드"/>
                </a:rPr>
                <a:t>정답</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라벨도</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검증</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대상</a:t>
              </a:r>
              <a:r>
                <a:rPr lang="en-US" sz="2499" dirty="0">
                  <a:solidFill>
                    <a:srgbClr val="1A1A1A"/>
                  </a:solidFill>
                  <a:latin typeface="프리텐다드"/>
                  <a:ea typeface="프리텐다드"/>
                  <a:cs typeface="프리텐다드"/>
                  <a:sym typeface="프리텐다드"/>
                </a:rPr>
                <a:t> : </a:t>
              </a:r>
              <a:r>
                <a:rPr lang="en-US" sz="2499" dirty="0" err="1">
                  <a:solidFill>
                    <a:srgbClr val="1A1A1A"/>
                  </a:solidFill>
                  <a:latin typeface="프리텐다드"/>
                  <a:ea typeface="프리텐다드"/>
                  <a:cs typeface="프리텐다드"/>
                  <a:sym typeface="프리텐다드"/>
                </a:rPr>
                <a:t>고친</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라벨</a:t>
              </a:r>
              <a:r>
                <a:rPr lang="en-US" sz="2499" dirty="0">
                  <a:solidFill>
                    <a:srgbClr val="1A1A1A"/>
                  </a:solidFill>
                  <a:latin typeface="프리텐다드"/>
                  <a:ea typeface="프리텐다드"/>
                  <a:cs typeface="프리텐다드"/>
                  <a:sym typeface="프리텐다드"/>
                </a:rPr>
                <a:t> 16장 중 </a:t>
              </a:r>
              <a:r>
                <a:rPr lang="en-US" sz="2499" b="1" dirty="0">
                  <a:solidFill>
                    <a:srgbClr val="8B0000"/>
                  </a:solidFill>
                  <a:latin typeface="프리텐다드 Bold"/>
                  <a:ea typeface="프리텐다드 Bold"/>
                  <a:cs typeface="프리텐다드 Bold"/>
                  <a:sym typeface="프리텐다드 Bold"/>
                </a:rPr>
                <a:t>11장은 </a:t>
              </a:r>
              <a:r>
                <a:rPr lang="en-US" sz="2499" b="1" dirty="0" err="1">
                  <a:solidFill>
                    <a:srgbClr val="8B0000"/>
                  </a:solidFill>
                  <a:latin typeface="프리텐다드 Bold"/>
                  <a:ea typeface="프리텐다드 Bold"/>
                  <a:cs typeface="프리텐다드 Bold"/>
                  <a:sym typeface="프리텐다드 Bold"/>
                </a:rPr>
                <a:t>모델이</a:t>
              </a:r>
              <a:r>
                <a:rPr lang="en-US" sz="2499" b="1" dirty="0">
                  <a:solidFill>
                    <a:srgbClr val="8B0000"/>
                  </a:solidFill>
                  <a:latin typeface="프리텐다드 Bold"/>
                  <a:ea typeface="프리텐다드 Bold"/>
                  <a:cs typeface="프리텐다드 Bold"/>
                  <a:sym typeface="프리텐다드 Bold"/>
                </a:rPr>
                <a:t> </a:t>
              </a:r>
              <a:r>
                <a:rPr lang="en-US" sz="2499" b="1" dirty="0" err="1">
                  <a:solidFill>
                    <a:srgbClr val="8B0000"/>
                  </a:solidFill>
                  <a:latin typeface="프리텐다드 Bold"/>
                  <a:ea typeface="프리텐다드 Bold"/>
                  <a:cs typeface="프리텐다드 Bold"/>
                  <a:sym typeface="프리텐다드 Bold"/>
                </a:rPr>
                <a:t>맞은</a:t>
              </a:r>
              <a:r>
                <a:rPr lang="en-US" sz="2499" b="1" dirty="0">
                  <a:solidFill>
                    <a:srgbClr val="8B0000"/>
                  </a:solidFill>
                  <a:latin typeface="프리텐다드 Bold"/>
                  <a:ea typeface="프리텐다드 Bold"/>
                  <a:cs typeface="프리텐다드 Bold"/>
                  <a:sym typeface="프리텐다드 Bold"/>
                </a:rPr>
                <a:t> 쪽</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이었습니다</a:t>
              </a:r>
              <a:r>
                <a:rPr lang="en-US" sz="2499" dirty="0">
                  <a:solidFill>
                    <a:srgbClr val="1A1A1A"/>
                  </a:solidFill>
                  <a:latin typeface="프리텐다드"/>
                  <a:ea typeface="프리텐다드"/>
                  <a:cs typeface="프리텐다드"/>
                  <a:sym typeface="프리텐다드"/>
                </a:rPr>
                <a:t>.</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8B0000"/>
        </a:solidFill>
        <a:effectLst/>
      </p:bgPr>
    </p:bg>
    <p:spTree>
      <p:nvGrpSpPr>
        <p:cNvPr id="1" name=""/>
        <p:cNvGrpSpPr/>
        <p:nvPr/>
      </p:nvGrpSpPr>
      <p:grpSpPr>
        <a:xfrm>
          <a:off x="0" y="0"/>
          <a:ext cx="0" cy="0"/>
          <a:chOff x="0" y="0"/>
          <a:chExt cx="0" cy="0"/>
        </a:xfrm>
      </p:grpSpPr>
      <p:grpSp>
        <p:nvGrpSpPr>
          <p:cNvPr id="2" name="Group 2"/>
          <p:cNvGrpSpPr/>
          <p:nvPr/>
        </p:nvGrpSpPr>
        <p:grpSpPr>
          <a:xfrm>
            <a:off x="8481060" y="-2754581"/>
            <a:ext cx="8778240" cy="16408810"/>
            <a:chOff x="0" y="0"/>
            <a:chExt cx="11704320" cy="21878413"/>
          </a:xfrm>
        </p:grpSpPr>
        <p:sp>
          <p:nvSpPr>
            <p:cNvPr id="3" name="Freeform 3"/>
            <p:cNvSpPr/>
            <p:nvPr/>
          </p:nvSpPr>
          <p:spPr>
            <a:xfrm>
              <a:off x="0" y="0"/>
              <a:ext cx="11704320" cy="21878413"/>
            </a:xfrm>
            <a:custGeom>
              <a:avLst/>
              <a:gdLst/>
              <a:ahLst/>
              <a:cxnLst/>
              <a:rect l="l" t="t" r="r" b="b"/>
              <a:pathLst>
                <a:path w="11704320" h="21878413">
                  <a:moveTo>
                    <a:pt x="0" y="0"/>
                  </a:moveTo>
                  <a:lnTo>
                    <a:pt x="11704320" y="0"/>
                  </a:lnTo>
                  <a:lnTo>
                    <a:pt x="11704320" y="21878413"/>
                  </a:lnTo>
                  <a:lnTo>
                    <a:pt x="0" y="21878413"/>
                  </a:lnTo>
                  <a:close/>
                </a:path>
              </a:pathLst>
            </a:custGeom>
            <a:blipFill>
              <a:blip r:embed="rId3">
                <a:alphaModFix amt="0"/>
              </a:blip>
              <a:stretch>
                <a:fillRect l="-94341" r="-94341" b="39815"/>
              </a:stretch>
            </a:blipFill>
          </p:spPr>
          <p:txBody>
            <a:bodyPr/>
            <a:lstStyle/>
            <a:p>
              <a:endParaRPr lang="ko-KR" altLang="en-US"/>
            </a:p>
          </p:txBody>
        </p:sp>
        <p:sp>
          <p:nvSpPr>
            <p:cNvPr id="4" name="TextBox 4"/>
            <p:cNvSpPr txBox="1"/>
            <p:nvPr/>
          </p:nvSpPr>
          <p:spPr>
            <a:xfrm>
              <a:off x="0" y="-19050"/>
              <a:ext cx="11704320" cy="21897463"/>
            </a:xfrm>
            <a:prstGeom prst="rect">
              <a:avLst/>
            </a:prstGeom>
          </p:spPr>
          <p:txBody>
            <a:bodyPr lIns="0" tIns="0" rIns="0" bIns="0" rtlCol="0" anchor="ctr"/>
            <a:lstStyle/>
            <a:p>
              <a:pPr algn="r">
                <a:lnSpc>
                  <a:spcPts val="96000"/>
                </a:lnSpc>
              </a:pPr>
              <a:r>
                <a:rPr lang="en-US" sz="80000">
                  <a:solidFill>
                    <a:srgbClr val="FFFFFF"/>
                  </a:solidFill>
                  <a:latin typeface="프리텐다드"/>
                  <a:ea typeface="프리텐다드"/>
                  <a:cs typeface="프리텐다드"/>
                  <a:sym typeface="프리텐다드"/>
                </a:rPr>
                <a:t>3</a:t>
              </a:r>
            </a:p>
          </p:txBody>
        </p:sp>
      </p:grpSp>
      <p:grpSp>
        <p:nvGrpSpPr>
          <p:cNvPr id="5" name="Group 5"/>
          <p:cNvGrpSpPr/>
          <p:nvPr/>
        </p:nvGrpSpPr>
        <p:grpSpPr>
          <a:xfrm>
            <a:off x="1907543" y="5565143"/>
            <a:ext cx="153419" cy="939803"/>
            <a:chOff x="0" y="0"/>
            <a:chExt cx="204559" cy="1253071"/>
          </a:xfrm>
        </p:grpSpPr>
        <p:sp>
          <p:nvSpPr>
            <p:cNvPr id="6" name="Freeform 6"/>
            <p:cNvSpPr/>
            <p:nvPr/>
          </p:nvSpPr>
          <p:spPr>
            <a:xfrm>
              <a:off x="0" y="0"/>
              <a:ext cx="204597" cy="1253109"/>
            </a:xfrm>
            <a:custGeom>
              <a:avLst/>
              <a:gdLst/>
              <a:ahLst/>
              <a:cxnLst/>
              <a:rect l="l" t="t" r="r" b="b"/>
              <a:pathLst>
                <a:path w="204597" h="1253109">
                  <a:moveTo>
                    <a:pt x="0" y="0"/>
                  </a:moveTo>
                  <a:lnTo>
                    <a:pt x="204597" y="0"/>
                  </a:lnTo>
                  <a:lnTo>
                    <a:pt x="204597" y="1253109"/>
                  </a:lnTo>
                  <a:lnTo>
                    <a:pt x="0" y="1253109"/>
                  </a:lnTo>
                  <a:close/>
                </a:path>
              </a:pathLst>
            </a:custGeom>
            <a:solidFill>
              <a:srgbClr val="FFFFFF"/>
            </a:solidFill>
            <a:ln w="25400" cap="sq">
              <a:solidFill>
                <a:srgbClr val="FFFFFF"/>
              </a:solidFill>
              <a:prstDash val="solid"/>
              <a:miter/>
            </a:ln>
          </p:spPr>
          <p:txBody>
            <a:bodyPr/>
            <a:lstStyle/>
            <a:p>
              <a:endParaRPr lang="ko-KR" altLang="en-US"/>
            </a:p>
          </p:txBody>
        </p:sp>
      </p:grpSp>
      <p:grpSp>
        <p:nvGrpSpPr>
          <p:cNvPr id="7" name="Group 7"/>
          <p:cNvGrpSpPr/>
          <p:nvPr/>
        </p:nvGrpSpPr>
        <p:grpSpPr>
          <a:xfrm>
            <a:off x="2453640" y="5449824"/>
            <a:ext cx="9144000" cy="1188720"/>
            <a:chOff x="0" y="0"/>
            <a:chExt cx="12192000" cy="1584960"/>
          </a:xfrm>
        </p:grpSpPr>
        <p:sp>
          <p:nvSpPr>
            <p:cNvPr id="8" name="Freeform 8"/>
            <p:cNvSpPr/>
            <p:nvPr/>
          </p:nvSpPr>
          <p:spPr>
            <a:xfrm>
              <a:off x="0" y="0"/>
              <a:ext cx="12192000" cy="1584960"/>
            </a:xfrm>
            <a:custGeom>
              <a:avLst/>
              <a:gdLst/>
              <a:ahLst/>
              <a:cxnLst/>
              <a:rect l="l" t="t" r="r" b="b"/>
              <a:pathLst>
                <a:path w="12192000" h="1584960">
                  <a:moveTo>
                    <a:pt x="0" y="0"/>
                  </a:moveTo>
                  <a:lnTo>
                    <a:pt x="12192000" y="0"/>
                  </a:lnTo>
                  <a:lnTo>
                    <a:pt x="12192000" y="1584960"/>
                  </a:lnTo>
                  <a:lnTo>
                    <a:pt x="0" y="1584960"/>
                  </a:lnTo>
                  <a:close/>
                </a:path>
              </a:pathLst>
            </a:custGeom>
            <a:blipFill>
              <a:blip r:embed="rId3">
                <a:alphaModFix amt="0"/>
              </a:blip>
              <a:stretch>
                <a:fillRect t="-99884" b="-99884"/>
              </a:stretch>
            </a:blipFill>
          </p:spPr>
          <p:txBody>
            <a:bodyPr/>
            <a:lstStyle/>
            <a:p>
              <a:endParaRPr lang="ko-KR" altLang="en-US"/>
            </a:p>
          </p:txBody>
        </p:sp>
        <p:sp>
          <p:nvSpPr>
            <p:cNvPr id="9" name="TextBox 9"/>
            <p:cNvSpPr txBox="1"/>
            <p:nvPr/>
          </p:nvSpPr>
          <p:spPr>
            <a:xfrm>
              <a:off x="0" y="-9525"/>
              <a:ext cx="12192000" cy="1594485"/>
            </a:xfrm>
            <a:prstGeom prst="rect">
              <a:avLst/>
            </a:prstGeom>
          </p:spPr>
          <p:txBody>
            <a:bodyPr lIns="0" tIns="0" rIns="0" bIns="0" rtlCol="0" anchor="ctr"/>
            <a:lstStyle/>
            <a:p>
              <a:pPr algn="l">
                <a:lnSpc>
                  <a:spcPts val="6720"/>
                </a:lnSpc>
              </a:pPr>
              <a:r>
                <a:rPr lang="en-US" sz="5600" b="1" dirty="0" err="1">
                  <a:solidFill>
                    <a:srgbClr val="FFFFFF"/>
                  </a:solidFill>
                  <a:latin typeface="프리텐다드 Ultra-Bold"/>
                  <a:ea typeface="프리텐다드 Ultra-Bold"/>
                  <a:cs typeface="프리텐다드 Ultra-Bold"/>
                  <a:sym typeface="프리텐다드 Ultra-Bold"/>
                </a:rPr>
                <a:t>아키텍처</a:t>
              </a:r>
              <a:r>
                <a:rPr lang="en-US" sz="5600" b="1" dirty="0">
                  <a:solidFill>
                    <a:srgbClr val="FFFFFF"/>
                  </a:solidFill>
                  <a:latin typeface="프리텐다드 Ultra-Bold"/>
                  <a:ea typeface="프리텐다드 Ultra-Bold"/>
                  <a:cs typeface="프리텐다드 Ultra-Bold"/>
                  <a:sym typeface="프리텐다드 Ultra-Bold"/>
                </a:rPr>
                <a:t> </a:t>
              </a:r>
              <a:r>
                <a:rPr lang="en-US" sz="5600" b="1" dirty="0" err="1">
                  <a:solidFill>
                    <a:srgbClr val="FFFFFF"/>
                  </a:solidFill>
                  <a:latin typeface="프리텐다드 Ultra-Bold"/>
                  <a:ea typeface="프리텐다드 Ultra-Bold"/>
                  <a:cs typeface="프리텐다드 Ultra-Bold"/>
                  <a:sym typeface="프리텐다드 Ultra-Bold"/>
                </a:rPr>
                <a:t>설계</a:t>
              </a:r>
              <a:endParaRPr lang="en-US" sz="5600" b="1" dirty="0">
                <a:solidFill>
                  <a:srgbClr val="FFFFFF"/>
                </a:solidFill>
                <a:latin typeface="프리텐다드 Ultra-Bold"/>
                <a:ea typeface="프리텐다드 Ultra-Bold"/>
                <a:cs typeface="프리텐다드 Ultra-Bold"/>
                <a:sym typeface="프리텐다드 Ultra-Bold"/>
              </a:endParaRPr>
            </a:p>
          </p:txBody>
        </p:sp>
      </p:grpSp>
      <p:grpSp>
        <p:nvGrpSpPr>
          <p:cNvPr id="10" name="Group 10"/>
          <p:cNvGrpSpPr/>
          <p:nvPr/>
        </p:nvGrpSpPr>
        <p:grpSpPr>
          <a:xfrm>
            <a:off x="2453640" y="6504946"/>
            <a:ext cx="9509760" cy="731520"/>
            <a:chOff x="0" y="0"/>
            <a:chExt cx="12679680" cy="975360"/>
          </a:xfrm>
        </p:grpSpPr>
        <p:sp>
          <p:nvSpPr>
            <p:cNvPr id="11" name="Freeform 11"/>
            <p:cNvSpPr/>
            <p:nvPr/>
          </p:nvSpPr>
          <p:spPr>
            <a:xfrm>
              <a:off x="0" y="0"/>
              <a:ext cx="12679680" cy="975360"/>
            </a:xfrm>
            <a:custGeom>
              <a:avLst/>
              <a:gdLst/>
              <a:ahLst/>
              <a:cxnLst/>
              <a:rect l="l" t="t" r="r" b="b"/>
              <a:pathLst>
                <a:path w="12679680" h="975360">
                  <a:moveTo>
                    <a:pt x="0" y="0"/>
                  </a:moveTo>
                  <a:lnTo>
                    <a:pt x="12679680" y="0"/>
                  </a:lnTo>
                  <a:lnTo>
                    <a:pt x="12679680" y="975360"/>
                  </a:lnTo>
                  <a:lnTo>
                    <a:pt x="0" y="975360"/>
                  </a:lnTo>
                  <a:close/>
                </a:path>
              </a:pathLst>
            </a:custGeom>
            <a:blipFill>
              <a:blip r:embed="rId3">
                <a:alphaModFix amt="0"/>
              </a:blip>
              <a:stretch>
                <a:fillRect t="-203305" b="-203305"/>
              </a:stretch>
            </a:blipFill>
          </p:spPr>
          <p:txBody>
            <a:bodyPr/>
            <a:lstStyle/>
            <a:p>
              <a:endParaRPr lang="ko-KR" altLang="en-US"/>
            </a:p>
          </p:txBody>
        </p:sp>
        <p:sp>
          <p:nvSpPr>
            <p:cNvPr id="12" name="TextBox 12"/>
            <p:cNvSpPr txBox="1"/>
            <p:nvPr/>
          </p:nvSpPr>
          <p:spPr>
            <a:xfrm>
              <a:off x="0" y="-9525"/>
              <a:ext cx="12679680" cy="984885"/>
            </a:xfrm>
            <a:prstGeom prst="rect">
              <a:avLst/>
            </a:prstGeom>
          </p:spPr>
          <p:txBody>
            <a:bodyPr lIns="0" tIns="0" rIns="0" bIns="0" rtlCol="0" anchor="ctr"/>
            <a:lstStyle/>
            <a:p>
              <a:pPr algn="l">
                <a:lnSpc>
                  <a:spcPts val="2879"/>
                </a:lnSpc>
              </a:pPr>
              <a:r>
                <a:rPr lang="en-US" sz="2400" b="1">
                  <a:solidFill>
                    <a:srgbClr val="FFFFFF"/>
                  </a:solidFill>
                  <a:latin typeface="프리텐다드 Bold"/>
                  <a:ea typeface="프리텐다드 Bold"/>
                  <a:cs typeface="프리텐다드 Bold"/>
                  <a:sym typeface="프리텐다드 Bold"/>
                </a:rPr>
                <a:t>왜 이 구조인가</a:t>
              </a:r>
            </a:p>
          </p:txBody>
        </p:sp>
      </p:grpSp>
      <p:grpSp>
        <p:nvGrpSpPr>
          <p:cNvPr id="13" name="Group 13"/>
          <p:cNvGrpSpPr/>
          <p:nvPr/>
        </p:nvGrpSpPr>
        <p:grpSpPr>
          <a:xfrm>
            <a:off x="17007840" y="219456"/>
            <a:ext cx="914400" cy="457200"/>
            <a:chOff x="0" y="0"/>
            <a:chExt cx="1219200" cy="609600"/>
          </a:xfrm>
        </p:grpSpPr>
        <p:sp>
          <p:nvSpPr>
            <p:cNvPr id="14" name="Freeform 14"/>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15" name="TextBox 15"/>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FFFFFF"/>
                  </a:solidFill>
                  <a:latin typeface="프리텐다드"/>
                  <a:ea typeface="프리텐다드"/>
                  <a:cs typeface="프리텐다드"/>
                  <a:sym typeface="프리텐다드"/>
                </a:rPr>
                <a:t>6</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5943" y="535943"/>
            <a:ext cx="153419" cy="756923"/>
            <a:chOff x="0" y="0"/>
            <a:chExt cx="204559" cy="1009231"/>
          </a:xfrm>
        </p:grpSpPr>
        <p:sp>
          <p:nvSpPr>
            <p:cNvPr id="3" name="Freeform 3"/>
            <p:cNvSpPr/>
            <p:nvPr/>
          </p:nvSpPr>
          <p:spPr>
            <a:xfrm>
              <a:off x="0" y="0"/>
              <a:ext cx="204597" cy="1009269"/>
            </a:xfrm>
            <a:custGeom>
              <a:avLst/>
              <a:gdLst/>
              <a:ahLst/>
              <a:cxnLst/>
              <a:rect l="l" t="t" r="r" b="b"/>
              <a:pathLst>
                <a:path w="204597" h="1009269">
                  <a:moveTo>
                    <a:pt x="0" y="0"/>
                  </a:moveTo>
                  <a:lnTo>
                    <a:pt x="204597" y="0"/>
                  </a:lnTo>
                  <a:lnTo>
                    <a:pt x="204597" y="1009269"/>
                  </a:lnTo>
                  <a:lnTo>
                    <a:pt x="0" y="1009269"/>
                  </a:ln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4" name="Group 4"/>
          <p:cNvGrpSpPr/>
          <p:nvPr/>
        </p:nvGrpSpPr>
        <p:grpSpPr>
          <a:xfrm>
            <a:off x="822960" y="457200"/>
            <a:ext cx="15910560" cy="914400"/>
            <a:chOff x="0" y="0"/>
            <a:chExt cx="21214080" cy="1219200"/>
          </a:xfrm>
        </p:grpSpPr>
        <p:sp>
          <p:nvSpPr>
            <p:cNvPr id="5" name="Freeform 5"/>
            <p:cNvSpPr/>
            <p:nvPr/>
          </p:nvSpPr>
          <p:spPr>
            <a:xfrm>
              <a:off x="0" y="0"/>
              <a:ext cx="21214080" cy="1219200"/>
            </a:xfrm>
            <a:custGeom>
              <a:avLst/>
              <a:gdLst/>
              <a:ahLst/>
              <a:cxnLst/>
              <a:rect l="l" t="t" r="r" b="b"/>
              <a:pathLst>
                <a:path w="21214080" h="1219200">
                  <a:moveTo>
                    <a:pt x="0" y="0"/>
                  </a:moveTo>
                  <a:lnTo>
                    <a:pt x="21214080" y="0"/>
                  </a:lnTo>
                  <a:lnTo>
                    <a:pt x="21214080" y="1219200"/>
                  </a:lnTo>
                  <a:lnTo>
                    <a:pt x="0" y="1219200"/>
                  </a:lnTo>
                  <a:close/>
                </a:path>
              </a:pathLst>
            </a:custGeom>
            <a:blipFill>
              <a:blip r:embed="rId3">
                <a:alphaModFix amt="0"/>
              </a:blip>
              <a:stretch>
                <a:fillRect t="-289039" b="-289039"/>
              </a:stretch>
            </a:blipFill>
          </p:spPr>
          <p:txBody>
            <a:bodyPr/>
            <a:lstStyle/>
            <a:p>
              <a:endParaRPr lang="ko-KR" altLang="en-US"/>
            </a:p>
          </p:txBody>
        </p:sp>
        <p:sp>
          <p:nvSpPr>
            <p:cNvPr id="6" name="TextBox 6"/>
            <p:cNvSpPr txBox="1"/>
            <p:nvPr/>
          </p:nvSpPr>
          <p:spPr>
            <a:xfrm>
              <a:off x="0" y="0"/>
              <a:ext cx="21214080" cy="1219200"/>
            </a:xfrm>
            <a:prstGeom prst="rect">
              <a:avLst/>
            </a:prstGeom>
          </p:spPr>
          <p:txBody>
            <a:bodyPr lIns="0" tIns="0" rIns="0" bIns="0" rtlCol="0" anchor="ctr"/>
            <a:lstStyle/>
            <a:p>
              <a:pPr algn="l">
                <a:lnSpc>
                  <a:spcPts val="4560"/>
                </a:lnSpc>
              </a:pPr>
              <a:r>
                <a:rPr lang="en-US" sz="3800" b="1">
                  <a:solidFill>
                    <a:srgbClr val="1A1A1A"/>
                  </a:solidFill>
                  <a:latin typeface="프리텐다드 Bold"/>
                  <a:ea typeface="프리텐다드 Bold"/>
                  <a:cs typeface="프리텐다드 Bold"/>
                  <a:sym typeface="프리텐다드 Bold"/>
                </a:rPr>
                <a:t>전체 파이프라인 : </a:t>
              </a:r>
              <a:r>
                <a:rPr lang="en-US" sz="3800" b="1">
                  <a:solidFill>
                    <a:srgbClr val="8B0000"/>
                  </a:solidFill>
                  <a:latin typeface="프리텐다드 Bold"/>
                  <a:ea typeface="프리텐다드 Bold"/>
                  <a:cs typeface="프리텐다드 Bold"/>
                  <a:sym typeface="프리텐다드 Bold"/>
                </a:rPr>
                <a:t>쉬운 사진은 한 번에, 어려운 사진에만 비용을</a:t>
              </a:r>
            </a:p>
          </p:txBody>
        </p:sp>
      </p:grpSp>
      <p:sp>
        <p:nvSpPr>
          <p:cNvPr id="7" name="AutoShape 7"/>
          <p:cNvSpPr/>
          <p:nvPr/>
        </p:nvSpPr>
        <p:spPr>
          <a:xfrm rot="3780">
            <a:off x="539105" y="1494854"/>
            <a:ext cx="17209780" cy="0"/>
          </a:xfrm>
          <a:prstGeom prst="line">
            <a:avLst/>
          </a:prstGeom>
          <a:ln w="9525" cap="rnd">
            <a:solidFill>
              <a:srgbClr val="BFBFBF"/>
            </a:solidFill>
            <a:prstDash val="solid"/>
            <a:headEnd type="none" w="sm" len="sm"/>
            <a:tailEnd type="none" w="sm" len="sm"/>
          </a:ln>
        </p:spPr>
        <p:txBody>
          <a:bodyPr/>
          <a:lstStyle/>
          <a:p>
            <a:endParaRPr lang="ko-KR" altLang="en-US"/>
          </a:p>
        </p:txBody>
      </p:sp>
      <p:grpSp>
        <p:nvGrpSpPr>
          <p:cNvPr id="8" name="Group 8"/>
          <p:cNvGrpSpPr/>
          <p:nvPr/>
        </p:nvGrpSpPr>
        <p:grpSpPr>
          <a:xfrm>
            <a:off x="17007840" y="219456"/>
            <a:ext cx="914400" cy="457200"/>
            <a:chOff x="0" y="0"/>
            <a:chExt cx="1219200" cy="609600"/>
          </a:xfrm>
        </p:grpSpPr>
        <p:sp>
          <p:nvSpPr>
            <p:cNvPr id="9" name="Freeform 9"/>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10" name="TextBox 10"/>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1A1A1A"/>
                  </a:solidFill>
                  <a:latin typeface="프리텐다드"/>
                  <a:ea typeface="프리텐다드"/>
                  <a:cs typeface="프리텐다드"/>
                  <a:sym typeface="프리텐다드"/>
                </a:rPr>
                <a:t>7</a:t>
              </a:r>
            </a:p>
          </p:txBody>
        </p:sp>
      </p:grpSp>
      <p:grpSp>
        <p:nvGrpSpPr>
          <p:cNvPr id="11" name="Group 11"/>
          <p:cNvGrpSpPr/>
          <p:nvPr/>
        </p:nvGrpSpPr>
        <p:grpSpPr>
          <a:xfrm>
            <a:off x="535943" y="1998983"/>
            <a:ext cx="2585723" cy="2128523"/>
            <a:chOff x="0" y="0"/>
            <a:chExt cx="3447631" cy="2838031"/>
          </a:xfrm>
        </p:grpSpPr>
        <p:sp>
          <p:nvSpPr>
            <p:cNvPr id="12" name="Freeform 12"/>
            <p:cNvSpPr/>
            <p:nvPr/>
          </p:nvSpPr>
          <p:spPr>
            <a:xfrm>
              <a:off x="0" y="0"/>
              <a:ext cx="3447669" cy="2838069"/>
            </a:xfrm>
            <a:custGeom>
              <a:avLst/>
              <a:gdLst/>
              <a:ahLst/>
              <a:cxnLst/>
              <a:rect l="l" t="t" r="r" b="b"/>
              <a:pathLst>
                <a:path w="3447669" h="2838069">
                  <a:moveTo>
                    <a:pt x="0" y="148082"/>
                  </a:moveTo>
                  <a:cubicBezTo>
                    <a:pt x="0" y="66294"/>
                    <a:pt x="66294" y="0"/>
                    <a:pt x="148082" y="0"/>
                  </a:cubicBezTo>
                  <a:lnTo>
                    <a:pt x="3299587" y="0"/>
                  </a:lnTo>
                  <a:cubicBezTo>
                    <a:pt x="3381375" y="0"/>
                    <a:pt x="3447669" y="66294"/>
                    <a:pt x="3447669" y="148082"/>
                  </a:cubicBezTo>
                  <a:lnTo>
                    <a:pt x="3447669" y="2689987"/>
                  </a:lnTo>
                  <a:cubicBezTo>
                    <a:pt x="3447669" y="2771775"/>
                    <a:pt x="3381375" y="2838069"/>
                    <a:pt x="3299587" y="2838069"/>
                  </a:cubicBezTo>
                  <a:lnTo>
                    <a:pt x="148082" y="2838069"/>
                  </a:lnTo>
                  <a:cubicBezTo>
                    <a:pt x="66294" y="2838069"/>
                    <a:pt x="0" y="2771775"/>
                    <a:pt x="0" y="2689987"/>
                  </a:cubicBezTo>
                  <a:close/>
                </a:path>
              </a:pathLst>
            </a:custGeom>
            <a:solidFill>
              <a:srgbClr val="3A3A3A"/>
            </a:solidFill>
            <a:ln w="25400" cap="sq">
              <a:solidFill>
                <a:srgbClr val="3A3A3A"/>
              </a:solidFill>
              <a:prstDash val="solid"/>
              <a:miter/>
            </a:ln>
          </p:spPr>
          <p:txBody>
            <a:bodyPr/>
            <a:lstStyle/>
            <a:p>
              <a:endParaRPr lang="ko-KR" altLang="en-US"/>
            </a:p>
          </p:txBody>
        </p:sp>
      </p:grpSp>
      <p:grpSp>
        <p:nvGrpSpPr>
          <p:cNvPr id="13" name="Group 13"/>
          <p:cNvGrpSpPr/>
          <p:nvPr/>
        </p:nvGrpSpPr>
        <p:grpSpPr>
          <a:xfrm>
            <a:off x="739114" y="2290579"/>
            <a:ext cx="2179382" cy="585216"/>
            <a:chOff x="0" y="0"/>
            <a:chExt cx="2905843" cy="780288"/>
          </a:xfrm>
        </p:grpSpPr>
        <p:sp>
          <p:nvSpPr>
            <p:cNvPr id="14" name="Freeform 14"/>
            <p:cNvSpPr/>
            <p:nvPr/>
          </p:nvSpPr>
          <p:spPr>
            <a:xfrm>
              <a:off x="0" y="0"/>
              <a:ext cx="2905843" cy="780288"/>
            </a:xfrm>
            <a:custGeom>
              <a:avLst/>
              <a:gdLst/>
              <a:ahLst/>
              <a:cxnLst/>
              <a:rect l="l" t="t" r="r" b="b"/>
              <a:pathLst>
                <a:path w="2905843" h="780288">
                  <a:moveTo>
                    <a:pt x="0" y="0"/>
                  </a:moveTo>
                  <a:lnTo>
                    <a:pt x="2905843" y="0"/>
                  </a:lnTo>
                  <a:lnTo>
                    <a:pt x="2905843" y="780288"/>
                  </a:lnTo>
                  <a:lnTo>
                    <a:pt x="0" y="780288"/>
                  </a:lnTo>
                  <a:close/>
                </a:path>
              </a:pathLst>
            </a:custGeom>
            <a:blipFill>
              <a:blip r:embed="rId3">
                <a:alphaModFix amt="0"/>
              </a:blip>
              <a:stretch>
                <a:fillRect t="-35247" r="-17479" b="-35247"/>
              </a:stretch>
            </a:blipFill>
          </p:spPr>
          <p:txBody>
            <a:bodyPr/>
            <a:lstStyle/>
            <a:p>
              <a:endParaRPr lang="ko-KR" altLang="en-US"/>
            </a:p>
          </p:txBody>
        </p:sp>
        <p:sp>
          <p:nvSpPr>
            <p:cNvPr id="15" name="TextBox 15"/>
            <p:cNvSpPr txBox="1"/>
            <p:nvPr/>
          </p:nvSpPr>
          <p:spPr>
            <a:xfrm>
              <a:off x="0" y="-9525"/>
              <a:ext cx="2905843" cy="789813"/>
            </a:xfrm>
            <a:prstGeom prst="rect">
              <a:avLst/>
            </a:prstGeom>
          </p:spPr>
          <p:txBody>
            <a:bodyPr lIns="0" tIns="0" rIns="0" bIns="0" rtlCol="0" anchor="ctr"/>
            <a:lstStyle/>
            <a:p>
              <a:pPr algn="l">
                <a:lnSpc>
                  <a:spcPts val="2879"/>
                </a:lnSpc>
              </a:pPr>
              <a:r>
                <a:rPr lang="en-US" sz="2400" b="1">
                  <a:solidFill>
                    <a:srgbClr val="FFFFFF"/>
                  </a:solidFill>
                  <a:latin typeface="프리텐다드 Bold"/>
                  <a:ea typeface="프리텐다드 Bold"/>
                  <a:cs typeface="프리텐다드 Bold"/>
                  <a:sym typeface="프리텐다드 Bold"/>
                </a:rPr>
                <a:t>입력</a:t>
              </a:r>
            </a:p>
          </p:txBody>
        </p:sp>
      </p:grpSp>
      <p:grpSp>
        <p:nvGrpSpPr>
          <p:cNvPr id="16" name="Group 16"/>
          <p:cNvGrpSpPr/>
          <p:nvPr/>
        </p:nvGrpSpPr>
        <p:grpSpPr>
          <a:xfrm>
            <a:off x="739114" y="2555750"/>
            <a:ext cx="2023712" cy="1280160"/>
            <a:chOff x="0" y="0"/>
            <a:chExt cx="2698282" cy="1706880"/>
          </a:xfrm>
        </p:grpSpPr>
        <p:sp>
          <p:nvSpPr>
            <p:cNvPr id="17" name="Freeform 17"/>
            <p:cNvSpPr/>
            <p:nvPr/>
          </p:nvSpPr>
          <p:spPr>
            <a:xfrm>
              <a:off x="0" y="0"/>
              <a:ext cx="2698283" cy="1706880"/>
            </a:xfrm>
            <a:custGeom>
              <a:avLst/>
              <a:gdLst/>
              <a:ahLst/>
              <a:cxnLst/>
              <a:rect l="l" t="t" r="r" b="b"/>
              <a:pathLst>
                <a:path w="2698283" h="1706880">
                  <a:moveTo>
                    <a:pt x="0" y="0"/>
                  </a:moveTo>
                  <a:lnTo>
                    <a:pt x="2698283" y="0"/>
                  </a:lnTo>
                  <a:lnTo>
                    <a:pt x="2698283" y="1706880"/>
                  </a:lnTo>
                  <a:lnTo>
                    <a:pt x="0" y="1706880"/>
                  </a:lnTo>
                  <a:close/>
                </a:path>
              </a:pathLst>
            </a:custGeom>
            <a:blipFill>
              <a:blip r:embed="rId3">
                <a:alphaModFix amt="0"/>
              </a:blip>
              <a:stretch>
                <a:fillRect l="-22422" r="-39901"/>
              </a:stretch>
            </a:blipFill>
          </p:spPr>
          <p:txBody>
            <a:bodyPr/>
            <a:lstStyle/>
            <a:p>
              <a:endParaRPr lang="ko-KR" altLang="en-US"/>
            </a:p>
          </p:txBody>
        </p:sp>
        <p:sp>
          <p:nvSpPr>
            <p:cNvPr id="18" name="TextBox 18"/>
            <p:cNvSpPr txBox="1"/>
            <p:nvPr/>
          </p:nvSpPr>
          <p:spPr>
            <a:xfrm>
              <a:off x="0" y="0"/>
              <a:ext cx="2698282" cy="1706880"/>
            </a:xfrm>
            <a:prstGeom prst="rect">
              <a:avLst/>
            </a:prstGeom>
          </p:spPr>
          <p:txBody>
            <a:bodyPr lIns="0" tIns="0" rIns="0" bIns="0" rtlCol="0" anchor="ctr"/>
            <a:lstStyle/>
            <a:p>
              <a:pPr algn="l">
                <a:lnSpc>
                  <a:spcPts val="2279"/>
                </a:lnSpc>
              </a:pPr>
              <a:r>
                <a:rPr lang="en-US" sz="1899">
                  <a:solidFill>
                    <a:srgbClr val="FFFFFF"/>
                  </a:solidFill>
                  <a:latin typeface="프리텐다드"/>
                  <a:ea typeface="프리텐다드"/>
                  <a:cs typeface="프리텐다드"/>
                  <a:sym typeface="프리텐다드"/>
                </a:rPr>
                <a:t>EXIF 보정</a:t>
              </a:r>
            </a:p>
            <a:p>
              <a:pPr algn="l">
                <a:lnSpc>
                  <a:spcPts val="2279"/>
                </a:lnSpc>
              </a:pPr>
              <a:r>
                <a:rPr lang="en-US" sz="1899">
                  <a:solidFill>
                    <a:srgbClr val="FFFFFF"/>
                  </a:solidFill>
                  <a:latin typeface="프리텐다드"/>
                  <a:ea typeface="프리텐다드"/>
                  <a:cs typeface="프리텐다드"/>
                  <a:sym typeface="프리텐다드"/>
                </a:rPr>
                <a:t>640px 축소</a:t>
              </a:r>
            </a:p>
          </p:txBody>
        </p:sp>
      </p:grpSp>
      <p:grpSp>
        <p:nvGrpSpPr>
          <p:cNvPr id="19" name="Group 19"/>
          <p:cNvGrpSpPr/>
          <p:nvPr/>
        </p:nvGrpSpPr>
        <p:grpSpPr>
          <a:xfrm>
            <a:off x="3108960" y="2743200"/>
            <a:ext cx="365760" cy="548640"/>
            <a:chOff x="0" y="0"/>
            <a:chExt cx="487680" cy="731520"/>
          </a:xfrm>
        </p:grpSpPr>
        <p:sp>
          <p:nvSpPr>
            <p:cNvPr id="20" name="Freeform 20"/>
            <p:cNvSpPr/>
            <p:nvPr/>
          </p:nvSpPr>
          <p:spPr>
            <a:xfrm>
              <a:off x="0" y="0"/>
              <a:ext cx="487680" cy="731520"/>
            </a:xfrm>
            <a:custGeom>
              <a:avLst/>
              <a:gdLst/>
              <a:ahLst/>
              <a:cxnLst/>
              <a:rect l="l" t="t" r="r" b="b"/>
              <a:pathLst>
                <a:path w="487680" h="731520">
                  <a:moveTo>
                    <a:pt x="0" y="0"/>
                  </a:moveTo>
                  <a:lnTo>
                    <a:pt x="487680" y="0"/>
                  </a:lnTo>
                  <a:lnTo>
                    <a:pt x="487680" y="731520"/>
                  </a:lnTo>
                  <a:lnTo>
                    <a:pt x="0" y="731520"/>
                  </a:lnTo>
                  <a:close/>
                </a:path>
              </a:pathLst>
            </a:custGeom>
            <a:blipFill>
              <a:blip r:embed="rId3">
                <a:alphaModFix amt="0"/>
              </a:blip>
              <a:stretch>
                <a:fillRect l="-142455" r="-142455"/>
              </a:stretch>
            </a:blipFill>
          </p:spPr>
          <p:txBody>
            <a:bodyPr/>
            <a:lstStyle/>
            <a:p>
              <a:endParaRPr lang="ko-KR" altLang="en-US"/>
            </a:p>
          </p:txBody>
        </p:sp>
        <p:sp>
          <p:nvSpPr>
            <p:cNvPr id="21" name="TextBox 21"/>
            <p:cNvSpPr txBox="1"/>
            <p:nvPr/>
          </p:nvSpPr>
          <p:spPr>
            <a:xfrm>
              <a:off x="0" y="-9525"/>
              <a:ext cx="487680" cy="741045"/>
            </a:xfrm>
            <a:prstGeom prst="rect">
              <a:avLst/>
            </a:prstGeom>
          </p:spPr>
          <p:txBody>
            <a:bodyPr lIns="0" tIns="0" rIns="0" bIns="0" rtlCol="0" anchor="ctr"/>
            <a:lstStyle/>
            <a:p>
              <a:pPr algn="ctr">
                <a:lnSpc>
                  <a:spcPts val="2400"/>
                </a:lnSpc>
              </a:pPr>
              <a:r>
                <a:rPr lang="en-US" sz="2000">
                  <a:solidFill>
                    <a:srgbClr val="6B6B6B"/>
                  </a:solidFill>
                  <a:latin typeface="프리텐다드"/>
                  <a:ea typeface="프리텐다드"/>
                  <a:cs typeface="프리텐다드"/>
                  <a:sym typeface="프리텐다드"/>
                </a:rPr>
                <a:t>▶</a:t>
              </a:r>
            </a:p>
          </p:txBody>
        </p:sp>
      </p:grpSp>
      <p:grpSp>
        <p:nvGrpSpPr>
          <p:cNvPr id="22" name="Group 22"/>
          <p:cNvGrpSpPr/>
          <p:nvPr/>
        </p:nvGrpSpPr>
        <p:grpSpPr>
          <a:xfrm>
            <a:off x="3462023" y="1998983"/>
            <a:ext cx="2585723" cy="2128523"/>
            <a:chOff x="0" y="0"/>
            <a:chExt cx="3447631" cy="2838031"/>
          </a:xfrm>
        </p:grpSpPr>
        <p:sp>
          <p:nvSpPr>
            <p:cNvPr id="23" name="Freeform 23"/>
            <p:cNvSpPr/>
            <p:nvPr/>
          </p:nvSpPr>
          <p:spPr>
            <a:xfrm>
              <a:off x="0" y="0"/>
              <a:ext cx="3447669" cy="2838069"/>
            </a:xfrm>
            <a:custGeom>
              <a:avLst/>
              <a:gdLst/>
              <a:ahLst/>
              <a:cxnLst/>
              <a:rect l="l" t="t" r="r" b="b"/>
              <a:pathLst>
                <a:path w="3447669" h="2838069">
                  <a:moveTo>
                    <a:pt x="0" y="148082"/>
                  </a:moveTo>
                  <a:cubicBezTo>
                    <a:pt x="0" y="66294"/>
                    <a:pt x="66294" y="0"/>
                    <a:pt x="148082" y="0"/>
                  </a:cubicBezTo>
                  <a:lnTo>
                    <a:pt x="3299587" y="0"/>
                  </a:lnTo>
                  <a:cubicBezTo>
                    <a:pt x="3381375" y="0"/>
                    <a:pt x="3447669" y="66294"/>
                    <a:pt x="3447669" y="148082"/>
                  </a:cubicBezTo>
                  <a:lnTo>
                    <a:pt x="3447669" y="2689987"/>
                  </a:lnTo>
                  <a:cubicBezTo>
                    <a:pt x="3447669" y="2771775"/>
                    <a:pt x="3381375" y="2838069"/>
                    <a:pt x="3299587" y="2838069"/>
                  </a:cubicBezTo>
                  <a:lnTo>
                    <a:pt x="148082" y="2838069"/>
                  </a:lnTo>
                  <a:cubicBezTo>
                    <a:pt x="66294" y="2838069"/>
                    <a:pt x="0" y="2771775"/>
                    <a:pt x="0" y="2689987"/>
                  </a:cubicBez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24" name="Group 24"/>
          <p:cNvGrpSpPr/>
          <p:nvPr/>
        </p:nvGrpSpPr>
        <p:grpSpPr>
          <a:xfrm>
            <a:off x="4182857" y="2139696"/>
            <a:ext cx="1144056" cy="585216"/>
            <a:chOff x="0" y="0"/>
            <a:chExt cx="1525408" cy="780288"/>
          </a:xfrm>
        </p:grpSpPr>
        <p:sp>
          <p:nvSpPr>
            <p:cNvPr id="25" name="Freeform 25"/>
            <p:cNvSpPr/>
            <p:nvPr/>
          </p:nvSpPr>
          <p:spPr>
            <a:xfrm>
              <a:off x="0" y="0"/>
              <a:ext cx="1525408" cy="780288"/>
            </a:xfrm>
            <a:custGeom>
              <a:avLst/>
              <a:gdLst/>
              <a:ahLst/>
              <a:cxnLst/>
              <a:rect l="l" t="t" r="r" b="b"/>
              <a:pathLst>
                <a:path w="1525408" h="780288">
                  <a:moveTo>
                    <a:pt x="0" y="0"/>
                  </a:moveTo>
                  <a:lnTo>
                    <a:pt x="1525408" y="0"/>
                  </a:lnTo>
                  <a:lnTo>
                    <a:pt x="1525408" y="780288"/>
                  </a:lnTo>
                  <a:lnTo>
                    <a:pt x="0" y="780288"/>
                  </a:lnTo>
                  <a:close/>
                </a:path>
              </a:pathLst>
            </a:custGeom>
            <a:blipFill>
              <a:blip r:embed="rId3">
                <a:alphaModFix amt="0"/>
              </a:blip>
              <a:stretch>
                <a:fillRect t="-35247" r="-123793" b="-35247"/>
              </a:stretch>
            </a:blipFill>
          </p:spPr>
          <p:txBody>
            <a:bodyPr/>
            <a:lstStyle/>
            <a:p>
              <a:endParaRPr lang="ko-KR" altLang="en-US"/>
            </a:p>
          </p:txBody>
        </p:sp>
        <p:sp>
          <p:nvSpPr>
            <p:cNvPr id="26" name="TextBox 26"/>
            <p:cNvSpPr txBox="1"/>
            <p:nvPr/>
          </p:nvSpPr>
          <p:spPr>
            <a:xfrm>
              <a:off x="0" y="-9525"/>
              <a:ext cx="1525408" cy="789813"/>
            </a:xfrm>
            <a:prstGeom prst="rect">
              <a:avLst/>
            </a:prstGeom>
          </p:spPr>
          <p:txBody>
            <a:bodyPr lIns="0" tIns="0" rIns="0" bIns="0" rtlCol="0" anchor="ctr"/>
            <a:lstStyle/>
            <a:p>
              <a:pPr algn="ctr">
                <a:lnSpc>
                  <a:spcPts val="2879"/>
                </a:lnSpc>
              </a:pPr>
              <a:endParaRPr/>
            </a:p>
          </p:txBody>
        </p:sp>
      </p:grpSp>
      <p:grpSp>
        <p:nvGrpSpPr>
          <p:cNvPr id="27" name="Group 27"/>
          <p:cNvGrpSpPr/>
          <p:nvPr/>
        </p:nvGrpSpPr>
        <p:grpSpPr>
          <a:xfrm>
            <a:off x="3566160" y="2743200"/>
            <a:ext cx="2377440" cy="1280160"/>
            <a:chOff x="0" y="0"/>
            <a:chExt cx="3169920" cy="1706880"/>
          </a:xfrm>
        </p:grpSpPr>
        <p:sp>
          <p:nvSpPr>
            <p:cNvPr id="28" name="Freeform 28"/>
            <p:cNvSpPr/>
            <p:nvPr/>
          </p:nvSpPr>
          <p:spPr>
            <a:xfrm>
              <a:off x="0" y="0"/>
              <a:ext cx="3169920" cy="1706880"/>
            </a:xfrm>
            <a:custGeom>
              <a:avLst/>
              <a:gdLst/>
              <a:ahLst/>
              <a:cxnLst/>
              <a:rect l="l" t="t" r="r" b="b"/>
              <a:pathLst>
                <a:path w="3169920" h="1706880">
                  <a:moveTo>
                    <a:pt x="0" y="0"/>
                  </a:moveTo>
                  <a:lnTo>
                    <a:pt x="3169920" y="0"/>
                  </a:lnTo>
                  <a:lnTo>
                    <a:pt x="3169920" y="1706880"/>
                  </a:lnTo>
                  <a:lnTo>
                    <a:pt x="0" y="1706880"/>
                  </a:lnTo>
                  <a:close/>
                </a:path>
              </a:pathLst>
            </a:custGeom>
            <a:blipFill>
              <a:blip r:embed="rId3">
                <a:alphaModFix amt="0"/>
              </a:blip>
              <a:stretch>
                <a:fillRect l="-19086" r="-19086"/>
              </a:stretch>
            </a:blipFill>
          </p:spPr>
          <p:txBody>
            <a:bodyPr/>
            <a:lstStyle/>
            <a:p>
              <a:endParaRPr lang="ko-KR" altLang="en-US"/>
            </a:p>
          </p:txBody>
        </p:sp>
        <p:sp>
          <p:nvSpPr>
            <p:cNvPr id="29" name="TextBox 29"/>
            <p:cNvSpPr txBox="1"/>
            <p:nvPr/>
          </p:nvSpPr>
          <p:spPr>
            <a:xfrm>
              <a:off x="0" y="0"/>
              <a:ext cx="3169920" cy="1706880"/>
            </a:xfrm>
            <a:prstGeom prst="rect">
              <a:avLst/>
            </a:prstGeom>
          </p:spPr>
          <p:txBody>
            <a:bodyPr lIns="0" tIns="0" rIns="0" bIns="0" rtlCol="0" anchor="ctr"/>
            <a:lstStyle/>
            <a:p>
              <a:pPr algn="l">
                <a:lnSpc>
                  <a:spcPts val="2279"/>
                </a:lnSpc>
              </a:pPr>
              <a:endParaRPr/>
            </a:p>
          </p:txBody>
        </p:sp>
      </p:grpSp>
      <p:grpSp>
        <p:nvGrpSpPr>
          <p:cNvPr id="30" name="Group 30"/>
          <p:cNvGrpSpPr/>
          <p:nvPr/>
        </p:nvGrpSpPr>
        <p:grpSpPr>
          <a:xfrm>
            <a:off x="6035040" y="2743200"/>
            <a:ext cx="365760" cy="548640"/>
            <a:chOff x="0" y="0"/>
            <a:chExt cx="487680" cy="731520"/>
          </a:xfrm>
        </p:grpSpPr>
        <p:sp>
          <p:nvSpPr>
            <p:cNvPr id="31" name="Freeform 31"/>
            <p:cNvSpPr/>
            <p:nvPr/>
          </p:nvSpPr>
          <p:spPr>
            <a:xfrm>
              <a:off x="0" y="0"/>
              <a:ext cx="487680" cy="731520"/>
            </a:xfrm>
            <a:custGeom>
              <a:avLst/>
              <a:gdLst/>
              <a:ahLst/>
              <a:cxnLst/>
              <a:rect l="l" t="t" r="r" b="b"/>
              <a:pathLst>
                <a:path w="487680" h="731520">
                  <a:moveTo>
                    <a:pt x="0" y="0"/>
                  </a:moveTo>
                  <a:lnTo>
                    <a:pt x="487680" y="0"/>
                  </a:lnTo>
                  <a:lnTo>
                    <a:pt x="487680" y="731520"/>
                  </a:lnTo>
                  <a:lnTo>
                    <a:pt x="0" y="731520"/>
                  </a:lnTo>
                  <a:close/>
                </a:path>
              </a:pathLst>
            </a:custGeom>
            <a:blipFill>
              <a:blip r:embed="rId3">
                <a:alphaModFix amt="0"/>
              </a:blip>
              <a:stretch>
                <a:fillRect l="-142455" r="-142455"/>
              </a:stretch>
            </a:blipFill>
          </p:spPr>
          <p:txBody>
            <a:bodyPr/>
            <a:lstStyle/>
            <a:p>
              <a:endParaRPr lang="ko-KR" altLang="en-US"/>
            </a:p>
          </p:txBody>
        </p:sp>
        <p:sp>
          <p:nvSpPr>
            <p:cNvPr id="32" name="TextBox 32"/>
            <p:cNvSpPr txBox="1"/>
            <p:nvPr/>
          </p:nvSpPr>
          <p:spPr>
            <a:xfrm>
              <a:off x="0" y="-9525"/>
              <a:ext cx="487680" cy="741045"/>
            </a:xfrm>
            <a:prstGeom prst="rect">
              <a:avLst/>
            </a:prstGeom>
          </p:spPr>
          <p:txBody>
            <a:bodyPr lIns="0" tIns="0" rIns="0" bIns="0" rtlCol="0" anchor="ctr"/>
            <a:lstStyle/>
            <a:p>
              <a:pPr algn="ctr">
                <a:lnSpc>
                  <a:spcPts val="2400"/>
                </a:lnSpc>
              </a:pPr>
              <a:r>
                <a:rPr lang="en-US" sz="2000">
                  <a:solidFill>
                    <a:srgbClr val="6B6B6B"/>
                  </a:solidFill>
                  <a:latin typeface="프리텐다드"/>
                  <a:ea typeface="프리텐다드"/>
                  <a:cs typeface="프리텐다드"/>
                  <a:sym typeface="프리텐다드"/>
                </a:rPr>
                <a:t>▶</a:t>
              </a:r>
            </a:p>
          </p:txBody>
        </p:sp>
      </p:grpSp>
      <p:grpSp>
        <p:nvGrpSpPr>
          <p:cNvPr id="33" name="Group 33"/>
          <p:cNvGrpSpPr/>
          <p:nvPr/>
        </p:nvGrpSpPr>
        <p:grpSpPr>
          <a:xfrm>
            <a:off x="6388103" y="1998983"/>
            <a:ext cx="2585723" cy="2128523"/>
            <a:chOff x="0" y="0"/>
            <a:chExt cx="3447631" cy="2838031"/>
          </a:xfrm>
        </p:grpSpPr>
        <p:sp>
          <p:nvSpPr>
            <p:cNvPr id="34" name="Freeform 34"/>
            <p:cNvSpPr/>
            <p:nvPr/>
          </p:nvSpPr>
          <p:spPr>
            <a:xfrm>
              <a:off x="0" y="0"/>
              <a:ext cx="3447669" cy="2838069"/>
            </a:xfrm>
            <a:custGeom>
              <a:avLst/>
              <a:gdLst/>
              <a:ahLst/>
              <a:cxnLst/>
              <a:rect l="l" t="t" r="r" b="b"/>
              <a:pathLst>
                <a:path w="3447669" h="2838069">
                  <a:moveTo>
                    <a:pt x="0" y="148082"/>
                  </a:moveTo>
                  <a:cubicBezTo>
                    <a:pt x="0" y="66294"/>
                    <a:pt x="66294" y="0"/>
                    <a:pt x="148082" y="0"/>
                  </a:cubicBezTo>
                  <a:lnTo>
                    <a:pt x="3299587" y="0"/>
                  </a:lnTo>
                  <a:cubicBezTo>
                    <a:pt x="3381375" y="0"/>
                    <a:pt x="3447669" y="66294"/>
                    <a:pt x="3447669" y="148082"/>
                  </a:cubicBezTo>
                  <a:lnTo>
                    <a:pt x="3447669" y="2689987"/>
                  </a:lnTo>
                  <a:cubicBezTo>
                    <a:pt x="3447669" y="2771775"/>
                    <a:pt x="3381375" y="2838069"/>
                    <a:pt x="3299587" y="2838069"/>
                  </a:cubicBezTo>
                  <a:lnTo>
                    <a:pt x="148082" y="2838069"/>
                  </a:lnTo>
                  <a:cubicBezTo>
                    <a:pt x="66294" y="2838069"/>
                    <a:pt x="0" y="2771775"/>
                    <a:pt x="0" y="2689987"/>
                  </a:cubicBez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35" name="Group 35"/>
          <p:cNvGrpSpPr/>
          <p:nvPr/>
        </p:nvGrpSpPr>
        <p:grpSpPr>
          <a:xfrm>
            <a:off x="6400805" y="2139696"/>
            <a:ext cx="2560320" cy="585216"/>
            <a:chOff x="0" y="0"/>
            <a:chExt cx="3413760" cy="780288"/>
          </a:xfrm>
        </p:grpSpPr>
        <p:sp>
          <p:nvSpPr>
            <p:cNvPr id="36" name="Freeform 36"/>
            <p:cNvSpPr/>
            <p:nvPr/>
          </p:nvSpPr>
          <p:spPr>
            <a:xfrm>
              <a:off x="0" y="0"/>
              <a:ext cx="3413760" cy="780288"/>
            </a:xfrm>
            <a:custGeom>
              <a:avLst/>
              <a:gdLst/>
              <a:ahLst/>
              <a:cxnLst/>
              <a:rect l="l" t="t" r="r" b="b"/>
              <a:pathLst>
                <a:path w="3413760" h="780288">
                  <a:moveTo>
                    <a:pt x="0" y="0"/>
                  </a:moveTo>
                  <a:lnTo>
                    <a:pt x="3413760" y="0"/>
                  </a:lnTo>
                  <a:lnTo>
                    <a:pt x="3413760" y="780288"/>
                  </a:lnTo>
                  <a:lnTo>
                    <a:pt x="0" y="780288"/>
                  </a:lnTo>
                  <a:close/>
                </a:path>
              </a:pathLst>
            </a:custGeom>
            <a:blipFill>
              <a:blip r:embed="rId3">
                <a:alphaModFix amt="0"/>
              </a:blip>
              <a:stretch>
                <a:fillRect t="-35247" b="-35247"/>
              </a:stretch>
            </a:blipFill>
          </p:spPr>
          <p:txBody>
            <a:bodyPr/>
            <a:lstStyle/>
            <a:p>
              <a:endParaRPr lang="ko-KR" altLang="en-US"/>
            </a:p>
          </p:txBody>
        </p:sp>
        <p:sp>
          <p:nvSpPr>
            <p:cNvPr id="37" name="TextBox 37"/>
            <p:cNvSpPr txBox="1"/>
            <p:nvPr/>
          </p:nvSpPr>
          <p:spPr>
            <a:xfrm>
              <a:off x="0" y="-9525"/>
              <a:ext cx="3413760" cy="789813"/>
            </a:xfrm>
            <a:prstGeom prst="rect">
              <a:avLst/>
            </a:prstGeom>
          </p:spPr>
          <p:txBody>
            <a:bodyPr lIns="0" tIns="0" rIns="0" bIns="0" rtlCol="0" anchor="ctr"/>
            <a:lstStyle/>
            <a:p>
              <a:pPr algn="ctr">
                <a:lnSpc>
                  <a:spcPts val="2879"/>
                </a:lnSpc>
              </a:pPr>
              <a:endParaRPr/>
            </a:p>
          </p:txBody>
        </p:sp>
      </p:grpSp>
      <p:grpSp>
        <p:nvGrpSpPr>
          <p:cNvPr id="38" name="Group 38"/>
          <p:cNvGrpSpPr/>
          <p:nvPr/>
        </p:nvGrpSpPr>
        <p:grpSpPr>
          <a:xfrm>
            <a:off x="6492240" y="2743200"/>
            <a:ext cx="2377440" cy="1280160"/>
            <a:chOff x="0" y="0"/>
            <a:chExt cx="3169920" cy="1706880"/>
          </a:xfrm>
        </p:grpSpPr>
        <p:sp>
          <p:nvSpPr>
            <p:cNvPr id="39" name="Freeform 39"/>
            <p:cNvSpPr/>
            <p:nvPr/>
          </p:nvSpPr>
          <p:spPr>
            <a:xfrm>
              <a:off x="0" y="0"/>
              <a:ext cx="3169920" cy="1706880"/>
            </a:xfrm>
            <a:custGeom>
              <a:avLst/>
              <a:gdLst/>
              <a:ahLst/>
              <a:cxnLst/>
              <a:rect l="l" t="t" r="r" b="b"/>
              <a:pathLst>
                <a:path w="3169920" h="1706880">
                  <a:moveTo>
                    <a:pt x="0" y="0"/>
                  </a:moveTo>
                  <a:lnTo>
                    <a:pt x="3169920" y="0"/>
                  </a:lnTo>
                  <a:lnTo>
                    <a:pt x="3169920" y="1706880"/>
                  </a:lnTo>
                  <a:lnTo>
                    <a:pt x="0" y="1706880"/>
                  </a:lnTo>
                  <a:close/>
                </a:path>
              </a:pathLst>
            </a:custGeom>
            <a:blipFill>
              <a:blip r:embed="rId3">
                <a:alphaModFix amt="0"/>
              </a:blip>
              <a:stretch>
                <a:fillRect l="-19086" r="-19086"/>
              </a:stretch>
            </a:blipFill>
          </p:spPr>
          <p:txBody>
            <a:bodyPr/>
            <a:lstStyle/>
            <a:p>
              <a:endParaRPr lang="ko-KR" altLang="en-US"/>
            </a:p>
          </p:txBody>
        </p:sp>
        <p:sp>
          <p:nvSpPr>
            <p:cNvPr id="40" name="TextBox 40"/>
            <p:cNvSpPr txBox="1"/>
            <p:nvPr/>
          </p:nvSpPr>
          <p:spPr>
            <a:xfrm>
              <a:off x="0" y="0"/>
              <a:ext cx="3169920" cy="1706880"/>
            </a:xfrm>
            <a:prstGeom prst="rect">
              <a:avLst/>
            </a:prstGeom>
          </p:spPr>
          <p:txBody>
            <a:bodyPr lIns="0" tIns="0" rIns="0" bIns="0" rtlCol="0" anchor="ctr"/>
            <a:lstStyle/>
            <a:p>
              <a:pPr algn="l">
                <a:lnSpc>
                  <a:spcPts val="2279"/>
                </a:lnSpc>
              </a:pPr>
              <a:endParaRPr/>
            </a:p>
          </p:txBody>
        </p:sp>
      </p:grpSp>
      <p:grpSp>
        <p:nvGrpSpPr>
          <p:cNvPr id="41" name="Group 41"/>
          <p:cNvGrpSpPr/>
          <p:nvPr/>
        </p:nvGrpSpPr>
        <p:grpSpPr>
          <a:xfrm>
            <a:off x="8961120" y="2743200"/>
            <a:ext cx="365760" cy="548640"/>
            <a:chOff x="0" y="0"/>
            <a:chExt cx="487680" cy="731520"/>
          </a:xfrm>
        </p:grpSpPr>
        <p:sp>
          <p:nvSpPr>
            <p:cNvPr id="42" name="Freeform 42"/>
            <p:cNvSpPr/>
            <p:nvPr/>
          </p:nvSpPr>
          <p:spPr>
            <a:xfrm>
              <a:off x="0" y="0"/>
              <a:ext cx="487680" cy="731520"/>
            </a:xfrm>
            <a:custGeom>
              <a:avLst/>
              <a:gdLst/>
              <a:ahLst/>
              <a:cxnLst/>
              <a:rect l="l" t="t" r="r" b="b"/>
              <a:pathLst>
                <a:path w="487680" h="731520">
                  <a:moveTo>
                    <a:pt x="0" y="0"/>
                  </a:moveTo>
                  <a:lnTo>
                    <a:pt x="487680" y="0"/>
                  </a:lnTo>
                  <a:lnTo>
                    <a:pt x="487680" y="731520"/>
                  </a:lnTo>
                  <a:lnTo>
                    <a:pt x="0" y="731520"/>
                  </a:lnTo>
                  <a:close/>
                </a:path>
              </a:pathLst>
            </a:custGeom>
            <a:blipFill>
              <a:blip r:embed="rId3">
                <a:alphaModFix amt="0"/>
              </a:blip>
              <a:stretch>
                <a:fillRect l="-142455" r="-142455"/>
              </a:stretch>
            </a:blipFill>
          </p:spPr>
          <p:txBody>
            <a:bodyPr/>
            <a:lstStyle/>
            <a:p>
              <a:endParaRPr lang="ko-KR" altLang="en-US"/>
            </a:p>
          </p:txBody>
        </p:sp>
        <p:sp>
          <p:nvSpPr>
            <p:cNvPr id="43" name="TextBox 43"/>
            <p:cNvSpPr txBox="1"/>
            <p:nvPr/>
          </p:nvSpPr>
          <p:spPr>
            <a:xfrm>
              <a:off x="0" y="-9525"/>
              <a:ext cx="487680" cy="741045"/>
            </a:xfrm>
            <a:prstGeom prst="rect">
              <a:avLst/>
            </a:prstGeom>
          </p:spPr>
          <p:txBody>
            <a:bodyPr lIns="0" tIns="0" rIns="0" bIns="0" rtlCol="0" anchor="ctr"/>
            <a:lstStyle/>
            <a:p>
              <a:pPr algn="ctr">
                <a:lnSpc>
                  <a:spcPts val="2400"/>
                </a:lnSpc>
              </a:pPr>
              <a:r>
                <a:rPr lang="en-US" sz="2000">
                  <a:solidFill>
                    <a:srgbClr val="6B6B6B"/>
                  </a:solidFill>
                  <a:latin typeface="프리텐다드"/>
                  <a:ea typeface="프리텐다드"/>
                  <a:cs typeface="프리텐다드"/>
                  <a:sym typeface="프리텐다드"/>
                </a:rPr>
                <a:t>▶</a:t>
              </a:r>
            </a:p>
          </p:txBody>
        </p:sp>
      </p:grpSp>
      <p:grpSp>
        <p:nvGrpSpPr>
          <p:cNvPr id="44" name="Group 44"/>
          <p:cNvGrpSpPr/>
          <p:nvPr/>
        </p:nvGrpSpPr>
        <p:grpSpPr>
          <a:xfrm>
            <a:off x="9314183" y="1998983"/>
            <a:ext cx="2585723" cy="2128523"/>
            <a:chOff x="0" y="0"/>
            <a:chExt cx="3447631" cy="2838031"/>
          </a:xfrm>
        </p:grpSpPr>
        <p:sp>
          <p:nvSpPr>
            <p:cNvPr id="45" name="Freeform 45"/>
            <p:cNvSpPr/>
            <p:nvPr/>
          </p:nvSpPr>
          <p:spPr>
            <a:xfrm>
              <a:off x="0" y="0"/>
              <a:ext cx="3447669" cy="2838069"/>
            </a:xfrm>
            <a:custGeom>
              <a:avLst/>
              <a:gdLst/>
              <a:ahLst/>
              <a:cxnLst/>
              <a:rect l="l" t="t" r="r" b="b"/>
              <a:pathLst>
                <a:path w="3447669" h="2838069">
                  <a:moveTo>
                    <a:pt x="0" y="148082"/>
                  </a:moveTo>
                  <a:cubicBezTo>
                    <a:pt x="0" y="66294"/>
                    <a:pt x="66294" y="0"/>
                    <a:pt x="148082" y="0"/>
                  </a:cubicBezTo>
                  <a:lnTo>
                    <a:pt x="3299587" y="0"/>
                  </a:lnTo>
                  <a:cubicBezTo>
                    <a:pt x="3381375" y="0"/>
                    <a:pt x="3447669" y="66294"/>
                    <a:pt x="3447669" y="148082"/>
                  </a:cubicBezTo>
                  <a:lnTo>
                    <a:pt x="3447669" y="2689987"/>
                  </a:lnTo>
                  <a:cubicBezTo>
                    <a:pt x="3447669" y="2771775"/>
                    <a:pt x="3381375" y="2838069"/>
                    <a:pt x="3299587" y="2838069"/>
                  </a:cubicBezTo>
                  <a:lnTo>
                    <a:pt x="148082" y="2838069"/>
                  </a:lnTo>
                  <a:cubicBezTo>
                    <a:pt x="66294" y="2838069"/>
                    <a:pt x="0" y="2771775"/>
                    <a:pt x="0" y="2689987"/>
                  </a:cubicBezTo>
                  <a:close/>
                </a:path>
              </a:pathLst>
            </a:custGeom>
            <a:solidFill>
              <a:srgbClr val="3A3A3A"/>
            </a:solidFill>
            <a:ln w="25400" cap="sq">
              <a:solidFill>
                <a:srgbClr val="3A3A3A"/>
              </a:solidFill>
              <a:prstDash val="solid"/>
              <a:miter/>
            </a:ln>
          </p:spPr>
          <p:txBody>
            <a:bodyPr/>
            <a:lstStyle/>
            <a:p>
              <a:endParaRPr lang="ko-KR" altLang="en-US"/>
            </a:p>
          </p:txBody>
        </p:sp>
      </p:grpSp>
      <p:grpSp>
        <p:nvGrpSpPr>
          <p:cNvPr id="46" name="Group 46"/>
          <p:cNvGrpSpPr/>
          <p:nvPr/>
        </p:nvGrpSpPr>
        <p:grpSpPr>
          <a:xfrm>
            <a:off x="9326885" y="2139696"/>
            <a:ext cx="2560320" cy="585216"/>
            <a:chOff x="0" y="0"/>
            <a:chExt cx="3413760" cy="780288"/>
          </a:xfrm>
        </p:grpSpPr>
        <p:sp>
          <p:nvSpPr>
            <p:cNvPr id="47" name="Freeform 47"/>
            <p:cNvSpPr/>
            <p:nvPr/>
          </p:nvSpPr>
          <p:spPr>
            <a:xfrm>
              <a:off x="0" y="0"/>
              <a:ext cx="3413760" cy="780288"/>
            </a:xfrm>
            <a:custGeom>
              <a:avLst/>
              <a:gdLst/>
              <a:ahLst/>
              <a:cxnLst/>
              <a:rect l="l" t="t" r="r" b="b"/>
              <a:pathLst>
                <a:path w="3413760" h="780288">
                  <a:moveTo>
                    <a:pt x="0" y="0"/>
                  </a:moveTo>
                  <a:lnTo>
                    <a:pt x="3413760" y="0"/>
                  </a:lnTo>
                  <a:lnTo>
                    <a:pt x="3413760" y="780288"/>
                  </a:lnTo>
                  <a:lnTo>
                    <a:pt x="0" y="780288"/>
                  </a:lnTo>
                  <a:close/>
                </a:path>
              </a:pathLst>
            </a:custGeom>
            <a:blipFill>
              <a:blip r:embed="rId3">
                <a:alphaModFix amt="0"/>
              </a:blip>
              <a:stretch>
                <a:fillRect t="-35247" b="-35247"/>
              </a:stretch>
            </a:blipFill>
          </p:spPr>
          <p:txBody>
            <a:bodyPr/>
            <a:lstStyle/>
            <a:p>
              <a:endParaRPr lang="ko-KR" altLang="en-US"/>
            </a:p>
          </p:txBody>
        </p:sp>
        <p:sp>
          <p:nvSpPr>
            <p:cNvPr id="48" name="TextBox 48"/>
            <p:cNvSpPr txBox="1"/>
            <p:nvPr/>
          </p:nvSpPr>
          <p:spPr>
            <a:xfrm>
              <a:off x="0" y="-9525"/>
              <a:ext cx="3413760" cy="789813"/>
            </a:xfrm>
            <a:prstGeom prst="rect">
              <a:avLst/>
            </a:prstGeom>
          </p:spPr>
          <p:txBody>
            <a:bodyPr lIns="0" tIns="0" rIns="0" bIns="0" rtlCol="0" anchor="ctr"/>
            <a:lstStyle/>
            <a:p>
              <a:pPr algn="ctr">
                <a:lnSpc>
                  <a:spcPts val="2879"/>
                </a:lnSpc>
              </a:pPr>
              <a:endParaRPr/>
            </a:p>
          </p:txBody>
        </p:sp>
      </p:grpSp>
      <p:grpSp>
        <p:nvGrpSpPr>
          <p:cNvPr id="49" name="Group 49"/>
          <p:cNvGrpSpPr/>
          <p:nvPr/>
        </p:nvGrpSpPr>
        <p:grpSpPr>
          <a:xfrm>
            <a:off x="9418320" y="2743200"/>
            <a:ext cx="2377440" cy="1280160"/>
            <a:chOff x="0" y="0"/>
            <a:chExt cx="3169920" cy="1706880"/>
          </a:xfrm>
        </p:grpSpPr>
        <p:sp>
          <p:nvSpPr>
            <p:cNvPr id="50" name="Freeform 50"/>
            <p:cNvSpPr/>
            <p:nvPr/>
          </p:nvSpPr>
          <p:spPr>
            <a:xfrm>
              <a:off x="0" y="0"/>
              <a:ext cx="3169920" cy="1706880"/>
            </a:xfrm>
            <a:custGeom>
              <a:avLst/>
              <a:gdLst/>
              <a:ahLst/>
              <a:cxnLst/>
              <a:rect l="l" t="t" r="r" b="b"/>
              <a:pathLst>
                <a:path w="3169920" h="1706880">
                  <a:moveTo>
                    <a:pt x="0" y="0"/>
                  </a:moveTo>
                  <a:lnTo>
                    <a:pt x="3169920" y="0"/>
                  </a:lnTo>
                  <a:lnTo>
                    <a:pt x="3169920" y="1706880"/>
                  </a:lnTo>
                  <a:lnTo>
                    <a:pt x="0" y="1706880"/>
                  </a:lnTo>
                  <a:close/>
                </a:path>
              </a:pathLst>
            </a:custGeom>
            <a:blipFill>
              <a:blip r:embed="rId3">
                <a:alphaModFix amt="0"/>
              </a:blip>
              <a:stretch>
                <a:fillRect l="-19086" r="-19086"/>
              </a:stretch>
            </a:blipFill>
          </p:spPr>
          <p:txBody>
            <a:bodyPr/>
            <a:lstStyle/>
            <a:p>
              <a:endParaRPr lang="ko-KR" altLang="en-US"/>
            </a:p>
          </p:txBody>
        </p:sp>
        <p:sp>
          <p:nvSpPr>
            <p:cNvPr id="51" name="TextBox 51"/>
            <p:cNvSpPr txBox="1"/>
            <p:nvPr/>
          </p:nvSpPr>
          <p:spPr>
            <a:xfrm>
              <a:off x="0" y="0"/>
              <a:ext cx="3169920" cy="1706880"/>
            </a:xfrm>
            <a:prstGeom prst="rect">
              <a:avLst/>
            </a:prstGeom>
          </p:spPr>
          <p:txBody>
            <a:bodyPr lIns="0" tIns="0" rIns="0" bIns="0" rtlCol="0" anchor="ctr"/>
            <a:lstStyle/>
            <a:p>
              <a:pPr algn="ctr">
                <a:lnSpc>
                  <a:spcPts val="2279"/>
                </a:lnSpc>
              </a:pPr>
              <a:endParaRPr/>
            </a:p>
          </p:txBody>
        </p:sp>
      </p:grpSp>
      <p:grpSp>
        <p:nvGrpSpPr>
          <p:cNvPr id="52" name="Group 52"/>
          <p:cNvGrpSpPr/>
          <p:nvPr/>
        </p:nvGrpSpPr>
        <p:grpSpPr>
          <a:xfrm>
            <a:off x="11887200" y="2743200"/>
            <a:ext cx="365760" cy="548640"/>
            <a:chOff x="0" y="0"/>
            <a:chExt cx="487680" cy="731520"/>
          </a:xfrm>
        </p:grpSpPr>
        <p:sp>
          <p:nvSpPr>
            <p:cNvPr id="53" name="Freeform 53"/>
            <p:cNvSpPr/>
            <p:nvPr/>
          </p:nvSpPr>
          <p:spPr>
            <a:xfrm>
              <a:off x="0" y="0"/>
              <a:ext cx="487680" cy="731520"/>
            </a:xfrm>
            <a:custGeom>
              <a:avLst/>
              <a:gdLst/>
              <a:ahLst/>
              <a:cxnLst/>
              <a:rect l="l" t="t" r="r" b="b"/>
              <a:pathLst>
                <a:path w="487680" h="731520">
                  <a:moveTo>
                    <a:pt x="0" y="0"/>
                  </a:moveTo>
                  <a:lnTo>
                    <a:pt x="487680" y="0"/>
                  </a:lnTo>
                  <a:lnTo>
                    <a:pt x="487680" y="731520"/>
                  </a:lnTo>
                  <a:lnTo>
                    <a:pt x="0" y="731520"/>
                  </a:lnTo>
                  <a:close/>
                </a:path>
              </a:pathLst>
            </a:custGeom>
            <a:blipFill>
              <a:blip r:embed="rId3">
                <a:alphaModFix amt="0"/>
              </a:blip>
              <a:stretch>
                <a:fillRect l="-142455" r="-142455"/>
              </a:stretch>
            </a:blipFill>
          </p:spPr>
          <p:txBody>
            <a:bodyPr/>
            <a:lstStyle/>
            <a:p>
              <a:endParaRPr lang="ko-KR" altLang="en-US"/>
            </a:p>
          </p:txBody>
        </p:sp>
        <p:sp>
          <p:nvSpPr>
            <p:cNvPr id="54" name="TextBox 54"/>
            <p:cNvSpPr txBox="1"/>
            <p:nvPr/>
          </p:nvSpPr>
          <p:spPr>
            <a:xfrm>
              <a:off x="0" y="-9525"/>
              <a:ext cx="487680" cy="741045"/>
            </a:xfrm>
            <a:prstGeom prst="rect">
              <a:avLst/>
            </a:prstGeom>
          </p:spPr>
          <p:txBody>
            <a:bodyPr lIns="0" tIns="0" rIns="0" bIns="0" rtlCol="0" anchor="ctr"/>
            <a:lstStyle/>
            <a:p>
              <a:pPr algn="ctr">
                <a:lnSpc>
                  <a:spcPts val="2400"/>
                </a:lnSpc>
              </a:pPr>
              <a:r>
                <a:rPr lang="en-US" sz="2000">
                  <a:solidFill>
                    <a:srgbClr val="6B6B6B"/>
                  </a:solidFill>
                  <a:latin typeface="프리텐다드"/>
                  <a:ea typeface="프리텐다드"/>
                  <a:cs typeface="프리텐다드"/>
                  <a:sym typeface="프리텐다드"/>
                </a:rPr>
                <a:t>▶</a:t>
              </a:r>
            </a:p>
          </p:txBody>
        </p:sp>
      </p:grpSp>
      <p:grpSp>
        <p:nvGrpSpPr>
          <p:cNvPr id="55" name="Group 55"/>
          <p:cNvGrpSpPr/>
          <p:nvPr/>
        </p:nvGrpSpPr>
        <p:grpSpPr>
          <a:xfrm>
            <a:off x="12240263" y="1998983"/>
            <a:ext cx="2585723" cy="2128523"/>
            <a:chOff x="0" y="0"/>
            <a:chExt cx="3447631" cy="2838031"/>
          </a:xfrm>
        </p:grpSpPr>
        <p:sp>
          <p:nvSpPr>
            <p:cNvPr id="56" name="Freeform 56"/>
            <p:cNvSpPr/>
            <p:nvPr/>
          </p:nvSpPr>
          <p:spPr>
            <a:xfrm>
              <a:off x="0" y="0"/>
              <a:ext cx="3447669" cy="2838069"/>
            </a:xfrm>
            <a:custGeom>
              <a:avLst/>
              <a:gdLst/>
              <a:ahLst/>
              <a:cxnLst/>
              <a:rect l="l" t="t" r="r" b="b"/>
              <a:pathLst>
                <a:path w="3447669" h="2838069">
                  <a:moveTo>
                    <a:pt x="0" y="148082"/>
                  </a:moveTo>
                  <a:cubicBezTo>
                    <a:pt x="0" y="66294"/>
                    <a:pt x="66294" y="0"/>
                    <a:pt x="148082" y="0"/>
                  </a:cubicBezTo>
                  <a:lnTo>
                    <a:pt x="3299587" y="0"/>
                  </a:lnTo>
                  <a:cubicBezTo>
                    <a:pt x="3381375" y="0"/>
                    <a:pt x="3447669" y="66294"/>
                    <a:pt x="3447669" y="148082"/>
                  </a:cubicBezTo>
                  <a:lnTo>
                    <a:pt x="3447669" y="2689987"/>
                  </a:lnTo>
                  <a:cubicBezTo>
                    <a:pt x="3447669" y="2771775"/>
                    <a:pt x="3381375" y="2838069"/>
                    <a:pt x="3299587" y="2838069"/>
                  </a:cubicBezTo>
                  <a:lnTo>
                    <a:pt x="148082" y="2838069"/>
                  </a:lnTo>
                  <a:cubicBezTo>
                    <a:pt x="66294" y="2838069"/>
                    <a:pt x="0" y="2771775"/>
                    <a:pt x="0" y="2689987"/>
                  </a:cubicBezTo>
                  <a:close/>
                </a:path>
              </a:pathLst>
            </a:custGeom>
            <a:solidFill>
              <a:srgbClr val="3A3A3A"/>
            </a:solidFill>
            <a:ln w="25400" cap="sq">
              <a:solidFill>
                <a:srgbClr val="3A3A3A"/>
              </a:solidFill>
              <a:prstDash val="solid"/>
              <a:miter/>
            </a:ln>
          </p:spPr>
          <p:txBody>
            <a:bodyPr/>
            <a:lstStyle/>
            <a:p>
              <a:endParaRPr lang="ko-KR" altLang="en-US"/>
            </a:p>
          </p:txBody>
        </p:sp>
      </p:grpSp>
      <p:grpSp>
        <p:nvGrpSpPr>
          <p:cNvPr id="57" name="Group 57"/>
          <p:cNvGrpSpPr/>
          <p:nvPr/>
        </p:nvGrpSpPr>
        <p:grpSpPr>
          <a:xfrm>
            <a:off x="12252965" y="2139696"/>
            <a:ext cx="2560320" cy="585216"/>
            <a:chOff x="0" y="0"/>
            <a:chExt cx="3413760" cy="780288"/>
          </a:xfrm>
        </p:grpSpPr>
        <p:sp>
          <p:nvSpPr>
            <p:cNvPr id="58" name="Freeform 58"/>
            <p:cNvSpPr/>
            <p:nvPr/>
          </p:nvSpPr>
          <p:spPr>
            <a:xfrm>
              <a:off x="0" y="0"/>
              <a:ext cx="3413760" cy="780288"/>
            </a:xfrm>
            <a:custGeom>
              <a:avLst/>
              <a:gdLst/>
              <a:ahLst/>
              <a:cxnLst/>
              <a:rect l="l" t="t" r="r" b="b"/>
              <a:pathLst>
                <a:path w="3413760" h="780288">
                  <a:moveTo>
                    <a:pt x="0" y="0"/>
                  </a:moveTo>
                  <a:lnTo>
                    <a:pt x="3413760" y="0"/>
                  </a:lnTo>
                  <a:lnTo>
                    <a:pt x="3413760" y="780288"/>
                  </a:lnTo>
                  <a:lnTo>
                    <a:pt x="0" y="780288"/>
                  </a:lnTo>
                  <a:close/>
                </a:path>
              </a:pathLst>
            </a:custGeom>
            <a:blipFill>
              <a:blip r:embed="rId3">
                <a:alphaModFix amt="0"/>
              </a:blip>
              <a:stretch>
                <a:fillRect t="-35247" b="-35247"/>
              </a:stretch>
            </a:blipFill>
          </p:spPr>
          <p:txBody>
            <a:bodyPr/>
            <a:lstStyle/>
            <a:p>
              <a:endParaRPr lang="ko-KR" altLang="en-US"/>
            </a:p>
          </p:txBody>
        </p:sp>
        <p:sp>
          <p:nvSpPr>
            <p:cNvPr id="59" name="TextBox 59"/>
            <p:cNvSpPr txBox="1"/>
            <p:nvPr/>
          </p:nvSpPr>
          <p:spPr>
            <a:xfrm>
              <a:off x="0" y="-9525"/>
              <a:ext cx="3413760" cy="789813"/>
            </a:xfrm>
            <a:prstGeom prst="rect">
              <a:avLst/>
            </a:prstGeom>
          </p:spPr>
          <p:txBody>
            <a:bodyPr lIns="0" tIns="0" rIns="0" bIns="0" rtlCol="0" anchor="ctr"/>
            <a:lstStyle/>
            <a:p>
              <a:pPr algn="ctr">
                <a:lnSpc>
                  <a:spcPts val="2879"/>
                </a:lnSpc>
              </a:pPr>
              <a:endParaRPr/>
            </a:p>
          </p:txBody>
        </p:sp>
      </p:grpSp>
      <p:grpSp>
        <p:nvGrpSpPr>
          <p:cNvPr id="60" name="Group 60"/>
          <p:cNvGrpSpPr/>
          <p:nvPr/>
        </p:nvGrpSpPr>
        <p:grpSpPr>
          <a:xfrm>
            <a:off x="12344400" y="2743200"/>
            <a:ext cx="2377440" cy="1280160"/>
            <a:chOff x="0" y="0"/>
            <a:chExt cx="3169920" cy="1706880"/>
          </a:xfrm>
        </p:grpSpPr>
        <p:sp>
          <p:nvSpPr>
            <p:cNvPr id="61" name="Freeform 61"/>
            <p:cNvSpPr/>
            <p:nvPr/>
          </p:nvSpPr>
          <p:spPr>
            <a:xfrm>
              <a:off x="0" y="0"/>
              <a:ext cx="3169920" cy="1706880"/>
            </a:xfrm>
            <a:custGeom>
              <a:avLst/>
              <a:gdLst/>
              <a:ahLst/>
              <a:cxnLst/>
              <a:rect l="l" t="t" r="r" b="b"/>
              <a:pathLst>
                <a:path w="3169920" h="1706880">
                  <a:moveTo>
                    <a:pt x="0" y="0"/>
                  </a:moveTo>
                  <a:lnTo>
                    <a:pt x="3169920" y="0"/>
                  </a:lnTo>
                  <a:lnTo>
                    <a:pt x="3169920" y="1706880"/>
                  </a:lnTo>
                  <a:lnTo>
                    <a:pt x="0" y="1706880"/>
                  </a:lnTo>
                  <a:close/>
                </a:path>
              </a:pathLst>
            </a:custGeom>
            <a:blipFill>
              <a:blip r:embed="rId3">
                <a:alphaModFix amt="0"/>
              </a:blip>
              <a:stretch>
                <a:fillRect l="-19086" r="-19086"/>
              </a:stretch>
            </a:blipFill>
          </p:spPr>
          <p:txBody>
            <a:bodyPr/>
            <a:lstStyle/>
            <a:p>
              <a:endParaRPr lang="ko-KR" altLang="en-US"/>
            </a:p>
          </p:txBody>
        </p:sp>
        <p:sp>
          <p:nvSpPr>
            <p:cNvPr id="62" name="TextBox 62"/>
            <p:cNvSpPr txBox="1"/>
            <p:nvPr/>
          </p:nvSpPr>
          <p:spPr>
            <a:xfrm>
              <a:off x="0" y="0"/>
              <a:ext cx="3169920" cy="1706880"/>
            </a:xfrm>
            <a:prstGeom prst="rect">
              <a:avLst/>
            </a:prstGeom>
          </p:spPr>
          <p:txBody>
            <a:bodyPr lIns="0" tIns="0" rIns="0" bIns="0" rtlCol="0" anchor="ctr"/>
            <a:lstStyle/>
            <a:p>
              <a:pPr algn="ctr">
                <a:lnSpc>
                  <a:spcPts val="2279"/>
                </a:lnSpc>
              </a:pPr>
              <a:endParaRPr/>
            </a:p>
          </p:txBody>
        </p:sp>
      </p:grpSp>
      <p:grpSp>
        <p:nvGrpSpPr>
          <p:cNvPr id="63" name="Group 63"/>
          <p:cNvGrpSpPr/>
          <p:nvPr/>
        </p:nvGrpSpPr>
        <p:grpSpPr>
          <a:xfrm>
            <a:off x="14813280" y="2743200"/>
            <a:ext cx="365760" cy="548640"/>
            <a:chOff x="0" y="0"/>
            <a:chExt cx="487680" cy="731520"/>
          </a:xfrm>
        </p:grpSpPr>
        <p:sp>
          <p:nvSpPr>
            <p:cNvPr id="64" name="Freeform 64"/>
            <p:cNvSpPr/>
            <p:nvPr/>
          </p:nvSpPr>
          <p:spPr>
            <a:xfrm>
              <a:off x="0" y="0"/>
              <a:ext cx="487680" cy="731520"/>
            </a:xfrm>
            <a:custGeom>
              <a:avLst/>
              <a:gdLst/>
              <a:ahLst/>
              <a:cxnLst/>
              <a:rect l="l" t="t" r="r" b="b"/>
              <a:pathLst>
                <a:path w="487680" h="731520">
                  <a:moveTo>
                    <a:pt x="0" y="0"/>
                  </a:moveTo>
                  <a:lnTo>
                    <a:pt x="487680" y="0"/>
                  </a:lnTo>
                  <a:lnTo>
                    <a:pt x="487680" y="731520"/>
                  </a:lnTo>
                  <a:lnTo>
                    <a:pt x="0" y="731520"/>
                  </a:lnTo>
                  <a:close/>
                </a:path>
              </a:pathLst>
            </a:custGeom>
            <a:blipFill>
              <a:blip r:embed="rId3">
                <a:alphaModFix amt="0"/>
              </a:blip>
              <a:stretch>
                <a:fillRect l="-142455" r="-142455"/>
              </a:stretch>
            </a:blipFill>
          </p:spPr>
          <p:txBody>
            <a:bodyPr/>
            <a:lstStyle/>
            <a:p>
              <a:endParaRPr lang="ko-KR" altLang="en-US"/>
            </a:p>
          </p:txBody>
        </p:sp>
        <p:sp>
          <p:nvSpPr>
            <p:cNvPr id="65" name="TextBox 65"/>
            <p:cNvSpPr txBox="1"/>
            <p:nvPr/>
          </p:nvSpPr>
          <p:spPr>
            <a:xfrm>
              <a:off x="0" y="-9525"/>
              <a:ext cx="487680" cy="741045"/>
            </a:xfrm>
            <a:prstGeom prst="rect">
              <a:avLst/>
            </a:prstGeom>
          </p:spPr>
          <p:txBody>
            <a:bodyPr lIns="0" tIns="0" rIns="0" bIns="0" rtlCol="0" anchor="ctr"/>
            <a:lstStyle/>
            <a:p>
              <a:pPr algn="ctr">
                <a:lnSpc>
                  <a:spcPts val="2400"/>
                </a:lnSpc>
              </a:pPr>
              <a:r>
                <a:rPr lang="en-US" sz="2000">
                  <a:solidFill>
                    <a:srgbClr val="6B6B6B"/>
                  </a:solidFill>
                  <a:latin typeface="프리텐다드"/>
                  <a:ea typeface="프리텐다드"/>
                  <a:cs typeface="프리텐다드"/>
                  <a:sym typeface="프리텐다드"/>
                </a:rPr>
                <a:t>▶</a:t>
              </a:r>
            </a:p>
          </p:txBody>
        </p:sp>
      </p:grpSp>
      <p:grpSp>
        <p:nvGrpSpPr>
          <p:cNvPr id="66" name="Group 66"/>
          <p:cNvGrpSpPr/>
          <p:nvPr/>
        </p:nvGrpSpPr>
        <p:grpSpPr>
          <a:xfrm>
            <a:off x="15166343" y="1998983"/>
            <a:ext cx="2585723" cy="2128523"/>
            <a:chOff x="0" y="0"/>
            <a:chExt cx="3447631" cy="2838031"/>
          </a:xfrm>
        </p:grpSpPr>
        <p:sp>
          <p:nvSpPr>
            <p:cNvPr id="67" name="Freeform 67"/>
            <p:cNvSpPr/>
            <p:nvPr/>
          </p:nvSpPr>
          <p:spPr>
            <a:xfrm>
              <a:off x="0" y="0"/>
              <a:ext cx="3447669" cy="2838069"/>
            </a:xfrm>
            <a:custGeom>
              <a:avLst/>
              <a:gdLst/>
              <a:ahLst/>
              <a:cxnLst/>
              <a:rect l="l" t="t" r="r" b="b"/>
              <a:pathLst>
                <a:path w="3447669" h="2838069">
                  <a:moveTo>
                    <a:pt x="0" y="148082"/>
                  </a:moveTo>
                  <a:cubicBezTo>
                    <a:pt x="0" y="66294"/>
                    <a:pt x="66294" y="0"/>
                    <a:pt x="148082" y="0"/>
                  </a:cubicBezTo>
                  <a:lnTo>
                    <a:pt x="3299587" y="0"/>
                  </a:lnTo>
                  <a:cubicBezTo>
                    <a:pt x="3381375" y="0"/>
                    <a:pt x="3447669" y="66294"/>
                    <a:pt x="3447669" y="148082"/>
                  </a:cubicBezTo>
                  <a:lnTo>
                    <a:pt x="3447669" y="2689987"/>
                  </a:lnTo>
                  <a:cubicBezTo>
                    <a:pt x="3447669" y="2771775"/>
                    <a:pt x="3381375" y="2838069"/>
                    <a:pt x="3299587" y="2838069"/>
                  </a:cubicBezTo>
                  <a:lnTo>
                    <a:pt x="148082" y="2838069"/>
                  </a:lnTo>
                  <a:cubicBezTo>
                    <a:pt x="66294" y="2838069"/>
                    <a:pt x="0" y="2771775"/>
                    <a:pt x="0" y="2689987"/>
                  </a:cubicBezTo>
                  <a:close/>
                </a:path>
              </a:pathLst>
            </a:custGeom>
            <a:solidFill>
              <a:srgbClr val="3A3A3A"/>
            </a:solidFill>
            <a:ln w="25400" cap="sq">
              <a:solidFill>
                <a:srgbClr val="3A3A3A"/>
              </a:solidFill>
              <a:prstDash val="solid"/>
              <a:miter/>
            </a:ln>
          </p:spPr>
          <p:txBody>
            <a:bodyPr/>
            <a:lstStyle/>
            <a:p>
              <a:endParaRPr lang="ko-KR" altLang="en-US"/>
            </a:p>
          </p:txBody>
        </p:sp>
      </p:grpSp>
      <p:grpSp>
        <p:nvGrpSpPr>
          <p:cNvPr id="68" name="Group 68"/>
          <p:cNvGrpSpPr/>
          <p:nvPr/>
        </p:nvGrpSpPr>
        <p:grpSpPr>
          <a:xfrm>
            <a:off x="15270480" y="2743200"/>
            <a:ext cx="2377440" cy="1280160"/>
            <a:chOff x="0" y="0"/>
            <a:chExt cx="3169920" cy="1706880"/>
          </a:xfrm>
        </p:grpSpPr>
        <p:sp>
          <p:nvSpPr>
            <p:cNvPr id="69" name="Freeform 69"/>
            <p:cNvSpPr/>
            <p:nvPr/>
          </p:nvSpPr>
          <p:spPr>
            <a:xfrm>
              <a:off x="0" y="0"/>
              <a:ext cx="3169920" cy="1706880"/>
            </a:xfrm>
            <a:custGeom>
              <a:avLst/>
              <a:gdLst/>
              <a:ahLst/>
              <a:cxnLst/>
              <a:rect l="l" t="t" r="r" b="b"/>
              <a:pathLst>
                <a:path w="3169920" h="1706880">
                  <a:moveTo>
                    <a:pt x="0" y="0"/>
                  </a:moveTo>
                  <a:lnTo>
                    <a:pt x="3169920" y="0"/>
                  </a:lnTo>
                  <a:lnTo>
                    <a:pt x="3169920" y="1706880"/>
                  </a:lnTo>
                  <a:lnTo>
                    <a:pt x="0" y="1706880"/>
                  </a:lnTo>
                  <a:close/>
                </a:path>
              </a:pathLst>
            </a:custGeom>
            <a:blipFill>
              <a:blip r:embed="rId3">
                <a:alphaModFix amt="0"/>
              </a:blip>
              <a:stretch>
                <a:fillRect l="-19086" r="-19086"/>
              </a:stretch>
            </a:blipFill>
          </p:spPr>
          <p:txBody>
            <a:bodyPr/>
            <a:lstStyle/>
            <a:p>
              <a:endParaRPr lang="ko-KR" altLang="en-US"/>
            </a:p>
          </p:txBody>
        </p:sp>
        <p:sp>
          <p:nvSpPr>
            <p:cNvPr id="70" name="TextBox 70"/>
            <p:cNvSpPr txBox="1"/>
            <p:nvPr/>
          </p:nvSpPr>
          <p:spPr>
            <a:xfrm>
              <a:off x="0" y="0"/>
              <a:ext cx="3169920" cy="1706880"/>
            </a:xfrm>
            <a:prstGeom prst="rect">
              <a:avLst/>
            </a:prstGeom>
          </p:spPr>
          <p:txBody>
            <a:bodyPr lIns="0" tIns="0" rIns="0" bIns="0" rtlCol="0" anchor="ctr"/>
            <a:lstStyle/>
            <a:p>
              <a:pPr algn="ctr">
                <a:lnSpc>
                  <a:spcPts val="2279"/>
                </a:lnSpc>
              </a:pPr>
              <a:endParaRPr/>
            </a:p>
          </p:txBody>
        </p:sp>
      </p:grpSp>
      <p:sp>
        <p:nvSpPr>
          <p:cNvPr id="71" name="TextBox 71"/>
          <p:cNvSpPr txBox="1"/>
          <p:nvPr/>
        </p:nvSpPr>
        <p:spPr>
          <a:xfrm>
            <a:off x="535943" y="4323083"/>
            <a:ext cx="5486400" cy="285750"/>
          </a:xfrm>
          <a:prstGeom prst="rect">
            <a:avLst/>
          </a:prstGeom>
        </p:spPr>
        <p:txBody>
          <a:bodyPr lIns="0" tIns="0" rIns="0" bIns="0" rtlCol="0" anchor="t">
            <a:spAutoFit/>
          </a:bodyPr>
          <a:lstStyle/>
          <a:p>
            <a:pPr algn="l">
              <a:lnSpc>
                <a:spcPts val="2279"/>
              </a:lnSpc>
            </a:pPr>
            <a:r>
              <a:rPr lang="en-US" sz="1899">
                <a:solidFill>
                  <a:srgbClr val="8B0000"/>
                </a:solidFill>
                <a:latin typeface="프리텐다드"/>
                <a:ea typeface="프리텐다드"/>
                <a:cs typeface="프리텐다드"/>
                <a:sym typeface="프리텐다드"/>
              </a:rPr>
              <a:t>■ </a:t>
            </a:r>
            <a:r>
              <a:rPr lang="en-US" sz="1899">
                <a:solidFill>
                  <a:srgbClr val="6B6B6B"/>
                </a:solidFill>
                <a:latin typeface="프리텐다드"/>
                <a:ea typeface="프리텐다드"/>
                <a:cs typeface="프리텐다드"/>
                <a:sym typeface="프리텐다드"/>
              </a:rPr>
              <a:t>사전학습 딥러닝 모델      </a:t>
            </a:r>
          </a:p>
        </p:txBody>
      </p:sp>
      <p:sp>
        <p:nvSpPr>
          <p:cNvPr id="72" name="TextBox 72"/>
          <p:cNvSpPr txBox="1"/>
          <p:nvPr/>
        </p:nvSpPr>
        <p:spPr>
          <a:xfrm>
            <a:off x="3017520" y="4323083"/>
            <a:ext cx="5486400" cy="285750"/>
          </a:xfrm>
          <a:prstGeom prst="rect">
            <a:avLst/>
          </a:prstGeom>
        </p:spPr>
        <p:txBody>
          <a:bodyPr lIns="0" tIns="0" rIns="0" bIns="0" rtlCol="0" anchor="t">
            <a:spAutoFit/>
          </a:bodyPr>
          <a:lstStyle/>
          <a:p>
            <a:pPr algn="l">
              <a:lnSpc>
                <a:spcPts val="2279"/>
              </a:lnSpc>
            </a:pPr>
            <a:r>
              <a:rPr lang="en-US" sz="1899">
                <a:solidFill>
                  <a:srgbClr val="6B6B6B"/>
                </a:solidFill>
                <a:latin typeface="프리텐다드"/>
                <a:ea typeface="프리텐다드"/>
                <a:cs typeface="프리텐다드"/>
                <a:sym typeface="프리텐다드"/>
              </a:rPr>
              <a:t>■ 규칙·재인식 단계</a:t>
            </a:r>
          </a:p>
        </p:txBody>
      </p:sp>
      <p:sp>
        <p:nvSpPr>
          <p:cNvPr id="73" name="TextBox 73"/>
          <p:cNvSpPr txBox="1"/>
          <p:nvPr/>
        </p:nvSpPr>
        <p:spPr>
          <a:xfrm>
            <a:off x="548640" y="4937760"/>
            <a:ext cx="17190720" cy="371475"/>
          </a:xfrm>
          <a:prstGeom prst="rect">
            <a:avLst/>
          </a:prstGeom>
        </p:spPr>
        <p:txBody>
          <a:bodyPr lIns="0" tIns="0" rIns="0" bIns="0" rtlCol="0" anchor="t">
            <a:spAutoFit/>
          </a:bodyPr>
          <a:lstStyle/>
          <a:p>
            <a:pPr algn="l">
              <a:lnSpc>
                <a:spcPts val="2999"/>
              </a:lnSpc>
            </a:pPr>
            <a:r>
              <a:rPr lang="en-US" sz="2499" b="1">
                <a:solidFill>
                  <a:srgbClr val="1A1A1A"/>
                </a:solidFill>
                <a:latin typeface="프리텐다드 Bold"/>
                <a:ea typeface="프리텐다드 Bold"/>
                <a:cs typeface="프리텐다드 Bold"/>
                <a:sym typeface="프리텐다드 Bold"/>
              </a:rPr>
              <a:t>조건이 맞을 때만 동작하는 단계</a:t>
            </a:r>
          </a:p>
        </p:txBody>
      </p:sp>
      <p:graphicFrame>
        <p:nvGraphicFramePr>
          <p:cNvPr id="74" name="Table 74"/>
          <p:cNvGraphicFramePr>
            <a:graphicFrameLocks noGrp="1"/>
          </p:cNvGraphicFramePr>
          <p:nvPr>
            <p:extLst>
              <p:ext uri="{D42A27DB-BD31-4B8C-83A1-F6EECF244321}">
                <p14:modId xmlns:p14="http://schemas.microsoft.com/office/powerpoint/2010/main" val="1866058091"/>
              </p:ext>
            </p:extLst>
          </p:nvPr>
        </p:nvGraphicFramePr>
        <p:xfrm>
          <a:off x="548640" y="5486400"/>
          <a:ext cx="17119599" cy="2863850"/>
        </p:xfrm>
        <a:graphic>
          <a:graphicData uri="http://schemas.openxmlformats.org/drawingml/2006/table">
            <a:tbl>
              <a:tblPr/>
              <a:tblGrid>
                <a:gridCol w="3103053">
                  <a:extLst>
                    <a:ext uri="{9D8B030D-6E8A-4147-A177-3AD203B41FA5}">
                      <a16:colId xmlns:a16="http://schemas.microsoft.com/office/drawing/2014/main" val="20000"/>
                    </a:ext>
                  </a:extLst>
                </a:gridCol>
                <a:gridCol w="5275693">
                  <a:extLst>
                    <a:ext uri="{9D8B030D-6E8A-4147-A177-3AD203B41FA5}">
                      <a16:colId xmlns:a16="http://schemas.microsoft.com/office/drawing/2014/main" val="20001"/>
                    </a:ext>
                  </a:extLst>
                </a:gridCol>
                <a:gridCol w="6180960">
                  <a:extLst>
                    <a:ext uri="{9D8B030D-6E8A-4147-A177-3AD203B41FA5}">
                      <a16:colId xmlns:a16="http://schemas.microsoft.com/office/drawing/2014/main" val="20002"/>
                    </a:ext>
                  </a:extLst>
                </a:gridCol>
                <a:gridCol w="2559893">
                  <a:extLst>
                    <a:ext uri="{9D8B030D-6E8A-4147-A177-3AD203B41FA5}">
                      <a16:colId xmlns:a16="http://schemas.microsoft.com/office/drawing/2014/main" val="20003"/>
                    </a:ext>
                  </a:extLst>
                </a:gridCol>
              </a:tblGrid>
              <a:tr h="572770">
                <a:tc>
                  <a:txBody>
                    <a:bodyPr/>
                    <a:lstStyle/>
                    <a:p>
                      <a:pPr algn="l">
                        <a:lnSpc>
                          <a:spcPts val="2400"/>
                        </a:lnSpc>
                        <a:defRPr/>
                      </a:pPr>
                      <a:r>
                        <a:rPr lang="en-US" sz="2000">
                          <a:solidFill>
                            <a:srgbClr val="FFFFFF"/>
                          </a:solidFill>
                          <a:latin typeface="프리텐다드"/>
                          <a:ea typeface="프리텐다드"/>
                          <a:cs typeface="프리텐다드"/>
                          <a:sym typeface="프리텐다드"/>
                        </a:rPr>
                        <a:t>장치</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400"/>
                        </a:lnSpc>
                        <a:defRPr/>
                      </a:pPr>
                      <a:r>
                        <a:rPr lang="en-US" sz="2000">
                          <a:solidFill>
                            <a:srgbClr val="FFFFFF"/>
                          </a:solidFill>
                          <a:latin typeface="프리텐다드"/>
                          <a:ea typeface="프리텐다드"/>
                          <a:cs typeface="프리텐다드"/>
                          <a:sym typeface="프리텐다드"/>
                        </a:rPr>
                        <a:t>발동 조건</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400"/>
                        </a:lnSpc>
                        <a:defRPr/>
                      </a:pPr>
                      <a:r>
                        <a:rPr lang="en-US" sz="2000">
                          <a:solidFill>
                            <a:srgbClr val="FFFFFF"/>
                          </a:solidFill>
                          <a:latin typeface="프리텐다드"/>
                          <a:ea typeface="프리텐다드"/>
                          <a:cs typeface="프리텐다드"/>
                          <a:sym typeface="프리텐다드"/>
                        </a:rPr>
                        <a:t>동작</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400"/>
                        </a:lnSpc>
                        <a:defRPr/>
                      </a:pPr>
                      <a:r>
                        <a:rPr lang="en-US" sz="2000" dirty="0" err="1">
                          <a:solidFill>
                            <a:srgbClr val="FFFFFF"/>
                          </a:solidFill>
                          <a:latin typeface="프리텐다드"/>
                          <a:ea typeface="프리텐다드"/>
                          <a:cs typeface="프리텐다드"/>
                          <a:sym typeface="프리텐다드"/>
                        </a:rPr>
                        <a:t>효과</a:t>
                      </a:r>
                      <a:r>
                        <a:rPr lang="en-US" sz="2000" dirty="0">
                          <a:solidFill>
                            <a:srgbClr val="FFFFFF"/>
                          </a:solidFill>
                          <a:latin typeface="프리텐다드"/>
                          <a:ea typeface="프리텐다드"/>
                          <a:cs typeface="프리텐다드"/>
                          <a:sym typeface="프리텐다드"/>
                        </a:rPr>
                        <a:t> (</a:t>
                      </a:r>
                      <a:r>
                        <a:rPr lang="ko-KR" altLang="en-US" sz="2000" dirty="0">
                          <a:solidFill>
                            <a:srgbClr val="FFFFFF"/>
                          </a:solidFill>
                          <a:latin typeface="프리텐다드"/>
                          <a:ea typeface="프리텐다드"/>
                          <a:cs typeface="프리텐다드"/>
                          <a:sym typeface="프리텐다드"/>
                        </a:rPr>
                        <a:t>회복 </a:t>
                      </a:r>
                      <a:r>
                        <a:rPr lang="en-US" altLang="ko-KR" sz="2000" dirty="0">
                          <a:solidFill>
                            <a:srgbClr val="FFFFFF"/>
                          </a:solidFill>
                          <a:latin typeface="프리텐다드"/>
                          <a:ea typeface="프리텐다드"/>
                          <a:cs typeface="프리텐다드"/>
                          <a:sym typeface="프리텐다드"/>
                        </a:rPr>
                        <a:t>/ </a:t>
                      </a:r>
                      <a:r>
                        <a:rPr lang="ko-KR" altLang="en-US" sz="2000" dirty="0">
                          <a:solidFill>
                            <a:srgbClr val="FFFFFF"/>
                          </a:solidFill>
                          <a:latin typeface="프리텐다드"/>
                          <a:ea typeface="프리텐다드"/>
                          <a:cs typeface="프리텐다드"/>
                          <a:sym typeface="프리텐다드"/>
                        </a:rPr>
                        <a:t>퇴보</a:t>
                      </a:r>
                      <a:r>
                        <a:rPr lang="en-US" altLang="ko-KR" sz="2000" dirty="0">
                          <a:solidFill>
                            <a:srgbClr val="FFFFFF"/>
                          </a:solidFill>
                          <a:latin typeface="프리텐다드"/>
                          <a:ea typeface="프리텐다드"/>
                          <a:cs typeface="프리텐다드"/>
                          <a:sym typeface="프리텐다드"/>
                        </a:rPr>
                        <a:t>)</a:t>
                      </a:r>
                      <a:endParaRPr lang="en-US" sz="1100" dirty="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extLst>
                  <a:ext uri="{0D108BD9-81ED-4DB2-BD59-A6C34878D82A}">
                    <a16:rowId xmlns:a16="http://schemas.microsoft.com/office/drawing/2014/main" val="10000"/>
                  </a:ext>
                </a:extLst>
              </a:tr>
              <a:tr h="572770">
                <a:tc>
                  <a:txBody>
                    <a:bodyPr/>
                    <a:lstStyle/>
                    <a:p>
                      <a:pPr algn="l">
                        <a:lnSpc>
                          <a:spcPts val="2400"/>
                        </a:lnSpc>
                        <a:defRPr/>
                      </a:pPr>
                      <a:r>
                        <a:rPr lang="en-US" sz="2000">
                          <a:solidFill>
                            <a:srgbClr val="1A1A1A"/>
                          </a:solidFill>
                          <a:latin typeface="프리텐다드"/>
                          <a:ea typeface="프리텐다드"/>
                          <a:cs typeface="프리텐다드"/>
                          <a:sym typeface="프리텐다드"/>
                        </a:rPr>
                        <a:t>이웃 줄 재탐지</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후보 줄 옆에 크기 비슷한 숫자 줄</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그 주변만 원본 해상도로 다시 탐지</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병기 +5 / −1</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2770">
                <a:tc>
                  <a:txBody>
                    <a:bodyPr/>
                    <a:lstStyle/>
                    <a:p>
                      <a:pPr algn="l">
                        <a:lnSpc>
                          <a:spcPts val="2400"/>
                        </a:lnSpc>
                        <a:defRPr/>
                      </a:pPr>
                      <a:r>
                        <a:rPr lang="en-US" sz="2000" dirty="0" err="1">
                          <a:solidFill>
                            <a:srgbClr val="1A1A1A"/>
                          </a:solidFill>
                          <a:latin typeface="프리텐다드"/>
                          <a:ea typeface="프리텐다드"/>
                          <a:cs typeface="프리텐다드"/>
                          <a:sym typeface="프리텐다드"/>
                        </a:rPr>
                        <a:t>도트</a:t>
                      </a:r>
                      <a:r>
                        <a:rPr lang="en-US" sz="2000" dirty="0">
                          <a:solidFill>
                            <a:srgbClr val="1A1A1A"/>
                          </a:solidFill>
                          <a:latin typeface="프리텐다드"/>
                          <a:ea typeface="프리텐다드"/>
                          <a:cs typeface="프리텐다드"/>
                          <a:sym typeface="프리텐다드"/>
                        </a:rPr>
                        <a:t> </a:t>
                      </a:r>
                      <a:r>
                        <a:rPr lang="en-US" sz="2000" dirty="0" err="1">
                          <a:solidFill>
                            <a:srgbClr val="1A1A1A"/>
                          </a:solidFill>
                          <a:latin typeface="프리텐다드"/>
                          <a:ea typeface="프리텐다드"/>
                          <a:cs typeface="프리텐다드"/>
                          <a:sym typeface="프리텐다드"/>
                        </a:rPr>
                        <a:t>인쇄</a:t>
                      </a:r>
                      <a:r>
                        <a:rPr lang="en-US" sz="2000" dirty="0">
                          <a:solidFill>
                            <a:srgbClr val="1A1A1A"/>
                          </a:solidFill>
                          <a:latin typeface="프리텐다드"/>
                          <a:ea typeface="프리텐다드"/>
                          <a:cs typeface="프리텐다드"/>
                          <a:sym typeface="프리텐다드"/>
                        </a:rPr>
                        <a:t> </a:t>
                      </a:r>
                      <a:r>
                        <a:rPr lang="en-US" sz="2000" dirty="0" err="1">
                          <a:solidFill>
                            <a:srgbClr val="1A1A1A"/>
                          </a:solidFill>
                          <a:latin typeface="프리텐다드"/>
                          <a:ea typeface="프리텐다드"/>
                          <a:cs typeface="프리텐다드"/>
                          <a:sym typeface="프리텐다드"/>
                        </a:rPr>
                        <a:t>폴백</a:t>
                      </a:r>
                      <a:r>
                        <a:rPr lang="en-US" sz="2000" dirty="0">
                          <a:solidFill>
                            <a:srgbClr val="1A1A1A"/>
                          </a:solidFill>
                          <a:latin typeface="프리텐다드"/>
                          <a:ea typeface="프리텐다드"/>
                          <a:cs typeface="프리텐다드"/>
                          <a:sym typeface="프리텐다드"/>
                        </a:rPr>
                        <a:t>(</a:t>
                      </a:r>
                      <a:r>
                        <a:rPr lang="ko-KR" altLang="en-US" sz="2000" dirty="0">
                          <a:solidFill>
                            <a:srgbClr val="1A1A1A"/>
                          </a:solidFill>
                          <a:latin typeface="프리텐다드"/>
                          <a:ea typeface="프리텐다드"/>
                          <a:cs typeface="프리텐다드"/>
                          <a:sym typeface="프리텐다드"/>
                        </a:rPr>
                        <a:t>대체 경로</a:t>
                      </a:r>
                      <a:r>
                        <a:rPr lang="en-US" altLang="ko-KR" sz="2000" dirty="0">
                          <a:solidFill>
                            <a:srgbClr val="1A1A1A"/>
                          </a:solidFill>
                          <a:latin typeface="프리텐다드"/>
                          <a:ea typeface="프리텐다드"/>
                          <a:cs typeface="프리텐다드"/>
                          <a:sym typeface="프리텐다드"/>
                        </a:rPr>
                        <a:t>)</a:t>
                      </a:r>
                      <a:endParaRPr lang="en-US" sz="1100" dirty="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후보 없음</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점을 이어 붙이는 전처리 후 재시도</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+17 / −0</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2770">
                <a:tc>
                  <a:txBody>
                    <a:bodyPr/>
                    <a:lstStyle/>
                    <a:p>
                      <a:pPr algn="l">
                        <a:lnSpc>
                          <a:spcPts val="2400"/>
                        </a:lnSpc>
                        <a:defRPr/>
                      </a:pPr>
                      <a:r>
                        <a:rPr lang="en-US" sz="2000">
                          <a:solidFill>
                            <a:srgbClr val="1A1A1A"/>
                          </a:solidFill>
                          <a:latin typeface="프리텐다드"/>
                          <a:ea typeface="프리텐다드"/>
                          <a:cs typeface="프리텐다드"/>
                          <a:sym typeface="프리텐다드"/>
                        </a:rPr>
                        <a:t>파인튜닝 인식기</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그래도 후보 없음</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우리 라벨로 학습한 인식기로 재시도</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+7 / −0</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2770">
                <a:tc>
                  <a:txBody>
                    <a:bodyPr/>
                    <a:lstStyle/>
                    <a:p>
                      <a:pPr algn="l">
                        <a:lnSpc>
                          <a:spcPts val="2400"/>
                        </a:lnSpc>
                        <a:defRPr/>
                      </a:pPr>
                      <a:r>
                        <a:rPr lang="en-US" sz="2000">
                          <a:solidFill>
                            <a:srgbClr val="1A1A1A"/>
                          </a:solidFill>
                          <a:latin typeface="프리텐다드"/>
                          <a:ea typeface="프리텐다드"/>
                          <a:cs typeface="프리텐다드"/>
                          <a:sym typeface="프리텐다드"/>
                        </a:rPr>
                        <a:t>시간 예산 가드</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dirty="0" err="1">
                          <a:solidFill>
                            <a:srgbClr val="1A1A1A"/>
                          </a:solidFill>
                          <a:latin typeface="프리텐다드"/>
                          <a:ea typeface="프리텐다드"/>
                          <a:cs typeface="프리텐다드"/>
                          <a:sym typeface="프리텐다드"/>
                        </a:rPr>
                        <a:t>예상</a:t>
                      </a:r>
                      <a:r>
                        <a:rPr lang="en-US" sz="2000" dirty="0">
                          <a:solidFill>
                            <a:srgbClr val="1A1A1A"/>
                          </a:solidFill>
                          <a:latin typeface="프리텐다드"/>
                          <a:ea typeface="프리텐다드"/>
                          <a:cs typeface="프리텐다드"/>
                          <a:sym typeface="프리텐다드"/>
                        </a:rPr>
                        <a:t> </a:t>
                      </a:r>
                      <a:r>
                        <a:rPr lang="en-US" sz="2000" dirty="0" err="1">
                          <a:solidFill>
                            <a:srgbClr val="1A1A1A"/>
                          </a:solidFill>
                          <a:latin typeface="프리텐다드"/>
                          <a:ea typeface="프리텐다드"/>
                          <a:cs typeface="프리텐다드"/>
                          <a:sym typeface="프리텐다드"/>
                        </a:rPr>
                        <a:t>소요</a:t>
                      </a:r>
                      <a:r>
                        <a:rPr lang="en-US" sz="2000" dirty="0">
                          <a:solidFill>
                            <a:srgbClr val="1A1A1A"/>
                          </a:solidFill>
                          <a:latin typeface="프리텐다드"/>
                          <a:ea typeface="프리텐다드"/>
                          <a:cs typeface="프리텐다드"/>
                          <a:sym typeface="프리텐다드"/>
                        </a:rPr>
                        <a:t> 2,000초 </a:t>
                      </a:r>
                      <a:r>
                        <a:rPr lang="en-US" sz="2000" dirty="0" err="1">
                          <a:solidFill>
                            <a:srgbClr val="1A1A1A"/>
                          </a:solidFill>
                          <a:latin typeface="프리텐다드"/>
                          <a:ea typeface="프리텐다드"/>
                          <a:cs typeface="프리텐다드"/>
                          <a:sym typeface="프리텐다드"/>
                        </a:rPr>
                        <a:t>초과</a:t>
                      </a:r>
                      <a:endParaRPr lang="en-US" sz="1100" dirty="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dirty="0" err="1">
                          <a:solidFill>
                            <a:srgbClr val="1A1A1A"/>
                          </a:solidFill>
                          <a:latin typeface="프리텐다드"/>
                          <a:ea typeface="프리텐다드"/>
                          <a:cs typeface="프리텐다드"/>
                          <a:sym typeface="프리텐다드"/>
                        </a:rPr>
                        <a:t>폴백</a:t>
                      </a:r>
                      <a:r>
                        <a:rPr lang="en-US" sz="2000" dirty="0">
                          <a:solidFill>
                            <a:srgbClr val="1A1A1A"/>
                          </a:solidFill>
                          <a:latin typeface="프리텐다드"/>
                          <a:ea typeface="프리텐다드"/>
                          <a:cs typeface="프리텐다드"/>
                          <a:sym typeface="프리텐다드"/>
                        </a:rPr>
                        <a:t> </a:t>
                      </a:r>
                      <a:r>
                        <a:rPr lang="en-US" sz="2000" dirty="0" err="1">
                          <a:solidFill>
                            <a:srgbClr val="1A1A1A"/>
                          </a:solidFill>
                          <a:latin typeface="프리텐다드"/>
                          <a:ea typeface="프리텐다드"/>
                          <a:cs typeface="프리텐다드"/>
                          <a:sym typeface="프리텐다드"/>
                        </a:rPr>
                        <a:t>생략</a:t>
                      </a:r>
                      <a:r>
                        <a:rPr lang="en-US" sz="2000" dirty="0">
                          <a:solidFill>
                            <a:srgbClr val="1A1A1A"/>
                          </a:solidFill>
                          <a:latin typeface="프리텐다드"/>
                          <a:ea typeface="프리텐다드"/>
                          <a:cs typeface="프리텐다드"/>
                          <a:sym typeface="프리텐다드"/>
                        </a:rPr>
                        <a:t> → 2패스 </a:t>
                      </a:r>
                      <a:r>
                        <a:rPr lang="en-US" sz="2000" dirty="0" err="1">
                          <a:solidFill>
                            <a:srgbClr val="1A1A1A"/>
                          </a:solidFill>
                          <a:latin typeface="프리텐다드"/>
                          <a:ea typeface="프리텐다드"/>
                          <a:cs typeface="프리텐다드"/>
                          <a:sym typeface="프리텐다드"/>
                        </a:rPr>
                        <a:t>생략</a:t>
                      </a:r>
                      <a:r>
                        <a:rPr lang="en-US" sz="2000" dirty="0">
                          <a:solidFill>
                            <a:srgbClr val="1A1A1A"/>
                          </a:solidFill>
                          <a:latin typeface="프리텐다드"/>
                          <a:ea typeface="프리텐다드"/>
                          <a:cs typeface="프리텐다드"/>
                          <a:sym typeface="프리텐다드"/>
                        </a:rPr>
                        <a:t> → NONE</a:t>
                      </a:r>
                      <a:endParaRPr lang="en-US" sz="1100" dirty="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dirty="0" err="1">
                          <a:solidFill>
                            <a:srgbClr val="1A1A1A"/>
                          </a:solidFill>
                          <a:latin typeface="프리텐다드"/>
                          <a:ea typeface="프리텐다드"/>
                          <a:cs typeface="프리텐다드"/>
                          <a:sym typeface="프리텐다드"/>
                        </a:rPr>
                        <a:t>완주</a:t>
                      </a:r>
                      <a:r>
                        <a:rPr lang="en-US" sz="2000" dirty="0">
                          <a:solidFill>
                            <a:srgbClr val="1A1A1A"/>
                          </a:solidFill>
                          <a:latin typeface="프리텐다드"/>
                          <a:ea typeface="프리텐다드"/>
                          <a:cs typeface="프리텐다드"/>
                          <a:sym typeface="프리텐다드"/>
                        </a:rPr>
                        <a:t> </a:t>
                      </a:r>
                      <a:r>
                        <a:rPr lang="en-US" sz="2000" dirty="0" err="1">
                          <a:solidFill>
                            <a:srgbClr val="1A1A1A"/>
                          </a:solidFill>
                          <a:latin typeface="프리텐다드"/>
                          <a:ea typeface="프리텐다드"/>
                          <a:cs typeface="프리텐다드"/>
                          <a:sym typeface="프리텐다드"/>
                        </a:rPr>
                        <a:t>보장</a:t>
                      </a:r>
                      <a:endParaRPr lang="en-US" sz="1100" dirty="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pSp>
        <p:nvGrpSpPr>
          <p:cNvPr id="114" name="Group 113">
            <a:extLst>
              <a:ext uri="{FF2B5EF4-FFF2-40B4-BE49-F238E27FC236}">
                <a16:creationId xmlns:a16="http://schemas.microsoft.com/office/drawing/2014/main" id="{21B0EDD8-1578-7BB7-92E0-9F98F0FD214F}"/>
              </a:ext>
            </a:extLst>
          </p:cNvPr>
          <p:cNvGrpSpPr/>
          <p:nvPr/>
        </p:nvGrpSpPr>
        <p:grpSpPr>
          <a:xfrm>
            <a:off x="552248" y="8957558"/>
            <a:ext cx="17216123" cy="793499"/>
            <a:chOff x="535943" y="8674103"/>
            <a:chExt cx="17216123" cy="793499"/>
          </a:xfrm>
        </p:grpSpPr>
        <p:grpSp>
          <p:nvGrpSpPr>
            <p:cNvPr id="75" name="Group 75"/>
            <p:cNvGrpSpPr/>
            <p:nvPr/>
          </p:nvGrpSpPr>
          <p:grpSpPr>
            <a:xfrm>
              <a:off x="535943" y="8674103"/>
              <a:ext cx="17216123" cy="793499"/>
              <a:chOff x="0" y="0"/>
              <a:chExt cx="22954831" cy="1057999"/>
            </a:xfrm>
          </p:grpSpPr>
          <p:sp>
            <p:nvSpPr>
              <p:cNvPr id="76" name="Freeform 76"/>
              <p:cNvSpPr/>
              <p:nvPr/>
            </p:nvSpPr>
            <p:spPr>
              <a:xfrm>
                <a:off x="0" y="0"/>
                <a:ext cx="22954869" cy="1058037"/>
              </a:xfrm>
              <a:custGeom>
                <a:avLst/>
                <a:gdLst/>
                <a:ahLst/>
                <a:cxnLst/>
                <a:rect l="l" t="t" r="r" b="b"/>
                <a:pathLst>
                  <a:path w="22954869" h="1058037">
                    <a:moveTo>
                      <a:pt x="0" y="201549"/>
                    </a:moveTo>
                    <a:cubicBezTo>
                      <a:pt x="0" y="90170"/>
                      <a:pt x="90170" y="0"/>
                      <a:pt x="201549" y="0"/>
                    </a:cubicBezTo>
                    <a:lnTo>
                      <a:pt x="22753320" y="0"/>
                    </a:lnTo>
                    <a:cubicBezTo>
                      <a:pt x="22864572" y="0"/>
                      <a:pt x="22954869" y="90170"/>
                      <a:pt x="22954869" y="201549"/>
                    </a:cubicBezTo>
                    <a:lnTo>
                      <a:pt x="22954869" y="856488"/>
                    </a:lnTo>
                    <a:cubicBezTo>
                      <a:pt x="22954869" y="967740"/>
                      <a:pt x="22864699" y="1058037"/>
                      <a:pt x="22753320" y="1058037"/>
                    </a:cubicBezTo>
                    <a:lnTo>
                      <a:pt x="201549" y="1058037"/>
                    </a:lnTo>
                    <a:cubicBezTo>
                      <a:pt x="90170" y="1058037"/>
                      <a:pt x="0" y="967740"/>
                      <a:pt x="0" y="856488"/>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77" name="Group 77"/>
            <p:cNvGrpSpPr/>
            <p:nvPr/>
          </p:nvGrpSpPr>
          <p:grpSpPr>
            <a:xfrm>
              <a:off x="822960" y="8686800"/>
              <a:ext cx="16642080" cy="768096"/>
              <a:chOff x="0" y="0"/>
              <a:chExt cx="22189440" cy="1024128"/>
            </a:xfrm>
          </p:grpSpPr>
          <p:sp>
            <p:nvSpPr>
              <p:cNvPr id="78" name="Freeform 78"/>
              <p:cNvSpPr/>
              <p:nvPr/>
            </p:nvSpPr>
            <p:spPr>
              <a:xfrm>
                <a:off x="0" y="0"/>
                <a:ext cx="22189439" cy="1024128"/>
              </a:xfrm>
              <a:custGeom>
                <a:avLst/>
                <a:gdLst/>
                <a:ahLst/>
                <a:cxnLst/>
                <a:rect l="l" t="t" r="r" b="b"/>
                <a:pathLst>
                  <a:path w="22189439" h="1024128">
                    <a:moveTo>
                      <a:pt x="0" y="0"/>
                    </a:moveTo>
                    <a:lnTo>
                      <a:pt x="22189439" y="0"/>
                    </a:lnTo>
                    <a:lnTo>
                      <a:pt x="22189439" y="1024128"/>
                    </a:lnTo>
                    <a:lnTo>
                      <a:pt x="0" y="1024128"/>
                    </a:lnTo>
                    <a:close/>
                  </a:path>
                </a:pathLst>
              </a:custGeom>
              <a:blipFill>
                <a:blip r:embed="rId3">
                  <a:alphaModFix amt="0"/>
                </a:blip>
                <a:stretch>
                  <a:fillRect t="-372175" b="-372175"/>
                </a:stretch>
              </a:blipFill>
            </p:spPr>
            <p:txBody>
              <a:bodyPr/>
              <a:lstStyle/>
              <a:p>
                <a:endParaRPr lang="ko-KR" altLang="en-US"/>
              </a:p>
            </p:txBody>
          </p:sp>
          <p:sp>
            <p:nvSpPr>
              <p:cNvPr id="79" name="TextBox 79"/>
              <p:cNvSpPr txBox="1"/>
              <p:nvPr/>
            </p:nvSpPr>
            <p:spPr>
              <a:xfrm>
                <a:off x="0" y="0"/>
                <a:ext cx="22189440" cy="1024128"/>
              </a:xfrm>
              <a:prstGeom prst="rect">
                <a:avLst/>
              </a:prstGeom>
            </p:spPr>
            <p:txBody>
              <a:bodyPr lIns="0" tIns="0" rIns="0" bIns="0" rtlCol="0" anchor="ctr"/>
              <a:lstStyle/>
              <a:p>
                <a:pPr algn="ctr">
                  <a:lnSpc>
                    <a:spcPts val="2999"/>
                  </a:lnSpc>
                </a:pPr>
                <a:r>
                  <a:rPr lang="en-US" sz="2499" dirty="0" err="1">
                    <a:solidFill>
                      <a:srgbClr val="1A1A1A"/>
                    </a:solidFill>
                    <a:latin typeface="프리텐다드"/>
                    <a:ea typeface="프리텐다드"/>
                    <a:cs typeface="프리텐다드"/>
                    <a:sym typeface="프리텐다드"/>
                  </a:rPr>
                  <a:t>딥러닝은</a:t>
                </a:r>
                <a:r>
                  <a:rPr lang="en-US" sz="2499" dirty="0">
                    <a:solidFill>
                      <a:srgbClr val="1A1A1A"/>
                    </a:solidFill>
                    <a:latin typeface="프리텐다드"/>
                    <a:ea typeface="프리텐다드"/>
                    <a:cs typeface="프리텐다드"/>
                    <a:sym typeface="프리텐다드"/>
                  </a:rPr>
                  <a:t> </a:t>
                </a:r>
                <a:r>
                  <a:rPr lang="en-US" sz="2499" b="1" dirty="0">
                    <a:solidFill>
                      <a:srgbClr val="8B0000"/>
                    </a:solidFill>
                    <a:latin typeface="프리텐다드 Bold"/>
                    <a:ea typeface="프리텐다드 Bold"/>
                    <a:cs typeface="프리텐다드 Bold"/>
                    <a:sym typeface="프리텐다드 Bold"/>
                  </a:rPr>
                  <a:t>“</a:t>
                </a:r>
                <a:r>
                  <a:rPr lang="ko-KR" altLang="en-US" sz="2499" b="1" dirty="0">
                    <a:solidFill>
                      <a:srgbClr val="8B0000"/>
                    </a:solidFill>
                    <a:latin typeface="프리텐다드 Bold"/>
                    <a:ea typeface="프리텐다드 Bold"/>
                    <a:cs typeface="프리텐다드 Bold"/>
                    <a:sym typeface="프리텐다드 Bold"/>
                  </a:rPr>
                  <a:t>읽기</a:t>
                </a:r>
                <a:r>
                  <a:rPr lang="en-US" altLang="ko-KR" sz="2499" b="1" dirty="0">
                    <a:solidFill>
                      <a:srgbClr val="8B0000"/>
                    </a:solidFill>
                    <a:latin typeface="프리텐다드 Bold"/>
                    <a:ea typeface="프리텐다드 Bold"/>
                    <a:cs typeface="프리텐다드 Bold"/>
                    <a:sym typeface="프리텐다드 Bold"/>
                  </a:rPr>
                  <a:t>” </a:t>
                </a:r>
                <a:r>
                  <a:rPr lang="en-US" sz="2499" dirty="0">
                    <a:solidFill>
                      <a:srgbClr val="1A1A1A"/>
                    </a:solidFill>
                    <a:latin typeface="프리텐다드"/>
                    <a:ea typeface="프리텐다드"/>
                    <a:cs typeface="프리텐다드"/>
                    <a:sym typeface="프리텐다드"/>
                  </a:rPr>
                  <a:t>만, </a:t>
                </a:r>
                <a:r>
                  <a:rPr lang="en-US" sz="2499" dirty="0" err="1">
                    <a:solidFill>
                      <a:srgbClr val="1A1A1A"/>
                    </a:solidFill>
                    <a:latin typeface="프리텐다드"/>
                    <a:ea typeface="프리텐다드"/>
                    <a:cs typeface="프리텐다드"/>
                    <a:sym typeface="프리텐다드"/>
                  </a:rPr>
                  <a:t>소비기한을</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고르는</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판단은</a:t>
                </a:r>
                <a:r>
                  <a:rPr lang="en-US" sz="2499" dirty="0">
                    <a:solidFill>
                      <a:srgbClr val="1A1A1A"/>
                    </a:solidFill>
                    <a:latin typeface="프리텐다드"/>
                    <a:ea typeface="프리텐다드"/>
                    <a:cs typeface="프리텐다드"/>
                    <a:sym typeface="프리텐다드"/>
                  </a:rPr>
                  <a:t> </a:t>
                </a:r>
                <a:r>
                  <a:rPr lang="en-US" sz="2499" b="1" dirty="0" err="1">
                    <a:solidFill>
                      <a:srgbClr val="8B0000"/>
                    </a:solidFill>
                    <a:latin typeface="프리텐다드 Bold"/>
                    <a:ea typeface="프리텐다드 Bold"/>
                    <a:cs typeface="프리텐다드 Bold"/>
                    <a:sym typeface="프리텐다드 Bold"/>
                  </a:rPr>
                  <a:t>설명</a:t>
                </a:r>
                <a:r>
                  <a:rPr lang="en-US" sz="2499" b="1" dirty="0">
                    <a:solidFill>
                      <a:srgbClr val="8B0000"/>
                    </a:solidFill>
                    <a:latin typeface="프리텐다드 Bold"/>
                    <a:ea typeface="프리텐다드 Bold"/>
                    <a:cs typeface="프리텐다드 Bold"/>
                    <a:sym typeface="프리텐다드 Bold"/>
                  </a:rPr>
                  <a:t> </a:t>
                </a:r>
                <a:r>
                  <a:rPr lang="en-US" sz="2499" b="1" dirty="0" err="1">
                    <a:solidFill>
                      <a:srgbClr val="8B0000"/>
                    </a:solidFill>
                    <a:latin typeface="프리텐다드 Bold"/>
                    <a:ea typeface="프리텐다드 Bold"/>
                    <a:cs typeface="프리텐다드 Bold"/>
                    <a:sym typeface="프리텐다드 Bold"/>
                  </a:rPr>
                  <a:t>가능한</a:t>
                </a:r>
                <a:r>
                  <a:rPr lang="en-US" sz="2499" b="1" dirty="0">
                    <a:solidFill>
                      <a:srgbClr val="8B0000"/>
                    </a:solidFill>
                    <a:latin typeface="프리텐다드 Bold"/>
                    <a:ea typeface="프리텐다드 Bold"/>
                    <a:cs typeface="프리텐다드 Bold"/>
                    <a:sym typeface="프리텐다드 Bold"/>
                  </a:rPr>
                  <a:t> </a:t>
                </a:r>
                <a:r>
                  <a:rPr lang="en-US" sz="2499" b="1" dirty="0" err="1">
                    <a:solidFill>
                      <a:srgbClr val="8B0000"/>
                    </a:solidFill>
                    <a:latin typeface="프리텐다드 Bold"/>
                    <a:ea typeface="프리텐다드 Bold"/>
                    <a:cs typeface="프리텐다드 Bold"/>
                    <a:sym typeface="프리텐다드 Bold"/>
                  </a:rPr>
                  <a:t>규칙</a:t>
                </a:r>
                <a:r>
                  <a:rPr lang="en-US" sz="2499" dirty="0">
                    <a:solidFill>
                      <a:srgbClr val="1A1A1A"/>
                    </a:solidFill>
                    <a:latin typeface="프리텐다드"/>
                    <a:ea typeface="프리텐다드"/>
                    <a:cs typeface="프리텐다드"/>
                    <a:sym typeface="프리텐다드"/>
                  </a:rPr>
                  <a:t> 이 </a:t>
                </a:r>
                <a:r>
                  <a:rPr lang="en-US" sz="2499" dirty="0" err="1">
                    <a:solidFill>
                      <a:srgbClr val="1A1A1A"/>
                    </a:solidFill>
                    <a:latin typeface="프리텐다드"/>
                    <a:ea typeface="프리텐다드"/>
                    <a:cs typeface="프리텐다드"/>
                    <a:sym typeface="프리텐다드"/>
                  </a:rPr>
                  <a:t>맡습니다</a:t>
                </a:r>
                <a:r>
                  <a:rPr lang="en-US" sz="2499" dirty="0">
                    <a:solidFill>
                      <a:srgbClr val="1A1A1A"/>
                    </a:solidFill>
                    <a:latin typeface="프리텐다드"/>
                    <a:ea typeface="프리텐다드"/>
                    <a:cs typeface="프리텐다드"/>
                    <a:sym typeface="프리텐다드"/>
                  </a:rPr>
                  <a:t>.</a:t>
                </a:r>
              </a:p>
            </p:txBody>
          </p:sp>
        </p:grpSp>
      </p:grpSp>
      <p:grpSp>
        <p:nvGrpSpPr>
          <p:cNvPr id="80" name="Group 80"/>
          <p:cNvGrpSpPr/>
          <p:nvPr/>
        </p:nvGrpSpPr>
        <p:grpSpPr>
          <a:xfrm>
            <a:off x="3665189" y="2290579"/>
            <a:ext cx="2179382" cy="585216"/>
            <a:chOff x="0" y="0"/>
            <a:chExt cx="2905843" cy="780288"/>
          </a:xfrm>
        </p:grpSpPr>
        <p:sp>
          <p:nvSpPr>
            <p:cNvPr id="81" name="Freeform 81"/>
            <p:cNvSpPr/>
            <p:nvPr/>
          </p:nvSpPr>
          <p:spPr>
            <a:xfrm>
              <a:off x="0" y="0"/>
              <a:ext cx="2905843" cy="780288"/>
            </a:xfrm>
            <a:custGeom>
              <a:avLst/>
              <a:gdLst/>
              <a:ahLst/>
              <a:cxnLst/>
              <a:rect l="l" t="t" r="r" b="b"/>
              <a:pathLst>
                <a:path w="2905843" h="780288">
                  <a:moveTo>
                    <a:pt x="0" y="0"/>
                  </a:moveTo>
                  <a:lnTo>
                    <a:pt x="2905843" y="0"/>
                  </a:lnTo>
                  <a:lnTo>
                    <a:pt x="2905843" y="780288"/>
                  </a:lnTo>
                  <a:lnTo>
                    <a:pt x="0" y="780288"/>
                  </a:lnTo>
                  <a:close/>
                </a:path>
              </a:pathLst>
            </a:custGeom>
            <a:blipFill>
              <a:blip r:embed="rId3">
                <a:alphaModFix amt="0"/>
              </a:blip>
              <a:stretch>
                <a:fillRect t="-35247" r="-17479" b="-35247"/>
              </a:stretch>
            </a:blipFill>
          </p:spPr>
          <p:txBody>
            <a:bodyPr/>
            <a:lstStyle/>
            <a:p>
              <a:endParaRPr lang="ko-KR" altLang="en-US"/>
            </a:p>
          </p:txBody>
        </p:sp>
        <p:sp>
          <p:nvSpPr>
            <p:cNvPr id="82" name="TextBox 82"/>
            <p:cNvSpPr txBox="1"/>
            <p:nvPr/>
          </p:nvSpPr>
          <p:spPr>
            <a:xfrm>
              <a:off x="0" y="-9525"/>
              <a:ext cx="2905843" cy="789813"/>
            </a:xfrm>
            <a:prstGeom prst="rect">
              <a:avLst/>
            </a:prstGeom>
          </p:spPr>
          <p:txBody>
            <a:bodyPr lIns="0" tIns="0" rIns="0" bIns="0" rtlCol="0" anchor="ctr"/>
            <a:lstStyle/>
            <a:p>
              <a:pPr algn="l">
                <a:lnSpc>
                  <a:spcPts val="2879"/>
                </a:lnSpc>
              </a:pPr>
              <a:r>
                <a:rPr lang="en-US" sz="2400" b="1">
                  <a:solidFill>
                    <a:srgbClr val="FFFFFF"/>
                  </a:solidFill>
                  <a:latin typeface="프리텐다드 Bold"/>
                  <a:ea typeface="프리텐다드 Bold"/>
                  <a:cs typeface="프리텐다드 Bold"/>
                  <a:sym typeface="프리텐다드 Bold"/>
                </a:rPr>
                <a:t>① 탐지</a:t>
              </a:r>
            </a:p>
          </p:txBody>
        </p:sp>
      </p:grpSp>
      <p:grpSp>
        <p:nvGrpSpPr>
          <p:cNvPr id="83" name="Group 83"/>
          <p:cNvGrpSpPr/>
          <p:nvPr/>
        </p:nvGrpSpPr>
        <p:grpSpPr>
          <a:xfrm>
            <a:off x="3668428" y="2875795"/>
            <a:ext cx="2023712" cy="972188"/>
            <a:chOff x="0" y="0"/>
            <a:chExt cx="2698282" cy="1296251"/>
          </a:xfrm>
        </p:grpSpPr>
        <p:sp>
          <p:nvSpPr>
            <p:cNvPr id="84" name="Freeform 84"/>
            <p:cNvSpPr/>
            <p:nvPr/>
          </p:nvSpPr>
          <p:spPr>
            <a:xfrm>
              <a:off x="0" y="0"/>
              <a:ext cx="2698283" cy="1296251"/>
            </a:xfrm>
            <a:custGeom>
              <a:avLst/>
              <a:gdLst/>
              <a:ahLst/>
              <a:cxnLst/>
              <a:rect l="l" t="t" r="r" b="b"/>
              <a:pathLst>
                <a:path w="2698283" h="1296251">
                  <a:moveTo>
                    <a:pt x="0" y="0"/>
                  </a:moveTo>
                  <a:lnTo>
                    <a:pt x="2698283" y="0"/>
                  </a:lnTo>
                  <a:lnTo>
                    <a:pt x="2698283" y="1296251"/>
                  </a:lnTo>
                  <a:lnTo>
                    <a:pt x="0" y="1296251"/>
                  </a:lnTo>
                  <a:close/>
                </a:path>
              </a:pathLst>
            </a:custGeom>
            <a:blipFill>
              <a:blip r:embed="rId3">
                <a:alphaModFix amt="0"/>
              </a:blip>
              <a:stretch>
                <a:fillRect l="-22422" r="-39901" b="-31678"/>
              </a:stretch>
            </a:blipFill>
          </p:spPr>
          <p:txBody>
            <a:bodyPr/>
            <a:lstStyle/>
            <a:p>
              <a:endParaRPr lang="ko-KR" altLang="en-US"/>
            </a:p>
          </p:txBody>
        </p:sp>
        <p:sp>
          <p:nvSpPr>
            <p:cNvPr id="85" name="TextBox 85"/>
            <p:cNvSpPr txBox="1"/>
            <p:nvPr/>
          </p:nvSpPr>
          <p:spPr>
            <a:xfrm>
              <a:off x="0" y="0"/>
              <a:ext cx="2698282" cy="1296251"/>
            </a:xfrm>
            <a:prstGeom prst="rect">
              <a:avLst/>
            </a:prstGeom>
          </p:spPr>
          <p:txBody>
            <a:bodyPr lIns="0" tIns="0" rIns="0" bIns="0" rtlCol="0" anchor="ctr"/>
            <a:lstStyle/>
            <a:p>
              <a:pPr algn="l">
                <a:lnSpc>
                  <a:spcPts val="2279"/>
                </a:lnSpc>
              </a:pPr>
              <a:endParaRPr/>
            </a:p>
          </p:txBody>
        </p:sp>
      </p:grpSp>
      <p:grpSp>
        <p:nvGrpSpPr>
          <p:cNvPr id="86" name="Group 86"/>
          <p:cNvGrpSpPr/>
          <p:nvPr/>
        </p:nvGrpSpPr>
        <p:grpSpPr>
          <a:xfrm>
            <a:off x="6591269" y="2290579"/>
            <a:ext cx="2179382" cy="1545331"/>
            <a:chOff x="0" y="0"/>
            <a:chExt cx="2905843" cy="2060442"/>
          </a:xfrm>
        </p:grpSpPr>
        <p:grpSp>
          <p:nvGrpSpPr>
            <p:cNvPr id="87" name="Group 87"/>
            <p:cNvGrpSpPr/>
            <p:nvPr/>
          </p:nvGrpSpPr>
          <p:grpSpPr>
            <a:xfrm>
              <a:off x="0" y="0"/>
              <a:ext cx="2905843" cy="780288"/>
              <a:chOff x="0" y="0"/>
              <a:chExt cx="2905843" cy="780288"/>
            </a:xfrm>
          </p:grpSpPr>
          <p:sp>
            <p:nvSpPr>
              <p:cNvPr id="88" name="Freeform 88"/>
              <p:cNvSpPr/>
              <p:nvPr/>
            </p:nvSpPr>
            <p:spPr>
              <a:xfrm>
                <a:off x="0" y="0"/>
                <a:ext cx="2905843" cy="780288"/>
              </a:xfrm>
              <a:custGeom>
                <a:avLst/>
                <a:gdLst/>
                <a:ahLst/>
                <a:cxnLst/>
                <a:rect l="l" t="t" r="r" b="b"/>
                <a:pathLst>
                  <a:path w="2905843" h="780288">
                    <a:moveTo>
                      <a:pt x="0" y="0"/>
                    </a:moveTo>
                    <a:lnTo>
                      <a:pt x="2905843" y="0"/>
                    </a:lnTo>
                    <a:lnTo>
                      <a:pt x="2905843" y="780288"/>
                    </a:lnTo>
                    <a:lnTo>
                      <a:pt x="0" y="780288"/>
                    </a:lnTo>
                    <a:close/>
                  </a:path>
                </a:pathLst>
              </a:custGeom>
              <a:blipFill>
                <a:blip r:embed="rId3">
                  <a:alphaModFix amt="0"/>
                </a:blip>
                <a:stretch>
                  <a:fillRect t="-35247" r="-17479" b="-35247"/>
                </a:stretch>
              </a:blipFill>
            </p:spPr>
            <p:txBody>
              <a:bodyPr/>
              <a:lstStyle/>
              <a:p>
                <a:endParaRPr lang="ko-KR" altLang="en-US"/>
              </a:p>
            </p:txBody>
          </p:sp>
          <p:sp>
            <p:nvSpPr>
              <p:cNvPr id="89" name="TextBox 89"/>
              <p:cNvSpPr txBox="1"/>
              <p:nvPr/>
            </p:nvSpPr>
            <p:spPr>
              <a:xfrm>
                <a:off x="0" y="-9525"/>
                <a:ext cx="2905843" cy="789813"/>
              </a:xfrm>
              <a:prstGeom prst="rect">
                <a:avLst/>
              </a:prstGeom>
            </p:spPr>
            <p:txBody>
              <a:bodyPr lIns="0" tIns="0" rIns="0" bIns="0" rtlCol="0" anchor="ctr"/>
              <a:lstStyle/>
              <a:p>
                <a:pPr algn="l">
                  <a:lnSpc>
                    <a:spcPts val="2879"/>
                  </a:lnSpc>
                </a:pPr>
                <a:r>
                  <a:rPr lang="en-US" sz="2400" b="1">
                    <a:solidFill>
                      <a:srgbClr val="FFFFFF"/>
                    </a:solidFill>
                    <a:latin typeface="프리텐다드 Bold"/>
                    <a:ea typeface="프리텐다드 Bold"/>
                    <a:cs typeface="프리텐다드 Bold"/>
                    <a:sym typeface="프리텐다드 Bold"/>
                  </a:rPr>
                  <a:t>② 인식</a:t>
                </a:r>
              </a:p>
            </p:txBody>
          </p:sp>
        </p:grpSp>
        <p:grpSp>
          <p:nvGrpSpPr>
            <p:cNvPr id="90" name="Group 90"/>
            <p:cNvGrpSpPr/>
            <p:nvPr/>
          </p:nvGrpSpPr>
          <p:grpSpPr>
            <a:xfrm>
              <a:off x="0" y="353562"/>
              <a:ext cx="2698282" cy="1706880"/>
              <a:chOff x="0" y="0"/>
              <a:chExt cx="2698282" cy="1706880"/>
            </a:xfrm>
          </p:grpSpPr>
          <p:sp>
            <p:nvSpPr>
              <p:cNvPr id="91" name="Freeform 91"/>
              <p:cNvSpPr/>
              <p:nvPr/>
            </p:nvSpPr>
            <p:spPr>
              <a:xfrm>
                <a:off x="0" y="0"/>
                <a:ext cx="2698283" cy="1706880"/>
              </a:xfrm>
              <a:custGeom>
                <a:avLst/>
                <a:gdLst/>
                <a:ahLst/>
                <a:cxnLst/>
                <a:rect l="l" t="t" r="r" b="b"/>
                <a:pathLst>
                  <a:path w="2698283" h="1706880">
                    <a:moveTo>
                      <a:pt x="0" y="0"/>
                    </a:moveTo>
                    <a:lnTo>
                      <a:pt x="2698283" y="0"/>
                    </a:lnTo>
                    <a:lnTo>
                      <a:pt x="2698283" y="1706880"/>
                    </a:lnTo>
                    <a:lnTo>
                      <a:pt x="0" y="1706880"/>
                    </a:lnTo>
                    <a:close/>
                  </a:path>
                </a:pathLst>
              </a:custGeom>
              <a:blipFill>
                <a:blip r:embed="rId3">
                  <a:alphaModFix amt="0"/>
                </a:blip>
                <a:stretch>
                  <a:fillRect l="-22422" r="-39901"/>
                </a:stretch>
              </a:blipFill>
            </p:spPr>
            <p:txBody>
              <a:bodyPr/>
              <a:lstStyle/>
              <a:p>
                <a:endParaRPr lang="ko-KR" altLang="en-US"/>
              </a:p>
            </p:txBody>
          </p:sp>
          <p:sp>
            <p:nvSpPr>
              <p:cNvPr id="92" name="TextBox 92"/>
              <p:cNvSpPr txBox="1"/>
              <p:nvPr/>
            </p:nvSpPr>
            <p:spPr>
              <a:xfrm>
                <a:off x="0" y="0"/>
                <a:ext cx="2698282" cy="1706880"/>
              </a:xfrm>
              <a:prstGeom prst="rect">
                <a:avLst/>
              </a:prstGeom>
            </p:spPr>
            <p:txBody>
              <a:bodyPr lIns="0" tIns="0" rIns="0" bIns="0" rtlCol="0" anchor="ctr"/>
              <a:lstStyle/>
              <a:p>
                <a:pPr algn="l">
                  <a:lnSpc>
                    <a:spcPts val="2279"/>
                  </a:lnSpc>
                </a:pPr>
                <a:r>
                  <a:rPr lang="en-US" sz="1899">
                    <a:solidFill>
                      <a:srgbClr val="FFFFFF"/>
                    </a:solidFill>
                    <a:latin typeface="프리텐다드"/>
                    <a:ea typeface="프리텐다드"/>
                    <a:cs typeface="프리텐다드"/>
                    <a:sym typeface="프리텐다드"/>
                  </a:rPr>
                  <a:t>PP-OCRv5 rec</a:t>
                </a:r>
              </a:p>
              <a:p>
                <a:pPr algn="l">
                  <a:lnSpc>
                    <a:spcPts val="2279"/>
                  </a:lnSpc>
                </a:pPr>
                <a:r>
                  <a:rPr lang="en-US" sz="1899">
                    <a:solidFill>
                      <a:srgbClr val="FFFFFF"/>
                    </a:solidFill>
                    <a:latin typeface="프리텐다드"/>
                    <a:ea typeface="프리텐다드"/>
                    <a:cs typeface="프리텐다드"/>
                    <a:sym typeface="프리텐다드"/>
                  </a:rPr>
                  <a:t>큰 글자부터</a:t>
                </a:r>
              </a:p>
            </p:txBody>
          </p:sp>
        </p:grpSp>
      </p:grpSp>
      <p:grpSp>
        <p:nvGrpSpPr>
          <p:cNvPr id="93" name="Group 93"/>
          <p:cNvGrpSpPr/>
          <p:nvPr/>
        </p:nvGrpSpPr>
        <p:grpSpPr>
          <a:xfrm>
            <a:off x="9517380" y="2290579"/>
            <a:ext cx="2179382" cy="585216"/>
            <a:chOff x="0" y="0"/>
            <a:chExt cx="2905843" cy="780288"/>
          </a:xfrm>
        </p:grpSpPr>
        <p:sp>
          <p:nvSpPr>
            <p:cNvPr id="94" name="Freeform 94"/>
            <p:cNvSpPr/>
            <p:nvPr/>
          </p:nvSpPr>
          <p:spPr>
            <a:xfrm>
              <a:off x="0" y="0"/>
              <a:ext cx="2905843" cy="780288"/>
            </a:xfrm>
            <a:custGeom>
              <a:avLst/>
              <a:gdLst/>
              <a:ahLst/>
              <a:cxnLst/>
              <a:rect l="l" t="t" r="r" b="b"/>
              <a:pathLst>
                <a:path w="2905843" h="780288">
                  <a:moveTo>
                    <a:pt x="0" y="0"/>
                  </a:moveTo>
                  <a:lnTo>
                    <a:pt x="2905843" y="0"/>
                  </a:lnTo>
                  <a:lnTo>
                    <a:pt x="2905843" y="780288"/>
                  </a:lnTo>
                  <a:lnTo>
                    <a:pt x="0" y="780288"/>
                  </a:lnTo>
                  <a:close/>
                </a:path>
              </a:pathLst>
            </a:custGeom>
            <a:blipFill>
              <a:blip r:embed="rId3">
                <a:alphaModFix amt="0"/>
              </a:blip>
              <a:stretch>
                <a:fillRect t="-35247" r="-17479" b="-35247"/>
              </a:stretch>
            </a:blipFill>
          </p:spPr>
          <p:txBody>
            <a:bodyPr/>
            <a:lstStyle/>
            <a:p>
              <a:endParaRPr lang="ko-KR" altLang="en-US"/>
            </a:p>
          </p:txBody>
        </p:sp>
        <p:sp>
          <p:nvSpPr>
            <p:cNvPr id="95" name="TextBox 95"/>
            <p:cNvSpPr txBox="1"/>
            <p:nvPr/>
          </p:nvSpPr>
          <p:spPr>
            <a:xfrm>
              <a:off x="0" y="-9525"/>
              <a:ext cx="2905843" cy="789813"/>
            </a:xfrm>
            <a:prstGeom prst="rect">
              <a:avLst/>
            </a:prstGeom>
          </p:spPr>
          <p:txBody>
            <a:bodyPr lIns="0" tIns="0" rIns="0" bIns="0" rtlCol="0" anchor="ctr"/>
            <a:lstStyle/>
            <a:p>
              <a:pPr algn="l">
                <a:lnSpc>
                  <a:spcPts val="2879"/>
                </a:lnSpc>
              </a:pPr>
              <a:r>
                <a:rPr lang="en-US" sz="2400" b="1">
                  <a:solidFill>
                    <a:srgbClr val="FFFFFF"/>
                  </a:solidFill>
                  <a:latin typeface="프리텐다드 Bold"/>
                  <a:ea typeface="프리텐다드 Bold"/>
                  <a:cs typeface="프리텐다드 Bold"/>
                  <a:sym typeface="프리텐다드 Bold"/>
                </a:rPr>
                <a:t>③ 다시 읽기</a:t>
              </a:r>
            </a:p>
          </p:txBody>
        </p:sp>
      </p:grpSp>
      <p:grpSp>
        <p:nvGrpSpPr>
          <p:cNvPr id="96" name="Group 96"/>
          <p:cNvGrpSpPr/>
          <p:nvPr/>
        </p:nvGrpSpPr>
        <p:grpSpPr>
          <a:xfrm>
            <a:off x="12443460" y="2290579"/>
            <a:ext cx="2179382" cy="585216"/>
            <a:chOff x="0" y="0"/>
            <a:chExt cx="2905843" cy="780288"/>
          </a:xfrm>
        </p:grpSpPr>
        <p:sp>
          <p:nvSpPr>
            <p:cNvPr id="97" name="Freeform 97"/>
            <p:cNvSpPr/>
            <p:nvPr/>
          </p:nvSpPr>
          <p:spPr>
            <a:xfrm>
              <a:off x="0" y="0"/>
              <a:ext cx="2905843" cy="780288"/>
            </a:xfrm>
            <a:custGeom>
              <a:avLst/>
              <a:gdLst/>
              <a:ahLst/>
              <a:cxnLst/>
              <a:rect l="l" t="t" r="r" b="b"/>
              <a:pathLst>
                <a:path w="2905843" h="780288">
                  <a:moveTo>
                    <a:pt x="0" y="0"/>
                  </a:moveTo>
                  <a:lnTo>
                    <a:pt x="2905843" y="0"/>
                  </a:lnTo>
                  <a:lnTo>
                    <a:pt x="2905843" y="780288"/>
                  </a:lnTo>
                  <a:lnTo>
                    <a:pt x="0" y="780288"/>
                  </a:lnTo>
                  <a:close/>
                </a:path>
              </a:pathLst>
            </a:custGeom>
            <a:blipFill>
              <a:blip r:embed="rId3">
                <a:alphaModFix amt="0"/>
              </a:blip>
              <a:stretch>
                <a:fillRect t="-35247" r="-17479" b="-35247"/>
              </a:stretch>
            </a:blipFill>
          </p:spPr>
          <p:txBody>
            <a:bodyPr/>
            <a:lstStyle/>
            <a:p>
              <a:endParaRPr lang="ko-KR" altLang="en-US"/>
            </a:p>
          </p:txBody>
        </p:sp>
        <p:sp>
          <p:nvSpPr>
            <p:cNvPr id="98" name="TextBox 98"/>
            <p:cNvSpPr txBox="1"/>
            <p:nvPr/>
          </p:nvSpPr>
          <p:spPr>
            <a:xfrm>
              <a:off x="0" y="-9525"/>
              <a:ext cx="2905843" cy="789813"/>
            </a:xfrm>
            <a:prstGeom prst="rect">
              <a:avLst/>
            </a:prstGeom>
          </p:spPr>
          <p:txBody>
            <a:bodyPr lIns="0" tIns="0" rIns="0" bIns="0" rtlCol="0" anchor="ctr"/>
            <a:lstStyle/>
            <a:p>
              <a:pPr algn="l">
                <a:lnSpc>
                  <a:spcPts val="2879"/>
                </a:lnSpc>
              </a:pPr>
              <a:r>
                <a:rPr lang="en-US" sz="2400" b="1">
                  <a:solidFill>
                    <a:srgbClr val="FFFFFF"/>
                  </a:solidFill>
                  <a:latin typeface="프리텐다드 Bold"/>
                  <a:ea typeface="프리텐다드 Bold"/>
                  <a:cs typeface="프리텐다드 Bold"/>
                  <a:sym typeface="프리텐다드 Bold"/>
                </a:rPr>
                <a:t>④ 규칙 해석</a:t>
              </a:r>
            </a:p>
          </p:txBody>
        </p:sp>
      </p:grpSp>
      <p:grpSp>
        <p:nvGrpSpPr>
          <p:cNvPr id="99" name="Group 99"/>
          <p:cNvGrpSpPr/>
          <p:nvPr/>
        </p:nvGrpSpPr>
        <p:grpSpPr>
          <a:xfrm>
            <a:off x="15369540" y="2290579"/>
            <a:ext cx="2179382" cy="585216"/>
            <a:chOff x="0" y="0"/>
            <a:chExt cx="2905843" cy="780288"/>
          </a:xfrm>
        </p:grpSpPr>
        <p:sp>
          <p:nvSpPr>
            <p:cNvPr id="100" name="Freeform 100"/>
            <p:cNvSpPr/>
            <p:nvPr/>
          </p:nvSpPr>
          <p:spPr>
            <a:xfrm>
              <a:off x="0" y="0"/>
              <a:ext cx="2905843" cy="780288"/>
            </a:xfrm>
            <a:custGeom>
              <a:avLst/>
              <a:gdLst/>
              <a:ahLst/>
              <a:cxnLst/>
              <a:rect l="l" t="t" r="r" b="b"/>
              <a:pathLst>
                <a:path w="2905843" h="780288">
                  <a:moveTo>
                    <a:pt x="0" y="0"/>
                  </a:moveTo>
                  <a:lnTo>
                    <a:pt x="2905843" y="0"/>
                  </a:lnTo>
                  <a:lnTo>
                    <a:pt x="2905843" y="780288"/>
                  </a:lnTo>
                  <a:lnTo>
                    <a:pt x="0" y="780288"/>
                  </a:lnTo>
                  <a:close/>
                </a:path>
              </a:pathLst>
            </a:custGeom>
            <a:blipFill>
              <a:blip r:embed="rId3">
                <a:alphaModFix amt="0"/>
              </a:blip>
              <a:stretch>
                <a:fillRect t="-35247" r="-17479" b="-35247"/>
              </a:stretch>
            </a:blipFill>
          </p:spPr>
          <p:txBody>
            <a:bodyPr/>
            <a:lstStyle/>
            <a:p>
              <a:endParaRPr lang="ko-KR" altLang="en-US"/>
            </a:p>
          </p:txBody>
        </p:sp>
        <p:sp>
          <p:nvSpPr>
            <p:cNvPr id="101" name="TextBox 101"/>
            <p:cNvSpPr txBox="1"/>
            <p:nvPr/>
          </p:nvSpPr>
          <p:spPr>
            <a:xfrm>
              <a:off x="0" y="-9525"/>
              <a:ext cx="2905843" cy="789813"/>
            </a:xfrm>
            <a:prstGeom prst="rect">
              <a:avLst/>
            </a:prstGeom>
          </p:spPr>
          <p:txBody>
            <a:bodyPr lIns="0" tIns="0" rIns="0" bIns="0" rtlCol="0" anchor="ctr"/>
            <a:lstStyle/>
            <a:p>
              <a:pPr algn="l">
                <a:lnSpc>
                  <a:spcPts val="2879"/>
                </a:lnSpc>
              </a:pPr>
              <a:r>
                <a:rPr lang="en-US" sz="2400" b="1">
                  <a:solidFill>
                    <a:srgbClr val="FFFFFF"/>
                  </a:solidFill>
                  <a:latin typeface="프리텐다드 Bold"/>
                  <a:ea typeface="프리텐다드 Bold"/>
                  <a:cs typeface="프리텐다드 Bold"/>
                  <a:sym typeface="프리텐다드 Bold"/>
                </a:rPr>
                <a:t>출력</a:t>
              </a:r>
            </a:p>
          </p:txBody>
        </p:sp>
      </p:grpSp>
      <p:grpSp>
        <p:nvGrpSpPr>
          <p:cNvPr id="102" name="Group 102"/>
          <p:cNvGrpSpPr/>
          <p:nvPr/>
        </p:nvGrpSpPr>
        <p:grpSpPr>
          <a:xfrm>
            <a:off x="3665189" y="2555750"/>
            <a:ext cx="2023712" cy="1280160"/>
            <a:chOff x="0" y="0"/>
            <a:chExt cx="2698282" cy="1706880"/>
          </a:xfrm>
        </p:grpSpPr>
        <p:sp>
          <p:nvSpPr>
            <p:cNvPr id="103" name="Freeform 103"/>
            <p:cNvSpPr/>
            <p:nvPr/>
          </p:nvSpPr>
          <p:spPr>
            <a:xfrm>
              <a:off x="0" y="0"/>
              <a:ext cx="2698283" cy="1706880"/>
            </a:xfrm>
            <a:custGeom>
              <a:avLst/>
              <a:gdLst/>
              <a:ahLst/>
              <a:cxnLst/>
              <a:rect l="l" t="t" r="r" b="b"/>
              <a:pathLst>
                <a:path w="2698283" h="1706880">
                  <a:moveTo>
                    <a:pt x="0" y="0"/>
                  </a:moveTo>
                  <a:lnTo>
                    <a:pt x="2698283" y="0"/>
                  </a:lnTo>
                  <a:lnTo>
                    <a:pt x="2698283" y="1706880"/>
                  </a:lnTo>
                  <a:lnTo>
                    <a:pt x="0" y="1706880"/>
                  </a:lnTo>
                  <a:close/>
                </a:path>
              </a:pathLst>
            </a:custGeom>
            <a:blipFill>
              <a:blip r:embed="rId3">
                <a:alphaModFix amt="0"/>
              </a:blip>
              <a:stretch>
                <a:fillRect l="-22422" r="-39901"/>
              </a:stretch>
            </a:blipFill>
          </p:spPr>
          <p:txBody>
            <a:bodyPr/>
            <a:lstStyle/>
            <a:p>
              <a:endParaRPr lang="ko-KR" altLang="en-US"/>
            </a:p>
          </p:txBody>
        </p:sp>
        <p:sp>
          <p:nvSpPr>
            <p:cNvPr id="104" name="TextBox 104"/>
            <p:cNvSpPr txBox="1"/>
            <p:nvPr/>
          </p:nvSpPr>
          <p:spPr>
            <a:xfrm>
              <a:off x="0" y="0"/>
              <a:ext cx="2698282" cy="1706880"/>
            </a:xfrm>
            <a:prstGeom prst="rect">
              <a:avLst/>
            </a:prstGeom>
          </p:spPr>
          <p:txBody>
            <a:bodyPr lIns="0" tIns="0" rIns="0" bIns="0" rtlCol="0" anchor="ctr"/>
            <a:lstStyle/>
            <a:p>
              <a:pPr algn="l">
                <a:lnSpc>
                  <a:spcPts val="2279"/>
                </a:lnSpc>
              </a:pPr>
              <a:r>
                <a:rPr lang="en-US" sz="1899">
                  <a:solidFill>
                    <a:srgbClr val="FFFFFF"/>
                  </a:solidFill>
                  <a:latin typeface="프리텐다드"/>
                  <a:ea typeface="프리텐다드"/>
                  <a:cs typeface="프리텐다드"/>
                  <a:sym typeface="프리텐다드"/>
                </a:rPr>
                <a:t>PP-OCRv5 det</a:t>
              </a:r>
            </a:p>
            <a:p>
              <a:pPr algn="l">
                <a:lnSpc>
                  <a:spcPts val="2279"/>
                </a:lnSpc>
              </a:pPr>
              <a:r>
                <a:rPr lang="en-US" sz="1899">
                  <a:solidFill>
                    <a:srgbClr val="FFFFFF"/>
                  </a:solidFill>
                  <a:latin typeface="프리텐다드"/>
                  <a:ea typeface="프리텐다드"/>
                  <a:cs typeface="프리텐다드"/>
                  <a:sym typeface="프리텐다드"/>
                </a:rPr>
                <a:t>5MB · 장당 1회</a:t>
              </a:r>
            </a:p>
          </p:txBody>
        </p:sp>
      </p:grpSp>
      <p:grpSp>
        <p:nvGrpSpPr>
          <p:cNvPr id="105" name="Group 105"/>
          <p:cNvGrpSpPr/>
          <p:nvPr/>
        </p:nvGrpSpPr>
        <p:grpSpPr>
          <a:xfrm>
            <a:off x="9520588" y="2555750"/>
            <a:ext cx="2023712" cy="1280160"/>
            <a:chOff x="0" y="0"/>
            <a:chExt cx="2698282" cy="1706880"/>
          </a:xfrm>
        </p:grpSpPr>
        <p:sp>
          <p:nvSpPr>
            <p:cNvPr id="106" name="Freeform 106"/>
            <p:cNvSpPr/>
            <p:nvPr/>
          </p:nvSpPr>
          <p:spPr>
            <a:xfrm>
              <a:off x="0" y="0"/>
              <a:ext cx="2698283" cy="1706880"/>
            </a:xfrm>
            <a:custGeom>
              <a:avLst/>
              <a:gdLst/>
              <a:ahLst/>
              <a:cxnLst/>
              <a:rect l="l" t="t" r="r" b="b"/>
              <a:pathLst>
                <a:path w="2698283" h="1706880">
                  <a:moveTo>
                    <a:pt x="0" y="0"/>
                  </a:moveTo>
                  <a:lnTo>
                    <a:pt x="2698283" y="0"/>
                  </a:lnTo>
                  <a:lnTo>
                    <a:pt x="2698283" y="1706880"/>
                  </a:lnTo>
                  <a:lnTo>
                    <a:pt x="0" y="1706880"/>
                  </a:lnTo>
                  <a:close/>
                </a:path>
              </a:pathLst>
            </a:custGeom>
            <a:blipFill>
              <a:blip r:embed="rId3">
                <a:alphaModFix amt="0"/>
              </a:blip>
              <a:stretch>
                <a:fillRect l="-22422" r="-39901"/>
              </a:stretch>
            </a:blipFill>
          </p:spPr>
          <p:txBody>
            <a:bodyPr/>
            <a:lstStyle/>
            <a:p>
              <a:endParaRPr lang="ko-KR" altLang="en-US"/>
            </a:p>
          </p:txBody>
        </p:sp>
        <p:sp>
          <p:nvSpPr>
            <p:cNvPr id="107" name="TextBox 107"/>
            <p:cNvSpPr txBox="1"/>
            <p:nvPr/>
          </p:nvSpPr>
          <p:spPr>
            <a:xfrm>
              <a:off x="0" y="0"/>
              <a:ext cx="2698282" cy="1706880"/>
            </a:xfrm>
            <a:prstGeom prst="rect">
              <a:avLst/>
            </a:prstGeom>
          </p:spPr>
          <p:txBody>
            <a:bodyPr lIns="0" tIns="0" rIns="0" bIns="0" rtlCol="0" anchor="ctr"/>
            <a:lstStyle/>
            <a:p>
              <a:pPr algn="l">
                <a:lnSpc>
                  <a:spcPts val="2279"/>
                </a:lnSpc>
              </a:pPr>
              <a:r>
                <a:rPr lang="en-US" sz="1899">
                  <a:solidFill>
                    <a:srgbClr val="FFFFFF"/>
                  </a:solidFill>
                  <a:latin typeface="프리텐다드"/>
                  <a:ea typeface="프리텐다드"/>
                  <a:cs typeface="프리텐다드"/>
                  <a:sym typeface="프리텐다드"/>
                </a:rPr>
                <a:t>후보 줄만 원본으로</a:t>
              </a:r>
            </a:p>
            <a:p>
              <a:pPr algn="l">
                <a:lnSpc>
                  <a:spcPts val="2279"/>
                </a:lnSpc>
              </a:pPr>
              <a:r>
                <a:rPr lang="en-US" sz="1899">
                  <a:solidFill>
                    <a:srgbClr val="FFFFFF"/>
                  </a:solidFill>
                  <a:latin typeface="프리텐다드"/>
                  <a:ea typeface="프리텐다드"/>
                  <a:cs typeface="프리텐다드"/>
                  <a:sym typeface="프리텐다드"/>
                </a:rPr>
                <a:t>3표 다수결</a:t>
              </a:r>
            </a:p>
          </p:txBody>
        </p:sp>
      </p:grpSp>
      <p:grpSp>
        <p:nvGrpSpPr>
          <p:cNvPr id="108" name="Group 108"/>
          <p:cNvGrpSpPr/>
          <p:nvPr/>
        </p:nvGrpSpPr>
        <p:grpSpPr>
          <a:xfrm>
            <a:off x="12443460" y="2555750"/>
            <a:ext cx="2023712" cy="1280160"/>
            <a:chOff x="0" y="0"/>
            <a:chExt cx="2698282" cy="1706880"/>
          </a:xfrm>
        </p:grpSpPr>
        <p:sp>
          <p:nvSpPr>
            <p:cNvPr id="109" name="Freeform 109"/>
            <p:cNvSpPr/>
            <p:nvPr/>
          </p:nvSpPr>
          <p:spPr>
            <a:xfrm>
              <a:off x="0" y="0"/>
              <a:ext cx="2698283" cy="1706880"/>
            </a:xfrm>
            <a:custGeom>
              <a:avLst/>
              <a:gdLst/>
              <a:ahLst/>
              <a:cxnLst/>
              <a:rect l="l" t="t" r="r" b="b"/>
              <a:pathLst>
                <a:path w="2698283" h="1706880">
                  <a:moveTo>
                    <a:pt x="0" y="0"/>
                  </a:moveTo>
                  <a:lnTo>
                    <a:pt x="2698283" y="0"/>
                  </a:lnTo>
                  <a:lnTo>
                    <a:pt x="2698283" y="1706880"/>
                  </a:lnTo>
                  <a:lnTo>
                    <a:pt x="0" y="1706880"/>
                  </a:lnTo>
                  <a:close/>
                </a:path>
              </a:pathLst>
            </a:custGeom>
            <a:blipFill>
              <a:blip r:embed="rId3">
                <a:alphaModFix amt="0"/>
              </a:blip>
              <a:stretch>
                <a:fillRect l="-22422" r="-39901"/>
              </a:stretch>
            </a:blipFill>
          </p:spPr>
          <p:txBody>
            <a:bodyPr/>
            <a:lstStyle/>
            <a:p>
              <a:endParaRPr lang="ko-KR" altLang="en-US"/>
            </a:p>
          </p:txBody>
        </p:sp>
        <p:sp>
          <p:nvSpPr>
            <p:cNvPr id="110" name="TextBox 110"/>
            <p:cNvSpPr txBox="1"/>
            <p:nvPr/>
          </p:nvSpPr>
          <p:spPr>
            <a:xfrm>
              <a:off x="0" y="0"/>
              <a:ext cx="2698282" cy="1706880"/>
            </a:xfrm>
            <a:prstGeom prst="rect">
              <a:avLst/>
            </a:prstGeom>
          </p:spPr>
          <p:txBody>
            <a:bodyPr lIns="0" tIns="0" rIns="0" bIns="0" rtlCol="0" anchor="ctr"/>
            <a:lstStyle/>
            <a:p>
              <a:pPr algn="l">
                <a:lnSpc>
                  <a:spcPts val="2279"/>
                </a:lnSpc>
              </a:pPr>
              <a:r>
                <a:rPr lang="en-US" sz="1899">
                  <a:solidFill>
                    <a:srgbClr val="FFFFFF"/>
                  </a:solidFill>
                  <a:latin typeface="프리텐다드"/>
                  <a:ea typeface="프리텐다드"/>
                  <a:cs typeface="프리텐다드"/>
                  <a:sym typeface="프리텐다드"/>
                </a:rPr>
                <a:t>형식 정규화</a:t>
              </a:r>
            </a:p>
            <a:p>
              <a:pPr algn="l">
                <a:lnSpc>
                  <a:spcPts val="2279"/>
                </a:lnSpc>
              </a:pPr>
              <a:r>
                <a:rPr lang="en-US" sz="1899">
                  <a:solidFill>
                    <a:srgbClr val="FFFFFF"/>
                  </a:solidFill>
                  <a:latin typeface="프리텐다드"/>
                  <a:ea typeface="프리텐다드"/>
                  <a:cs typeface="프리텐다드"/>
                  <a:sym typeface="프리텐다드"/>
                </a:rPr>
                <a:t>잡음 제거 · 선택</a:t>
              </a:r>
            </a:p>
          </p:txBody>
        </p:sp>
      </p:grpSp>
      <p:grpSp>
        <p:nvGrpSpPr>
          <p:cNvPr id="111" name="Group 111"/>
          <p:cNvGrpSpPr/>
          <p:nvPr/>
        </p:nvGrpSpPr>
        <p:grpSpPr>
          <a:xfrm>
            <a:off x="15369540" y="2555750"/>
            <a:ext cx="2023712" cy="1280160"/>
            <a:chOff x="0" y="0"/>
            <a:chExt cx="2698282" cy="1706880"/>
          </a:xfrm>
        </p:grpSpPr>
        <p:sp>
          <p:nvSpPr>
            <p:cNvPr id="112" name="Freeform 112"/>
            <p:cNvSpPr/>
            <p:nvPr/>
          </p:nvSpPr>
          <p:spPr>
            <a:xfrm>
              <a:off x="0" y="0"/>
              <a:ext cx="2698283" cy="1706880"/>
            </a:xfrm>
            <a:custGeom>
              <a:avLst/>
              <a:gdLst/>
              <a:ahLst/>
              <a:cxnLst/>
              <a:rect l="l" t="t" r="r" b="b"/>
              <a:pathLst>
                <a:path w="2698283" h="1706880">
                  <a:moveTo>
                    <a:pt x="0" y="0"/>
                  </a:moveTo>
                  <a:lnTo>
                    <a:pt x="2698283" y="0"/>
                  </a:lnTo>
                  <a:lnTo>
                    <a:pt x="2698283" y="1706880"/>
                  </a:lnTo>
                  <a:lnTo>
                    <a:pt x="0" y="1706880"/>
                  </a:lnTo>
                  <a:close/>
                </a:path>
              </a:pathLst>
            </a:custGeom>
            <a:blipFill>
              <a:blip r:embed="rId3">
                <a:alphaModFix amt="0"/>
              </a:blip>
              <a:stretch>
                <a:fillRect l="-22422" r="-39901"/>
              </a:stretch>
            </a:blipFill>
          </p:spPr>
          <p:txBody>
            <a:bodyPr/>
            <a:lstStyle/>
            <a:p>
              <a:endParaRPr lang="ko-KR" altLang="en-US"/>
            </a:p>
          </p:txBody>
        </p:sp>
        <p:sp>
          <p:nvSpPr>
            <p:cNvPr id="113" name="TextBox 113"/>
            <p:cNvSpPr txBox="1"/>
            <p:nvPr/>
          </p:nvSpPr>
          <p:spPr>
            <a:xfrm>
              <a:off x="0" y="0"/>
              <a:ext cx="2698282" cy="1706880"/>
            </a:xfrm>
            <a:prstGeom prst="rect">
              <a:avLst/>
            </a:prstGeom>
          </p:spPr>
          <p:txBody>
            <a:bodyPr lIns="0" tIns="0" rIns="0" bIns="0" rtlCol="0" anchor="ctr"/>
            <a:lstStyle/>
            <a:p>
              <a:pPr algn="l">
                <a:lnSpc>
                  <a:spcPts val="2279"/>
                </a:lnSpc>
              </a:pPr>
              <a:r>
                <a:rPr lang="en-US" sz="1899">
                  <a:solidFill>
                    <a:srgbClr val="FFFFFF"/>
                  </a:solidFill>
                  <a:latin typeface="프리텐다드"/>
                  <a:ea typeface="프리텐다드"/>
                  <a:cs typeface="프리텐다드"/>
                  <a:sym typeface="프리텐다드"/>
                </a:rPr>
                <a:t>YYYY-MM-DD</a:t>
              </a:r>
            </a:p>
            <a:p>
              <a:pPr algn="l">
                <a:lnSpc>
                  <a:spcPts val="2279"/>
                </a:lnSpc>
              </a:pPr>
              <a:r>
                <a:rPr lang="en-US" sz="1899">
                  <a:solidFill>
                    <a:srgbClr val="FFFFFF"/>
                  </a:solidFill>
                  <a:latin typeface="프리텐다드"/>
                  <a:ea typeface="프리텐다드"/>
                  <a:cs typeface="프리텐다드"/>
                  <a:sym typeface="프리텐다드"/>
                </a:rPr>
                <a:t>또는 NONE</a:t>
              </a:r>
            </a:p>
          </p:txBody>
        </p:sp>
      </p:grpSp>
      <p:sp>
        <p:nvSpPr>
          <p:cNvPr id="116" name="TextBox 115">
            <a:extLst>
              <a:ext uri="{FF2B5EF4-FFF2-40B4-BE49-F238E27FC236}">
                <a16:creationId xmlns:a16="http://schemas.microsoft.com/office/drawing/2014/main" id="{58D28986-38DB-53B5-92BA-60E06E963C73}"/>
              </a:ext>
            </a:extLst>
          </p:cNvPr>
          <p:cNvSpPr txBox="1"/>
          <p:nvPr/>
        </p:nvSpPr>
        <p:spPr>
          <a:xfrm>
            <a:off x="548640" y="8501035"/>
            <a:ext cx="9144000" cy="353943"/>
          </a:xfrm>
          <a:prstGeom prst="rect">
            <a:avLst/>
          </a:prstGeom>
          <a:noFill/>
        </p:spPr>
        <p:txBody>
          <a:bodyPr wrap="square">
            <a:spAutoFit/>
          </a:bodyPr>
          <a:lstStyle/>
          <a:p>
            <a:r>
              <a:rPr lang="en-US" sz="1700" dirty="0">
                <a:solidFill>
                  <a:srgbClr val="6B6B6B"/>
                </a:solidFill>
                <a:latin typeface="프리텐다드"/>
                <a:ea typeface="프리텐다드"/>
                <a:cs typeface="프리텐다드"/>
                <a:sym typeface="프리텐다드"/>
              </a:rPr>
              <a:t>※</a:t>
            </a:r>
            <a:r>
              <a:rPr lang="ko-KR" altLang="en-US" sz="1700" dirty="0">
                <a:solidFill>
                  <a:srgbClr val="6B6B6B"/>
                </a:solidFill>
                <a:latin typeface="프리텐다드"/>
                <a:ea typeface="프리텐다드"/>
                <a:cs typeface="프리텐다드"/>
                <a:sym typeface="프리텐다드"/>
              </a:rPr>
              <a:t> 위 세 수치는 각각 따로 측정한 개별 효과이며 단순 합산이 아님</a:t>
            </a:r>
            <a:r>
              <a:rPr lang="en-US" altLang="ko-KR" sz="1700" dirty="0">
                <a:solidFill>
                  <a:srgbClr val="6B6B6B"/>
                </a:solidFill>
                <a:latin typeface="프리텐다드"/>
                <a:ea typeface="프리텐다드"/>
                <a:cs typeface="프리텐다드"/>
                <a:sym typeface="프리텐다드"/>
              </a:rPr>
              <a:t>.</a:t>
            </a:r>
            <a:r>
              <a:rPr lang="ko-KR" altLang="en-US" sz="1700" dirty="0">
                <a:solidFill>
                  <a:srgbClr val="6B6B6B"/>
                </a:solidFill>
                <a:latin typeface="프리텐다드"/>
                <a:ea typeface="프리텐다드"/>
                <a:cs typeface="프리텐다드"/>
                <a:sym typeface="프리텐다드"/>
              </a:rPr>
              <a:t> </a:t>
            </a:r>
            <a:endParaRPr lang="en-K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5943" y="535943"/>
            <a:ext cx="153419" cy="756923"/>
            <a:chOff x="0" y="0"/>
            <a:chExt cx="204559" cy="1009231"/>
          </a:xfrm>
        </p:grpSpPr>
        <p:sp>
          <p:nvSpPr>
            <p:cNvPr id="3" name="Freeform 3"/>
            <p:cNvSpPr/>
            <p:nvPr/>
          </p:nvSpPr>
          <p:spPr>
            <a:xfrm>
              <a:off x="0" y="0"/>
              <a:ext cx="204597" cy="1009269"/>
            </a:xfrm>
            <a:custGeom>
              <a:avLst/>
              <a:gdLst/>
              <a:ahLst/>
              <a:cxnLst/>
              <a:rect l="l" t="t" r="r" b="b"/>
              <a:pathLst>
                <a:path w="204597" h="1009269">
                  <a:moveTo>
                    <a:pt x="0" y="0"/>
                  </a:moveTo>
                  <a:lnTo>
                    <a:pt x="204597" y="0"/>
                  </a:lnTo>
                  <a:lnTo>
                    <a:pt x="204597" y="1009269"/>
                  </a:lnTo>
                  <a:lnTo>
                    <a:pt x="0" y="1009269"/>
                  </a:ln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4" name="Group 4"/>
          <p:cNvGrpSpPr/>
          <p:nvPr/>
        </p:nvGrpSpPr>
        <p:grpSpPr>
          <a:xfrm>
            <a:off x="822960" y="457200"/>
            <a:ext cx="15910560" cy="914400"/>
            <a:chOff x="0" y="0"/>
            <a:chExt cx="21214080" cy="1219200"/>
          </a:xfrm>
        </p:grpSpPr>
        <p:sp>
          <p:nvSpPr>
            <p:cNvPr id="5" name="Freeform 5"/>
            <p:cNvSpPr/>
            <p:nvPr/>
          </p:nvSpPr>
          <p:spPr>
            <a:xfrm>
              <a:off x="0" y="0"/>
              <a:ext cx="21214080" cy="1219200"/>
            </a:xfrm>
            <a:custGeom>
              <a:avLst/>
              <a:gdLst/>
              <a:ahLst/>
              <a:cxnLst/>
              <a:rect l="l" t="t" r="r" b="b"/>
              <a:pathLst>
                <a:path w="21214080" h="1219200">
                  <a:moveTo>
                    <a:pt x="0" y="0"/>
                  </a:moveTo>
                  <a:lnTo>
                    <a:pt x="21214080" y="0"/>
                  </a:lnTo>
                  <a:lnTo>
                    <a:pt x="21214080" y="1219200"/>
                  </a:lnTo>
                  <a:lnTo>
                    <a:pt x="0" y="1219200"/>
                  </a:lnTo>
                  <a:close/>
                </a:path>
              </a:pathLst>
            </a:custGeom>
            <a:blipFill>
              <a:blip r:embed="rId3">
                <a:alphaModFix amt="0"/>
              </a:blip>
              <a:stretch>
                <a:fillRect t="-289039" b="-289039"/>
              </a:stretch>
            </a:blipFill>
          </p:spPr>
          <p:txBody>
            <a:bodyPr/>
            <a:lstStyle/>
            <a:p>
              <a:endParaRPr lang="ko-KR" altLang="en-US"/>
            </a:p>
          </p:txBody>
        </p:sp>
        <p:sp>
          <p:nvSpPr>
            <p:cNvPr id="6" name="TextBox 6"/>
            <p:cNvSpPr txBox="1"/>
            <p:nvPr/>
          </p:nvSpPr>
          <p:spPr>
            <a:xfrm>
              <a:off x="0" y="0"/>
              <a:ext cx="21214080" cy="1219200"/>
            </a:xfrm>
            <a:prstGeom prst="rect">
              <a:avLst/>
            </a:prstGeom>
          </p:spPr>
          <p:txBody>
            <a:bodyPr lIns="0" tIns="0" rIns="0" bIns="0" rtlCol="0" anchor="ctr"/>
            <a:lstStyle/>
            <a:p>
              <a:pPr algn="l">
                <a:lnSpc>
                  <a:spcPts val="4560"/>
                </a:lnSpc>
              </a:pPr>
              <a:r>
                <a:rPr lang="en-US" sz="3800" b="1" dirty="0" err="1">
                  <a:solidFill>
                    <a:srgbClr val="1A1A1A"/>
                  </a:solidFill>
                  <a:latin typeface="프리텐다드 Bold"/>
                  <a:ea typeface="프리텐다드 Bold"/>
                  <a:cs typeface="프리텐다드 Bold"/>
                  <a:sym typeface="프리텐다드 Bold"/>
                </a:rPr>
                <a:t>설계</a:t>
              </a:r>
              <a:r>
                <a:rPr lang="en-US" sz="3800" b="1" dirty="0">
                  <a:solidFill>
                    <a:srgbClr val="1A1A1A"/>
                  </a:solidFill>
                  <a:latin typeface="프리텐다드 Bold"/>
                  <a:ea typeface="프리텐다드 Bold"/>
                  <a:cs typeface="프리텐다드 Bold"/>
                  <a:sym typeface="프리텐다드 Bold"/>
                </a:rPr>
                <a:t> </a:t>
              </a:r>
              <a:r>
                <a:rPr lang="en-US" sz="3800" b="1" dirty="0" err="1">
                  <a:solidFill>
                    <a:srgbClr val="1A1A1A"/>
                  </a:solidFill>
                  <a:latin typeface="프리텐다드 Bold"/>
                  <a:ea typeface="프리텐다드 Bold"/>
                  <a:cs typeface="프리텐다드 Bold"/>
                  <a:sym typeface="프리텐다드 Bold"/>
                </a:rPr>
                <a:t>사고</a:t>
              </a:r>
              <a:r>
                <a:rPr lang="en-US" sz="3800" b="1" dirty="0">
                  <a:solidFill>
                    <a:srgbClr val="1A1A1A"/>
                  </a:solidFill>
                  <a:latin typeface="프리텐다드 Bold"/>
                  <a:ea typeface="프리텐다드 Bold"/>
                  <a:cs typeface="프리텐다드 Bold"/>
                  <a:sym typeface="프리텐다드 Bold"/>
                </a:rPr>
                <a:t> : </a:t>
              </a:r>
              <a:r>
                <a:rPr lang="en-US" sz="3800" b="1" dirty="0" err="1">
                  <a:solidFill>
                    <a:srgbClr val="8B0000"/>
                  </a:solidFill>
                  <a:latin typeface="프리텐다드 Bold"/>
                  <a:ea typeface="프리텐다드 Bold"/>
                  <a:cs typeface="프리텐다드 Bold"/>
                  <a:sym typeface="프리텐다드 Bold"/>
                </a:rPr>
                <a:t>오답을</a:t>
              </a:r>
              <a:r>
                <a:rPr lang="en-US" sz="3800" b="1" dirty="0">
                  <a:solidFill>
                    <a:srgbClr val="8B0000"/>
                  </a:solidFill>
                  <a:latin typeface="프리텐다드 Bold"/>
                  <a:ea typeface="프리텐다드 Bold"/>
                  <a:cs typeface="프리텐다드 Bold"/>
                  <a:sym typeface="프리텐다드 Bold"/>
                </a:rPr>
                <a:t> “</a:t>
              </a:r>
              <a:r>
                <a:rPr lang="en-US" sz="3800" b="1" dirty="0" err="1">
                  <a:solidFill>
                    <a:srgbClr val="8B0000"/>
                  </a:solidFill>
                  <a:latin typeface="프리텐다드 Bold"/>
                  <a:ea typeface="프리텐다드 Bold"/>
                  <a:cs typeface="프리텐다드 Bold"/>
                  <a:sym typeface="프리텐다드 Bold"/>
                </a:rPr>
                <a:t>정답이</a:t>
              </a:r>
              <a:r>
                <a:rPr lang="en-US" sz="3800" b="1" dirty="0">
                  <a:solidFill>
                    <a:srgbClr val="8B0000"/>
                  </a:solidFill>
                  <a:latin typeface="프리텐다드 Bold"/>
                  <a:ea typeface="프리텐다드 Bold"/>
                  <a:cs typeface="프리텐다드 Bold"/>
                  <a:sym typeface="프리텐다드 Bold"/>
                </a:rPr>
                <a:t> </a:t>
              </a:r>
              <a:r>
                <a:rPr lang="en-US" sz="3800" b="1" dirty="0" err="1">
                  <a:solidFill>
                    <a:srgbClr val="8B0000"/>
                  </a:solidFill>
                  <a:latin typeface="프리텐다드 Bold"/>
                  <a:ea typeface="프리텐다드 Bold"/>
                  <a:cs typeface="프리텐다드 Bold"/>
                  <a:sym typeface="프리텐다드 Bold"/>
                </a:rPr>
                <a:t>사라진</a:t>
              </a:r>
              <a:r>
                <a:rPr lang="en-US" sz="3800" b="1" dirty="0">
                  <a:solidFill>
                    <a:srgbClr val="8B0000"/>
                  </a:solidFill>
                  <a:latin typeface="프리텐다드 Bold"/>
                  <a:ea typeface="프리텐다드 Bold"/>
                  <a:cs typeface="프리텐다드 Bold"/>
                  <a:sym typeface="프리텐다드 Bold"/>
                </a:rPr>
                <a:t> </a:t>
              </a:r>
              <a:r>
                <a:rPr lang="en-US" sz="3800" b="1" dirty="0" err="1">
                  <a:solidFill>
                    <a:srgbClr val="8B0000"/>
                  </a:solidFill>
                  <a:latin typeface="프리텐다드 Bold"/>
                  <a:ea typeface="프리텐다드 Bold"/>
                  <a:cs typeface="프리텐다드 Bold"/>
                  <a:sym typeface="프리텐다드 Bold"/>
                </a:rPr>
                <a:t>단계</a:t>
              </a:r>
              <a:r>
                <a:rPr lang="en-US" sz="3800" b="1" dirty="0">
                  <a:solidFill>
                    <a:srgbClr val="8B0000"/>
                  </a:solidFill>
                  <a:latin typeface="프리텐다드 Bold"/>
                  <a:ea typeface="프리텐다드 Bold"/>
                  <a:cs typeface="프리텐다드 Bold"/>
                  <a:sym typeface="프리텐다드 Bold"/>
                </a:rPr>
                <a:t>” 로 </a:t>
              </a:r>
              <a:r>
                <a:rPr lang="en-US" sz="3800" b="1" dirty="0" err="1">
                  <a:solidFill>
                    <a:srgbClr val="8B0000"/>
                  </a:solidFill>
                  <a:latin typeface="프리텐다드 Bold"/>
                  <a:ea typeface="프리텐다드 Bold"/>
                  <a:cs typeface="프리텐다드 Bold"/>
                  <a:sym typeface="프리텐다드 Bold"/>
                </a:rPr>
                <a:t>진단했습니다</a:t>
              </a:r>
              <a:endParaRPr lang="en-US" sz="3800" b="1" dirty="0">
                <a:solidFill>
                  <a:srgbClr val="8B0000"/>
                </a:solidFill>
                <a:latin typeface="프리텐다드 Bold"/>
                <a:ea typeface="프리텐다드 Bold"/>
                <a:cs typeface="프리텐다드 Bold"/>
                <a:sym typeface="프리텐다드 Bold"/>
              </a:endParaRPr>
            </a:p>
          </p:txBody>
        </p:sp>
      </p:grpSp>
      <p:sp>
        <p:nvSpPr>
          <p:cNvPr id="7" name="AutoShape 7"/>
          <p:cNvSpPr/>
          <p:nvPr/>
        </p:nvSpPr>
        <p:spPr>
          <a:xfrm rot="3780">
            <a:off x="539105" y="1494854"/>
            <a:ext cx="17209780" cy="0"/>
          </a:xfrm>
          <a:prstGeom prst="line">
            <a:avLst/>
          </a:prstGeom>
          <a:ln w="9525" cap="rnd">
            <a:solidFill>
              <a:srgbClr val="BFBFBF"/>
            </a:solidFill>
            <a:prstDash val="solid"/>
            <a:headEnd type="none" w="sm" len="sm"/>
            <a:tailEnd type="none" w="sm" len="sm"/>
          </a:ln>
        </p:spPr>
        <p:txBody>
          <a:bodyPr/>
          <a:lstStyle/>
          <a:p>
            <a:endParaRPr lang="ko-KR" altLang="en-US"/>
          </a:p>
        </p:txBody>
      </p:sp>
      <p:grpSp>
        <p:nvGrpSpPr>
          <p:cNvPr id="8" name="Group 8"/>
          <p:cNvGrpSpPr/>
          <p:nvPr/>
        </p:nvGrpSpPr>
        <p:grpSpPr>
          <a:xfrm>
            <a:off x="17007840" y="219456"/>
            <a:ext cx="914400" cy="457200"/>
            <a:chOff x="0" y="0"/>
            <a:chExt cx="1219200" cy="609600"/>
          </a:xfrm>
        </p:grpSpPr>
        <p:sp>
          <p:nvSpPr>
            <p:cNvPr id="9" name="Freeform 9"/>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10" name="TextBox 10"/>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1A1A1A"/>
                  </a:solidFill>
                  <a:latin typeface="프리텐다드"/>
                  <a:ea typeface="프리텐다드"/>
                  <a:cs typeface="프리텐다드"/>
                  <a:sym typeface="프리텐다드"/>
                </a:rPr>
                <a:t>8</a:t>
              </a:r>
            </a:p>
          </p:txBody>
        </p:sp>
      </p:grpSp>
      <p:sp>
        <p:nvSpPr>
          <p:cNvPr id="11" name="TextBox 11"/>
          <p:cNvSpPr txBox="1"/>
          <p:nvPr/>
        </p:nvSpPr>
        <p:spPr>
          <a:xfrm>
            <a:off x="548640" y="1858520"/>
            <a:ext cx="17190720" cy="353623"/>
          </a:xfrm>
          <a:prstGeom prst="rect">
            <a:avLst/>
          </a:prstGeom>
        </p:spPr>
        <p:txBody>
          <a:bodyPr lIns="0" tIns="0" rIns="0" bIns="0" rtlCol="0" anchor="t">
            <a:spAutoFit/>
          </a:bodyPr>
          <a:lstStyle/>
          <a:p>
            <a:pPr algn="ctr">
              <a:lnSpc>
                <a:spcPts val="2879"/>
              </a:lnSpc>
            </a:pPr>
            <a:r>
              <a:rPr lang="en-US" sz="2400" dirty="0" err="1">
                <a:solidFill>
                  <a:srgbClr val="1A1A1A"/>
                </a:solidFill>
                <a:latin typeface="프리텐다드"/>
                <a:ea typeface="프리텐다드"/>
                <a:cs typeface="프리텐다드"/>
                <a:sym typeface="프리텐다드"/>
              </a:rPr>
              <a:t>예선</a:t>
            </a:r>
            <a:r>
              <a:rPr lang="en-US" sz="2400" dirty="0">
                <a:solidFill>
                  <a:srgbClr val="1A1A1A"/>
                </a:solidFill>
                <a:latin typeface="프리텐다드"/>
                <a:ea typeface="프리텐다드"/>
                <a:cs typeface="프리텐다드"/>
                <a:sym typeface="프리텐다드"/>
              </a:rPr>
              <a:t> </a:t>
            </a:r>
            <a:r>
              <a:rPr lang="en-US" sz="2400" dirty="0" err="1">
                <a:solidFill>
                  <a:srgbClr val="1A1A1A"/>
                </a:solidFill>
                <a:latin typeface="프리텐다드"/>
                <a:ea typeface="프리텐다드"/>
                <a:cs typeface="프리텐다드"/>
                <a:sym typeface="프리텐다드"/>
              </a:rPr>
              <a:t>구성의</a:t>
            </a:r>
            <a:r>
              <a:rPr lang="en-US" sz="2400" dirty="0">
                <a:solidFill>
                  <a:srgbClr val="1A1A1A"/>
                </a:solidFill>
                <a:latin typeface="프리텐다드"/>
                <a:ea typeface="프리텐다드"/>
                <a:cs typeface="프리텐다드"/>
                <a:sym typeface="프리텐다드"/>
              </a:rPr>
              <a:t> </a:t>
            </a:r>
            <a:r>
              <a:rPr lang="ko-KR" altLang="en-US" sz="2400" dirty="0">
                <a:solidFill>
                  <a:srgbClr val="1A1A1A"/>
                </a:solidFill>
                <a:latin typeface="프리텐다드"/>
                <a:ea typeface="프리텐다드"/>
                <a:cs typeface="프리텐다드"/>
                <a:sym typeface="프리텐다드"/>
              </a:rPr>
              <a:t>전체 </a:t>
            </a:r>
            <a:r>
              <a:rPr lang="en-US" sz="2400" dirty="0" err="1">
                <a:solidFill>
                  <a:srgbClr val="1A1A1A"/>
                </a:solidFill>
                <a:latin typeface="프리텐다드"/>
                <a:ea typeface="프리텐다드"/>
                <a:cs typeface="프리텐다드"/>
                <a:sym typeface="프리텐다드"/>
              </a:rPr>
              <a:t>오답</a:t>
            </a:r>
            <a:r>
              <a:rPr lang="en-US" sz="2400" dirty="0">
                <a:solidFill>
                  <a:srgbClr val="1A1A1A"/>
                </a:solidFill>
                <a:latin typeface="프리텐다드"/>
                <a:ea typeface="프리텐다드"/>
                <a:cs typeface="프리텐다드"/>
                <a:sym typeface="프리텐다드"/>
              </a:rPr>
              <a:t> </a:t>
            </a:r>
            <a:r>
              <a:rPr lang="en-US" sz="2400" b="1" dirty="0">
                <a:solidFill>
                  <a:srgbClr val="8B0000"/>
                </a:solidFill>
                <a:latin typeface="프리텐다드 Bold"/>
                <a:ea typeface="프리텐다드 Bold"/>
                <a:cs typeface="프리텐다드 Bold"/>
                <a:sym typeface="프리텐다드 Bold"/>
              </a:rPr>
              <a:t>603장</a:t>
            </a:r>
            <a:r>
              <a:rPr lang="en-US" altLang="ko-KR" sz="1200" dirty="0">
                <a:solidFill>
                  <a:srgbClr val="1A1A1A"/>
                </a:solidFill>
                <a:latin typeface="프리텐다드"/>
                <a:ea typeface="프리텐다드"/>
                <a:cs typeface="프리텐다드"/>
                <a:sym typeface="프리텐다드"/>
              </a:rPr>
              <a:t>(</a:t>
            </a:r>
            <a:r>
              <a:rPr lang="ko-KR" altLang="en-US" sz="1200" dirty="0">
                <a:solidFill>
                  <a:srgbClr val="1A1A1A"/>
                </a:solidFill>
                <a:latin typeface="프리텐다드"/>
                <a:ea typeface="프리텐다드"/>
                <a:cs typeface="프리텐다드"/>
                <a:sym typeface="프리텐다드"/>
              </a:rPr>
              <a:t>봉인 </a:t>
            </a:r>
            <a:r>
              <a:rPr lang="en-US" altLang="ko-KR" sz="1200" dirty="0">
                <a:solidFill>
                  <a:srgbClr val="1A1A1A"/>
                </a:solidFill>
                <a:latin typeface="프리텐다드"/>
                <a:ea typeface="프리텐다드"/>
                <a:cs typeface="프리텐다드"/>
                <a:sym typeface="프리텐다드"/>
              </a:rPr>
              <a:t>500</a:t>
            </a:r>
            <a:r>
              <a:rPr lang="ko-KR" altLang="en-US" sz="1200" dirty="0">
                <a:solidFill>
                  <a:srgbClr val="1A1A1A"/>
                </a:solidFill>
                <a:latin typeface="프리텐다드"/>
                <a:ea typeface="프리텐다드"/>
                <a:cs typeface="프리텐다드"/>
                <a:sym typeface="프리텐다드"/>
              </a:rPr>
              <a:t>장 포함</a:t>
            </a:r>
            <a:r>
              <a:rPr lang="en-US" altLang="ko-KR" sz="1200" dirty="0">
                <a:solidFill>
                  <a:srgbClr val="1A1A1A"/>
                </a:solidFill>
                <a:latin typeface="프리텐다드"/>
                <a:ea typeface="프리텐다드"/>
                <a:cs typeface="프리텐다드"/>
                <a:sym typeface="프리텐다드"/>
              </a:rPr>
              <a:t>,</a:t>
            </a:r>
            <a:r>
              <a:rPr lang="ko-KR" altLang="en-US" sz="1200" dirty="0">
                <a:solidFill>
                  <a:srgbClr val="1A1A1A"/>
                </a:solidFill>
                <a:latin typeface="프리텐다드"/>
                <a:ea typeface="프리텐다드"/>
                <a:cs typeface="프리텐다드"/>
                <a:sym typeface="프리텐다드"/>
              </a:rPr>
              <a:t> 예선 시점 진단</a:t>
            </a:r>
            <a:r>
              <a:rPr lang="en-US" altLang="ko-KR" sz="1200" dirty="0">
                <a:solidFill>
                  <a:srgbClr val="1A1A1A"/>
                </a:solidFill>
                <a:latin typeface="프리텐다드"/>
                <a:ea typeface="프리텐다드"/>
                <a:cs typeface="프리텐다드"/>
                <a:sym typeface="프리텐다드"/>
              </a:rPr>
              <a:t>)</a:t>
            </a:r>
            <a:r>
              <a:rPr lang="en-US" sz="2400" dirty="0" err="1">
                <a:solidFill>
                  <a:srgbClr val="1A1A1A"/>
                </a:solidFill>
                <a:latin typeface="프리텐다드"/>
                <a:ea typeface="프리텐다드"/>
                <a:cs typeface="프리텐다드"/>
                <a:sym typeface="프리텐다드"/>
              </a:rPr>
              <a:t>마다</a:t>
            </a:r>
            <a:r>
              <a:rPr lang="en-US" sz="2400" dirty="0">
                <a:solidFill>
                  <a:srgbClr val="1A1A1A"/>
                </a:solidFill>
                <a:latin typeface="프리텐다드"/>
                <a:ea typeface="프리텐다드"/>
                <a:cs typeface="프리텐다드"/>
                <a:sym typeface="프리텐다드"/>
              </a:rPr>
              <a:t> </a:t>
            </a:r>
            <a:r>
              <a:rPr lang="en-US" sz="2400" dirty="0" err="1">
                <a:solidFill>
                  <a:srgbClr val="1A1A1A"/>
                </a:solidFill>
                <a:latin typeface="프리텐다드"/>
                <a:ea typeface="프리텐다드"/>
                <a:cs typeface="프리텐다드"/>
                <a:sym typeface="프리텐다드"/>
              </a:rPr>
              <a:t>정답</a:t>
            </a:r>
            <a:r>
              <a:rPr lang="en-US" sz="2400" dirty="0">
                <a:solidFill>
                  <a:srgbClr val="1A1A1A"/>
                </a:solidFill>
                <a:latin typeface="프리텐다드"/>
                <a:ea typeface="프리텐다드"/>
                <a:cs typeface="프리텐다드"/>
                <a:sym typeface="프리텐다드"/>
              </a:rPr>
              <a:t> </a:t>
            </a:r>
            <a:r>
              <a:rPr lang="en-US" sz="2400" dirty="0" err="1">
                <a:solidFill>
                  <a:srgbClr val="1A1A1A"/>
                </a:solidFill>
                <a:latin typeface="프리텐다드"/>
                <a:ea typeface="프리텐다드"/>
                <a:cs typeface="프리텐다드"/>
                <a:sym typeface="프리텐다드"/>
              </a:rPr>
              <a:t>날짜가</a:t>
            </a:r>
            <a:r>
              <a:rPr lang="en-US" sz="2400" dirty="0">
                <a:solidFill>
                  <a:srgbClr val="1A1A1A"/>
                </a:solidFill>
                <a:latin typeface="프리텐다드"/>
                <a:ea typeface="프리텐다드"/>
                <a:cs typeface="프리텐다드"/>
                <a:sym typeface="프리텐다드"/>
              </a:rPr>
              <a:t> </a:t>
            </a:r>
            <a:r>
              <a:rPr lang="en-US" sz="2400" dirty="0" err="1">
                <a:solidFill>
                  <a:srgbClr val="1A1A1A"/>
                </a:solidFill>
                <a:latin typeface="프리텐다드"/>
                <a:ea typeface="프리텐다드"/>
                <a:cs typeface="프리텐다드"/>
                <a:sym typeface="프리텐다드"/>
              </a:rPr>
              <a:t>파이프라인</a:t>
            </a:r>
            <a:r>
              <a:rPr lang="en-US" sz="2400" dirty="0">
                <a:solidFill>
                  <a:srgbClr val="1A1A1A"/>
                </a:solidFill>
                <a:latin typeface="프리텐다드"/>
                <a:ea typeface="프리텐다드"/>
                <a:cs typeface="프리텐다드"/>
                <a:sym typeface="프리텐다드"/>
              </a:rPr>
              <a:t> </a:t>
            </a:r>
            <a:r>
              <a:rPr lang="en-US" sz="2400" dirty="0" err="1">
                <a:solidFill>
                  <a:srgbClr val="1A1A1A"/>
                </a:solidFill>
                <a:latin typeface="프리텐다드"/>
                <a:ea typeface="프리텐다드"/>
                <a:cs typeface="프리텐다드"/>
                <a:sym typeface="프리텐다드"/>
              </a:rPr>
              <a:t>어느</a:t>
            </a:r>
            <a:r>
              <a:rPr lang="en-US" sz="2400" dirty="0">
                <a:solidFill>
                  <a:srgbClr val="1A1A1A"/>
                </a:solidFill>
                <a:latin typeface="프리텐다드"/>
                <a:ea typeface="프리텐다드"/>
                <a:cs typeface="프리텐다드"/>
                <a:sym typeface="프리텐다드"/>
              </a:rPr>
              <a:t> </a:t>
            </a:r>
            <a:r>
              <a:rPr lang="en-US" sz="2400" dirty="0" err="1">
                <a:solidFill>
                  <a:srgbClr val="1A1A1A"/>
                </a:solidFill>
                <a:latin typeface="프리텐다드"/>
                <a:ea typeface="프리텐다드"/>
                <a:cs typeface="프리텐다드"/>
                <a:sym typeface="프리텐다드"/>
              </a:rPr>
              <a:t>단계까지</a:t>
            </a:r>
            <a:r>
              <a:rPr lang="en-US" sz="2400" dirty="0">
                <a:solidFill>
                  <a:srgbClr val="1A1A1A"/>
                </a:solidFill>
                <a:latin typeface="프리텐다드"/>
                <a:ea typeface="프리텐다드"/>
                <a:cs typeface="프리텐다드"/>
                <a:sym typeface="프리텐다드"/>
              </a:rPr>
              <a:t> </a:t>
            </a:r>
            <a:r>
              <a:rPr lang="en-US" sz="2400" dirty="0" err="1">
                <a:solidFill>
                  <a:srgbClr val="1A1A1A"/>
                </a:solidFill>
                <a:latin typeface="프리텐다드"/>
                <a:ea typeface="프리텐다드"/>
                <a:cs typeface="프리텐다드"/>
                <a:sym typeface="프리텐다드"/>
              </a:rPr>
              <a:t>살아</a:t>
            </a:r>
            <a:r>
              <a:rPr lang="en-US" sz="2400" dirty="0">
                <a:solidFill>
                  <a:srgbClr val="1A1A1A"/>
                </a:solidFill>
                <a:latin typeface="프리텐다드"/>
                <a:ea typeface="프리텐다드"/>
                <a:cs typeface="프리텐다드"/>
                <a:sym typeface="프리텐다드"/>
              </a:rPr>
              <a:t> </a:t>
            </a:r>
            <a:r>
              <a:rPr lang="en-US" sz="2400" dirty="0" err="1">
                <a:solidFill>
                  <a:srgbClr val="1A1A1A"/>
                </a:solidFill>
                <a:latin typeface="프리텐다드"/>
                <a:ea typeface="프리텐다드"/>
                <a:cs typeface="프리텐다드"/>
                <a:sym typeface="프리텐다드"/>
              </a:rPr>
              <a:t>있었는지</a:t>
            </a:r>
            <a:r>
              <a:rPr lang="en-US" sz="2400" dirty="0">
                <a:solidFill>
                  <a:srgbClr val="1A1A1A"/>
                </a:solidFill>
                <a:latin typeface="프리텐다드"/>
                <a:ea typeface="프리텐다드"/>
                <a:cs typeface="프리텐다드"/>
                <a:sym typeface="프리텐다드"/>
              </a:rPr>
              <a:t> </a:t>
            </a:r>
            <a:r>
              <a:rPr lang="en-US" sz="2400" dirty="0" err="1">
                <a:solidFill>
                  <a:srgbClr val="1A1A1A"/>
                </a:solidFill>
                <a:latin typeface="프리텐다드"/>
                <a:ea typeface="프리텐다드"/>
                <a:cs typeface="프리텐다드"/>
                <a:sym typeface="프리텐다드"/>
              </a:rPr>
              <a:t>추적</a:t>
            </a:r>
            <a:endParaRPr lang="en-US" sz="2400" dirty="0">
              <a:solidFill>
                <a:srgbClr val="1A1A1A"/>
              </a:solidFill>
              <a:latin typeface="프리텐다드"/>
              <a:ea typeface="프리텐다드"/>
              <a:cs typeface="프리텐다드"/>
              <a:sym typeface="프리텐다드"/>
            </a:endParaRPr>
          </a:p>
        </p:txBody>
      </p:sp>
      <p:grpSp>
        <p:nvGrpSpPr>
          <p:cNvPr id="12" name="Group 12"/>
          <p:cNvGrpSpPr/>
          <p:nvPr/>
        </p:nvGrpSpPr>
        <p:grpSpPr>
          <a:xfrm>
            <a:off x="535943" y="2584199"/>
            <a:ext cx="4158491" cy="3865883"/>
            <a:chOff x="0" y="0"/>
            <a:chExt cx="5544655" cy="5154511"/>
          </a:xfrm>
        </p:grpSpPr>
        <p:sp>
          <p:nvSpPr>
            <p:cNvPr id="13" name="Freeform 13"/>
            <p:cNvSpPr/>
            <p:nvPr/>
          </p:nvSpPr>
          <p:spPr>
            <a:xfrm>
              <a:off x="0" y="0"/>
              <a:ext cx="5544566" cy="5154422"/>
            </a:xfrm>
            <a:custGeom>
              <a:avLst/>
              <a:gdLst/>
              <a:ahLst/>
              <a:cxnLst/>
              <a:rect l="l" t="t" r="r" b="b"/>
              <a:pathLst>
                <a:path w="5544566" h="5154422">
                  <a:moveTo>
                    <a:pt x="0" y="196342"/>
                  </a:moveTo>
                  <a:cubicBezTo>
                    <a:pt x="0" y="87884"/>
                    <a:pt x="87884" y="0"/>
                    <a:pt x="196342" y="0"/>
                  </a:cubicBezTo>
                  <a:lnTo>
                    <a:pt x="5348224" y="0"/>
                  </a:lnTo>
                  <a:cubicBezTo>
                    <a:pt x="5456682" y="0"/>
                    <a:pt x="5544566" y="87884"/>
                    <a:pt x="5544566" y="196342"/>
                  </a:cubicBezTo>
                  <a:lnTo>
                    <a:pt x="5544566" y="4958080"/>
                  </a:lnTo>
                  <a:cubicBezTo>
                    <a:pt x="5544566" y="5066538"/>
                    <a:pt x="5456682" y="5154422"/>
                    <a:pt x="5348224" y="5154422"/>
                  </a:cubicBezTo>
                  <a:lnTo>
                    <a:pt x="196342" y="5154422"/>
                  </a:lnTo>
                  <a:cubicBezTo>
                    <a:pt x="87884" y="5154549"/>
                    <a:pt x="0" y="5066538"/>
                    <a:pt x="0" y="4958080"/>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14" name="Group 14"/>
          <p:cNvGrpSpPr/>
          <p:nvPr/>
        </p:nvGrpSpPr>
        <p:grpSpPr>
          <a:xfrm>
            <a:off x="822960" y="2743200"/>
            <a:ext cx="3584448" cy="1308894"/>
            <a:chOff x="0" y="0"/>
            <a:chExt cx="4779264" cy="1745191"/>
          </a:xfrm>
        </p:grpSpPr>
        <p:sp>
          <p:nvSpPr>
            <p:cNvPr id="15" name="Freeform 15"/>
            <p:cNvSpPr/>
            <p:nvPr/>
          </p:nvSpPr>
          <p:spPr>
            <a:xfrm>
              <a:off x="0" y="0"/>
              <a:ext cx="4779264" cy="1745192"/>
            </a:xfrm>
            <a:custGeom>
              <a:avLst/>
              <a:gdLst/>
              <a:ahLst/>
              <a:cxnLst/>
              <a:rect l="l" t="t" r="r" b="b"/>
              <a:pathLst>
                <a:path w="4779264" h="1745192">
                  <a:moveTo>
                    <a:pt x="0" y="0"/>
                  </a:moveTo>
                  <a:lnTo>
                    <a:pt x="4779264" y="0"/>
                  </a:lnTo>
                  <a:lnTo>
                    <a:pt x="4779264" y="1745192"/>
                  </a:lnTo>
                  <a:lnTo>
                    <a:pt x="0" y="1745192"/>
                  </a:lnTo>
                  <a:close/>
                </a:path>
              </a:pathLst>
            </a:custGeom>
            <a:blipFill>
              <a:blip r:embed="rId3">
                <a:alphaModFix amt="0"/>
              </a:blip>
              <a:stretch>
                <a:fillRect t="-10046" b="3326"/>
              </a:stretch>
            </a:blipFill>
          </p:spPr>
          <p:txBody>
            <a:bodyPr/>
            <a:lstStyle/>
            <a:p>
              <a:endParaRPr lang="ko-KR" altLang="en-US"/>
            </a:p>
          </p:txBody>
        </p:sp>
        <p:sp>
          <p:nvSpPr>
            <p:cNvPr id="16" name="TextBox 16"/>
            <p:cNvSpPr txBox="1"/>
            <p:nvPr/>
          </p:nvSpPr>
          <p:spPr>
            <a:xfrm>
              <a:off x="0" y="-9525"/>
              <a:ext cx="4779264" cy="1754716"/>
            </a:xfrm>
            <a:prstGeom prst="rect">
              <a:avLst/>
            </a:prstGeom>
          </p:spPr>
          <p:txBody>
            <a:bodyPr lIns="0" tIns="0" rIns="0" bIns="0" rtlCol="0" anchor="ctr"/>
            <a:lstStyle/>
            <a:p>
              <a:pPr algn="l">
                <a:lnSpc>
                  <a:spcPts val="7679"/>
                </a:lnSpc>
              </a:pPr>
              <a:r>
                <a:rPr lang="en-US" sz="6399" b="1">
                  <a:solidFill>
                    <a:srgbClr val="8B0000"/>
                  </a:solidFill>
                  <a:latin typeface="프리텐다드 Bold"/>
                  <a:ea typeface="프리텐다드 Bold"/>
                  <a:cs typeface="프리텐다드 Bold"/>
                  <a:sym typeface="프리텐다드 Bold"/>
                </a:rPr>
                <a:t>183</a:t>
              </a:r>
            </a:p>
          </p:txBody>
        </p:sp>
      </p:grpSp>
      <p:sp>
        <p:nvSpPr>
          <p:cNvPr id="17" name="TextBox 17"/>
          <p:cNvSpPr txBox="1"/>
          <p:nvPr/>
        </p:nvSpPr>
        <p:spPr>
          <a:xfrm>
            <a:off x="822960" y="3867531"/>
            <a:ext cx="3584448" cy="400050"/>
          </a:xfrm>
          <a:prstGeom prst="rect">
            <a:avLst/>
          </a:prstGeom>
        </p:spPr>
        <p:txBody>
          <a:bodyPr lIns="0" tIns="0" rIns="0" bIns="0" rtlCol="0" anchor="t">
            <a:spAutoFit/>
          </a:bodyPr>
          <a:lstStyle/>
          <a:p>
            <a:pPr algn="l">
              <a:lnSpc>
                <a:spcPts val="3120"/>
              </a:lnSpc>
            </a:pPr>
            <a:r>
              <a:rPr lang="en-US" sz="2600" b="1">
                <a:solidFill>
                  <a:srgbClr val="1A1A1A"/>
                </a:solidFill>
                <a:latin typeface="프리텐다드 Bold"/>
                <a:ea typeface="프리텐다드 Bold"/>
                <a:cs typeface="프리텐다드 Bold"/>
                <a:sym typeface="프리텐다드 Bold"/>
              </a:rPr>
              <a:t>못 읽음</a:t>
            </a:r>
          </a:p>
        </p:txBody>
      </p:sp>
      <p:sp>
        <p:nvSpPr>
          <p:cNvPr id="18" name="TextBox 18"/>
          <p:cNvSpPr txBox="1"/>
          <p:nvPr/>
        </p:nvSpPr>
        <p:spPr>
          <a:xfrm>
            <a:off x="822960" y="4416171"/>
            <a:ext cx="3584448" cy="323850"/>
          </a:xfrm>
          <a:prstGeom prst="rect">
            <a:avLst/>
          </a:prstGeom>
        </p:spPr>
        <p:txBody>
          <a:bodyPr lIns="0" tIns="0" rIns="0" bIns="0" rtlCol="0" anchor="t">
            <a:spAutoFit/>
          </a:bodyPr>
          <a:lstStyle/>
          <a:p>
            <a:pPr algn="l">
              <a:lnSpc>
                <a:spcPts val="2520"/>
              </a:lnSpc>
            </a:pPr>
            <a:r>
              <a:rPr lang="en-US" sz="2100">
                <a:solidFill>
                  <a:srgbClr val="6B6B6B"/>
                </a:solidFill>
                <a:latin typeface="프리텐다드"/>
                <a:ea typeface="프리텐다드"/>
                <a:cs typeface="프리텐다드"/>
                <a:sym typeface="프리텐다드"/>
              </a:rPr>
              <a:t>탐지 실패 · 전부 미인식</a:t>
            </a:r>
          </a:p>
        </p:txBody>
      </p:sp>
      <p:sp>
        <p:nvSpPr>
          <p:cNvPr id="19" name="TextBox 19"/>
          <p:cNvSpPr txBox="1"/>
          <p:nvPr/>
        </p:nvSpPr>
        <p:spPr>
          <a:xfrm>
            <a:off x="822960" y="5172298"/>
            <a:ext cx="3584448" cy="961802"/>
          </a:xfrm>
          <a:prstGeom prst="rect">
            <a:avLst/>
          </a:prstGeom>
        </p:spPr>
        <p:txBody>
          <a:bodyPr lIns="0" tIns="0" rIns="0" bIns="0" rtlCol="0" anchor="t">
            <a:spAutoFit/>
          </a:bodyPr>
          <a:lstStyle/>
          <a:p>
            <a:pPr algn="l">
              <a:lnSpc>
                <a:spcPts val="2520"/>
              </a:lnSpc>
            </a:pPr>
            <a:r>
              <a:rPr lang="en-US" sz="2100" dirty="0" err="1">
                <a:solidFill>
                  <a:srgbClr val="1A1A1A"/>
                </a:solidFill>
                <a:latin typeface="프리텐다드"/>
                <a:ea typeface="프리텐다드"/>
                <a:cs typeface="프리텐다드"/>
                <a:sym typeface="프리텐다드"/>
              </a:rPr>
              <a:t>원본</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재탐지</a:t>
            </a:r>
            <a:endParaRPr lang="en-US" sz="2100" dirty="0">
              <a:solidFill>
                <a:srgbClr val="1A1A1A"/>
              </a:solidFill>
              <a:latin typeface="프리텐다드"/>
              <a:ea typeface="프리텐다드"/>
              <a:cs typeface="프리텐다드"/>
              <a:sym typeface="프리텐다드"/>
            </a:endParaRPr>
          </a:p>
          <a:p>
            <a:pPr algn="l">
              <a:lnSpc>
                <a:spcPts val="2520"/>
              </a:lnSpc>
            </a:pPr>
            <a:r>
              <a:rPr lang="en-US" sz="2100" dirty="0" err="1">
                <a:solidFill>
                  <a:srgbClr val="1A1A1A"/>
                </a:solidFill>
                <a:latin typeface="프리텐다드"/>
                <a:ea typeface="프리텐다드"/>
                <a:cs typeface="프리텐다드"/>
                <a:sym typeface="프리텐다드"/>
              </a:rPr>
              <a:t>작은</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사진</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확대</a:t>
            </a:r>
            <a:endParaRPr lang="en-US" sz="2100" dirty="0">
              <a:solidFill>
                <a:srgbClr val="1A1A1A"/>
              </a:solidFill>
              <a:latin typeface="프리텐다드"/>
              <a:ea typeface="프리텐다드"/>
              <a:cs typeface="프리텐다드"/>
              <a:sym typeface="프리텐다드"/>
            </a:endParaRPr>
          </a:p>
          <a:p>
            <a:pPr algn="l">
              <a:lnSpc>
                <a:spcPts val="2520"/>
              </a:lnSpc>
            </a:pPr>
            <a:r>
              <a:rPr lang="ko-KR" altLang="en-US" sz="2100" dirty="0" err="1">
                <a:solidFill>
                  <a:srgbClr val="1A1A1A"/>
                </a:solidFill>
                <a:latin typeface="프리텐다드"/>
                <a:ea typeface="프리텐다드"/>
                <a:cs typeface="프리텐다드"/>
                <a:sym typeface="프리텐다드"/>
              </a:rPr>
              <a:t>파인튜닝</a:t>
            </a:r>
            <a:r>
              <a:rPr lang="ko-KR" altLang="en-US" sz="2100" dirty="0">
                <a:solidFill>
                  <a:srgbClr val="1A1A1A"/>
                </a:solidFill>
                <a:latin typeface="프리텐다드"/>
                <a:ea typeface="프리텐다드"/>
                <a:cs typeface="프리텐다드"/>
                <a:sym typeface="프리텐다드"/>
              </a:rPr>
              <a:t> </a:t>
            </a:r>
            <a:r>
              <a:rPr lang="ko-KR" altLang="en-US" sz="2100" dirty="0" err="1">
                <a:solidFill>
                  <a:srgbClr val="1A1A1A"/>
                </a:solidFill>
                <a:latin typeface="프리텐다드"/>
                <a:ea typeface="프리텐다드"/>
                <a:cs typeface="프리텐다드"/>
                <a:sym typeface="프리텐다드"/>
              </a:rPr>
              <a:t>폴백</a:t>
            </a:r>
            <a:endParaRPr lang="en-US" sz="2100" dirty="0">
              <a:solidFill>
                <a:srgbClr val="1A1A1A"/>
              </a:solidFill>
              <a:latin typeface="프리텐다드"/>
              <a:ea typeface="프리텐다드"/>
              <a:cs typeface="프리텐다드"/>
              <a:sym typeface="프리텐다드"/>
            </a:endParaRPr>
          </a:p>
        </p:txBody>
      </p:sp>
      <p:grpSp>
        <p:nvGrpSpPr>
          <p:cNvPr id="20" name="Group 20"/>
          <p:cNvGrpSpPr/>
          <p:nvPr/>
        </p:nvGrpSpPr>
        <p:grpSpPr>
          <a:xfrm>
            <a:off x="4888487" y="2584199"/>
            <a:ext cx="4158491" cy="3865883"/>
            <a:chOff x="0" y="0"/>
            <a:chExt cx="5544655" cy="5154511"/>
          </a:xfrm>
        </p:grpSpPr>
        <p:sp>
          <p:nvSpPr>
            <p:cNvPr id="21" name="Freeform 21"/>
            <p:cNvSpPr/>
            <p:nvPr/>
          </p:nvSpPr>
          <p:spPr>
            <a:xfrm>
              <a:off x="0" y="0"/>
              <a:ext cx="5544566" cy="5154422"/>
            </a:xfrm>
            <a:custGeom>
              <a:avLst/>
              <a:gdLst/>
              <a:ahLst/>
              <a:cxnLst/>
              <a:rect l="l" t="t" r="r" b="b"/>
              <a:pathLst>
                <a:path w="5544566" h="5154422">
                  <a:moveTo>
                    <a:pt x="0" y="196342"/>
                  </a:moveTo>
                  <a:cubicBezTo>
                    <a:pt x="0" y="87884"/>
                    <a:pt x="87884" y="0"/>
                    <a:pt x="196342" y="0"/>
                  </a:cubicBezTo>
                  <a:lnTo>
                    <a:pt x="5348224" y="0"/>
                  </a:lnTo>
                  <a:cubicBezTo>
                    <a:pt x="5456682" y="0"/>
                    <a:pt x="5544566" y="87884"/>
                    <a:pt x="5544566" y="196342"/>
                  </a:cubicBezTo>
                  <a:lnTo>
                    <a:pt x="5544566" y="4958080"/>
                  </a:lnTo>
                  <a:cubicBezTo>
                    <a:pt x="5544566" y="5066538"/>
                    <a:pt x="5456682" y="5154422"/>
                    <a:pt x="5348224" y="5154422"/>
                  </a:cubicBezTo>
                  <a:lnTo>
                    <a:pt x="196342" y="5154422"/>
                  </a:lnTo>
                  <a:cubicBezTo>
                    <a:pt x="87884" y="5154549"/>
                    <a:pt x="0" y="5066538"/>
                    <a:pt x="0" y="4958080"/>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22" name="Group 22"/>
          <p:cNvGrpSpPr/>
          <p:nvPr/>
        </p:nvGrpSpPr>
        <p:grpSpPr>
          <a:xfrm>
            <a:off x="5175504" y="2743200"/>
            <a:ext cx="3584448" cy="1308894"/>
            <a:chOff x="0" y="0"/>
            <a:chExt cx="4779264" cy="1745191"/>
          </a:xfrm>
        </p:grpSpPr>
        <p:sp>
          <p:nvSpPr>
            <p:cNvPr id="23" name="Freeform 23"/>
            <p:cNvSpPr/>
            <p:nvPr/>
          </p:nvSpPr>
          <p:spPr>
            <a:xfrm>
              <a:off x="0" y="0"/>
              <a:ext cx="4779264" cy="1745192"/>
            </a:xfrm>
            <a:custGeom>
              <a:avLst/>
              <a:gdLst/>
              <a:ahLst/>
              <a:cxnLst/>
              <a:rect l="l" t="t" r="r" b="b"/>
              <a:pathLst>
                <a:path w="4779264" h="1745192">
                  <a:moveTo>
                    <a:pt x="0" y="0"/>
                  </a:moveTo>
                  <a:lnTo>
                    <a:pt x="4779264" y="0"/>
                  </a:lnTo>
                  <a:lnTo>
                    <a:pt x="4779264" y="1745192"/>
                  </a:lnTo>
                  <a:lnTo>
                    <a:pt x="0" y="1745192"/>
                  </a:lnTo>
                  <a:close/>
                </a:path>
              </a:pathLst>
            </a:custGeom>
            <a:blipFill>
              <a:blip r:embed="rId3">
                <a:alphaModFix amt="0"/>
              </a:blip>
              <a:stretch>
                <a:fillRect t="-10046" b="3326"/>
              </a:stretch>
            </a:blipFill>
          </p:spPr>
          <p:txBody>
            <a:bodyPr/>
            <a:lstStyle/>
            <a:p>
              <a:endParaRPr lang="ko-KR" altLang="en-US"/>
            </a:p>
          </p:txBody>
        </p:sp>
        <p:sp>
          <p:nvSpPr>
            <p:cNvPr id="24" name="TextBox 24"/>
            <p:cNvSpPr txBox="1"/>
            <p:nvPr/>
          </p:nvSpPr>
          <p:spPr>
            <a:xfrm>
              <a:off x="0" y="-9525"/>
              <a:ext cx="4779264" cy="1754716"/>
            </a:xfrm>
            <a:prstGeom prst="rect">
              <a:avLst/>
            </a:prstGeom>
          </p:spPr>
          <p:txBody>
            <a:bodyPr lIns="0" tIns="0" rIns="0" bIns="0" rtlCol="0" anchor="ctr"/>
            <a:lstStyle/>
            <a:p>
              <a:pPr algn="l">
                <a:lnSpc>
                  <a:spcPts val="7679"/>
                </a:lnSpc>
              </a:pPr>
              <a:r>
                <a:rPr lang="en-US" sz="6399" b="1">
                  <a:solidFill>
                    <a:srgbClr val="8B0000"/>
                  </a:solidFill>
                  <a:latin typeface="프리텐다드 Bold"/>
                  <a:ea typeface="프리텐다드 Bold"/>
                  <a:cs typeface="프리텐다드 Bold"/>
                  <a:sym typeface="프리텐다드 Bold"/>
                </a:rPr>
                <a:t>290</a:t>
              </a:r>
            </a:p>
          </p:txBody>
        </p:sp>
      </p:grpSp>
      <p:sp>
        <p:nvSpPr>
          <p:cNvPr id="25" name="TextBox 25"/>
          <p:cNvSpPr txBox="1"/>
          <p:nvPr/>
        </p:nvSpPr>
        <p:spPr>
          <a:xfrm>
            <a:off x="5175504" y="3867531"/>
            <a:ext cx="3584448" cy="400050"/>
          </a:xfrm>
          <a:prstGeom prst="rect">
            <a:avLst/>
          </a:prstGeom>
        </p:spPr>
        <p:txBody>
          <a:bodyPr lIns="0" tIns="0" rIns="0" bIns="0" rtlCol="0" anchor="t">
            <a:spAutoFit/>
          </a:bodyPr>
          <a:lstStyle/>
          <a:p>
            <a:pPr algn="l">
              <a:lnSpc>
                <a:spcPts val="3120"/>
              </a:lnSpc>
            </a:pPr>
            <a:r>
              <a:rPr lang="en-US" sz="2600" b="1">
                <a:solidFill>
                  <a:srgbClr val="1A1A1A"/>
                </a:solidFill>
                <a:latin typeface="프리텐다드 Bold"/>
                <a:ea typeface="프리텐다드 Bold"/>
                <a:cs typeface="프리텐다드 Bold"/>
                <a:sym typeface="프리텐다드 Bold"/>
              </a:rPr>
              <a:t>잘못 읽음</a:t>
            </a:r>
          </a:p>
        </p:txBody>
      </p:sp>
      <p:sp>
        <p:nvSpPr>
          <p:cNvPr id="26" name="TextBox 26"/>
          <p:cNvSpPr txBox="1"/>
          <p:nvPr/>
        </p:nvSpPr>
        <p:spPr>
          <a:xfrm>
            <a:off x="5175504" y="4416171"/>
            <a:ext cx="3584448" cy="323850"/>
          </a:xfrm>
          <a:prstGeom prst="rect">
            <a:avLst/>
          </a:prstGeom>
        </p:spPr>
        <p:txBody>
          <a:bodyPr lIns="0" tIns="0" rIns="0" bIns="0" rtlCol="0" anchor="t">
            <a:spAutoFit/>
          </a:bodyPr>
          <a:lstStyle/>
          <a:p>
            <a:pPr algn="l">
              <a:lnSpc>
                <a:spcPts val="2520"/>
              </a:lnSpc>
            </a:pPr>
            <a:r>
              <a:rPr lang="en-US" sz="2100">
                <a:solidFill>
                  <a:srgbClr val="6B6B6B"/>
                </a:solidFill>
                <a:latin typeface="프리텐다드"/>
                <a:ea typeface="프리텐다드"/>
                <a:cs typeface="프리텐다드"/>
                <a:sym typeface="프리텐다드"/>
              </a:rPr>
              <a:t>인식기가 숫자를 오독</a:t>
            </a:r>
          </a:p>
        </p:txBody>
      </p:sp>
      <p:sp>
        <p:nvSpPr>
          <p:cNvPr id="27" name="TextBox 27"/>
          <p:cNvSpPr txBox="1"/>
          <p:nvPr/>
        </p:nvSpPr>
        <p:spPr>
          <a:xfrm>
            <a:off x="5175504" y="5172298"/>
            <a:ext cx="3584448" cy="320601"/>
          </a:xfrm>
          <a:prstGeom prst="rect">
            <a:avLst/>
          </a:prstGeom>
        </p:spPr>
        <p:txBody>
          <a:bodyPr lIns="0" tIns="0" rIns="0" bIns="0" rtlCol="0" anchor="t">
            <a:spAutoFit/>
          </a:bodyPr>
          <a:lstStyle/>
          <a:p>
            <a:pPr algn="l">
              <a:lnSpc>
                <a:spcPts val="2520"/>
              </a:lnSpc>
            </a:pPr>
            <a:r>
              <a:rPr lang="en-US" sz="2100" dirty="0" err="1">
                <a:solidFill>
                  <a:srgbClr val="1A1A1A"/>
                </a:solidFill>
                <a:latin typeface="프리텐다드"/>
                <a:ea typeface="프리텐다드"/>
                <a:cs typeface="프리텐다드"/>
                <a:sym typeface="프리텐다드"/>
              </a:rPr>
              <a:t>후처리</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규칙</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보강</a:t>
            </a:r>
            <a:endParaRPr lang="en-US" sz="2100" dirty="0">
              <a:solidFill>
                <a:srgbClr val="1A1A1A"/>
              </a:solidFill>
              <a:latin typeface="프리텐다드"/>
              <a:ea typeface="프리텐다드"/>
              <a:cs typeface="프리텐다드"/>
              <a:sym typeface="프리텐다드"/>
            </a:endParaRPr>
          </a:p>
        </p:txBody>
      </p:sp>
      <p:grpSp>
        <p:nvGrpSpPr>
          <p:cNvPr id="28" name="Group 28"/>
          <p:cNvGrpSpPr/>
          <p:nvPr/>
        </p:nvGrpSpPr>
        <p:grpSpPr>
          <a:xfrm>
            <a:off x="9241031" y="2584199"/>
            <a:ext cx="4158491" cy="3865883"/>
            <a:chOff x="0" y="0"/>
            <a:chExt cx="5544655" cy="5154511"/>
          </a:xfrm>
        </p:grpSpPr>
        <p:sp>
          <p:nvSpPr>
            <p:cNvPr id="29" name="Freeform 29"/>
            <p:cNvSpPr/>
            <p:nvPr/>
          </p:nvSpPr>
          <p:spPr>
            <a:xfrm>
              <a:off x="0" y="0"/>
              <a:ext cx="5544566" cy="5154422"/>
            </a:xfrm>
            <a:custGeom>
              <a:avLst/>
              <a:gdLst/>
              <a:ahLst/>
              <a:cxnLst/>
              <a:rect l="l" t="t" r="r" b="b"/>
              <a:pathLst>
                <a:path w="5544566" h="5154422">
                  <a:moveTo>
                    <a:pt x="0" y="196342"/>
                  </a:moveTo>
                  <a:cubicBezTo>
                    <a:pt x="0" y="87884"/>
                    <a:pt x="87884" y="0"/>
                    <a:pt x="196342" y="0"/>
                  </a:cubicBezTo>
                  <a:lnTo>
                    <a:pt x="5348224" y="0"/>
                  </a:lnTo>
                  <a:cubicBezTo>
                    <a:pt x="5456682" y="0"/>
                    <a:pt x="5544566" y="87884"/>
                    <a:pt x="5544566" y="196342"/>
                  </a:cubicBezTo>
                  <a:lnTo>
                    <a:pt x="5544566" y="4958080"/>
                  </a:lnTo>
                  <a:cubicBezTo>
                    <a:pt x="5544566" y="5066538"/>
                    <a:pt x="5456682" y="5154422"/>
                    <a:pt x="5348224" y="5154422"/>
                  </a:cubicBezTo>
                  <a:lnTo>
                    <a:pt x="196342" y="5154422"/>
                  </a:lnTo>
                  <a:cubicBezTo>
                    <a:pt x="87884" y="5154549"/>
                    <a:pt x="0" y="5066538"/>
                    <a:pt x="0" y="4958080"/>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30" name="Group 30"/>
          <p:cNvGrpSpPr/>
          <p:nvPr/>
        </p:nvGrpSpPr>
        <p:grpSpPr>
          <a:xfrm>
            <a:off x="9528048" y="2743200"/>
            <a:ext cx="3584448" cy="1308894"/>
            <a:chOff x="0" y="0"/>
            <a:chExt cx="4779264" cy="1745191"/>
          </a:xfrm>
        </p:grpSpPr>
        <p:sp>
          <p:nvSpPr>
            <p:cNvPr id="31" name="Freeform 31"/>
            <p:cNvSpPr/>
            <p:nvPr/>
          </p:nvSpPr>
          <p:spPr>
            <a:xfrm>
              <a:off x="0" y="0"/>
              <a:ext cx="4779264" cy="1745192"/>
            </a:xfrm>
            <a:custGeom>
              <a:avLst/>
              <a:gdLst/>
              <a:ahLst/>
              <a:cxnLst/>
              <a:rect l="l" t="t" r="r" b="b"/>
              <a:pathLst>
                <a:path w="4779264" h="1745192">
                  <a:moveTo>
                    <a:pt x="0" y="0"/>
                  </a:moveTo>
                  <a:lnTo>
                    <a:pt x="4779264" y="0"/>
                  </a:lnTo>
                  <a:lnTo>
                    <a:pt x="4779264" y="1745192"/>
                  </a:lnTo>
                  <a:lnTo>
                    <a:pt x="0" y="1745192"/>
                  </a:lnTo>
                  <a:close/>
                </a:path>
              </a:pathLst>
            </a:custGeom>
            <a:blipFill>
              <a:blip r:embed="rId3">
                <a:alphaModFix amt="0"/>
              </a:blip>
              <a:stretch>
                <a:fillRect t="-10046" b="3326"/>
              </a:stretch>
            </a:blipFill>
          </p:spPr>
          <p:txBody>
            <a:bodyPr/>
            <a:lstStyle/>
            <a:p>
              <a:endParaRPr lang="ko-KR" altLang="en-US"/>
            </a:p>
          </p:txBody>
        </p:sp>
        <p:sp>
          <p:nvSpPr>
            <p:cNvPr id="32" name="TextBox 32"/>
            <p:cNvSpPr txBox="1"/>
            <p:nvPr/>
          </p:nvSpPr>
          <p:spPr>
            <a:xfrm>
              <a:off x="0" y="-9525"/>
              <a:ext cx="4779264" cy="1754716"/>
            </a:xfrm>
            <a:prstGeom prst="rect">
              <a:avLst/>
            </a:prstGeom>
          </p:spPr>
          <p:txBody>
            <a:bodyPr lIns="0" tIns="0" rIns="0" bIns="0" rtlCol="0" anchor="ctr"/>
            <a:lstStyle/>
            <a:p>
              <a:pPr algn="l">
                <a:lnSpc>
                  <a:spcPts val="7679"/>
                </a:lnSpc>
              </a:pPr>
              <a:r>
                <a:rPr lang="en-US" sz="6399" b="1">
                  <a:solidFill>
                    <a:srgbClr val="8B0000"/>
                  </a:solidFill>
                  <a:latin typeface="프리텐다드 Bold"/>
                  <a:ea typeface="프리텐다드 Bold"/>
                  <a:cs typeface="프리텐다드 Bold"/>
                  <a:sym typeface="프리텐다드 Bold"/>
                </a:rPr>
                <a:t>111</a:t>
              </a:r>
            </a:p>
          </p:txBody>
        </p:sp>
      </p:grpSp>
      <p:sp>
        <p:nvSpPr>
          <p:cNvPr id="33" name="TextBox 33"/>
          <p:cNvSpPr txBox="1"/>
          <p:nvPr/>
        </p:nvSpPr>
        <p:spPr>
          <a:xfrm>
            <a:off x="9528048" y="3867531"/>
            <a:ext cx="3584448" cy="400050"/>
          </a:xfrm>
          <a:prstGeom prst="rect">
            <a:avLst/>
          </a:prstGeom>
        </p:spPr>
        <p:txBody>
          <a:bodyPr lIns="0" tIns="0" rIns="0" bIns="0" rtlCol="0" anchor="t">
            <a:spAutoFit/>
          </a:bodyPr>
          <a:lstStyle/>
          <a:p>
            <a:pPr algn="l">
              <a:lnSpc>
                <a:spcPts val="3120"/>
              </a:lnSpc>
            </a:pPr>
            <a:r>
              <a:rPr lang="en-US" sz="2600" b="1">
                <a:solidFill>
                  <a:srgbClr val="1A1A1A"/>
                </a:solidFill>
                <a:latin typeface="프리텐다드 Bold"/>
                <a:ea typeface="프리텐다드 Bold"/>
                <a:cs typeface="프리텐다드 Bold"/>
                <a:sym typeface="프리텐다드 Bold"/>
              </a:rPr>
              <a:t>읽었다가 지움</a:t>
            </a:r>
          </a:p>
        </p:txBody>
      </p:sp>
      <p:sp>
        <p:nvSpPr>
          <p:cNvPr id="34" name="TextBox 34"/>
          <p:cNvSpPr txBox="1"/>
          <p:nvPr/>
        </p:nvSpPr>
        <p:spPr>
          <a:xfrm>
            <a:off x="9528048" y="4416171"/>
            <a:ext cx="3584448" cy="323850"/>
          </a:xfrm>
          <a:prstGeom prst="rect">
            <a:avLst/>
          </a:prstGeom>
        </p:spPr>
        <p:txBody>
          <a:bodyPr lIns="0" tIns="0" rIns="0" bIns="0" rtlCol="0" anchor="t">
            <a:spAutoFit/>
          </a:bodyPr>
          <a:lstStyle/>
          <a:p>
            <a:pPr algn="l">
              <a:lnSpc>
                <a:spcPts val="2520"/>
              </a:lnSpc>
            </a:pPr>
            <a:r>
              <a:rPr lang="en-US" sz="2100">
                <a:solidFill>
                  <a:srgbClr val="6B6B6B"/>
                </a:solidFill>
                <a:latin typeface="프리텐다드"/>
                <a:ea typeface="프리텐다드"/>
                <a:cs typeface="프리텐다드"/>
                <a:sym typeface="프리텐다드"/>
              </a:rPr>
              <a:t>다시 읽기가 정답을 덮어씀</a:t>
            </a:r>
          </a:p>
        </p:txBody>
      </p:sp>
      <p:sp>
        <p:nvSpPr>
          <p:cNvPr id="35" name="TextBox 35"/>
          <p:cNvSpPr txBox="1"/>
          <p:nvPr/>
        </p:nvSpPr>
        <p:spPr>
          <a:xfrm>
            <a:off x="9528048" y="5172298"/>
            <a:ext cx="3584448" cy="638175"/>
          </a:xfrm>
          <a:prstGeom prst="rect">
            <a:avLst/>
          </a:prstGeom>
        </p:spPr>
        <p:txBody>
          <a:bodyPr lIns="0" tIns="0" rIns="0" bIns="0" rtlCol="0" anchor="t">
            <a:spAutoFit/>
          </a:bodyPr>
          <a:lstStyle/>
          <a:p>
            <a:pPr algn="l">
              <a:lnSpc>
                <a:spcPts val="2520"/>
              </a:lnSpc>
            </a:pPr>
            <a:r>
              <a:rPr lang="en-US" sz="2100" dirty="0" err="1">
                <a:solidFill>
                  <a:srgbClr val="1A1A1A"/>
                </a:solidFill>
                <a:latin typeface="프리텐다드"/>
                <a:ea typeface="프리텐다드"/>
                <a:cs typeface="프리텐다드"/>
                <a:sym typeface="프리텐다드"/>
              </a:rPr>
              <a:t>교정만</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삭제</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금지</a:t>
            </a:r>
            <a:endParaRPr lang="en-US" sz="2100" dirty="0">
              <a:solidFill>
                <a:srgbClr val="1A1A1A"/>
              </a:solidFill>
              <a:latin typeface="프리텐다드"/>
              <a:ea typeface="프리텐다드"/>
              <a:cs typeface="프리텐다드"/>
              <a:sym typeface="프리텐다드"/>
            </a:endParaRPr>
          </a:p>
          <a:p>
            <a:pPr algn="l">
              <a:lnSpc>
                <a:spcPts val="2520"/>
              </a:lnSpc>
            </a:pPr>
            <a:r>
              <a:rPr lang="en-US" sz="2100" dirty="0" err="1">
                <a:solidFill>
                  <a:srgbClr val="1A1A1A"/>
                </a:solidFill>
                <a:latin typeface="프리텐다드"/>
                <a:ea typeface="프리텐다드"/>
                <a:cs typeface="프리텐다드"/>
                <a:sym typeface="프리텐다드"/>
              </a:rPr>
              <a:t>유지</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규칙</a:t>
            </a:r>
            <a:endParaRPr lang="en-US" sz="2100" dirty="0">
              <a:solidFill>
                <a:srgbClr val="1A1A1A"/>
              </a:solidFill>
              <a:latin typeface="프리텐다드"/>
              <a:ea typeface="프리텐다드"/>
              <a:cs typeface="프리텐다드"/>
              <a:sym typeface="프리텐다드"/>
            </a:endParaRPr>
          </a:p>
        </p:txBody>
      </p:sp>
      <p:grpSp>
        <p:nvGrpSpPr>
          <p:cNvPr id="36" name="Group 36"/>
          <p:cNvGrpSpPr/>
          <p:nvPr/>
        </p:nvGrpSpPr>
        <p:grpSpPr>
          <a:xfrm>
            <a:off x="13593575" y="2584199"/>
            <a:ext cx="4158491" cy="3865883"/>
            <a:chOff x="0" y="0"/>
            <a:chExt cx="5544655" cy="5154511"/>
          </a:xfrm>
        </p:grpSpPr>
        <p:sp>
          <p:nvSpPr>
            <p:cNvPr id="37" name="Freeform 37"/>
            <p:cNvSpPr/>
            <p:nvPr/>
          </p:nvSpPr>
          <p:spPr>
            <a:xfrm>
              <a:off x="0" y="0"/>
              <a:ext cx="5544566" cy="5154422"/>
            </a:xfrm>
            <a:custGeom>
              <a:avLst/>
              <a:gdLst/>
              <a:ahLst/>
              <a:cxnLst/>
              <a:rect l="l" t="t" r="r" b="b"/>
              <a:pathLst>
                <a:path w="5544566" h="5154422">
                  <a:moveTo>
                    <a:pt x="0" y="196342"/>
                  </a:moveTo>
                  <a:cubicBezTo>
                    <a:pt x="0" y="87884"/>
                    <a:pt x="87884" y="0"/>
                    <a:pt x="196342" y="0"/>
                  </a:cubicBezTo>
                  <a:lnTo>
                    <a:pt x="5348224" y="0"/>
                  </a:lnTo>
                  <a:cubicBezTo>
                    <a:pt x="5456682" y="0"/>
                    <a:pt x="5544566" y="87884"/>
                    <a:pt x="5544566" y="196342"/>
                  </a:cubicBezTo>
                  <a:lnTo>
                    <a:pt x="5544566" y="4958080"/>
                  </a:lnTo>
                  <a:cubicBezTo>
                    <a:pt x="5544566" y="5066538"/>
                    <a:pt x="5456682" y="5154422"/>
                    <a:pt x="5348224" y="5154422"/>
                  </a:cubicBezTo>
                  <a:lnTo>
                    <a:pt x="196342" y="5154422"/>
                  </a:lnTo>
                  <a:cubicBezTo>
                    <a:pt x="87884" y="5154549"/>
                    <a:pt x="0" y="5066538"/>
                    <a:pt x="0" y="4958080"/>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38" name="Group 38"/>
          <p:cNvGrpSpPr/>
          <p:nvPr/>
        </p:nvGrpSpPr>
        <p:grpSpPr>
          <a:xfrm>
            <a:off x="13880592" y="2743200"/>
            <a:ext cx="3584448" cy="1308894"/>
            <a:chOff x="0" y="0"/>
            <a:chExt cx="4779264" cy="1745191"/>
          </a:xfrm>
        </p:grpSpPr>
        <p:sp>
          <p:nvSpPr>
            <p:cNvPr id="39" name="Freeform 39"/>
            <p:cNvSpPr/>
            <p:nvPr/>
          </p:nvSpPr>
          <p:spPr>
            <a:xfrm>
              <a:off x="0" y="0"/>
              <a:ext cx="4779264" cy="1745192"/>
            </a:xfrm>
            <a:custGeom>
              <a:avLst/>
              <a:gdLst/>
              <a:ahLst/>
              <a:cxnLst/>
              <a:rect l="l" t="t" r="r" b="b"/>
              <a:pathLst>
                <a:path w="4779264" h="1745192">
                  <a:moveTo>
                    <a:pt x="0" y="0"/>
                  </a:moveTo>
                  <a:lnTo>
                    <a:pt x="4779264" y="0"/>
                  </a:lnTo>
                  <a:lnTo>
                    <a:pt x="4779264" y="1745192"/>
                  </a:lnTo>
                  <a:lnTo>
                    <a:pt x="0" y="1745192"/>
                  </a:lnTo>
                  <a:close/>
                </a:path>
              </a:pathLst>
            </a:custGeom>
            <a:blipFill>
              <a:blip r:embed="rId3">
                <a:alphaModFix amt="0"/>
              </a:blip>
              <a:stretch>
                <a:fillRect t="-10046" b="3326"/>
              </a:stretch>
            </a:blipFill>
          </p:spPr>
          <p:txBody>
            <a:bodyPr/>
            <a:lstStyle/>
            <a:p>
              <a:endParaRPr lang="ko-KR" altLang="en-US"/>
            </a:p>
          </p:txBody>
        </p:sp>
        <p:sp>
          <p:nvSpPr>
            <p:cNvPr id="40" name="TextBox 40"/>
            <p:cNvSpPr txBox="1"/>
            <p:nvPr/>
          </p:nvSpPr>
          <p:spPr>
            <a:xfrm>
              <a:off x="0" y="-9525"/>
              <a:ext cx="4779264" cy="1754716"/>
            </a:xfrm>
            <a:prstGeom prst="rect">
              <a:avLst/>
            </a:prstGeom>
          </p:spPr>
          <p:txBody>
            <a:bodyPr lIns="0" tIns="0" rIns="0" bIns="0" rtlCol="0" anchor="ctr"/>
            <a:lstStyle/>
            <a:p>
              <a:pPr algn="l">
                <a:lnSpc>
                  <a:spcPts val="7679"/>
                </a:lnSpc>
              </a:pPr>
              <a:r>
                <a:rPr lang="en-US" sz="6399" b="1">
                  <a:solidFill>
                    <a:srgbClr val="8B0000"/>
                  </a:solidFill>
                  <a:latin typeface="프리텐다드 Bold"/>
                  <a:ea typeface="프리텐다드 Bold"/>
                  <a:cs typeface="프리텐다드 Bold"/>
                  <a:sym typeface="프리텐다드 Bold"/>
                </a:rPr>
                <a:t>19</a:t>
              </a:r>
            </a:p>
          </p:txBody>
        </p:sp>
      </p:grpSp>
      <p:sp>
        <p:nvSpPr>
          <p:cNvPr id="41" name="TextBox 41"/>
          <p:cNvSpPr txBox="1"/>
          <p:nvPr/>
        </p:nvSpPr>
        <p:spPr>
          <a:xfrm>
            <a:off x="13880592" y="3867531"/>
            <a:ext cx="3584448" cy="400050"/>
          </a:xfrm>
          <a:prstGeom prst="rect">
            <a:avLst/>
          </a:prstGeom>
        </p:spPr>
        <p:txBody>
          <a:bodyPr lIns="0" tIns="0" rIns="0" bIns="0" rtlCol="0" anchor="t">
            <a:spAutoFit/>
          </a:bodyPr>
          <a:lstStyle/>
          <a:p>
            <a:pPr algn="l">
              <a:lnSpc>
                <a:spcPts val="3120"/>
              </a:lnSpc>
            </a:pPr>
            <a:r>
              <a:rPr lang="en-US" sz="2600" b="1">
                <a:solidFill>
                  <a:srgbClr val="1A1A1A"/>
                </a:solidFill>
                <a:latin typeface="프리텐다드 Bold"/>
                <a:ea typeface="프리텐다드 Bold"/>
                <a:cs typeface="프리텐다드 Bold"/>
                <a:sym typeface="프리텐다드 Bold"/>
              </a:rPr>
              <a:t>잘못 고름</a:t>
            </a:r>
          </a:p>
        </p:txBody>
      </p:sp>
      <p:sp>
        <p:nvSpPr>
          <p:cNvPr id="42" name="TextBox 42"/>
          <p:cNvSpPr txBox="1"/>
          <p:nvPr/>
        </p:nvSpPr>
        <p:spPr>
          <a:xfrm>
            <a:off x="13880592" y="4416171"/>
            <a:ext cx="3584448" cy="323850"/>
          </a:xfrm>
          <a:prstGeom prst="rect">
            <a:avLst/>
          </a:prstGeom>
        </p:spPr>
        <p:txBody>
          <a:bodyPr lIns="0" tIns="0" rIns="0" bIns="0" rtlCol="0" anchor="t">
            <a:spAutoFit/>
          </a:bodyPr>
          <a:lstStyle/>
          <a:p>
            <a:pPr algn="l">
              <a:lnSpc>
                <a:spcPts val="2520"/>
              </a:lnSpc>
            </a:pPr>
            <a:r>
              <a:rPr lang="en-US" sz="2100">
                <a:solidFill>
                  <a:srgbClr val="6B6B6B"/>
                </a:solidFill>
                <a:latin typeface="프리텐다드"/>
                <a:ea typeface="프리텐다드"/>
                <a:cs typeface="프리텐다드"/>
                <a:sym typeface="프리텐다드"/>
              </a:rPr>
              <a:t>가짜 후보가 늦은 날짜로 승리</a:t>
            </a:r>
          </a:p>
        </p:txBody>
      </p:sp>
      <p:sp>
        <p:nvSpPr>
          <p:cNvPr id="43" name="TextBox 43"/>
          <p:cNvSpPr txBox="1"/>
          <p:nvPr/>
        </p:nvSpPr>
        <p:spPr>
          <a:xfrm>
            <a:off x="13880592" y="5172298"/>
            <a:ext cx="3584448" cy="323850"/>
          </a:xfrm>
          <a:prstGeom prst="rect">
            <a:avLst/>
          </a:prstGeom>
        </p:spPr>
        <p:txBody>
          <a:bodyPr lIns="0" tIns="0" rIns="0" bIns="0" rtlCol="0" anchor="t">
            <a:spAutoFit/>
          </a:bodyPr>
          <a:lstStyle/>
          <a:p>
            <a:pPr algn="l">
              <a:lnSpc>
                <a:spcPts val="2520"/>
              </a:lnSpc>
            </a:pPr>
            <a:r>
              <a:rPr lang="en-US" sz="2100">
                <a:solidFill>
                  <a:srgbClr val="1A1A1A"/>
                </a:solidFill>
                <a:latin typeface="프리텐다드"/>
                <a:ea typeface="프리텐다드"/>
                <a:cs typeface="프리텐다드"/>
                <a:sym typeface="프리텐다드"/>
              </a:rPr>
              <a:t>이중 해석 억제</a:t>
            </a:r>
          </a:p>
        </p:txBody>
      </p:sp>
      <p:sp>
        <p:nvSpPr>
          <p:cNvPr id="44" name="TextBox 44"/>
          <p:cNvSpPr txBox="1"/>
          <p:nvPr/>
        </p:nvSpPr>
        <p:spPr>
          <a:xfrm>
            <a:off x="548640" y="6729984"/>
            <a:ext cx="17190720" cy="371475"/>
          </a:xfrm>
          <a:prstGeom prst="rect">
            <a:avLst/>
          </a:prstGeom>
        </p:spPr>
        <p:txBody>
          <a:bodyPr lIns="0" tIns="0" rIns="0" bIns="0" rtlCol="0" anchor="t">
            <a:spAutoFit/>
          </a:bodyPr>
          <a:lstStyle/>
          <a:p>
            <a:pPr algn="l">
              <a:lnSpc>
                <a:spcPts val="2999"/>
              </a:lnSpc>
            </a:pPr>
            <a:r>
              <a:rPr lang="en-US" sz="2499" b="1">
                <a:solidFill>
                  <a:srgbClr val="1A1A1A"/>
                </a:solidFill>
                <a:latin typeface="프리텐다드 Bold"/>
                <a:ea typeface="프리텐다드 Bold"/>
                <a:cs typeface="프리텐다드 Bold"/>
                <a:sym typeface="프리텐다드 Bold"/>
              </a:rPr>
              <a:t>단계마다 처방이 다릅니다</a:t>
            </a:r>
          </a:p>
        </p:txBody>
      </p:sp>
      <p:sp>
        <p:nvSpPr>
          <p:cNvPr id="45" name="TextBox 45"/>
          <p:cNvSpPr txBox="1"/>
          <p:nvPr/>
        </p:nvSpPr>
        <p:spPr>
          <a:xfrm>
            <a:off x="548640" y="7269099"/>
            <a:ext cx="17190720" cy="676275"/>
          </a:xfrm>
          <a:prstGeom prst="rect">
            <a:avLst/>
          </a:prstGeom>
        </p:spPr>
        <p:txBody>
          <a:bodyPr lIns="0" tIns="0" rIns="0" bIns="0" rtlCol="0" anchor="t">
            <a:spAutoFit/>
          </a:bodyPr>
          <a:lstStyle/>
          <a:p>
            <a:pPr marL="530859" lvl="1" indent="-265430" algn="l">
              <a:lnSpc>
                <a:spcPts val="2639"/>
              </a:lnSpc>
              <a:buFont typeface="Arial"/>
              <a:buChar char="•"/>
            </a:pPr>
            <a:r>
              <a:rPr lang="en-US" sz="2199" dirty="0">
                <a:solidFill>
                  <a:srgbClr val="1A1A1A"/>
                </a:solidFill>
                <a:latin typeface="프리텐다드"/>
                <a:ea typeface="프리텐다드"/>
                <a:cs typeface="프리텐다드"/>
                <a:sym typeface="프리텐다드"/>
              </a:rPr>
              <a:t>“</a:t>
            </a:r>
            <a:r>
              <a:rPr lang="ko-KR" altLang="en-US" sz="2199" dirty="0">
                <a:solidFill>
                  <a:srgbClr val="1A1A1A"/>
                </a:solidFill>
                <a:latin typeface="프리텐다드"/>
                <a:ea typeface="프리텐다드"/>
                <a:cs typeface="프리텐다드"/>
                <a:sym typeface="프리텐다드"/>
              </a:rPr>
              <a:t>읽었다가 지운 경우</a:t>
            </a:r>
            <a:r>
              <a:rPr lang="en-US" altLang="ko-KR" sz="2199" dirty="0">
                <a:solidFill>
                  <a:srgbClr val="1A1A1A"/>
                </a:solidFill>
                <a:latin typeface="프리텐다드"/>
                <a:ea typeface="프리텐다드"/>
                <a:cs typeface="프리텐다드"/>
                <a:sym typeface="프리텐다드"/>
              </a:rPr>
              <a:t>”</a:t>
            </a:r>
            <a:r>
              <a:rPr lang="en-US"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모델이</a:t>
            </a:r>
            <a:r>
              <a:rPr lang="en-US" sz="2199" dirty="0">
                <a:solidFill>
                  <a:srgbClr val="1A1A1A"/>
                </a:solidFill>
                <a:latin typeface="프리텐다드"/>
                <a:ea typeface="프리텐다드"/>
                <a:cs typeface="프리텐다드"/>
                <a:sym typeface="프리텐다드"/>
              </a:rPr>
              <a:t> 아</a:t>
            </a:r>
            <a:r>
              <a:rPr lang="ko-KR" altLang="en-US" sz="2199" dirty="0" err="1">
                <a:solidFill>
                  <a:srgbClr val="1A1A1A"/>
                </a:solidFill>
                <a:latin typeface="프리텐다드"/>
                <a:ea typeface="프리텐다드"/>
                <a:cs typeface="프리텐다드"/>
                <a:sym typeface="프리텐다드"/>
              </a:rPr>
              <a:t>닌</a:t>
            </a:r>
            <a:r>
              <a:rPr lang="ko-KR" altLang="en-US"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코드</a:t>
            </a:r>
            <a:r>
              <a:rPr lang="en-US"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로직의</a:t>
            </a:r>
            <a:r>
              <a:rPr lang="en-US"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문제</a:t>
            </a:r>
            <a:r>
              <a:rPr lang="en-US" sz="2199" dirty="0">
                <a:solidFill>
                  <a:srgbClr val="1A1A1A"/>
                </a:solidFill>
                <a:latin typeface="프리텐다드"/>
                <a:ea typeface="프리텐다드"/>
                <a:cs typeface="프리텐다드"/>
                <a:sym typeface="프리텐다드"/>
              </a:rPr>
              <a:t> → 1차 </a:t>
            </a:r>
            <a:r>
              <a:rPr lang="en-US" sz="2199" dirty="0" err="1">
                <a:solidFill>
                  <a:srgbClr val="1A1A1A"/>
                </a:solidFill>
                <a:latin typeface="프리텐다드"/>
                <a:ea typeface="프리텐다드"/>
                <a:cs typeface="프리텐다드"/>
                <a:sym typeface="프리텐다드"/>
              </a:rPr>
              <a:t>후보를</a:t>
            </a:r>
            <a:r>
              <a:rPr lang="en-US"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지우지</a:t>
            </a:r>
            <a:r>
              <a:rPr lang="en-US" sz="2199" dirty="0">
                <a:solidFill>
                  <a:srgbClr val="1A1A1A"/>
                </a:solidFill>
                <a:latin typeface="프리텐다드"/>
                <a:ea typeface="프리텐다드"/>
                <a:cs typeface="프리텐다드"/>
                <a:sym typeface="프리텐다드"/>
              </a:rPr>
              <a:t> 못</a:t>
            </a:r>
            <a:r>
              <a:rPr lang="ko-KR" altLang="en-US" sz="2199" dirty="0">
                <a:solidFill>
                  <a:srgbClr val="1A1A1A"/>
                </a:solidFill>
                <a:latin typeface="프리텐다드"/>
                <a:ea typeface="프리텐다드"/>
                <a:cs typeface="프리텐다드"/>
                <a:sym typeface="프리텐다드"/>
              </a:rPr>
              <a:t>하도록 처리</a:t>
            </a:r>
            <a:r>
              <a:rPr lang="en-US" sz="2199" dirty="0">
                <a:solidFill>
                  <a:srgbClr val="1A1A1A"/>
                </a:solidFill>
                <a:latin typeface="프리텐다드"/>
                <a:ea typeface="프리텐다드"/>
                <a:cs typeface="프리텐다드"/>
                <a:sym typeface="프리텐다드"/>
              </a:rPr>
              <a:t> (+53 / −5)</a:t>
            </a:r>
          </a:p>
          <a:p>
            <a:pPr marL="530859" lvl="1" indent="-265430" algn="l">
              <a:lnSpc>
                <a:spcPts val="2639"/>
              </a:lnSpc>
              <a:buFont typeface="Arial"/>
              <a:buChar char="•"/>
            </a:pPr>
            <a:r>
              <a:rPr lang="en-US" sz="2199" dirty="0">
                <a:solidFill>
                  <a:srgbClr val="1A1A1A"/>
                </a:solidFill>
                <a:latin typeface="프리텐다드"/>
                <a:ea typeface="프리텐다드"/>
                <a:cs typeface="프리텐다드"/>
                <a:sym typeface="프리텐다드"/>
              </a:rPr>
              <a:t>“</a:t>
            </a:r>
            <a:r>
              <a:rPr lang="ko-KR" altLang="en-US" sz="2199" dirty="0">
                <a:solidFill>
                  <a:srgbClr val="1A1A1A"/>
                </a:solidFill>
                <a:latin typeface="프리텐다드"/>
                <a:ea typeface="프리텐다드"/>
                <a:cs typeface="프리텐다드"/>
                <a:sym typeface="프리텐다드"/>
              </a:rPr>
              <a:t>못 읽은 경우</a:t>
            </a:r>
            <a:r>
              <a:rPr lang="en-US" altLang="ko-KR"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해상도를</a:t>
            </a:r>
            <a:r>
              <a:rPr lang="en-US"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올려도</a:t>
            </a:r>
            <a:r>
              <a:rPr lang="en-US"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회복되지</a:t>
            </a:r>
            <a:r>
              <a:rPr lang="en-US" sz="2199" dirty="0">
                <a:solidFill>
                  <a:srgbClr val="1A1A1A"/>
                </a:solidFill>
                <a:latin typeface="프리텐다드"/>
                <a:ea typeface="프리텐다드"/>
                <a:cs typeface="프리텐다드"/>
                <a:sym typeface="프리텐다드"/>
              </a:rPr>
              <a:t> 않</a:t>
            </a:r>
            <a:r>
              <a:rPr lang="ko-KR" altLang="en-US" sz="2199" dirty="0">
                <a:solidFill>
                  <a:srgbClr val="1A1A1A"/>
                </a:solidFill>
                <a:latin typeface="프리텐다드"/>
                <a:ea typeface="프리텐다드"/>
                <a:cs typeface="프리텐다드"/>
                <a:sym typeface="프리텐다드"/>
              </a:rPr>
              <a:t>음</a:t>
            </a:r>
            <a:r>
              <a:rPr lang="en-US" sz="2199" dirty="0">
                <a:solidFill>
                  <a:srgbClr val="1A1A1A"/>
                </a:solidFill>
                <a:latin typeface="프리텐다드"/>
                <a:ea typeface="프리텐다드"/>
                <a:cs typeface="프리텐다드"/>
                <a:sym typeface="프리텐다드"/>
              </a:rPr>
              <a:t> (5가지 </a:t>
            </a:r>
            <a:r>
              <a:rPr lang="en-US" sz="2199" dirty="0" err="1">
                <a:solidFill>
                  <a:srgbClr val="1A1A1A"/>
                </a:solidFill>
                <a:latin typeface="프리텐다드"/>
                <a:ea typeface="프리텐다드"/>
                <a:cs typeface="프리텐다드"/>
                <a:sym typeface="프리텐다드"/>
              </a:rPr>
              <a:t>구성</a:t>
            </a:r>
            <a:r>
              <a:rPr lang="en-US"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전부</a:t>
            </a:r>
            <a:r>
              <a:rPr lang="en-US" sz="2199" dirty="0">
                <a:solidFill>
                  <a:srgbClr val="1A1A1A"/>
                </a:solidFill>
                <a:latin typeface="프리텐다드"/>
                <a:ea typeface="프리텐다드"/>
                <a:cs typeface="프리텐다드"/>
                <a:sym typeface="프리텐다드"/>
              </a:rPr>
              <a:t> ±1%p, </a:t>
            </a:r>
            <a:r>
              <a:rPr lang="en-US" sz="2199" dirty="0" err="1">
                <a:solidFill>
                  <a:srgbClr val="1A1A1A"/>
                </a:solidFill>
                <a:latin typeface="프리텐다드"/>
                <a:ea typeface="프리텐다드"/>
                <a:cs typeface="프리텐다드"/>
                <a:sym typeface="프리텐다드"/>
              </a:rPr>
              <a:t>시간만</a:t>
            </a:r>
            <a:r>
              <a:rPr lang="en-US" sz="2199" dirty="0">
                <a:solidFill>
                  <a:srgbClr val="1A1A1A"/>
                </a:solidFill>
                <a:latin typeface="프리텐다드"/>
                <a:ea typeface="프리텐다드"/>
                <a:cs typeface="프리텐다드"/>
                <a:sym typeface="프리텐다드"/>
              </a:rPr>
              <a:t> +30~50%) → </a:t>
            </a:r>
            <a:r>
              <a:rPr lang="en-US" sz="2199" dirty="0" err="1">
                <a:solidFill>
                  <a:srgbClr val="1A1A1A"/>
                </a:solidFill>
                <a:latin typeface="프리텐다드"/>
                <a:ea typeface="프리텐다드"/>
                <a:cs typeface="프리텐다드"/>
                <a:sym typeface="프리텐다드"/>
              </a:rPr>
              <a:t>원인은</a:t>
            </a:r>
            <a:r>
              <a:rPr lang="en-US"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탐지가</a:t>
            </a:r>
            <a:r>
              <a:rPr lang="en-US"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아니라</a:t>
            </a:r>
            <a:r>
              <a:rPr lang="en-US"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인식</a:t>
            </a:r>
            <a:r>
              <a:rPr lang="en-US" sz="2199" dirty="0">
                <a:solidFill>
                  <a:srgbClr val="1A1A1A"/>
                </a:solidFill>
                <a:latin typeface="프리텐다드"/>
                <a:ea typeface="프리텐다드"/>
                <a:cs typeface="프리텐다드"/>
                <a:sym typeface="프리텐다드"/>
              </a:rPr>
              <a:t> </a:t>
            </a:r>
            <a:r>
              <a:rPr lang="en-US" sz="2199" dirty="0" err="1">
                <a:solidFill>
                  <a:srgbClr val="1A1A1A"/>
                </a:solidFill>
                <a:latin typeface="프리텐다드"/>
                <a:ea typeface="프리텐다드"/>
                <a:cs typeface="프리텐다드"/>
                <a:sym typeface="프리텐다드"/>
              </a:rPr>
              <a:t>품질</a:t>
            </a:r>
            <a:endParaRPr lang="en-US" sz="2199" dirty="0">
              <a:solidFill>
                <a:srgbClr val="1A1A1A"/>
              </a:solidFill>
              <a:latin typeface="프리텐다드"/>
              <a:ea typeface="프리텐다드"/>
              <a:cs typeface="프리텐다드"/>
              <a:sym typeface="프리텐다드"/>
            </a:endParaRPr>
          </a:p>
        </p:txBody>
      </p:sp>
      <p:grpSp>
        <p:nvGrpSpPr>
          <p:cNvPr id="46" name="Group 46"/>
          <p:cNvGrpSpPr/>
          <p:nvPr/>
        </p:nvGrpSpPr>
        <p:grpSpPr>
          <a:xfrm>
            <a:off x="535943" y="8674103"/>
            <a:ext cx="17216123" cy="793499"/>
            <a:chOff x="0" y="0"/>
            <a:chExt cx="22954831" cy="1057999"/>
          </a:xfrm>
        </p:grpSpPr>
        <p:sp>
          <p:nvSpPr>
            <p:cNvPr id="47" name="Freeform 47"/>
            <p:cNvSpPr/>
            <p:nvPr/>
          </p:nvSpPr>
          <p:spPr>
            <a:xfrm>
              <a:off x="0" y="0"/>
              <a:ext cx="22954869" cy="1058037"/>
            </a:xfrm>
            <a:custGeom>
              <a:avLst/>
              <a:gdLst/>
              <a:ahLst/>
              <a:cxnLst/>
              <a:rect l="l" t="t" r="r" b="b"/>
              <a:pathLst>
                <a:path w="22954869" h="1058037">
                  <a:moveTo>
                    <a:pt x="0" y="201549"/>
                  </a:moveTo>
                  <a:cubicBezTo>
                    <a:pt x="0" y="90170"/>
                    <a:pt x="90170" y="0"/>
                    <a:pt x="201549" y="0"/>
                  </a:cubicBezTo>
                  <a:lnTo>
                    <a:pt x="22753320" y="0"/>
                  </a:lnTo>
                  <a:cubicBezTo>
                    <a:pt x="22864572" y="0"/>
                    <a:pt x="22954869" y="90170"/>
                    <a:pt x="22954869" y="201549"/>
                  </a:cubicBezTo>
                  <a:lnTo>
                    <a:pt x="22954869" y="856488"/>
                  </a:lnTo>
                  <a:cubicBezTo>
                    <a:pt x="22954869" y="967740"/>
                    <a:pt x="22864699" y="1058037"/>
                    <a:pt x="22753320" y="1058037"/>
                  </a:cubicBezTo>
                  <a:lnTo>
                    <a:pt x="201549" y="1058037"/>
                  </a:lnTo>
                  <a:cubicBezTo>
                    <a:pt x="90170" y="1058037"/>
                    <a:pt x="0" y="967740"/>
                    <a:pt x="0" y="856488"/>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48" name="Group 48"/>
          <p:cNvGrpSpPr/>
          <p:nvPr/>
        </p:nvGrpSpPr>
        <p:grpSpPr>
          <a:xfrm>
            <a:off x="822960" y="8686800"/>
            <a:ext cx="16642080" cy="768096"/>
            <a:chOff x="0" y="0"/>
            <a:chExt cx="22189440" cy="1024128"/>
          </a:xfrm>
        </p:grpSpPr>
        <p:sp>
          <p:nvSpPr>
            <p:cNvPr id="49" name="Freeform 49"/>
            <p:cNvSpPr/>
            <p:nvPr/>
          </p:nvSpPr>
          <p:spPr>
            <a:xfrm>
              <a:off x="0" y="0"/>
              <a:ext cx="22189439" cy="1024128"/>
            </a:xfrm>
            <a:custGeom>
              <a:avLst/>
              <a:gdLst/>
              <a:ahLst/>
              <a:cxnLst/>
              <a:rect l="l" t="t" r="r" b="b"/>
              <a:pathLst>
                <a:path w="22189439" h="1024128">
                  <a:moveTo>
                    <a:pt x="0" y="0"/>
                  </a:moveTo>
                  <a:lnTo>
                    <a:pt x="22189439" y="0"/>
                  </a:lnTo>
                  <a:lnTo>
                    <a:pt x="22189439" y="1024128"/>
                  </a:lnTo>
                  <a:lnTo>
                    <a:pt x="0" y="1024128"/>
                  </a:lnTo>
                  <a:close/>
                </a:path>
              </a:pathLst>
            </a:custGeom>
            <a:blipFill>
              <a:blip r:embed="rId3">
                <a:alphaModFix amt="0"/>
              </a:blip>
              <a:stretch>
                <a:fillRect t="-372175" b="-372175"/>
              </a:stretch>
            </a:blipFill>
          </p:spPr>
          <p:txBody>
            <a:bodyPr/>
            <a:lstStyle/>
            <a:p>
              <a:endParaRPr lang="ko-KR" altLang="en-US"/>
            </a:p>
          </p:txBody>
        </p:sp>
        <p:sp>
          <p:nvSpPr>
            <p:cNvPr id="50" name="TextBox 50"/>
            <p:cNvSpPr txBox="1"/>
            <p:nvPr/>
          </p:nvSpPr>
          <p:spPr>
            <a:xfrm>
              <a:off x="0" y="0"/>
              <a:ext cx="22189440" cy="1024128"/>
            </a:xfrm>
            <a:prstGeom prst="rect">
              <a:avLst/>
            </a:prstGeom>
          </p:spPr>
          <p:txBody>
            <a:bodyPr lIns="0" tIns="0" rIns="0" bIns="0" rtlCol="0" anchor="ctr"/>
            <a:lstStyle/>
            <a:p>
              <a:pPr algn="ctr">
                <a:lnSpc>
                  <a:spcPts val="2999"/>
                </a:lnSpc>
              </a:pPr>
              <a:r>
                <a:rPr lang="en-US" sz="2499" dirty="0" err="1">
                  <a:solidFill>
                    <a:srgbClr val="1A1A1A"/>
                  </a:solidFill>
                  <a:latin typeface="프리텐다드"/>
                  <a:ea typeface="프리텐다드"/>
                  <a:cs typeface="프리텐다드"/>
                  <a:sym typeface="프리텐다드"/>
                </a:rPr>
                <a:t>오답을</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뭉뚱그려</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모델을</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키우자</a:t>
              </a:r>
              <a:r>
                <a:rPr lang="en-US" sz="2499" dirty="0">
                  <a:solidFill>
                    <a:srgbClr val="1A1A1A"/>
                  </a:solidFill>
                  <a:latin typeface="프리텐다드"/>
                  <a:ea typeface="프리텐다드"/>
                  <a:cs typeface="프리텐다드"/>
                  <a:sym typeface="프리텐다드"/>
                </a:rPr>
                <a:t>” 가 </a:t>
              </a:r>
              <a:r>
                <a:rPr lang="en-US" sz="2499" dirty="0" err="1">
                  <a:solidFill>
                    <a:srgbClr val="1A1A1A"/>
                  </a:solidFill>
                  <a:latin typeface="프리텐다드"/>
                  <a:ea typeface="프리텐다드"/>
                  <a:cs typeface="프리텐다드"/>
                  <a:sym typeface="프리텐다드"/>
                </a:rPr>
                <a:t>아니라</a:t>
              </a:r>
              <a:r>
                <a:rPr lang="en-US" sz="2499" dirty="0">
                  <a:solidFill>
                    <a:srgbClr val="1A1A1A"/>
                  </a:solidFill>
                  <a:latin typeface="프리텐다드"/>
                  <a:ea typeface="프리텐다드"/>
                  <a:cs typeface="프리텐다드"/>
                  <a:sym typeface="프리텐다드"/>
                </a:rPr>
                <a:t>, </a:t>
              </a:r>
              <a:r>
                <a:rPr lang="en-US" sz="2499" b="1" dirty="0" err="1">
                  <a:solidFill>
                    <a:srgbClr val="8B0000"/>
                  </a:solidFill>
                  <a:latin typeface="프리텐다드 Bold"/>
                  <a:ea typeface="프리텐다드 Bold"/>
                  <a:cs typeface="프리텐다드 Bold"/>
                  <a:sym typeface="프리텐다드 Bold"/>
                </a:rPr>
                <a:t>원인별로</a:t>
              </a:r>
              <a:r>
                <a:rPr lang="en-US" sz="2499" b="1" dirty="0">
                  <a:solidFill>
                    <a:srgbClr val="8B0000"/>
                  </a:solidFill>
                  <a:latin typeface="프리텐다드 Bold"/>
                  <a:ea typeface="프리텐다드 Bold"/>
                  <a:cs typeface="프리텐다드 Bold"/>
                  <a:sym typeface="프리텐다드 Bold"/>
                </a:rPr>
                <a:t> </a:t>
              </a:r>
              <a:r>
                <a:rPr lang="en-US" sz="2499" b="1" dirty="0" err="1">
                  <a:solidFill>
                    <a:srgbClr val="8B0000"/>
                  </a:solidFill>
                  <a:latin typeface="프리텐다드 Bold"/>
                  <a:ea typeface="프리텐다드 Bold"/>
                  <a:cs typeface="프리텐다드 Bold"/>
                  <a:sym typeface="프리텐다드 Bold"/>
                </a:rPr>
                <a:t>가장</a:t>
              </a:r>
              <a:r>
                <a:rPr lang="en-US" sz="2499" b="1" dirty="0">
                  <a:solidFill>
                    <a:srgbClr val="8B0000"/>
                  </a:solidFill>
                  <a:latin typeface="프리텐다드 Bold"/>
                  <a:ea typeface="프리텐다드 Bold"/>
                  <a:cs typeface="프리텐다드 Bold"/>
                  <a:sym typeface="프리텐다드 Bold"/>
                </a:rPr>
                <a:t> </a:t>
              </a:r>
              <a:r>
                <a:rPr lang="ko-KR" altLang="en-US" sz="2499" b="1" dirty="0">
                  <a:solidFill>
                    <a:srgbClr val="8B0000"/>
                  </a:solidFill>
                  <a:latin typeface="프리텐다드 Bold"/>
                  <a:ea typeface="프리텐다드 Bold"/>
                  <a:cs typeface="프리텐다드 Bold"/>
                  <a:sym typeface="프리텐다드 Bold"/>
                </a:rPr>
                <a:t>가벼운</a:t>
              </a:r>
              <a:r>
                <a:rPr lang="en-US" sz="2499" b="1" dirty="0">
                  <a:solidFill>
                    <a:srgbClr val="8B0000"/>
                  </a:solidFill>
                  <a:latin typeface="프리텐다드 Bold"/>
                  <a:ea typeface="프리텐다드 Bold"/>
                  <a:cs typeface="프리텐다드 Bold"/>
                  <a:sym typeface="프리텐다드 Bold"/>
                </a:rPr>
                <a:t> </a:t>
              </a:r>
              <a:r>
                <a:rPr lang="en-US" sz="2499" b="1" dirty="0" err="1">
                  <a:solidFill>
                    <a:srgbClr val="8B0000"/>
                  </a:solidFill>
                  <a:latin typeface="프리텐다드 Bold"/>
                  <a:ea typeface="프리텐다드 Bold"/>
                  <a:cs typeface="프리텐다드 Bold"/>
                  <a:sym typeface="프리텐다드 Bold"/>
                </a:rPr>
                <a:t>처방</a:t>
              </a:r>
              <a:r>
                <a:rPr lang="en-US" sz="2499" dirty="0">
                  <a:solidFill>
                    <a:srgbClr val="1A1A1A"/>
                  </a:solidFill>
                  <a:latin typeface="프리텐다드"/>
                  <a:ea typeface="프리텐다드"/>
                  <a:cs typeface="프리텐다드"/>
                  <a:sym typeface="프리텐다드"/>
                </a:rPr>
                <a:t> 을 </a:t>
              </a:r>
              <a:r>
                <a:rPr lang="en-US" sz="2499" dirty="0" err="1">
                  <a:solidFill>
                    <a:srgbClr val="1A1A1A"/>
                  </a:solidFill>
                  <a:latin typeface="프리텐다드"/>
                  <a:ea typeface="프리텐다드"/>
                  <a:cs typeface="프리텐다드"/>
                  <a:sym typeface="프리텐다드"/>
                </a:rPr>
                <a:t>골랐습니다</a:t>
              </a:r>
              <a:r>
                <a:rPr lang="en-US" sz="2499" dirty="0">
                  <a:solidFill>
                    <a:srgbClr val="1A1A1A"/>
                  </a:solidFill>
                  <a:latin typeface="프리텐다드"/>
                  <a:ea typeface="프리텐다드"/>
                  <a:cs typeface="프리텐다드"/>
                  <a:sym typeface="프리텐다드"/>
                </a:rPr>
                <a:t>.</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5943" y="535943"/>
            <a:ext cx="153419" cy="756923"/>
            <a:chOff x="0" y="0"/>
            <a:chExt cx="204559" cy="1009231"/>
          </a:xfrm>
        </p:grpSpPr>
        <p:sp>
          <p:nvSpPr>
            <p:cNvPr id="3" name="Freeform 3"/>
            <p:cNvSpPr/>
            <p:nvPr/>
          </p:nvSpPr>
          <p:spPr>
            <a:xfrm>
              <a:off x="0" y="0"/>
              <a:ext cx="204597" cy="1009269"/>
            </a:xfrm>
            <a:custGeom>
              <a:avLst/>
              <a:gdLst/>
              <a:ahLst/>
              <a:cxnLst/>
              <a:rect l="l" t="t" r="r" b="b"/>
              <a:pathLst>
                <a:path w="204597" h="1009269">
                  <a:moveTo>
                    <a:pt x="0" y="0"/>
                  </a:moveTo>
                  <a:lnTo>
                    <a:pt x="204597" y="0"/>
                  </a:lnTo>
                  <a:lnTo>
                    <a:pt x="204597" y="1009269"/>
                  </a:lnTo>
                  <a:lnTo>
                    <a:pt x="0" y="1009269"/>
                  </a:ln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4" name="Group 4"/>
          <p:cNvGrpSpPr/>
          <p:nvPr/>
        </p:nvGrpSpPr>
        <p:grpSpPr>
          <a:xfrm>
            <a:off x="822960" y="457200"/>
            <a:ext cx="15910560" cy="914400"/>
            <a:chOff x="0" y="0"/>
            <a:chExt cx="21214080" cy="1219200"/>
          </a:xfrm>
        </p:grpSpPr>
        <p:sp>
          <p:nvSpPr>
            <p:cNvPr id="5" name="Freeform 5"/>
            <p:cNvSpPr/>
            <p:nvPr/>
          </p:nvSpPr>
          <p:spPr>
            <a:xfrm>
              <a:off x="0" y="0"/>
              <a:ext cx="21214080" cy="1219200"/>
            </a:xfrm>
            <a:custGeom>
              <a:avLst/>
              <a:gdLst/>
              <a:ahLst/>
              <a:cxnLst/>
              <a:rect l="l" t="t" r="r" b="b"/>
              <a:pathLst>
                <a:path w="21214080" h="1219200">
                  <a:moveTo>
                    <a:pt x="0" y="0"/>
                  </a:moveTo>
                  <a:lnTo>
                    <a:pt x="21214080" y="0"/>
                  </a:lnTo>
                  <a:lnTo>
                    <a:pt x="21214080" y="1219200"/>
                  </a:lnTo>
                  <a:lnTo>
                    <a:pt x="0" y="1219200"/>
                  </a:lnTo>
                  <a:close/>
                </a:path>
              </a:pathLst>
            </a:custGeom>
            <a:blipFill>
              <a:blip r:embed="rId3">
                <a:alphaModFix amt="0"/>
              </a:blip>
              <a:stretch>
                <a:fillRect t="-289039" b="-289039"/>
              </a:stretch>
            </a:blipFill>
          </p:spPr>
          <p:txBody>
            <a:bodyPr/>
            <a:lstStyle/>
            <a:p>
              <a:endParaRPr lang="ko-KR" altLang="en-US"/>
            </a:p>
          </p:txBody>
        </p:sp>
        <p:sp>
          <p:nvSpPr>
            <p:cNvPr id="6" name="TextBox 6"/>
            <p:cNvSpPr txBox="1"/>
            <p:nvPr/>
          </p:nvSpPr>
          <p:spPr>
            <a:xfrm>
              <a:off x="0" y="0"/>
              <a:ext cx="21214080" cy="1219200"/>
            </a:xfrm>
            <a:prstGeom prst="rect">
              <a:avLst/>
            </a:prstGeom>
          </p:spPr>
          <p:txBody>
            <a:bodyPr lIns="0" tIns="0" rIns="0" bIns="0" rtlCol="0" anchor="ctr"/>
            <a:lstStyle/>
            <a:p>
              <a:pPr algn="l">
                <a:lnSpc>
                  <a:spcPts val="4560"/>
                </a:lnSpc>
              </a:pPr>
              <a:r>
                <a:rPr lang="en-US" sz="3800" b="1">
                  <a:solidFill>
                    <a:srgbClr val="1A1A1A"/>
                  </a:solidFill>
                  <a:latin typeface="프리텐다드 Bold"/>
                  <a:ea typeface="프리텐다드 Bold"/>
                  <a:cs typeface="프리텐다드 Bold"/>
                  <a:sym typeface="프리텐다드 Bold"/>
                </a:rPr>
                <a:t>후처리 규칙 : </a:t>
              </a:r>
              <a:r>
                <a:rPr lang="en-US" sz="3800" b="1">
                  <a:solidFill>
                    <a:srgbClr val="8B0000"/>
                  </a:solidFill>
                  <a:latin typeface="프리텐다드 Bold"/>
                  <a:ea typeface="프리텐다드 Bold"/>
                  <a:cs typeface="프리텐다드 Bold"/>
                  <a:sym typeface="프리텐다드 Bold"/>
                </a:rPr>
                <a:t>소비기한을 다른 숫자와 구분하는 법</a:t>
              </a:r>
            </a:p>
          </p:txBody>
        </p:sp>
      </p:grpSp>
      <p:sp>
        <p:nvSpPr>
          <p:cNvPr id="7" name="AutoShape 7"/>
          <p:cNvSpPr/>
          <p:nvPr/>
        </p:nvSpPr>
        <p:spPr>
          <a:xfrm rot="3780">
            <a:off x="539105" y="1494854"/>
            <a:ext cx="17209780" cy="0"/>
          </a:xfrm>
          <a:prstGeom prst="line">
            <a:avLst/>
          </a:prstGeom>
          <a:ln w="9525" cap="rnd">
            <a:solidFill>
              <a:srgbClr val="BFBFBF"/>
            </a:solidFill>
            <a:prstDash val="solid"/>
            <a:headEnd type="none" w="sm" len="sm"/>
            <a:tailEnd type="none" w="sm" len="sm"/>
          </a:ln>
        </p:spPr>
        <p:txBody>
          <a:bodyPr/>
          <a:lstStyle/>
          <a:p>
            <a:endParaRPr lang="ko-KR" altLang="en-US"/>
          </a:p>
        </p:txBody>
      </p:sp>
      <p:grpSp>
        <p:nvGrpSpPr>
          <p:cNvPr id="8" name="Group 8"/>
          <p:cNvGrpSpPr/>
          <p:nvPr/>
        </p:nvGrpSpPr>
        <p:grpSpPr>
          <a:xfrm>
            <a:off x="17007840" y="219456"/>
            <a:ext cx="914400" cy="457200"/>
            <a:chOff x="0" y="0"/>
            <a:chExt cx="1219200" cy="609600"/>
          </a:xfrm>
        </p:grpSpPr>
        <p:sp>
          <p:nvSpPr>
            <p:cNvPr id="9" name="Freeform 9"/>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10" name="TextBox 10"/>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1A1A1A"/>
                  </a:solidFill>
                  <a:latin typeface="프리텐다드"/>
                  <a:ea typeface="프리텐다드"/>
                  <a:cs typeface="프리텐다드"/>
                  <a:sym typeface="프리텐다드"/>
                </a:rPr>
                <a:t>9</a:t>
              </a:r>
            </a:p>
          </p:txBody>
        </p:sp>
      </p:grpSp>
      <p:graphicFrame>
        <p:nvGraphicFramePr>
          <p:cNvPr id="11" name="Table 11"/>
          <p:cNvGraphicFramePr>
            <a:graphicFrameLocks noGrp="1"/>
          </p:cNvGraphicFramePr>
          <p:nvPr/>
        </p:nvGraphicFramePr>
        <p:xfrm>
          <a:off x="548640" y="1828800"/>
          <a:ext cx="17145000" cy="4445000"/>
        </p:xfrm>
        <a:graphic>
          <a:graphicData uri="http://schemas.openxmlformats.org/drawingml/2006/table">
            <a:tbl>
              <a:tblPr/>
              <a:tblGrid>
                <a:gridCol w="3107657">
                  <a:extLst>
                    <a:ext uri="{9D8B030D-6E8A-4147-A177-3AD203B41FA5}">
                      <a16:colId xmlns:a16="http://schemas.microsoft.com/office/drawing/2014/main" val="20000"/>
                    </a:ext>
                  </a:extLst>
                </a:gridCol>
                <a:gridCol w="3470301">
                  <a:extLst>
                    <a:ext uri="{9D8B030D-6E8A-4147-A177-3AD203B41FA5}">
                      <a16:colId xmlns:a16="http://schemas.microsoft.com/office/drawing/2014/main" val="20001"/>
                    </a:ext>
                  </a:extLst>
                </a:gridCol>
                <a:gridCol w="6462114">
                  <a:extLst>
                    <a:ext uri="{9D8B030D-6E8A-4147-A177-3AD203B41FA5}">
                      <a16:colId xmlns:a16="http://schemas.microsoft.com/office/drawing/2014/main" val="20002"/>
                    </a:ext>
                  </a:extLst>
                </a:gridCol>
                <a:gridCol w="4104928">
                  <a:extLst>
                    <a:ext uri="{9D8B030D-6E8A-4147-A177-3AD203B41FA5}">
                      <a16:colId xmlns:a16="http://schemas.microsoft.com/office/drawing/2014/main" val="20003"/>
                    </a:ext>
                  </a:extLst>
                </a:gridCol>
              </a:tblGrid>
              <a:tr h="635000">
                <a:tc>
                  <a:txBody>
                    <a:bodyPr/>
                    <a:lstStyle/>
                    <a:p>
                      <a:pPr algn="l">
                        <a:lnSpc>
                          <a:spcPts val="2304"/>
                        </a:lnSpc>
                        <a:defRPr/>
                      </a:pPr>
                      <a:r>
                        <a:rPr lang="en-US" sz="1920">
                          <a:solidFill>
                            <a:srgbClr val="FFFFFF"/>
                          </a:solidFill>
                          <a:latin typeface="프리텐다드"/>
                          <a:ea typeface="프리텐다드"/>
                          <a:cs typeface="프리텐다드"/>
                          <a:sym typeface="프리텐다드"/>
                        </a:rPr>
                        <a:t>구분 대상</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304"/>
                        </a:lnSpc>
                        <a:defRPr/>
                      </a:pPr>
                      <a:r>
                        <a:rPr lang="en-US" sz="1920">
                          <a:solidFill>
                            <a:srgbClr val="FFFFFF"/>
                          </a:solidFill>
                          <a:latin typeface="프리텐다드"/>
                          <a:ea typeface="프리텐다드"/>
                          <a:cs typeface="프리텐다드"/>
                          <a:sym typeface="프리텐다드"/>
                        </a:rPr>
                        <a:t>실제 예</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304"/>
                        </a:lnSpc>
                        <a:defRPr/>
                      </a:pPr>
                      <a:r>
                        <a:rPr lang="en-US" sz="1920">
                          <a:solidFill>
                            <a:srgbClr val="FFFFFF"/>
                          </a:solidFill>
                          <a:latin typeface="프리텐다드"/>
                          <a:ea typeface="프리텐다드"/>
                          <a:cs typeface="프리텐다드"/>
                          <a:sym typeface="프리텐다드"/>
                        </a:rPr>
                        <a:t>규칙</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304"/>
                        </a:lnSpc>
                        <a:defRPr/>
                      </a:pPr>
                      <a:r>
                        <a:rPr lang="en-US" sz="1920">
                          <a:solidFill>
                            <a:srgbClr val="FFFFFF"/>
                          </a:solidFill>
                          <a:latin typeface="프리텐다드"/>
                          <a:ea typeface="프리텐다드"/>
                          <a:cs typeface="프리텐다드"/>
                          <a:sym typeface="프리텐다드"/>
                        </a:rPr>
                        <a:t>근거</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extLst>
                  <a:ext uri="{0D108BD9-81ED-4DB2-BD59-A6C34878D82A}">
                    <a16:rowId xmlns:a16="http://schemas.microsoft.com/office/drawing/2014/main" val="10000"/>
                  </a:ext>
                </a:extLst>
              </a:tr>
              <a:tr h="635000">
                <a:tc>
                  <a:txBody>
                    <a:bodyPr/>
                    <a:lstStyle/>
                    <a:p>
                      <a:pPr algn="l">
                        <a:lnSpc>
                          <a:spcPts val="2304"/>
                        </a:lnSpc>
                        <a:defRPr/>
                      </a:pPr>
                      <a:r>
                        <a:rPr lang="en-US" sz="1920">
                          <a:solidFill>
                            <a:srgbClr val="1A1A1A"/>
                          </a:solidFill>
                          <a:latin typeface="프리텐다드"/>
                          <a:ea typeface="프리텐다드"/>
                          <a:cs typeface="프리텐다드"/>
                          <a:sym typeface="프리텐다드"/>
                        </a:rPr>
                        <a:t>품목보고번호 · 바코드</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20130628332176</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9자리 이상 숫자열은 통째로 제거</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앞 8자리가 완전한 날짜 형식</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5000">
                <a:tc>
                  <a:txBody>
                    <a:bodyPr/>
                    <a:lstStyle/>
                    <a:p>
                      <a:pPr algn="l">
                        <a:lnSpc>
                          <a:spcPts val="2304"/>
                        </a:lnSpc>
                        <a:defRPr/>
                      </a:pPr>
                      <a:r>
                        <a:rPr lang="en-US" sz="1920">
                          <a:solidFill>
                            <a:srgbClr val="1A1A1A"/>
                          </a:solidFill>
                          <a:latin typeface="프리텐다드"/>
                          <a:ea typeface="프리텐다드"/>
                          <a:cs typeface="프리텐다드"/>
                          <a:sym typeface="프리텐다드"/>
                        </a:rPr>
                        <a:t>영양성분표 · 중량</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78 7 5 31 / 30.4 GRAMS</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신뢰 등급 : 완전 날짜 &gt; 공백·압축 &gt; 연월 &gt; 월일</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dirty="0" err="1">
                          <a:solidFill>
                            <a:srgbClr val="1A1A1A"/>
                          </a:solidFill>
                          <a:latin typeface="프리텐다드"/>
                          <a:ea typeface="프리텐다드"/>
                          <a:cs typeface="프리텐다드"/>
                          <a:sym typeface="프리텐다드"/>
                        </a:rPr>
                        <a:t>잡음이</a:t>
                      </a:r>
                      <a:r>
                        <a:rPr lang="en-US" sz="1920" dirty="0">
                          <a:solidFill>
                            <a:srgbClr val="1A1A1A"/>
                          </a:solidFill>
                          <a:latin typeface="프리텐다드"/>
                          <a:ea typeface="프리텐다드"/>
                          <a:cs typeface="프리텐다드"/>
                          <a:sym typeface="프리텐다드"/>
                        </a:rPr>
                        <a:t> </a:t>
                      </a:r>
                      <a:r>
                        <a:rPr lang="en-US" sz="1920" dirty="0" err="1">
                          <a:solidFill>
                            <a:srgbClr val="1A1A1A"/>
                          </a:solidFill>
                          <a:latin typeface="프리텐다드"/>
                          <a:ea typeface="프리텐다드"/>
                          <a:cs typeface="프리텐다드"/>
                          <a:sym typeface="프리텐다드"/>
                        </a:rPr>
                        <a:t>이긴</a:t>
                      </a:r>
                      <a:r>
                        <a:rPr lang="en-US" sz="1920" dirty="0">
                          <a:solidFill>
                            <a:srgbClr val="1A1A1A"/>
                          </a:solidFill>
                          <a:latin typeface="프리텐다드"/>
                          <a:ea typeface="프리텐다드"/>
                          <a:cs typeface="프리텐다드"/>
                          <a:sym typeface="프리텐다드"/>
                        </a:rPr>
                        <a:t> </a:t>
                      </a:r>
                      <a:r>
                        <a:rPr lang="en-US" sz="1920" dirty="0" err="1">
                          <a:solidFill>
                            <a:srgbClr val="1A1A1A"/>
                          </a:solidFill>
                          <a:latin typeface="프리텐다드"/>
                          <a:ea typeface="프리텐다드"/>
                          <a:cs typeface="프리텐다드"/>
                          <a:sym typeface="프리텐다드"/>
                        </a:rPr>
                        <a:t>오답</a:t>
                      </a:r>
                      <a:r>
                        <a:rPr lang="en-US" sz="1920" dirty="0">
                          <a:solidFill>
                            <a:srgbClr val="1A1A1A"/>
                          </a:solidFill>
                          <a:latin typeface="프리텐다드"/>
                          <a:ea typeface="프리텐다드"/>
                          <a:cs typeface="프리텐다드"/>
                          <a:sym typeface="프리텐다드"/>
                        </a:rPr>
                        <a:t> 15장에서 </a:t>
                      </a:r>
                      <a:r>
                        <a:rPr lang="en-US" sz="1920" dirty="0" err="1">
                          <a:solidFill>
                            <a:srgbClr val="1A1A1A"/>
                          </a:solidFill>
                          <a:latin typeface="프리텐다드"/>
                          <a:ea typeface="프리텐다드"/>
                          <a:cs typeface="프리텐다드"/>
                          <a:sym typeface="프리텐다드"/>
                        </a:rPr>
                        <a:t>도출</a:t>
                      </a:r>
                      <a:endParaRPr lang="en-US" sz="1100" dirty="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35000">
                <a:tc>
                  <a:txBody>
                    <a:bodyPr/>
                    <a:lstStyle/>
                    <a:p>
                      <a:pPr algn="l">
                        <a:lnSpc>
                          <a:spcPts val="2304"/>
                        </a:lnSpc>
                        <a:defRPr/>
                      </a:pPr>
                      <a:r>
                        <a:rPr lang="en-US" sz="1920">
                          <a:solidFill>
                            <a:srgbClr val="1A1A1A"/>
                          </a:solidFill>
                          <a:latin typeface="프리텐다드"/>
                          <a:ea typeface="프리텐다드"/>
                          <a:cs typeface="프리텐다드"/>
                          <a:sym typeface="프리텐다드"/>
                        </a:rPr>
                        <a:t>제조일자 · 유통기한</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25.06.26  /  26.06.25</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가장 좋은 등급 안에서 가장 늦은 날짜</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소비기한 ≥ 유통기한 ≥ 제조일</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5000">
                <a:tc>
                  <a:txBody>
                    <a:bodyPr/>
                    <a:lstStyle/>
                    <a:p>
                      <a:pPr algn="l">
                        <a:lnSpc>
                          <a:spcPts val="2304"/>
                        </a:lnSpc>
                        <a:defRPr/>
                      </a:pPr>
                      <a:r>
                        <a:rPr lang="en-US" sz="1920">
                          <a:solidFill>
                            <a:srgbClr val="1A1A1A"/>
                          </a:solidFill>
                          <a:latin typeface="프리텐다드"/>
                          <a:ea typeface="프리텐다드"/>
                          <a:cs typeface="프리텐다드"/>
                          <a:sym typeface="프리텐다드"/>
                        </a:rPr>
                        <a:t>시각 · 로트번호</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13:11  /  A03  /  L8</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날짜 패턴에서 제외, 옆 글자를 '일' 자리로 읽지 않음</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도트 인쇄 제품에 흔함</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35000">
                <a:tc>
                  <a:txBody>
                    <a:bodyPr/>
                    <a:lstStyle/>
                    <a:p>
                      <a:pPr algn="l">
                        <a:lnSpc>
                          <a:spcPts val="2304"/>
                        </a:lnSpc>
                        <a:defRPr/>
                      </a:pPr>
                      <a:r>
                        <a:rPr lang="en-US" sz="1920">
                          <a:solidFill>
                            <a:srgbClr val="1A1A1A"/>
                          </a:solidFill>
                          <a:latin typeface="프리텐다드"/>
                          <a:ea typeface="프리텐다드"/>
                          <a:cs typeface="프리텐다드"/>
                          <a:sym typeface="프리텐다드"/>
                        </a:rPr>
                        <a:t>연·월·일 순서</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30.07.26  /  24/12/21</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년월일 우선. 무효·2028년 이후면 일월년</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라벨 : 년월일 344 · 일월년 102</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35000">
                <a:tc>
                  <a:txBody>
                    <a:bodyPr/>
                    <a:lstStyle/>
                    <a:p>
                      <a:pPr algn="l">
                        <a:lnSpc>
                          <a:spcPts val="2304"/>
                        </a:lnSpc>
                        <a:defRPr/>
                      </a:pPr>
                      <a:r>
                        <a:rPr lang="en-US" sz="1920">
                          <a:solidFill>
                            <a:srgbClr val="1A1A1A"/>
                          </a:solidFill>
                          <a:latin typeface="프리텐다드"/>
                          <a:ea typeface="프리텐다드"/>
                          <a:cs typeface="프리텐다드"/>
                          <a:sym typeface="프리텐다드"/>
                        </a:rPr>
                        <a:t>범위 밖 연도</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2033, 2009</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2017 ~ 2031 만 인정</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dirty="0" err="1">
                          <a:solidFill>
                            <a:srgbClr val="1A1A1A"/>
                          </a:solidFill>
                          <a:latin typeface="프리텐다드"/>
                          <a:ea typeface="프리텐다드"/>
                          <a:cs typeface="프리텐다드"/>
                          <a:sym typeface="프리텐다드"/>
                        </a:rPr>
                        <a:t>전수</a:t>
                      </a:r>
                      <a:r>
                        <a:rPr lang="en-US" sz="1920" dirty="0">
                          <a:solidFill>
                            <a:srgbClr val="1A1A1A"/>
                          </a:solidFill>
                          <a:latin typeface="프리텐다드"/>
                          <a:ea typeface="프리텐다드"/>
                          <a:cs typeface="프리텐다드"/>
                          <a:sym typeface="프리텐다드"/>
                        </a:rPr>
                        <a:t> </a:t>
                      </a:r>
                      <a:r>
                        <a:rPr lang="en-US" sz="1920" dirty="0" err="1">
                          <a:solidFill>
                            <a:srgbClr val="1A1A1A"/>
                          </a:solidFill>
                          <a:latin typeface="프리텐다드"/>
                          <a:ea typeface="프리텐다드"/>
                          <a:cs typeface="프리텐다드"/>
                          <a:sym typeface="프리텐다드"/>
                        </a:rPr>
                        <a:t>라벨</a:t>
                      </a:r>
                      <a:r>
                        <a:rPr lang="en-US" sz="1920" dirty="0">
                          <a:solidFill>
                            <a:srgbClr val="1A1A1A"/>
                          </a:solidFill>
                          <a:latin typeface="프리텐다드"/>
                          <a:ea typeface="프리텐다드"/>
                          <a:cs typeface="프리텐다드"/>
                          <a:sym typeface="프리텐다드"/>
                        </a:rPr>
                        <a:t> </a:t>
                      </a:r>
                      <a:r>
                        <a:rPr lang="en-US" sz="1920" dirty="0" err="1">
                          <a:solidFill>
                            <a:srgbClr val="1A1A1A"/>
                          </a:solidFill>
                          <a:latin typeface="프리텐다드"/>
                          <a:ea typeface="프리텐다드"/>
                          <a:cs typeface="프리텐다드"/>
                          <a:sym typeface="프리텐다드"/>
                        </a:rPr>
                        <a:t>최소</a:t>
                      </a:r>
                      <a:r>
                        <a:rPr lang="en-US" sz="1920" dirty="0">
                          <a:solidFill>
                            <a:srgbClr val="1A1A1A"/>
                          </a:solidFill>
                          <a:latin typeface="프리텐다드"/>
                          <a:ea typeface="프리텐다드"/>
                          <a:cs typeface="프리텐다드"/>
                          <a:sym typeface="프리텐다드"/>
                        </a:rPr>
                        <a:t> 2017</a:t>
                      </a:r>
                      <a:endParaRPr lang="en-US" sz="1100" dirty="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pSp>
        <p:nvGrpSpPr>
          <p:cNvPr id="12" name="Group 12"/>
          <p:cNvGrpSpPr/>
          <p:nvPr/>
        </p:nvGrpSpPr>
        <p:grpSpPr>
          <a:xfrm>
            <a:off x="535943" y="6753863"/>
            <a:ext cx="8437883" cy="1671323"/>
            <a:chOff x="0" y="0"/>
            <a:chExt cx="11250511" cy="2228431"/>
          </a:xfrm>
        </p:grpSpPr>
        <p:sp>
          <p:nvSpPr>
            <p:cNvPr id="13" name="Freeform 13"/>
            <p:cNvSpPr/>
            <p:nvPr/>
          </p:nvSpPr>
          <p:spPr>
            <a:xfrm>
              <a:off x="0" y="0"/>
              <a:ext cx="11250549" cy="2228469"/>
            </a:xfrm>
            <a:custGeom>
              <a:avLst/>
              <a:gdLst/>
              <a:ahLst/>
              <a:cxnLst/>
              <a:rect l="l" t="t" r="r" b="b"/>
              <a:pathLst>
                <a:path w="11250549" h="2228469">
                  <a:moveTo>
                    <a:pt x="0" y="198120"/>
                  </a:moveTo>
                  <a:cubicBezTo>
                    <a:pt x="0" y="88646"/>
                    <a:pt x="88646" y="0"/>
                    <a:pt x="198120" y="0"/>
                  </a:cubicBezTo>
                  <a:lnTo>
                    <a:pt x="11052429" y="0"/>
                  </a:lnTo>
                  <a:cubicBezTo>
                    <a:pt x="11161776" y="0"/>
                    <a:pt x="11250549" y="88646"/>
                    <a:pt x="11250549" y="198120"/>
                  </a:cubicBezTo>
                  <a:lnTo>
                    <a:pt x="11250549" y="2030349"/>
                  </a:lnTo>
                  <a:cubicBezTo>
                    <a:pt x="11250549" y="2139696"/>
                    <a:pt x="11161903" y="2228469"/>
                    <a:pt x="11052429" y="2228469"/>
                  </a:cubicBezTo>
                  <a:lnTo>
                    <a:pt x="198120" y="2228469"/>
                  </a:lnTo>
                  <a:cubicBezTo>
                    <a:pt x="88773" y="2228469"/>
                    <a:pt x="0" y="2139823"/>
                    <a:pt x="0" y="2030349"/>
                  </a:cubicBezTo>
                  <a:close/>
                </a:path>
              </a:pathLst>
            </a:custGeom>
            <a:solidFill>
              <a:srgbClr val="F2F2F2"/>
            </a:solidFill>
            <a:ln w="25400" cap="sq">
              <a:solidFill>
                <a:srgbClr val="F2F2F2"/>
              </a:solidFill>
              <a:prstDash val="solid"/>
              <a:miter/>
            </a:ln>
          </p:spPr>
          <p:txBody>
            <a:bodyPr/>
            <a:lstStyle/>
            <a:p>
              <a:endParaRPr lang="ko-KR" altLang="en-US"/>
            </a:p>
          </p:txBody>
        </p:sp>
      </p:grpSp>
      <p:sp>
        <p:nvSpPr>
          <p:cNvPr id="14" name="TextBox 14"/>
          <p:cNvSpPr txBox="1"/>
          <p:nvPr/>
        </p:nvSpPr>
        <p:spPr>
          <a:xfrm>
            <a:off x="822960" y="7016877"/>
            <a:ext cx="7863840" cy="371475"/>
          </a:xfrm>
          <a:prstGeom prst="rect">
            <a:avLst/>
          </a:prstGeom>
        </p:spPr>
        <p:txBody>
          <a:bodyPr lIns="0" tIns="0" rIns="0" bIns="0" rtlCol="0" anchor="t">
            <a:spAutoFit/>
          </a:bodyPr>
          <a:lstStyle/>
          <a:p>
            <a:pPr algn="l">
              <a:lnSpc>
                <a:spcPts val="2879"/>
              </a:lnSpc>
            </a:pPr>
            <a:r>
              <a:rPr lang="en-US" sz="2400" b="1">
                <a:solidFill>
                  <a:srgbClr val="1A1A1A"/>
                </a:solidFill>
                <a:latin typeface="프리텐다드 Bold"/>
                <a:ea typeface="프리텐다드 Bold"/>
                <a:cs typeface="프리텐다드 Bold"/>
                <a:sym typeface="프리텐다드 Bold"/>
              </a:rPr>
              <a:t>미인식(NONE) 기준</a:t>
            </a:r>
          </a:p>
        </p:txBody>
      </p:sp>
      <p:sp>
        <p:nvSpPr>
          <p:cNvPr id="15" name="TextBox 15"/>
          <p:cNvSpPr txBox="1"/>
          <p:nvPr/>
        </p:nvSpPr>
        <p:spPr>
          <a:xfrm>
            <a:off x="822960" y="7426452"/>
            <a:ext cx="7863840" cy="638175"/>
          </a:xfrm>
          <a:prstGeom prst="rect">
            <a:avLst/>
          </a:prstGeom>
        </p:spPr>
        <p:txBody>
          <a:bodyPr lIns="0" tIns="0" rIns="0" bIns="0" rtlCol="0" anchor="t">
            <a:spAutoFit/>
          </a:bodyPr>
          <a:lstStyle/>
          <a:p>
            <a:pPr algn="l">
              <a:lnSpc>
                <a:spcPts val="2520"/>
              </a:lnSpc>
            </a:pPr>
            <a:r>
              <a:rPr lang="en-US" sz="2100">
                <a:solidFill>
                  <a:srgbClr val="6B6B6B"/>
                </a:solidFill>
                <a:latin typeface="프리텐다드"/>
                <a:ea typeface="프리텐다드"/>
                <a:cs typeface="프리텐다드"/>
                <a:sym typeface="프리텐다드"/>
              </a:rPr>
              <a:t>후보가 하나도 없으면 추측하지 않습니다. </a:t>
            </a:r>
          </a:p>
          <a:p>
            <a:pPr algn="l">
              <a:lnSpc>
                <a:spcPts val="2520"/>
              </a:lnSpc>
            </a:pPr>
            <a:r>
              <a:rPr lang="en-US" sz="2100">
                <a:solidFill>
                  <a:srgbClr val="6B6B6B"/>
                </a:solidFill>
                <a:latin typeface="프리텐다드"/>
                <a:ea typeface="프리텐다드"/>
                <a:cs typeface="프리텐다드"/>
                <a:sym typeface="프리텐다드"/>
              </a:rPr>
              <a:t>연도나 일만 없으면 그 칸만 NONE (NONE-10-14, 2027-07-NONE)</a:t>
            </a:r>
          </a:p>
        </p:txBody>
      </p:sp>
      <p:grpSp>
        <p:nvGrpSpPr>
          <p:cNvPr id="16" name="Group 16"/>
          <p:cNvGrpSpPr/>
          <p:nvPr/>
        </p:nvGrpSpPr>
        <p:grpSpPr>
          <a:xfrm>
            <a:off x="9314183" y="6753863"/>
            <a:ext cx="8437883" cy="1671323"/>
            <a:chOff x="0" y="0"/>
            <a:chExt cx="11250511" cy="2228431"/>
          </a:xfrm>
        </p:grpSpPr>
        <p:sp>
          <p:nvSpPr>
            <p:cNvPr id="17" name="Freeform 17"/>
            <p:cNvSpPr/>
            <p:nvPr/>
          </p:nvSpPr>
          <p:spPr>
            <a:xfrm>
              <a:off x="0" y="0"/>
              <a:ext cx="11250549" cy="2228469"/>
            </a:xfrm>
            <a:custGeom>
              <a:avLst/>
              <a:gdLst/>
              <a:ahLst/>
              <a:cxnLst/>
              <a:rect l="l" t="t" r="r" b="b"/>
              <a:pathLst>
                <a:path w="11250549" h="2228469">
                  <a:moveTo>
                    <a:pt x="0" y="198120"/>
                  </a:moveTo>
                  <a:cubicBezTo>
                    <a:pt x="0" y="88646"/>
                    <a:pt x="88646" y="0"/>
                    <a:pt x="198120" y="0"/>
                  </a:cubicBezTo>
                  <a:lnTo>
                    <a:pt x="11052429" y="0"/>
                  </a:lnTo>
                  <a:cubicBezTo>
                    <a:pt x="11161776" y="0"/>
                    <a:pt x="11250549" y="88646"/>
                    <a:pt x="11250549" y="198120"/>
                  </a:cubicBezTo>
                  <a:lnTo>
                    <a:pt x="11250549" y="2030349"/>
                  </a:lnTo>
                  <a:cubicBezTo>
                    <a:pt x="11250549" y="2139696"/>
                    <a:pt x="11161903" y="2228469"/>
                    <a:pt x="11052429" y="2228469"/>
                  </a:cubicBezTo>
                  <a:lnTo>
                    <a:pt x="198120" y="2228469"/>
                  </a:lnTo>
                  <a:cubicBezTo>
                    <a:pt x="88773" y="2228469"/>
                    <a:pt x="0" y="2139823"/>
                    <a:pt x="0" y="2030349"/>
                  </a:cubicBezTo>
                  <a:close/>
                </a:path>
              </a:pathLst>
            </a:custGeom>
            <a:solidFill>
              <a:srgbClr val="F2F2F2"/>
            </a:solidFill>
            <a:ln w="25400" cap="sq">
              <a:solidFill>
                <a:srgbClr val="F2F2F2"/>
              </a:solidFill>
              <a:prstDash val="solid"/>
              <a:miter/>
            </a:ln>
          </p:spPr>
          <p:txBody>
            <a:bodyPr/>
            <a:lstStyle/>
            <a:p>
              <a:endParaRPr lang="ko-KR" altLang="en-US"/>
            </a:p>
          </p:txBody>
        </p:sp>
      </p:grpSp>
      <p:sp>
        <p:nvSpPr>
          <p:cNvPr id="18" name="TextBox 18"/>
          <p:cNvSpPr txBox="1"/>
          <p:nvPr/>
        </p:nvSpPr>
        <p:spPr>
          <a:xfrm>
            <a:off x="9601200" y="7016877"/>
            <a:ext cx="7863840" cy="371475"/>
          </a:xfrm>
          <a:prstGeom prst="rect">
            <a:avLst/>
          </a:prstGeom>
        </p:spPr>
        <p:txBody>
          <a:bodyPr lIns="0" tIns="0" rIns="0" bIns="0" rtlCol="0" anchor="t">
            <a:spAutoFit/>
          </a:bodyPr>
          <a:lstStyle/>
          <a:p>
            <a:pPr algn="l">
              <a:lnSpc>
                <a:spcPts val="2879"/>
              </a:lnSpc>
            </a:pPr>
            <a:r>
              <a:rPr lang="en-US" sz="2400" b="1">
                <a:solidFill>
                  <a:srgbClr val="1A1A1A"/>
                </a:solidFill>
                <a:latin typeface="프리텐다드 Bold"/>
                <a:ea typeface="프리텐다드 Bold"/>
                <a:cs typeface="프리텐다드 Bold"/>
                <a:sym typeface="프리텐다드 Bold"/>
              </a:rPr>
              <a:t>라벨과 모델이 같은 규칙</a:t>
            </a:r>
          </a:p>
        </p:txBody>
      </p:sp>
      <p:sp>
        <p:nvSpPr>
          <p:cNvPr id="19" name="TextBox 19"/>
          <p:cNvSpPr txBox="1"/>
          <p:nvPr/>
        </p:nvSpPr>
        <p:spPr>
          <a:xfrm>
            <a:off x="9601200" y="7426452"/>
            <a:ext cx="7863840" cy="638175"/>
          </a:xfrm>
          <a:prstGeom prst="rect">
            <a:avLst/>
          </a:prstGeom>
        </p:spPr>
        <p:txBody>
          <a:bodyPr lIns="0" tIns="0" rIns="0" bIns="0" rtlCol="0" anchor="t">
            <a:spAutoFit/>
          </a:bodyPr>
          <a:lstStyle/>
          <a:p>
            <a:pPr algn="l">
              <a:lnSpc>
                <a:spcPts val="2520"/>
              </a:lnSpc>
            </a:pPr>
            <a:r>
              <a:rPr lang="en-US" sz="2100" dirty="0" err="1">
                <a:solidFill>
                  <a:srgbClr val="6B6B6B"/>
                </a:solidFill>
                <a:latin typeface="프리텐다드"/>
                <a:ea typeface="프리텐다드"/>
                <a:cs typeface="프리텐다드"/>
                <a:sym typeface="프리텐다드"/>
              </a:rPr>
              <a:t>운영진</a:t>
            </a:r>
            <a:r>
              <a:rPr lang="en-US" sz="2100" dirty="0">
                <a:solidFill>
                  <a:srgbClr val="6B6B6B"/>
                </a:solidFill>
                <a:latin typeface="프리텐다드"/>
                <a:ea typeface="프리텐다드"/>
                <a:cs typeface="프리텐다드"/>
                <a:sym typeface="프리텐다드"/>
              </a:rPr>
              <a:t> </a:t>
            </a:r>
            <a:r>
              <a:rPr lang="en-US" sz="2100" dirty="0" err="1">
                <a:solidFill>
                  <a:srgbClr val="6B6B6B"/>
                </a:solidFill>
                <a:latin typeface="프리텐다드"/>
                <a:ea typeface="프리텐다드"/>
                <a:cs typeface="프리텐다드"/>
                <a:sym typeface="프리텐다드"/>
              </a:rPr>
              <a:t>확정</a:t>
            </a:r>
            <a:r>
              <a:rPr lang="en-US" sz="2100" dirty="0">
                <a:solidFill>
                  <a:srgbClr val="6B6B6B"/>
                </a:solidFill>
                <a:latin typeface="프리텐다드"/>
                <a:ea typeface="프리텐다드"/>
                <a:cs typeface="프리텐다드"/>
                <a:sym typeface="프리텐다드"/>
              </a:rPr>
              <a:t> : </a:t>
            </a:r>
            <a:r>
              <a:rPr lang="en-US" sz="2100" dirty="0" err="1">
                <a:solidFill>
                  <a:srgbClr val="6B6B6B"/>
                </a:solidFill>
                <a:latin typeface="프리텐다드"/>
                <a:ea typeface="프리텐다드"/>
                <a:cs typeface="프리텐다드"/>
                <a:sym typeface="프리텐다드"/>
              </a:rPr>
              <a:t>모호한</a:t>
            </a:r>
            <a:r>
              <a:rPr lang="en-US" sz="2100" dirty="0">
                <a:solidFill>
                  <a:srgbClr val="6B6B6B"/>
                </a:solidFill>
                <a:latin typeface="프리텐다드"/>
                <a:ea typeface="프리텐다드"/>
                <a:cs typeface="프리텐다드"/>
                <a:sym typeface="프리텐다드"/>
              </a:rPr>
              <a:t> </a:t>
            </a:r>
            <a:r>
              <a:rPr lang="en-US" sz="2100" dirty="0" err="1">
                <a:solidFill>
                  <a:srgbClr val="6B6B6B"/>
                </a:solidFill>
                <a:latin typeface="프리텐다드"/>
                <a:ea typeface="프리텐다드"/>
                <a:cs typeface="프리텐다드"/>
                <a:sym typeface="프리텐다드"/>
              </a:rPr>
              <a:t>표기는</a:t>
            </a:r>
            <a:r>
              <a:rPr lang="en-US" sz="2100" dirty="0">
                <a:solidFill>
                  <a:srgbClr val="6B6B6B"/>
                </a:solidFill>
                <a:latin typeface="프리텐다드"/>
                <a:ea typeface="프리텐다드"/>
                <a:cs typeface="프리텐다드"/>
                <a:sym typeface="프리텐다드"/>
              </a:rPr>
              <a:t> </a:t>
            </a:r>
            <a:r>
              <a:rPr lang="en-US" sz="2100" dirty="0" err="1">
                <a:solidFill>
                  <a:srgbClr val="6B6B6B"/>
                </a:solidFill>
                <a:latin typeface="프리텐다드"/>
                <a:ea typeface="프리텐다드"/>
                <a:cs typeface="프리텐다드"/>
                <a:sym typeface="프리텐다드"/>
              </a:rPr>
              <a:t>팀이</a:t>
            </a:r>
            <a:r>
              <a:rPr lang="en-US" sz="2100" dirty="0">
                <a:solidFill>
                  <a:srgbClr val="6B6B6B"/>
                </a:solidFill>
                <a:latin typeface="프리텐다드"/>
                <a:ea typeface="프리텐다드"/>
                <a:cs typeface="프리텐다드"/>
                <a:sym typeface="프리텐다드"/>
              </a:rPr>
              <a:t> </a:t>
            </a:r>
            <a:r>
              <a:rPr lang="en-US" sz="2100" dirty="0" err="1">
                <a:solidFill>
                  <a:srgbClr val="6B6B6B"/>
                </a:solidFill>
                <a:latin typeface="프리텐다드"/>
                <a:ea typeface="프리텐다드"/>
                <a:cs typeface="프리텐다드"/>
                <a:sym typeface="프리텐다드"/>
              </a:rPr>
              <a:t>문서화한</a:t>
            </a:r>
            <a:r>
              <a:rPr lang="en-US" sz="2100" dirty="0">
                <a:solidFill>
                  <a:srgbClr val="6B6B6B"/>
                </a:solidFill>
                <a:latin typeface="프리텐다드"/>
                <a:ea typeface="프리텐다드"/>
                <a:cs typeface="프리텐다드"/>
                <a:sym typeface="프리텐다드"/>
              </a:rPr>
              <a:t> </a:t>
            </a:r>
            <a:r>
              <a:rPr lang="en-US" sz="2100" dirty="0" err="1">
                <a:solidFill>
                  <a:srgbClr val="6B6B6B"/>
                </a:solidFill>
                <a:latin typeface="프리텐다드"/>
                <a:ea typeface="프리텐다드"/>
                <a:cs typeface="프리텐다드"/>
                <a:sym typeface="프리텐다드"/>
              </a:rPr>
              <a:t>규칙으로</a:t>
            </a:r>
            <a:r>
              <a:rPr lang="en-US" sz="2100" dirty="0">
                <a:solidFill>
                  <a:srgbClr val="6B6B6B"/>
                </a:solidFill>
                <a:latin typeface="프리텐다드"/>
                <a:ea typeface="프리텐다드"/>
                <a:cs typeface="프리텐다드"/>
                <a:sym typeface="프리텐다드"/>
              </a:rPr>
              <a:t> </a:t>
            </a:r>
            <a:r>
              <a:rPr lang="en-US" sz="2100" dirty="0" err="1">
                <a:solidFill>
                  <a:srgbClr val="6B6B6B"/>
                </a:solidFill>
                <a:latin typeface="프리텐다드"/>
                <a:ea typeface="프리텐다드"/>
                <a:cs typeface="프리텐다드"/>
                <a:sym typeface="프리텐다드"/>
              </a:rPr>
              <a:t>채점</a:t>
            </a:r>
            <a:r>
              <a:rPr lang="en-US" sz="2100" dirty="0">
                <a:solidFill>
                  <a:srgbClr val="6B6B6B"/>
                </a:solidFill>
                <a:latin typeface="프리텐다드"/>
                <a:ea typeface="프리텐다드"/>
                <a:cs typeface="프리텐다드"/>
                <a:sym typeface="프리텐다드"/>
              </a:rPr>
              <a:t>,</a:t>
            </a:r>
          </a:p>
          <a:p>
            <a:pPr algn="l">
              <a:lnSpc>
                <a:spcPts val="2520"/>
              </a:lnSpc>
            </a:pPr>
            <a:r>
              <a:rPr lang="en-US" sz="2100" dirty="0" err="1">
                <a:solidFill>
                  <a:srgbClr val="6B6B6B"/>
                </a:solidFill>
                <a:latin typeface="프리텐다드"/>
                <a:ea typeface="프리텐다드"/>
                <a:cs typeface="프리텐다드"/>
                <a:sym typeface="프리텐다드"/>
              </a:rPr>
              <a:t>규칙</a:t>
            </a:r>
            <a:r>
              <a:rPr lang="en-US" sz="2100" dirty="0">
                <a:solidFill>
                  <a:srgbClr val="6B6B6B"/>
                </a:solidFill>
                <a:latin typeface="프리텐다드"/>
                <a:ea typeface="프리텐다드"/>
                <a:cs typeface="프리텐다드"/>
                <a:sym typeface="프리텐다드"/>
              </a:rPr>
              <a:t> </a:t>
            </a:r>
            <a:r>
              <a:rPr lang="en-US" sz="2100" dirty="0" err="1">
                <a:solidFill>
                  <a:srgbClr val="6B6B6B"/>
                </a:solidFill>
                <a:latin typeface="프리텐다드"/>
                <a:ea typeface="프리텐다드"/>
                <a:cs typeface="프리텐다드"/>
                <a:sym typeface="프리텐다드"/>
              </a:rPr>
              <a:t>문서</a:t>
            </a:r>
            <a:r>
              <a:rPr lang="en-US" sz="2100" dirty="0">
                <a:solidFill>
                  <a:srgbClr val="6B6B6B"/>
                </a:solidFill>
                <a:latin typeface="프리텐다드"/>
                <a:ea typeface="프리텐다드"/>
                <a:cs typeface="프리텐다드"/>
                <a:sym typeface="프리텐다드"/>
              </a:rPr>
              <a:t> </a:t>
            </a:r>
            <a:r>
              <a:rPr lang="en-US" sz="2100" dirty="0" err="1">
                <a:solidFill>
                  <a:srgbClr val="6B6B6B"/>
                </a:solidFill>
                <a:latin typeface="프리텐다드"/>
                <a:ea typeface="프리텐다드"/>
                <a:cs typeface="프리텐다드"/>
                <a:sym typeface="프리텐다드"/>
              </a:rPr>
              <a:t>하나를</a:t>
            </a:r>
            <a:r>
              <a:rPr lang="en-US" sz="2100" dirty="0">
                <a:solidFill>
                  <a:srgbClr val="6B6B6B"/>
                </a:solidFill>
                <a:latin typeface="프리텐다드"/>
                <a:ea typeface="프리텐다드"/>
                <a:cs typeface="프리텐다드"/>
                <a:sym typeface="프리텐다드"/>
              </a:rPr>
              <a:t> </a:t>
            </a:r>
            <a:r>
              <a:rPr lang="en-US" sz="2100" dirty="0" err="1">
                <a:solidFill>
                  <a:srgbClr val="6B6B6B"/>
                </a:solidFill>
                <a:latin typeface="프리텐다드"/>
                <a:ea typeface="프리텐다드"/>
                <a:cs typeface="프리텐다드"/>
                <a:sym typeface="프리텐다드"/>
              </a:rPr>
              <a:t>라벨링</a:t>
            </a:r>
            <a:r>
              <a:rPr lang="en-US" sz="2100" dirty="0">
                <a:solidFill>
                  <a:srgbClr val="6B6B6B"/>
                </a:solidFill>
                <a:latin typeface="프리텐다드"/>
                <a:ea typeface="프리텐다드"/>
                <a:cs typeface="프리텐다드"/>
                <a:sym typeface="프리텐다드"/>
              </a:rPr>
              <a:t> </a:t>
            </a:r>
            <a:r>
              <a:rPr lang="en-US" sz="2100" dirty="0" err="1">
                <a:solidFill>
                  <a:srgbClr val="6B6B6B"/>
                </a:solidFill>
                <a:latin typeface="프리텐다드"/>
                <a:ea typeface="프리텐다드"/>
                <a:cs typeface="프리텐다드"/>
                <a:sym typeface="프리텐다드"/>
              </a:rPr>
              <a:t>도구와</a:t>
            </a:r>
            <a:r>
              <a:rPr lang="en-US" sz="2100" dirty="0">
                <a:solidFill>
                  <a:srgbClr val="6B6B6B"/>
                </a:solidFill>
                <a:latin typeface="프리텐다드"/>
                <a:ea typeface="프리텐다드"/>
                <a:cs typeface="프리텐다드"/>
                <a:sym typeface="프리텐다드"/>
              </a:rPr>
              <a:t> </a:t>
            </a:r>
            <a:r>
              <a:rPr lang="en-US" sz="2100" dirty="0" err="1">
                <a:solidFill>
                  <a:srgbClr val="6B6B6B"/>
                </a:solidFill>
                <a:latin typeface="프리텐다드"/>
                <a:ea typeface="프리텐다드"/>
                <a:cs typeface="프리텐다드"/>
                <a:sym typeface="프리텐다드"/>
              </a:rPr>
              <a:t>파서</a:t>
            </a:r>
            <a:r>
              <a:rPr lang="en-US" sz="2100" dirty="0">
                <a:solidFill>
                  <a:srgbClr val="6B6B6B"/>
                </a:solidFill>
                <a:latin typeface="프리텐다드"/>
                <a:ea typeface="프리텐다드"/>
                <a:cs typeface="프리텐다드"/>
                <a:sym typeface="프리텐다드"/>
              </a:rPr>
              <a:t>(parser)가 </a:t>
            </a:r>
            <a:r>
              <a:rPr lang="en-US" sz="2100" dirty="0" err="1">
                <a:solidFill>
                  <a:srgbClr val="6B6B6B"/>
                </a:solidFill>
                <a:latin typeface="프리텐다드"/>
                <a:ea typeface="프리텐다드"/>
                <a:cs typeface="프리텐다드"/>
                <a:sym typeface="프리텐다드"/>
              </a:rPr>
              <a:t>공유</a:t>
            </a:r>
            <a:endParaRPr lang="en-US" sz="2100" dirty="0">
              <a:solidFill>
                <a:srgbClr val="6B6B6B"/>
              </a:solidFill>
              <a:latin typeface="프리텐다드"/>
              <a:ea typeface="프리텐다드"/>
              <a:cs typeface="프리텐다드"/>
              <a:sym typeface="프리텐다드"/>
            </a:endParaRPr>
          </a:p>
        </p:txBody>
      </p:sp>
      <p:grpSp>
        <p:nvGrpSpPr>
          <p:cNvPr id="20" name="Group 20"/>
          <p:cNvGrpSpPr/>
          <p:nvPr/>
        </p:nvGrpSpPr>
        <p:grpSpPr>
          <a:xfrm>
            <a:off x="535943" y="8674103"/>
            <a:ext cx="17216123" cy="793499"/>
            <a:chOff x="0" y="0"/>
            <a:chExt cx="22954831" cy="1057999"/>
          </a:xfrm>
        </p:grpSpPr>
        <p:sp>
          <p:nvSpPr>
            <p:cNvPr id="21" name="Freeform 21"/>
            <p:cNvSpPr/>
            <p:nvPr/>
          </p:nvSpPr>
          <p:spPr>
            <a:xfrm>
              <a:off x="0" y="0"/>
              <a:ext cx="22954869" cy="1058037"/>
            </a:xfrm>
            <a:custGeom>
              <a:avLst/>
              <a:gdLst/>
              <a:ahLst/>
              <a:cxnLst/>
              <a:rect l="l" t="t" r="r" b="b"/>
              <a:pathLst>
                <a:path w="22954869" h="1058037">
                  <a:moveTo>
                    <a:pt x="0" y="201549"/>
                  </a:moveTo>
                  <a:cubicBezTo>
                    <a:pt x="0" y="90170"/>
                    <a:pt x="90170" y="0"/>
                    <a:pt x="201549" y="0"/>
                  </a:cubicBezTo>
                  <a:lnTo>
                    <a:pt x="22753320" y="0"/>
                  </a:lnTo>
                  <a:cubicBezTo>
                    <a:pt x="22864572" y="0"/>
                    <a:pt x="22954869" y="90170"/>
                    <a:pt x="22954869" y="201549"/>
                  </a:cubicBezTo>
                  <a:lnTo>
                    <a:pt x="22954869" y="856488"/>
                  </a:lnTo>
                  <a:cubicBezTo>
                    <a:pt x="22954869" y="967740"/>
                    <a:pt x="22864699" y="1058037"/>
                    <a:pt x="22753320" y="1058037"/>
                  </a:cubicBezTo>
                  <a:lnTo>
                    <a:pt x="201549" y="1058037"/>
                  </a:lnTo>
                  <a:cubicBezTo>
                    <a:pt x="90170" y="1058037"/>
                    <a:pt x="0" y="967740"/>
                    <a:pt x="0" y="856488"/>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22" name="Group 22"/>
          <p:cNvGrpSpPr/>
          <p:nvPr/>
        </p:nvGrpSpPr>
        <p:grpSpPr>
          <a:xfrm>
            <a:off x="822960" y="8686800"/>
            <a:ext cx="16642080" cy="768096"/>
            <a:chOff x="0" y="0"/>
            <a:chExt cx="22189440" cy="1024128"/>
          </a:xfrm>
        </p:grpSpPr>
        <p:sp>
          <p:nvSpPr>
            <p:cNvPr id="23" name="Freeform 23"/>
            <p:cNvSpPr/>
            <p:nvPr/>
          </p:nvSpPr>
          <p:spPr>
            <a:xfrm>
              <a:off x="0" y="0"/>
              <a:ext cx="22189439" cy="1024128"/>
            </a:xfrm>
            <a:custGeom>
              <a:avLst/>
              <a:gdLst/>
              <a:ahLst/>
              <a:cxnLst/>
              <a:rect l="l" t="t" r="r" b="b"/>
              <a:pathLst>
                <a:path w="22189439" h="1024128">
                  <a:moveTo>
                    <a:pt x="0" y="0"/>
                  </a:moveTo>
                  <a:lnTo>
                    <a:pt x="22189439" y="0"/>
                  </a:lnTo>
                  <a:lnTo>
                    <a:pt x="22189439" y="1024128"/>
                  </a:lnTo>
                  <a:lnTo>
                    <a:pt x="0" y="1024128"/>
                  </a:lnTo>
                  <a:close/>
                </a:path>
              </a:pathLst>
            </a:custGeom>
            <a:blipFill>
              <a:blip r:embed="rId3">
                <a:alphaModFix amt="0"/>
              </a:blip>
              <a:stretch>
                <a:fillRect t="-372175" b="-372175"/>
              </a:stretch>
            </a:blipFill>
          </p:spPr>
          <p:txBody>
            <a:bodyPr/>
            <a:lstStyle/>
            <a:p>
              <a:endParaRPr lang="ko-KR" altLang="en-US"/>
            </a:p>
          </p:txBody>
        </p:sp>
        <p:sp>
          <p:nvSpPr>
            <p:cNvPr id="24" name="TextBox 24"/>
            <p:cNvSpPr txBox="1"/>
            <p:nvPr/>
          </p:nvSpPr>
          <p:spPr>
            <a:xfrm>
              <a:off x="0" y="0"/>
              <a:ext cx="22189440" cy="1024128"/>
            </a:xfrm>
            <a:prstGeom prst="rect">
              <a:avLst/>
            </a:prstGeom>
          </p:spPr>
          <p:txBody>
            <a:bodyPr lIns="0" tIns="0" rIns="0" bIns="0" rtlCol="0" anchor="ctr"/>
            <a:lstStyle/>
            <a:p>
              <a:pPr algn="ctr">
                <a:lnSpc>
                  <a:spcPts val="2999"/>
                </a:lnSpc>
              </a:pPr>
              <a:r>
                <a:rPr lang="en-US" sz="2499" dirty="0" err="1">
                  <a:solidFill>
                    <a:srgbClr val="1A1A1A"/>
                  </a:solidFill>
                  <a:latin typeface="프리텐다드"/>
                  <a:ea typeface="프리텐다드"/>
                  <a:cs typeface="프리텐다드"/>
                  <a:sym typeface="프리텐다드"/>
                </a:rPr>
                <a:t>규칙마다</a:t>
              </a:r>
              <a:r>
                <a:rPr lang="en-US" sz="2499" dirty="0">
                  <a:solidFill>
                    <a:srgbClr val="1A1A1A"/>
                  </a:solidFill>
                  <a:latin typeface="프리텐다드"/>
                  <a:ea typeface="프리텐다드"/>
                  <a:cs typeface="프리텐다드"/>
                  <a:sym typeface="프리텐다드"/>
                </a:rPr>
                <a:t> </a:t>
              </a:r>
              <a:r>
                <a:rPr lang="en-US" sz="2499" b="1" dirty="0" err="1">
                  <a:solidFill>
                    <a:srgbClr val="8B0000"/>
                  </a:solidFill>
                  <a:latin typeface="프리텐다드 Bold"/>
                  <a:ea typeface="프리텐다드 Bold"/>
                  <a:cs typeface="프리텐다드 Bold"/>
                  <a:sym typeface="프리텐다드 Bold"/>
                </a:rPr>
                <a:t>어떤</a:t>
              </a:r>
              <a:r>
                <a:rPr lang="en-US" sz="2499" b="1" dirty="0">
                  <a:solidFill>
                    <a:srgbClr val="8B0000"/>
                  </a:solidFill>
                  <a:latin typeface="프리텐다드 Bold"/>
                  <a:ea typeface="프리텐다드 Bold"/>
                  <a:cs typeface="프리텐다드 Bold"/>
                  <a:sym typeface="프리텐다드 Bold"/>
                </a:rPr>
                <a:t> </a:t>
              </a:r>
              <a:r>
                <a:rPr lang="en-US" sz="2499" b="1" dirty="0" err="1">
                  <a:solidFill>
                    <a:srgbClr val="8B0000"/>
                  </a:solidFill>
                  <a:latin typeface="프리텐다드 Bold"/>
                  <a:ea typeface="프리텐다드 Bold"/>
                  <a:cs typeface="프리텐다드 Bold"/>
                  <a:sym typeface="프리텐다드 Bold"/>
                </a:rPr>
                <a:t>오답에서</a:t>
              </a:r>
              <a:r>
                <a:rPr lang="en-US" sz="2499" b="1" dirty="0">
                  <a:solidFill>
                    <a:srgbClr val="8B0000"/>
                  </a:solidFill>
                  <a:latin typeface="프리텐다드 Bold"/>
                  <a:ea typeface="프리텐다드 Bold"/>
                  <a:cs typeface="프리텐다드 Bold"/>
                  <a:sym typeface="프리텐다드 Bold"/>
                </a:rPr>
                <a:t> </a:t>
              </a:r>
              <a:r>
                <a:rPr lang="en-US" sz="2499" b="1" dirty="0" err="1">
                  <a:solidFill>
                    <a:srgbClr val="8B0000"/>
                  </a:solidFill>
                  <a:latin typeface="프리텐다드 Bold"/>
                  <a:ea typeface="프리텐다드 Bold"/>
                  <a:cs typeface="프리텐다드 Bold"/>
                  <a:sym typeface="프리텐다드 Bold"/>
                </a:rPr>
                <a:t>나왔는지</a:t>
              </a:r>
              <a:r>
                <a:rPr lang="en-US" sz="2499" dirty="0">
                  <a:solidFill>
                    <a:srgbClr val="1A1A1A"/>
                  </a:solidFill>
                  <a:latin typeface="프리텐다드"/>
                  <a:ea typeface="프리텐다드"/>
                  <a:cs typeface="프리텐다드"/>
                  <a:sym typeface="프리텐다드"/>
                </a:rPr>
                <a:t> 와 </a:t>
              </a:r>
              <a:r>
                <a:rPr lang="en-US" sz="2499" b="1" dirty="0" err="1">
                  <a:solidFill>
                    <a:srgbClr val="8B0000"/>
                  </a:solidFill>
                  <a:latin typeface="프리텐다드 Bold"/>
                  <a:ea typeface="프리텐다드 Bold"/>
                  <a:cs typeface="프리텐다드 Bold"/>
                  <a:sym typeface="프리텐다드 Bold"/>
                </a:rPr>
                <a:t>회복·퇴보</a:t>
              </a:r>
              <a:r>
                <a:rPr lang="en-US" sz="2499" b="1" dirty="0">
                  <a:solidFill>
                    <a:srgbClr val="8B0000"/>
                  </a:solidFill>
                  <a:latin typeface="프리텐다드 Bold"/>
                  <a:ea typeface="프리텐다드 Bold"/>
                  <a:cs typeface="프리텐다드 Bold"/>
                  <a:sym typeface="프리텐다드 Bold"/>
                </a:rPr>
                <a:t> 수</a:t>
              </a:r>
              <a:r>
                <a:rPr lang="en-US" sz="2499" dirty="0">
                  <a:solidFill>
                    <a:srgbClr val="1A1A1A"/>
                  </a:solidFill>
                  <a:latin typeface="프리텐다드"/>
                  <a:ea typeface="프리텐다드"/>
                  <a:cs typeface="프리텐다드"/>
                  <a:sym typeface="프리텐다드"/>
                </a:rPr>
                <a:t> 가 </a:t>
              </a:r>
              <a:r>
                <a:rPr lang="en-US" sz="2499" dirty="0" err="1">
                  <a:solidFill>
                    <a:srgbClr val="1A1A1A"/>
                  </a:solidFill>
                  <a:latin typeface="프리텐다드"/>
                  <a:ea typeface="프리텐다드"/>
                  <a:cs typeface="프리텐다드"/>
                  <a:sym typeface="프리텐다드"/>
                </a:rPr>
                <a:t>기록</a:t>
              </a:r>
              <a:r>
                <a:rPr lang="ko-KR" altLang="en-US" sz="2499" dirty="0">
                  <a:solidFill>
                    <a:srgbClr val="1A1A1A"/>
                  </a:solidFill>
                  <a:latin typeface="프리텐다드"/>
                  <a:ea typeface="프리텐다드"/>
                  <a:cs typeface="프리텐다드"/>
                  <a:sym typeface="프리텐다드"/>
                </a:rPr>
                <a:t>되어</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있습니다</a:t>
              </a:r>
              <a:r>
                <a:rPr lang="en-US" sz="2499" dirty="0">
                  <a:solidFill>
                    <a:srgbClr val="1A1A1A"/>
                  </a:solidFill>
                  <a:latin typeface="프리텐다드"/>
                  <a:ea typeface="프리텐다드"/>
                  <a:cs typeface="프리텐다드"/>
                  <a:sym typeface="프리텐다드"/>
                </a:rPr>
                <a:t>.</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8B0000"/>
        </a:solidFill>
        <a:effectLst/>
      </p:bgPr>
    </p:bg>
    <p:spTree>
      <p:nvGrpSpPr>
        <p:cNvPr id="1" name=""/>
        <p:cNvGrpSpPr/>
        <p:nvPr/>
      </p:nvGrpSpPr>
      <p:grpSpPr>
        <a:xfrm>
          <a:off x="0" y="0"/>
          <a:ext cx="0" cy="0"/>
          <a:chOff x="0" y="0"/>
          <a:chExt cx="0" cy="0"/>
        </a:xfrm>
      </p:grpSpPr>
      <p:grpSp>
        <p:nvGrpSpPr>
          <p:cNvPr id="2" name="Group 2"/>
          <p:cNvGrpSpPr/>
          <p:nvPr/>
        </p:nvGrpSpPr>
        <p:grpSpPr>
          <a:xfrm>
            <a:off x="8481060" y="-3060905"/>
            <a:ext cx="8778240" cy="16408810"/>
            <a:chOff x="0" y="0"/>
            <a:chExt cx="11704320" cy="21878413"/>
          </a:xfrm>
        </p:grpSpPr>
        <p:sp>
          <p:nvSpPr>
            <p:cNvPr id="3" name="Freeform 3"/>
            <p:cNvSpPr/>
            <p:nvPr/>
          </p:nvSpPr>
          <p:spPr>
            <a:xfrm>
              <a:off x="0" y="0"/>
              <a:ext cx="11704320" cy="21878413"/>
            </a:xfrm>
            <a:custGeom>
              <a:avLst/>
              <a:gdLst/>
              <a:ahLst/>
              <a:cxnLst/>
              <a:rect l="l" t="t" r="r" b="b"/>
              <a:pathLst>
                <a:path w="11704320" h="21878413">
                  <a:moveTo>
                    <a:pt x="0" y="0"/>
                  </a:moveTo>
                  <a:lnTo>
                    <a:pt x="11704320" y="0"/>
                  </a:lnTo>
                  <a:lnTo>
                    <a:pt x="11704320" y="21878413"/>
                  </a:lnTo>
                  <a:lnTo>
                    <a:pt x="0" y="21878413"/>
                  </a:lnTo>
                  <a:close/>
                </a:path>
              </a:pathLst>
            </a:custGeom>
            <a:blipFill>
              <a:blip r:embed="rId3">
                <a:alphaModFix amt="0"/>
              </a:blip>
              <a:stretch>
                <a:fillRect l="-94341" r="-94341" b="39815"/>
              </a:stretch>
            </a:blipFill>
          </p:spPr>
          <p:txBody>
            <a:bodyPr/>
            <a:lstStyle/>
            <a:p>
              <a:endParaRPr lang="ko-KR" altLang="en-US"/>
            </a:p>
          </p:txBody>
        </p:sp>
        <p:sp>
          <p:nvSpPr>
            <p:cNvPr id="4" name="TextBox 4"/>
            <p:cNvSpPr txBox="1"/>
            <p:nvPr/>
          </p:nvSpPr>
          <p:spPr>
            <a:xfrm>
              <a:off x="0" y="-19050"/>
              <a:ext cx="11704320" cy="21897463"/>
            </a:xfrm>
            <a:prstGeom prst="rect">
              <a:avLst/>
            </a:prstGeom>
          </p:spPr>
          <p:txBody>
            <a:bodyPr lIns="0" tIns="0" rIns="0" bIns="0" rtlCol="0" anchor="ctr"/>
            <a:lstStyle/>
            <a:p>
              <a:pPr algn="r">
                <a:lnSpc>
                  <a:spcPts val="96000"/>
                </a:lnSpc>
              </a:pPr>
              <a:r>
                <a:rPr lang="en-US" sz="80000">
                  <a:solidFill>
                    <a:srgbClr val="FFFFFF"/>
                  </a:solidFill>
                  <a:latin typeface="프리텐다드"/>
                  <a:ea typeface="프리텐다드"/>
                  <a:cs typeface="프리텐다드"/>
                  <a:sym typeface="프리텐다드"/>
                </a:rPr>
                <a:t>4</a:t>
              </a:r>
            </a:p>
          </p:txBody>
        </p:sp>
      </p:grpSp>
      <p:grpSp>
        <p:nvGrpSpPr>
          <p:cNvPr id="5" name="Group 5"/>
          <p:cNvGrpSpPr/>
          <p:nvPr/>
        </p:nvGrpSpPr>
        <p:grpSpPr>
          <a:xfrm>
            <a:off x="1907543" y="5565143"/>
            <a:ext cx="153419" cy="939803"/>
            <a:chOff x="0" y="0"/>
            <a:chExt cx="204559" cy="1253071"/>
          </a:xfrm>
        </p:grpSpPr>
        <p:sp>
          <p:nvSpPr>
            <p:cNvPr id="6" name="Freeform 6"/>
            <p:cNvSpPr/>
            <p:nvPr/>
          </p:nvSpPr>
          <p:spPr>
            <a:xfrm>
              <a:off x="0" y="0"/>
              <a:ext cx="204597" cy="1253109"/>
            </a:xfrm>
            <a:custGeom>
              <a:avLst/>
              <a:gdLst/>
              <a:ahLst/>
              <a:cxnLst/>
              <a:rect l="l" t="t" r="r" b="b"/>
              <a:pathLst>
                <a:path w="204597" h="1253109">
                  <a:moveTo>
                    <a:pt x="0" y="0"/>
                  </a:moveTo>
                  <a:lnTo>
                    <a:pt x="204597" y="0"/>
                  </a:lnTo>
                  <a:lnTo>
                    <a:pt x="204597" y="1253109"/>
                  </a:lnTo>
                  <a:lnTo>
                    <a:pt x="0" y="1253109"/>
                  </a:lnTo>
                  <a:close/>
                </a:path>
              </a:pathLst>
            </a:custGeom>
            <a:solidFill>
              <a:srgbClr val="FFFFFF"/>
            </a:solidFill>
            <a:ln w="25400" cap="sq">
              <a:solidFill>
                <a:srgbClr val="FFFFFF"/>
              </a:solidFill>
              <a:prstDash val="solid"/>
              <a:miter/>
            </a:ln>
          </p:spPr>
          <p:txBody>
            <a:bodyPr/>
            <a:lstStyle/>
            <a:p>
              <a:endParaRPr lang="ko-KR" altLang="en-US"/>
            </a:p>
          </p:txBody>
        </p:sp>
      </p:grpSp>
      <p:grpSp>
        <p:nvGrpSpPr>
          <p:cNvPr id="7" name="Group 7"/>
          <p:cNvGrpSpPr/>
          <p:nvPr/>
        </p:nvGrpSpPr>
        <p:grpSpPr>
          <a:xfrm>
            <a:off x="2453640" y="5449824"/>
            <a:ext cx="9144000" cy="1188720"/>
            <a:chOff x="0" y="0"/>
            <a:chExt cx="12192000" cy="1584960"/>
          </a:xfrm>
        </p:grpSpPr>
        <p:sp>
          <p:nvSpPr>
            <p:cNvPr id="8" name="Freeform 8"/>
            <p:cNvSpPr/>
            <p:nvPr/>
          </p:nvSpPr>
          <p:spPr>
            <a:xfrm>
              <a:off x="0" y="0"/>
              <a:ext cx="12192000" cy="1584960"/>
            </a:xfrm>
            <a:custGeom>
              <a:avLst/>
              <a:gdLst/>
              <a:ahLst/>
              <a:cxnLst/>
              <a:rect l="l" t="t" r="r" b="b"/>
              <a:pathLst>
                <a:path w="12192000" h="1584960">
                  <a:moveTo>
                    <a:pt x="0" y="0"/>
                  </a:moveTo>
                  <a:lnTo>
                    <a:pt x="12192000" y="0"/>
                  </a:lnTo>
                  <a:lnTo>
                    <a:pt x="12192000" y="1584960"/>
                  </a:lnTo>
                  <a:lnTo>
                    <a:pt x="0" y="1584960"/>
                  </a:lnTo>
                  <a:close/>
                </a:path>
              </a:pathLst>
            </a:custGeom>
            <a:blipFill>
              <a:blip r:embed="rId3">
                <a:alphaModFix amt="0"/>
              </a:blip>
              <a:stretch>
                <a:fillRect t="-99884" b="-99884"/>
              </a:stretch>
            </a:blipFill>
          </p:spPr>
          <p:txBody>
            <a:bodyPr/>
            <a:lstStyle/>
            <a:p>
              <a:endParaRPr lang="ko-KR" altLang="en-US"/>
            </a:p>
          </p:txBody>
        </p:sp>
        <p:sp>
          <p:nvSpPr>
            <p:cNvPr id="9" name="TextBox 9"/>
            <p:cNvSpPr txBox="1"/>
            <p:nvPr/>
          </p:nvSpPr>
          <p:spPr>
            <a:xfrm>
              <a:off x="0" y="-9525"/>
              <a:ext cx="12192000" cy="1594485"/>
            </a:xfrm>
            <a:prstGeom prst="rect">
              <a:avLst/>
            </a:prstGeom>
          </p:spPr>
          <p:txBody>
            <a:bodyPr lIns="0" tIns="0" rIns="0" bIns="0" rtlCol="0" anchor="ctr"/>
            <a:lstStyle/>
            <a:p>
              <a:pPr algn="l">
                <a:lnSpc>
                  <a:spcPts val="6720"/>
                </a:lnSpc>
              </a:pPr>
              <a:r>
                <a:rPr lang="en-US" sz="5600" b="1" dirty="0" err="1">
                  <a:solidFill>
                    <a:srgbClr val="FFFFFF"/>
                  </a:solidFill>
                  <a:latin typeface="프리텐다드 Ultra-Bold"/>
                  <a:ea typeface="프리텐다드 Ultra-Bold"/>
                  <a:cs typeface="프리텐다드 Ultra-Bold"/>
                  <a:sym typeface="프리텐다드 Ultra-Bold"/>
                </a:rPr>
                <a:t>성능과</a:t>
              </a:r>
              <a:r>
                <a:rPr lang="en-US" sz="5600" b="1" dirty="0">
                  <a:solidFill>
                    <a:srgbClr val="FFFFFF"/>
                  </a:solidFill>
                  <a:latin typeface="프리텐다드 Ultra-Bold"/>
                  <a:ea typeface="프리텐다드 Ultra-Bold"/>
                  <a:cs typeface="프리텐다드 Ultra-Bold"/>
                  <a:sym typeface="프리텐다드 Ultra-Bold"/>
                </a:rPr>
                <a:t> </a:t>
              </a:r>
              <a:r>
                <a:rPr lang="en-US" sz="5600" b="1" dirty="0" err="1">
                  <a:solidFill>
                    <a:srgbClr val="FFFFFF"/>
                  </a:solidFill>
                  <a:latin typeface="프리텐다드 Ultra-Bold"/>
                  <a:ea typeface="프리텐다드 Ultra-Bold"/>
                  <a:cs typeface="프리텐다드 Ultra-Bold"/>
                  <a:sym typeface="프리텐다드 Ultra-Bold"/>
                </a:rPr>
                <a:t>속도</a:t>
              </a:r>
              <a:r>
                <a:rPr lang="en-US" sz="5600" b="1" dirty="0">
                  <a:solidFill>
                    <a:srgbClr val="FFFFFF"/>
                  </a:solidFill>
                  <a:latin typeface="프리텐다드 Ultra-Bold"/>
                  <a:ea typeface="프리텐다드 Ultra-Bold"/>
                  <a:cs typeface="프리텐다드 Ultra-Bold"/>
                  <a:sym typeface="프리텐다드 Ultra-Bold"/>
                </a:rPr>
                <a:t> </a:t>
              </a:r>
              <a:r>
                <a:rPr lang="en-US" sz="5600" b="1" dirty="0" err="1">
                  <a:solidFill>
                    <a:srgbClr val="FFFFFF"/>
                  </a:solidFill>
                  <a:latin typeface="프리텐다드 Ultra-Bold"/>
                  <a:ea typeface="프리텐다드 Ultra-Bold"/>
                  <a:cs typeface="프리텐다드 Ultra-Bold"/>
                  <a:sym typeface="프리텐다드 Ultra-Bold"/>
                </a:rPr>
                <a:t>검증</a:t>
              </a:r>
              <a:endParaRPr lang="en-US" sz="5600" b="1" dirty="0">
                <a:solidFill>
                  <a:srgbClr val="FFFFFF"/>
                </a:solidFill>
                <a:latin typeface="프리텐다드 Ultra-Bold"/>
                <a:ea typeface="프리텐다드 Ultra-Bold"/>
                <a:cs typeface="프리텐다드 Ultra-Bold"/>
                <a:sym typeface="프리텐다드 Ultra-Bold"/>
              </a:endParaRPr>
            </a:p>
          </p:txBody>
        </p:sp>
      </p:grpSp>
      <p:grpSp>
        <p:nvGrpSpPr>
          <p:cNvPr id="10" name="Group 10"/>
          <p:cNvGrpSpPr/>
          <p:nvPr/>
        </p:nvGrpSpPr>
        <p:grpSpPr>
          <a:xfrm>
            <a:off x="2453640" y="6504946"/>
            <a:ext cx="9509760" cy="731520"/>
            <a:chOff x="0" y="0"/>
            <a:chExt cx="12679680" cy="975360"/>
          </a:xfrm>
        </p:grpSpPr>
        <p:sp>
          <p:nvSpPr>
            <p:cNvPr id="11" name="Freeform 11"/>
            <p:cNvSpPr/>
            <p:nvPr/>
          </p:nvSpPr>
          <p:spPr>
            <a:xfrm>
              <a:off x="0" y="0"/>
              <a:ext cx="12679680" cy="975360"/>
            </a:xfrm>
            <a:custGeom>
              <a:avLst/>
              <a:gdLst/>
              <a:ahLst/>
              <a:cxnLst/>
              <a:rect l="l" t="t" r="r" b="b"/>
              <a:pathLst>
                <a:path w="12679680" h="975360">
                  <a:moveTo>
                    <a:pt x="0" y="0"/>
                  </a:moveTo>
                  <a:lnTo>
                    <a:pt x="12679680" y="0"/>
                  </a:lnTo>
                  <a:lnTo>
                    <a:pt x="12679680" y="975360"/>
                  </a:lnTo>
                  <a:lnTo>
                    <a:pt x="0" y="975360"/>
                  </a:lnTo>
                  <a:close/>
                </a:path>
              </a:pathLst>
            </a:custGeom>
            <a:blipFill>
              <a:blip r:embed="rId3">
                <a:alphaModFix amt="0"/>
              </a:blip>
              <a:stretch>
                <a:fillRect t="-203305" b="-203305"/>
              </a:stretch>
            </a:blipFill>
          </p:spPr>
          <p:txBody>
            <a:bodyPr/>
            <a:lstStyle/>
            <a:p>
              <a:endParaRPr lang="ko-KR" altLang="en-US"/>
            </a:p>
          </p:txBody>
        </p:sp>
        <p:sp>
          <p:nvSpPr>
            <p:cNvPr id="12" name="TextBox 12"/>
            <p:cNvSpPr txBox="1"/>
            <p:nvPr/>
          </p:nvSpPr>
          <p:spPr>
            <a:xfrm>
              <a:off x="0" y="-9525"/>
              <a:ext cx="12679680" cy="984885"/>
            </a:xfrm>
            <a:prstGeom prst="rect">
              <a:avLst/>
            </a:prstGeom>
          </p:spPr>
          <p:txBody>
            <a:bodyPr lIns="0" tIns="0" rIns="0" bIns="0" rtlCol="0" anchor="ctr"/>
            <a:lstStyle/>
            <a:p>
              <a:pPr algn="l">
                <a:lnSpc>
                  <a:spcPts val="2879"/>
                </a:lnSpc>
              </a:pPr>
              <a:r>
                <a:rPr lang="en-US" sz="2400" b="1">
                  <a:solidFill>
                    <a:srgbClr val="FFFFFF"/>
                  </a:solidFill>
                  <a:latin typeface="프리텐다드 Bold"/>
                  <a:ea typeface="프리텐다드 Bold"/>
                  <a:cs typeface="프리텐다드 Bold"/>
                  <a:sym typeface="프리텐다드 Bold"/>
                </a:rPr>
                <a:t>무엇을 채택하고 무엇을 버렸는가</a:t>
              </a:r>
            </a:p>
          </p:txBody>
        </p:sp>
      </p:grpSp>
      <p:grpSp>
        <p:nvGrpSpPr>
          <p:cNvPr id="13" name="Group 13"/>
          <p:cNvGrpSpPr/>
          <p:nvPr/>
        </p:nvGrpSpPr>
        <p:grpSpPr>
          <a:xfrm>
            <a:off x="17007840" y="219456"/>
            <a:ext cx="914400" cy="457200"/>
            <a:chOff x="0" y="0"/>
            <a:chExt cx="1219200" cy="609600"/>
          </a:xfrm>
        </p:grpSpPr>
        <p:sp>
          <p:nvSpPr>
            <p:cNvPr id="14" name="Freeform 14"/>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15" name="TextBox 15"/>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FFFFFF"/>
                  </a:solidFill>
                  <a:latin typeface="프리텐다드"/>
                  <a:ea typeface="프리텐다드"/>
                  <a:cs typeface="프리텐다드"/>
                  <a:sym typeface="프리텐다드"/>
                </a:rPr>
                <a:t>10</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5943" y="535943"/>
            <a:ext cx="153419" cy="756923"/>
            <a:chOff x="0" y="0"/>
            <a:chExt cx="204559" cy="1009231"/>
          </a:xfrm>
        </p:grpSpPr>
        <p:sp>
          <p:nvSpPr>
            <p:cNvPr id="3" name="Freeform 3"/>
            <p:cNvSpPr/>
            <p:nvPr/>
          </p:nvSpPr>
          <p:spPr>
            <a:xfrm>
              <a:off x="0" y="0"/>
              <a:ext cx="204597" cy="1009269"/>
            </a:xfrm>
            <a:custGeom>
              <a:avLst/>
              <a:gdLst/>
              <a:ahLst/>
              <a:cxnLst/>
              <a:rect l="l" t="t" r="r" b="b"/>
              <a:pathLst>
                <a:path w="204597" h="1009269">
                  <a:moveTo>
                    <a:pt x="0" y="0"/>
                  </a:moveTo>
                  <a:lnTo>
                    <a:pt x="204597" y="0"/>
                  </a:lnTo>
                  <a:lnTo>
                    <a:pt x="204597" y="1009269"/>
                  </a:lnTo>
                  <a:lnTo>
                    <a:pt x="0" y="1009269"/>
                  </a:ln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4" name="Group 4"/>
          <p:cNvGrpSpPr/>
          <p:nvPr/>
        </p:nvGrpSpPr>
        <p:grpSpPr>
          <a:xfrm>
            <a:off x="822960" y="457200"/>
            <a:ext cx="15910560" cy="914400"/>
            <a:chOff x="0" y="0"/>
            <a:chExt cx="21214080" cy="1219200"/>
          </a:xfrm>
        </p:grpSpPr>
        <p:sp>
          <p:nvSpPr>
            <p:cNvPr id="5" name="Freeform 5"/>
            <p:cNvSpPr/>
            <p:nvPr/>
          </p:nvSpPr>
          <p:spPr>
            <a:xfrm>
              <a:off x="0" y="0"/>
              <a:ext cx="21214080" cy="1219200"/>
            </a:xfrm>
            <a:custGeom>
              <a:avLst/>
              <a:gdLst/>
              <a:ahLst/>
              <a:cxnLst/>
              <a:rect l="l" t="t" r="r" b="b"/>
              <a:pathLst>
                <a:path w="21214080" h="1219200">
                  <a:moveTo>
                    <a:pt x="0" y="0"/>
                  </a:moveTo>
                  <a:lnTo>
                    <a:pt x="21214080" y="0"/>
                  </a:lnTo>
                  <a:lnTo>
                    <a:pt x="21214080" y="1219200"/>
                  </a:lnTo>
                  <a:lnTo>
                    <a:pt x="0" y="1219200"/>
                  </a:lnTo>
                  <a:close/>
                </a:path>
              </a:pathLst>
            </a:custGeom>
            <a:blipFill>
              <a:blip r:embed="rId3">
                <a:alphaModFix amt="0"/>
              </a:blip>
              <a:stretch>
                <a:fillRect t="-289039" b="-289039"/>
              </a:stretch>
            </a:blipFill>
          </p:spPr>
          <p:txBody>
            <a:bodyPr/>
            <a:lstStyle/>
            <a:p>
              <a:endParaRPr lang="ko-KR" altLang="en-US"/>
            </a:p>
          </p:txBody>
        </p:sp>
        <p:sp>
          <p:nvSpPr>
            <p:cNvPr id="6" name="TextBox 6"/>
            <p:cNvSpPr txBox="1"/>
            <p:nvPr/>
          </p:nvSpPr>
          <p:spPr>
            <a:xfrm>
              <a:off x="0" y="0"/>
              <a:ext cx="21214080" cy="1219200"/>
            </a:xfrm>
            <a:prstGeom prst="rect">
              <a:avLst/>
            </a:prstGeom>
          </p:spPr>
          <p:txBody>
            <a:bodyPr lIns="0" tIns="0" rIns="0" bIns="0" rtlCol="0" anchor="ctr"/>
            <a:lstStyle/>
            <a:p>
              <a:pPr algn="l">
                <a:lnSpc>
                  <a:spcPts val="4560"/>
                </a:lnSpc>
              </a:pPr>
              <a:r>
                <a:rPr lang="en-US" sz="3800" b="1">
                  <a:solidFill>
                    <a:srgbClr val="1A1A1A"/>
                  </a:solidFill>
                  <a:latin typeface="프리텐다드 Bold"/>
                  <a:ea typeface="프리텐다드 Bold"/>
                  <a:cs typeface="프리텐다드 Bold"/>
                  <a:sym typeface="프리텐다드 Bold"/>
                </a:rPr>
                <a:t>정확도 : </a:t>
              </a:r>
              <a:r>
                <a:rPr lang="en-US" sz="3800" b="1">
                  <a:solidFill>
                    <a:srgbClr val="8B0000"/>
                  </a:solidFill>
                  <a:latin typeface="프리텐다드 Bold"/>
                  <a:ea typeface="프리텐다드 Bold"/>
                  <a:cs typeface="프리텐다드 Bold"/>
                  <a:sym typeface="프리텐다드 Bold"/>
                </a:rPr>
                <a:t>봉인 500장 86.2%, 필드 평균 90.8%</a:t>
              </a:r>
            </a:p>
          </p:txBody>
        </p:sp>
      </p:grpSp>
      <p:sp>
        <p:nvSpPr>
          <p:cNvPr id="7" name="AutoShape 7"/>
          <p:cNvSpPr/>
          <p:nvPr/>
        </p:nvSpPr>
        <p:spPr>
          <a:xfrm rot="3780">
            <a:off x="539105" y="1494854"/>
            <a:ext cx="17209780" cy="0"/>
          </a:xfrm>
          <a:prstGeom prst="line">
            <a:avLst/>
          </a:prstGeom>
          <a:ln w="9525" cap="rnd">
            <a:solidFill>
              <a:srgbClr val="BFBFBF"/>
            </a:solidFill>
            <a:prstDash val="solid"/>
            <a:headEnd type="none" w="sm" len="sm"/>
            <a:tailEnd type="none" w="sm" len="sm"/>
          </a:ln>
        </p:spPr>
        <p:txBody>
          <a:bodyPr/>
          <a:lstStyle/>
          <a:p>
            <a:endParaRPr lang="ko-KR" altLang="en-US"/>
          </a:p>
        </p:txBody>
      </p:sp>
      <p:grpSp>
        <p:nvGrpSpPr>
          <p:cNvPr id="8" name="Group 8"/>
          <p:cNvGrpSpPr/>
          <p:nvPr/>
        </p:nvGrpSpPr>
        <p:grpSpPr>
          <a:xfrm>
            <a:off x="17007840" y="219456"/>
            <a:ext cx="914400" cy="457200"/>
            <a:chOff x="0" y="0"/>
            <a:chExt cx="1219200" cy="609600"/>
          </a:xfrm>
        </p:grpSpPr>
        <p:sp>
          <p:nvSpPr>
            <p:cNvPr id="9" name="Freeform 9"/>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10" name="TextBox 10"/>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1A1A1A"/>
                  </a:solidFill>
                  <a:latin typeface="프리텐다드"/>
                  <a:ea typeface="프리텐다드"/>
                  <a:cs typeface="프리텐다드"/>
                  <a:sym typeface="프리텐다드"/>
                </a:rPr>
                <a:t>11</a:t>
              </a:r>
            </a:p>
          </p:txBody>
        </p:sp>
      </p:grpSp>
      <p:pic>
        <p:nvPicPr>
          <p:cNvPr id="11" name="Picture 11"/>
          <p:cNvPicPr>
            <a:picLocks noChangeAspect="1"/>
          </p:cNvPicPr>
          <p:nvPr/>
        </p:nvPicPr>
        <p:blipFill>
          <a:blip r:embed="rId4"/>
          <a:stretch>
            <a:fillRect/>
          </a:stretch>
        </p:blipFill>
        <p:spPr>
          <a:xfrm>
            <a:off x="73670" y="655090"/>
            <a:ext cx="12712920" cy="8156377"/>
          </a:xfrm>
          <a:prstGeom prst="rect">
            <a:avLst/>
          </a:prstGeom>
        </p:spPr>
      </p:pic>
      <p:sp>
        <p:nvSpPr>
          <p:cNvPr id="12" name="TextBox 12"/>
          <p:cNvSpPr txBox="1"/>
          <p:nvPr/>
        </p:nvSpPr>
        <p:spPr>
          <a:xfrm>
            <a:off x="1028700" y="8203555"/>
            <a:ext cx="10972800" cy="512961"/>
          </a:xfrm>
          <a:prstGeom prst="rect">
            <a:avLst/>
          </a:prstGeom>
        </p:spPr>
        <p:txBody>
          <a:bodyPr lIns="0" tIns="0" rIns="0" bIns="0" rtlCol="0" anchor="t">
            <a:spAutoFit/>
          </a:bodyPr>
          <a:lstStyle/>
          <a:p>
            <a:pPr algn="l">
              <a:lnSpc>
                <a:spcPts val="2040"/>
              </a:lnSpc>
            </a:pPr>
            <a:r>
              <a:rPr lang="en-US" sz="1700" dirty="0">
                <a:solidFill>
                  <a:srgbClr val="6B6B6B"/>
                </a:solidFill>
                <a:latin typeface="프리텐다드"/>
                <a:ea typeface="프리텐다드"/>
                <a:cs typeface="프리텐다드"/>
                <a:sym typeface="프리텐다드"/>
              </a:rPr>
              <a:t>※ </a:t>
            </a:r>
            <a:r>
              <a:rPr lang="en-US" sz="1700" dirty="0" err="1">
                <a:solidFill>
                  <a:srgbClr val="6B6B6B"/>
                </a:solidFill>
                <a:latin typeface="프리텐다드"/>
                <a:ea typeface="프리텐다드"/>
                <a:cs typeface="프리텐다드"/>
                <a:sym typeface="프리텐다드"/>
              </a:rPr>
              <a:t>앞</a:t>
            </a:r>
            <a:r>
              <a:rPr lang="en-US" sz="1700" dirty="0">
                <a:solidFill>
                  <a:srgbClr val="6B6B6B"/>
                </a:solidFill>
                <a:latin typeface="프리텐다드"/>
                <a:ea typeface="프리텐다드"/>
                <a:cs typeface="프리텐다드"/>
                <a:sym typeface="프리텐다드"/>
              </a:rPr>
              <a:t> </a:t>
            </a:r>
            <a:r>
              <a:rPr lang="en-US" sz="1700" dirty="0" err="1">
                <a:solidFill>
                  <a:srgbClr val="6B6B6B"/>
                </a:solidFill>
                <a:latin typeface="프리텐다드"/>
                <a:ea typeface="프리텐다드"/>
                <a:cs typeface="프리텐다드"/>
                <a:sym typeface="프리텐다드"/>
              </a:rPr>
              <a:t>세</a:t>
            </a:r>
            <a:r>
              <a:rPr lang="en-US" sz="1700" dirty="0">
                <a:solidFill>
                  <a:srgbClr val="6B6B6B"/>
                </a:solidFill>
                <a:latin typeface="프리텐다드"/>
                <a:ea typeface="프리텐다드"/>
                <a:cs typeface="프리텐다드"/>
                <a:sym typeface="프리텐다드"/>
              </a:rPr>
              <a:t> </a:t>
            </a:r>
            <a:r>
              <a:rPr lang="en-US" sz="1700" dirty="0" err="1">
                <a:solidFill>
                  <a:srgbClr val="6B6B6B"/>
                </a:solidFill>
                <a:latin typeface="프리텐다드"/>
                <a:ea typeface="프리텐다드"/>
                <a:cs typeface="프리텐다드"/>
                <a:sym typeface="프리텐다드"/>
              </a:rPr>
              <a:t>단계는</a:t>
            </a:r>
            <a:r>
              <a:rPr lang="en-US" sz="1700" dirty="0">
                <a:solidFill>
                  <a:srgbClr val="6B6B6B"/>
                </a:solidFill>
                <a:latin typeface="프리텐다드"/>
                <a:ea typeface="프리텐다드"/>
                <a:cs typeface="프리텐다드"/>
                <a:sym typeface="프리텐다드"/>
              </a:rPr>
              <a:t> </a:t>
            </a:r>
            <a:r>
              <a:rPr lang="en-US" sz="1700" dirty="0" err="1">
                <a:solidFill>
                  <a:srgbClr val="6B6B6B"/>
                </a:solidFill>
                <a:latin typeface="프리텐다드"/>
                <a:ea typeface="프리텐다드"/>
                <a:cs typeface="프리텐다드"/>
                <a:sym typeface="프리텐다드"/>
              </a:rPr>
              <a:t>개발용</a:t>
            </a:r>
            <a:r>
              <a:rPr lang="en-US" sz="1700" dirty="0">
                <a:solidFill>
                  <a:srgbClr val="6B6B6B"/>
                </a:solidFill>
                <a:latin typeface="프리텐다드"/>
                <a:ea typeface="프리텐다드"/>
                <a:cs typeface="프리텐다드"/>
                <a:sym typeface="프리텐다드"/>
              </a:rPr>
              <a:t> 133장, </a:t>
            </a:r>
            <a:r>
              <a:rPr lang="en-US" sz="1700" dirty="0" err="1">
                <a:solidFill>
                  <a:srgbClr val="6B6B6B"/>
                </a:solidFill>
                <a:latin typeface="프리텐다드"/>
                <a:ea typeface="프리텐다드"/>
                <a:cs typeface="프리텐다드"/>
                <a:sym typeface="프리텐다드"/>
              </a:rPr>
              <a:t>이후는</a:t>
            </a:r>
            <a:r>
              <a:rPr lang="en-US" sz="1700" dirty="0">
                <a:solidFill>
                  <a:srgbClr val="6B6B6B"/>
                </a:solidFill>
                <a:latin typeface="프리텐다드"/>
                <a:ea typeface="프리텐다드"/>
                <a:cs typeface="프리텐다드"/>
                <a:sym typeface="프리텐다드"/>
              </a:rPr>
              <a:t> 500장 </a:t>
            </a:r>
            <a:r>
              <a:rPr lang="en-US" sz="1700" dirty="0" err="1">
                <a:solidFill>
                  <a:srgbClr val="6B6B6B"/>
                </a:solidFill>
                <a:latin typeface="프리텐다드"/>
                <a:ea typeface="프리텐다드"/>
                <a:cs typeface="프리텐다드"/>
                <a:sym typeface="프리텐다드"/>
              </a:rPr>
              <a:t>기준</a:t>
            </a:r>
            <a:endParaRPr lang="en-US" sz="1700" dirty="0">
              <a:solidFill>
                <a:srgbClr val="6B6B6B"/>
              </a:solidFill>
              <a:latin typeface="프리텐다드"/>
              <a:ea typeface="프리텐다드"/>
              <a:cs typeface="프리텐다드"/>
              <a:sym typeface="프리텐다드"/>
            </a:endParaRPr>
          </a:p>
          <a:p>
            <a:pPr>
              <a:lnSpc>
                <a:spcPts val="2040"/>
              </a:lnSpc>
            </a:pPr>
            <a:r>
              <a:rPr lang="en-US" sz="1700" dirty="0">
                <a:solidFill>
                  <a:srgbClr val="6B6B6B"/>
                </a:solidFill>
                <a:latin typeface="프리텐다드"/>
                <a:ea typeface="프리텐다드"/>
                <a:cs typeface="프리텐다드"/>
                <a:sym typeface="프리텐다드"/>
              </a:rPr>
              <a:t>※</a:t>
            </a:r>
            <a:r>
              <a:rPr lang="ko-KR" altLang="en-US" sz="1700" dirty="0">
                <a:solidFill>
                  <a:srgbClr val="6B6B6B"/>
                </a:solidFill>
                <a:latin typeface="프리텐다드"/>
                <a:ea typeface="프리텐다드"/>
                <a:cs typeface="프리텐다드"/>
                <a:sym typeface="프리텐다드"/>
              </a:rPr>
              <a:t> </a:t>
            </a:r>
            <a:r>
              <a:rPr lang="en-US" altLang="ko-KR" sz="1700" dirty="0">
                <a:solidFill>
                  <a:srgbClr val="6B6B6B"/>
                </a:solidFill>
                <a:latin typeface="프리텐다드"/>
                <a:ea typeface="프리텐다드"/>
                <a:cs typeface="프리텐다드"/>
                <a:sym typeface="프리텐다드"/>
              </a:rPr>
              <a:t>11</a:t>
            </a:r>
            <a:r>
              <a:rPr lang="ko-KR" altLang="en-US" sz="1700" dirty="0">
                <a:solidFill>
                  <a:srgbClr val="6B6B6B"/>
                </a:solidFill>
                <a:latin typeface="프리텐다드"/>
                <a:ea typeface="프리텐다드"/>
                <a:cs typeface="프리텐다드"/>
                <a:sym typeface="프리텐다드"/>
              </a:rPr>
              <a:t>번 차트의 </a:t>
            </a:r>
            <a:r>
              <a:rPr lang="en-US" altLang="ko-KR" sz="1700" dirty="0">
                <a:solidFill>
                  <a:srgbClr val="6B6B6B"/>
                </a:solidFill>
                <a:latin typeface="프리텐다드"/>
                <a:ea typeface="프리텐다드"/>
                <a:cs typeface="프리텐다드"/>
                <a:sym typeface="프리텐다드"/>
              </a:rPr>
              <a:t>71.2%</a:t>
            </a:r>
            <a:r>
              <a:rPr lang="ko-KR" altLang="en-US" sz="1700" dirty="0">
                <a:solidFill>
                  <a:srgbClr val="6B6B6B"/>
                </a:solidFill>
                <a:latin typeface="프리텐다드"/>
                <a:ea typeface="프리텐다드"/>
                <a:cs typeface="프리텐다드"/>
                <a:sym typeface="프리텐다드"/>
              </a:rPr>
              <a:t>는 본선 </a:t>
            </a:r>
            <a:r>
              <a:rPr lang="ko-KR" altLang="en-US" sz="1700" dirty="0" err="1">
                <a:solidFill>
                  <a:srgbClr val="6B6B6B"/>
                </a:solidFill>
                <a:latin typeface="프리텐다드"/>
                <a:ea typeface="프리텐다드"/>
                <a:cs typeface="프리텐다드"/>
                <a:sym typeface="프리텐다드"/>
              </a:rPr>
              <a:t>측정셋</a:t>
            </a:r>
            <a:r>
              <a:rPr lang="en-US" altLang="ko-KR" sz="1700" dirty="0">
                <a:solidFill>
                  <a:srgbClr val="6B6B6B"/>
                </a:solidFill>
                <a:latin typeface="프리텐다드"/>
                <a:ea typeface="프리텐다드"/>
                <a:cs typeface="프리텐다드"/>
                <a:sym typeface="프리텐다드"/>
              </a:rPr>
              <a:t>(500</a:t>
            </a:r>
            <a:r>
              <a:rPr lang="ko-KR" altLang="en-US" sz="1700" dirty="0">
                <a:solidFill>
                  <a:srgbClr val="6B6B6B"/>
                </a:solidFill>
                <a:latin typeface="프리텐다드"/>
                <a:ea typeface="프리텐다드"/>
                <a:cs typeface="프리텐다드"/>
                <a:sym typeface="프리텐다드"/>
              </a:rPr>
              <a:t>장</a:t>
            </a:r>
            <a:r>
              <a:rPr lang="en-US" altLang="ko-KR" sz="1700" dirty="0">
                <a:solidFill>
                  <a:srgbClr val="6B6B6B"/>
                </a:solidFill>
                <a:latin typeface="프리텐다드"/>
                <a:ea typeface="프리텐다드"/>
                <a:cs typeface="프리텐다드"/>
                <a:sym typeface="프리텐다드"/>
              </a:rPr>
              <a:t>)</a:t>
            </a:r>
            <a:r>
              <a:rPr lang="ko-KR" altLang="en-US" sz="1700" dirty="0">
                <a:solidFill>
                  <a:srgbClr val="6B6B6B"/>
                </a:solidFill>
                <a:latin typeface="프리텐다드"/>
                <a:ea typeface="프리텐다드"/>
                <a:cs typeface="프리텐다드"/>
                <a:sym typeface="프리텐다드"/>
              </a:rPr>
              <a:t> 기준</a:t>
            </a:r>
            <a:r>
              <a:rPr lang="en-US" altLang="ko-KR" sz="1700" dirty="0">
                <a:solidFill>
                  <a:srgbClr val="6B6B6B"/>
                </a:solidFill>
                <a:latin typeface="프리텐다드"/>
                <a:ea typeface="프리텐다드"/>
                <a:cs typeface="프리텐다드"/>
                <a:sym typeface="프리텐다드"/>
              </a:rPr>
              <a:t>,</a:t>
            </a:r>
            <a:r>
              <a:rPr lang="ko-KR" altLang="en-US" sz="1700" dirty="0">
                <a:solidFill>
                  <a:srgbClr val="6B6B6B"/>
                </a:solidFill>
                <a:latin typeface="프리텐다드"/>
                <a:ea typeface="프리텐다드"/>
                <a:cs typeface="프리텐다드"/>
                <a:sym typeface="프리텐다드"/>
              </a:rPr>
              <a:t> </a:t>
            </a:r>
            <a:r>
              <a:rPr lang="en-US" altLang="ko-KR" sz="1700" dirty="0">
                <a:solidFill>
                  <a:srgbClr val="6B6B6B"/>
                </a:solidFill>
                <a:latin typeface="프리텐다드"/>
                <a:ea typeface="프리텐다드"/>
                <a:cs typeface="프리텐다드"/>
                <a:sym typeface="프리텐다드"/>
              </a:rPr>
              <a:t>12</a:t>
            </a:r>
            <a:r>
              <a:rPr lang="ko-KR" altLang="en-US" sz="1700" dirty="0">
                <a:solidFill>
                  <a:srgbClr val="6B6B6B"/>
                </a:solidFill>
                <a:latin typeface="프리텐다드"/>
                <a:ea typeface="프리텐다드"/>
                <a:cs typeface="프리텐다드"/>
                <a:sym typeface="프리텐다드"/>
              </a:rPr>
              <a:t>번 표의 </a:t>
            </a:r>
            <a:r>
              <a:rPr lang="en-US" altLang="ko-KR" sz="1700" dirty="0">
                <a:solidFill>
                  <a:srgbClr val="6B6B6B"/>
                </a:solidFill>
                <a:latin typeface="프리텐다드"/>
                <a:ea typeface="프리텐다드"/>
                <a:cs typeface="프리텐다드"/>
                <a:sym typeface="프리텐다드"/>
              </a:rPr>
              <a:t>67.7%</a:t>
            </a:r>
            <a:r>
              <a:rPr lang="ko-KR" altLang="en-US" sz="1700" dirty="0">
                <a:solidFill>
                  <a:srgbClr val="6B6B6B"/>
                </a:solidFill>
                <a:latin typeface="프리텐다드"/>
                <a:ea typeface="프리텐다드"/>
                <a:cs typeface="프리텐다드"/>
                <a:sym typeface="프리텐다드"/>
              </a:rPr>
              <a:t>는 같은 변경을 초기 라벨 </a:t>
            </a:r>
            <a:r>
              <a:rPr lang="en-US" altLang="ko-KR" sz="1700" dirty="0">
                <a:solidFill>
                  <a:srgbClr val="6B6B6B"/>
                </a:solidFill>
                <a:latin typeface="프리텐다드"/>
                <a:ea typeface="프리텐다드"/>
                <a:cs typeface="프리텐다드"/>
                <a:sym typeface="프리텐다드"/>
              </a:rPr>
              <a:t>133</a:t>
            </a:r>
            <a:r>
              <a:rPr lang="ko-KR" altLang="en-US" sz="1700" dirty="0">
                <a:solidFill>
                  <a:srgbClr val="6B6B6B"/>
                </a:solidFill>
                <a:latin typeface="프리텐다드"/>
                <a:ea typeface="프리텐다드"/>
                <a:cs typeface="프리텐다드"/>
                <a:sym typeface="프리텐다드"/>
              </a:rPr>
              <a:t>장으로 다시 잰 값</a:t>
            </a:r>
            <a:endParaRPr lang="en-US" sz="1700" dirty="0">
              <a:solidFill>
                <a:srgbClr val="6B6B6B"/>
              </a:solidFill>
              <a:latin typeface="프리텐다드"/>
              <a:ea typeface="프리텐다드"/>
              <a:cs typeface="프리텐다드"/>
              <a:sym typeface="프리텐다드"/>
            </a:endParaRPr>
          </a:p>
        </p:txBody>
      </p:sp>
      <p:grpSp>
        <p:nvGrpSpPr>
          <p:cNvPr id="13" name="Group 13"/>
          <p:cNvGrpSpPr/>
          <p:nvPr/>
        </p:nvGrpSpPr>
        <p:grpSpPr>
          <a:xfrm>
            <a:off x="12057383" y="1724663"/>
            <a:ext cx="5694683" cy="2677163"/>
            <a:chOff x="0" y="0"/>
            <a:chExt cx="7592911" cy="3569551"/>
          </a:xfrm>
        </p:grpSpPr>
        <p:sp>
          <p:nvSpPr>
            <p:cNvPr id="14" name="Freeform 14"/>
            <p:cNvSpPr/>
            <p:nvPr/>
          </p:nvSpPr>
          <p:spPr>
            <a:xfrm>
              <a:off x="0" y="0"/>
              <a:ext cx="7592949" cy="3569589"/>
            </a:xfrm>
            <a:custGeom>
              <a:avLst/>
              <a:gdLst/>
              <a:ahLst/>
              <a:cxnLst/>
              <a:rect l="l" t="t" r="r" b="b"/>
              <a:pathLst>
                <a:path w="7592949" h="3569589">
                  <a:moveTo>
                    <a:pt x="0" y="196977"/>
                  </a:moveTo>
                  <a:cubicBezTo>
                    <a:pt x="0" y="88138"/>
                    <a:pt x="88138" y="0"/>
                    <a:pt x="196977" y="0"/>
                  </a:cubicBezTo>
                  <a:lnTo>
                    <a:pt x="7395972" y="0"/>
                  </a:lnTo>
                  <a:cubicBezTo>
                    <a:pt x="7504684" y="0"/>
                    <a:pt x="7592949" y="88138"/>
                    <a:pt x="7592949" y="196977"/>
                  </a:cubicBezTo>
                  <a:lnTo>
                    <a:pt x="7592949" y="3372612"/>
                  </a:lnTo>
                  <a:cubicBezTo>
                    <a:pt x="7592949" y="3481324"/>
                    <a:pt x="7504811" y="3569589"/>
                    <a:pt x="7395972" y="3569589"/>
                  </a:cubicBezTo>
                  <a:lnTo>
                    <a:pt x="196977" y="3569589"/>
                  </a:lnTo>
                  <a:cubicBezTo>
                    <a:pt x="88138" y="3569589"/>
                    <a:pt x="0" y="3481324"/>
                    <a:pt x="0" y="3372612"/>
                  </a:cubicBezTo>
                  <a:close/>
                </a:path>
              </a:pathLst>
            </a:custGeom>
            <a:solidFill>
              <a:srgbClr val="F2F2F2"/>
            </a:solidFill>
            <a:ln w="25400" cap="sq">
              <a:solidFill>
                <a:srgbClr val="F2F2F2"/>
              </a:solidFill>
              <a:prstDash val="solid"/>
              <a:miter/>
            </a:ln>
          </p:spPr>
          <p:txBody>
            <a:bodyPr/>
            <a:lstStyle/>
            <a:p>
              <a:endParaRPr lang="ko-KR" altLang="en-US"/>
            </a:p>
          </p:txBody>
        </p:sp>
      </p:grpSp>
      <p:sp>
        <p:nvSpPr>
          <p:cNvPr id="15" name="TextBox 15"/>
          <p:cNvSpPr txBox="1"/>
          <p:nvPr/>
        </p:nvSpPr>
        <p:spPr>
          <a:xfrm>
            <a:off x="12344405" y="2275840"/>
            <a:ext cx="5120640" cy="323850"/>
          </a:xfrm>
          <a:prstGeom prst="rect">
            <a:avLst/>
          </a:prstGeom>
        </p:spPr>
        <p:txBody>
          <a:bodyPr lIns="0" tIns="0" rIns="0" bIns="0" rtlCol="0" anchor="t">
            <a:spAutoFit/>
          </a:bodyPr>
          <a:lstStyle/>
          <a:p>
            <a:pPr algn="just">
              <a:lnSpc>
                <a:spcPts val="2520"/>
              </a:lnSpc>
            </a:pPr>
            <a:r>
              <a:rPr lang="en-US" sz="2100">
                <a:solidFill>
                  <a:srgbClr val="6B6B6B"/>
                </a:solidFill>
                <a:latin typeface="프리텐다드"/>
                <a:ea typeface="프리텐다드"/>
                <a:cs typeface="프리텐다드"/>
                <a:sym typeface="프리텐다드"/>
              </a:rPr>
              <a:t>봉인 500장 · 완전일치</a:t>
            </a:r>
          </a:p>
        </p:txBody>
      </p:sp>
      <p:grpSp>
        <p:nvGrpSpPr>
          <p:cNvPr id="16" name="Group 16"/>
          <p:cNvGrpSpPr/>
          <p:nvPr/>
        </p:nvGrpSpPr>
        <p:grpSpPr>
          <a:xfrm>
            <a:off x="12344405" y="2344107"/>
            <a:ext cx="5120640" cy="1426245"/>
            <a:chOff x="0" y="0"/>
            <a:chExt cx="6827520" cy="1901659"/>
          </a:xfrm>
        </p:grpSpPr>
        <p:sp>
          <p:nvSpPr>
            <p:cNvPr id="17" name="Freeform 17"/>
            <p:cNvSpPr/>
            <p:nvPr/>
          </p:nvSpPr>
          <p:spPr>
            <a:xfrm>
              <a:off x="0" y="0"/>
              <a:ext cx="6827520" cy="1901660"/>
            </a:xfrm>
            <a:custGeom>
              <a:avLst/>
              <a:gdLst/>
              <a:ahLst/>
              <a:cxnLst/>
              <a:rect l="l" t="t" r="r" b="b"/>
              <a:pathLst>
                <a:path w="6827520" h="1901660">
                  <a:moveTo>
                    <a:pt x="0" y="0"/>
                  </a:moveTo>
                  <a:lnTo>
                    <a:pt x="6827520" y="0"/>
                  </a:lnTo>
                  <a:lnTo>
                    <a:pt x="6827520" y="1901660"/>
                  </a:lnTo>
                  <a:lnTo>
                    <a:pt x="0" y="1901660"/>
                  </a:lnTo>
                  <a:close/>
                </a:path>
              </a:pathLst>
            </a:custGeom>
            <a:blipFill>
              <a:blip r:embed="rId3">
                <a:alphaModFix amt="0"/>
              </a:blip>
              <a:stretch>
                <a:fillRect t="-30207" b="-9706"/>
              </a:stretch>
            </a:blipFill>
          </p:spPr>
          <p:txBody>
            <a:bodyPr/>
            <a:lstStyle/>
            <a:p>
              <a:endParaRPr lang="ko-KR" altLang="en-US"/>
            </a:p>
          </p:txBody>
        </p:sp>
        <p:sp>
          <p:nvSpPr>
            <p:cNvPr id="18" name="TextBox 18"/>
            <p:cNvSpPr txBox="1"/>
            <p:nvPr/>
          </p:nvSpPr>
          <p:spPr>
            <a:xfrm>
              <a:off x="0" y="-9525"/>
              <a:ext cx="6827520" cy="1911184"/>
            </a:xfrm>
            <a:prstGeom prst="rect">
              <a:avLst/>
            </a:prstGeom>
          </p:spPr>
          <p:txBody>
            <a:bodyPr lIns="0" tIns="0" rIns="0" bIns="0" rtlCol="0" anchor="ctr"/>
            <a:lstStyle/>
            <a:p>
              <a:pPr algn="just">
                <a:lnSpc>
                  <a:spcPts val="8399"/>
                </a:lnSpc>
              </a:pPr>
              <a:r>
                <a:rPr lang="en-US" sz="6999" b="1">
                  <a:solidFill>
                    <a:srgbClr val="8B0000"/>
                  </a:solidFill>
                  <a:latin typeface="프리텐다드 Heavy"/>
                  <a:ea typeface="프리텐다드 Heavy"/>
                  <a:cs typeface="프리텐다드 Heavy"/>
                  <a:sym typeface="프리텐다드 Heavy"/>
                </a:rPr>
                <a:t>86.2%</a:t>
              </a:r>
            </a:p>
          </p:txBody>
        </p:sp>
      </p:grpSp>
      <p:sp>
        <p:nvSpPr>
          <p:cNvPr id="19" name="TextBox 19"/>
          <p:cNvSpPr txBox="1"/>
          <p:nvPr/>
        </p:nvSpPr>
        <p:spPr>
          <a:xfrm>
            <a:off x="12344405" y="3564548"/>
            <a:ext cx="5120640" cy="323850"/>
          </a:xfrm>
          <a:prstGeom prst="rect">
            <a:avLst/>
          </a:prstGeom>
        </p:spPr>
        <p:txBody>
          <a:bodyPr lIns="0" tIns="0" rIns="0" bIns="0" rtlCol="0" anchor="t">
            <a:spAutoFit/>
          </a:bodyPr>
          <a:lstStyle/>
          <a:p>
            <a:pPr algn="just">
              <a:lnSpc>
                <a:spcPts val="2520"/>
              </a:lnSpc>
            </a:pPr>
            <a:r>
              <a:rPr lang="en-US" sz="2100">
                <a:solidFill>
                  <a:srgbClr val="1A1A1A"/>
                </a:solidFill>
                <a:latin typeface="프리텐다드"/>
                <a:ea typeface="프리텐다드"/>
                <a:cs typeface="프리텐다드"/>
                <a:sym typeface="프리텐다드"/>
              </a:rPr>
              <a:t>예선 제출본 84.2% → +2.0%p</a:t>
            </a:r>
          </a:p>
        </p:txBody>
      </p:sp>
      <p:graphicFrame>
        <p:nvGraphicFramePr>
          <p:cNvPr id="20" name="Table 20"/>
          <p:cNvGraphicFramePr>
            <a:graphicFrameLocks noGrp="1"/>
          </p:cNvGraphicFramePr>
          <p:nvPr/>
        </p:nvGraphicFramePr>
        <p:xfrm>
          <a:off x="12070080" y="4608576"/>
          <a:ext cx="5664200" cy="4065527"/>
        </p:xfrm>
        <a:graphic>
          <a:graphicData uri="http://schemas.openxmlformats.org/drawingml/2006/table">
            <a:tbl>
              <a:tblPr/>
              <a:tblGrid>
                <a:gridCol w="3647020">
                  <a:extLst>
                    <a:ext uri="{9D8B030D-6E8A-4147-A177-3AD203B41FA5}">
                      <a16:colId xmlns:a16="http://schemas.microsoft.com/office/drawing/2014/main" val="20000"/>
                    </a:ext>
                  </a:extLst>
                </a:gridCol>
                <a:gridCol w="2017180">
                  <a:extLst>
                    <a:ext uri="{9D8B030D-6E8A-4147-A177-3AD203B41FA5}">
                      <a16:colId xmlns:a16="http://schemas.microsoft.com/office/drawing/2014/main" val="20001"/>
                    </a:ext>
                  </a:extLst>
                </a:gridCol>
              </a:tblGrid>
              <a:tr h="572394">
                <a:tc>
                  <a:txBody>
                    <a:bodyPr/>
                    <a:lstStyle/>
                    <a:p>
                      <a:pPr algn="l">
                        <a:lnSpc>
                          <a:spcPts val="2400"/>
                        </a:lnSpc>
                        <a:defRPr/>
                      </a:pPr>
                      <a:r>
                        <a:rPr lang="en-US" sz="2000">
                          <a:solidFill>
                            <a:srgbClr val="FFFFFF"/>
                          </a:solidFill>
                          <a:latin typeface="프리텐다드"/>
                          <a:ea typeface="프리텐다드"/>
                          <a:cs typeface="프리텐다드"/>
                          <a:sym typeface="프리텐다드"/>
                        </a:rPr>
                        <a:t>구분</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400"/>
                        </a:lnSpc>
                        <a:defRPr/>
                      </a:pPr>
                      <a:r>
                        <a:rPr lang="en-US" sz="2000">
                          <a:solidFill>
                            <a:srgbClr val="FFFFFF"/>
                          </a:solidFill>
                          <a:latin typeface="프리텐다드"/>
                          <a:ea typeface="프리텐다드"/>
                          <a:cs typeface="프리텐다드"/>
                          <a:sym typeface="프리텐다드"/>
                        </a:rPr>
                        <a:t>정확도</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extLst>
                  <a:ext uri="{0D108BD9-81ED-4DB2-BD59-A6C34878D82A}">
                    <a16:rowId xmlns:a16="http://schemas.microsoft.com/office/drawing/2014/main" val="10000"/>
                  </a:ext>
                </a:extLst>
              </a:tr>
              <a:tr h="572394">
                <a:tc>
                  <a:txBody>
                    <a:bodyPr/>
                    <a:lstStyle/>
                    <a:p>
                      <a:pPr algn="l">
                        <a:lnSpc>
                          <a:spcPts val="2400"/>
                        </a:lnSpc>
                        <a:defRPr/>
                      </a:pPr>
                      <a:r>
                        <a:rPr lang="en-US" sz="2000">
                          <a:solidFill>
                            <a:srgbClr val="1A1A1A"/>
                          </a:solidFill>
                          <a:latin typeface="프리텐다드"/>
                          <a:ea typeface="프리텐다드"/>
                          <a:cs typeface="프리텐다드"/>
                          <a:sym typeface="프리텐다드"/>
                        </a:rPr>
                        <a:t>필드 평균 (채점 방식)</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8B0000"/>
                          </a:solidFill>
                          <a:latin typeface="프리텐다드"/>
                          <a:ea typeface="프리텐다드"/>
                          <a:cs typeface="프리텐다드"/>
                          <a:sym typeface="프리텐다드"/>
                        </a:rPr>
                        <a:t>90.8%</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2394">
                <a:tc>
                  <a:txBody>
                    <a:bodyPr/>
                    <a:lstStyle/>
                    <a:p>
                      <a:pPr algn="l">
                        <a:lnSpc>
                          <a:spcPts val="2400"/>
                        </a:lnSpc>
                        <a:defRPr/>
                      </a:pPr>
                      <a:r>
                        <a:rPr lang="en-US" sz="2000">
                          <a:solidFill>
                            <a:srgbClr val="1A1A1A"/>
                          </a:solidFill>
                          <a:latin typeface="프리텐다드"/>
                          <a:ea typeface="프리텐다드"/>
                          <a:cs typeface="프리텐다드"/>
                          <a:sym typeface="프리텐다드"/>
                        </a:rPr>
                        <a:t>작은 사진 (≤700px)</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83.7%</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2394">
                <a:tc>
                  <a:txBody>
                    <a:bodyPr/>
                    <a:lstStyle/>
                    <a:p>
                      <a:pPr algn="l">
                        <a:lnSpc>
                          <a:spcPts val="2400"/>
                        </a:lnSpc>
                        <a:defRPr/>
                      </a:pPr>
                      <a:r>
                        <a:rPr lang="en-US" sz="2000">
                          <a:solidFill>
                            <a:srgbClr val="1A1A1A"/>
                          </a:solidFill>
                          <a:latin typeface="프리텐다드"/>
                          <a:ea typeface="프리텐다드"/>
                          <a:cs typeface="프리텐다드"/>
                          <a:sym typeface="프리텐다드"/>
                        </a:rPr>
                        <a:t>중간</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89.5%</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2394">
                <a:tc>
                  <a:txBody>
                    <a:bodyPr/>
                    <a:lstStyle/>
                    <a:p>
                      <a:pPr algn="l">
                        <a:lnSpc>
                          <a:spcPts val="2400"/>
                        </a:lnSpc>
                        <a:defRPr/>
                      </a:pPr>
                      <a:r>
                        <a:rPr lang="en-US" sz="2000">
                          <a:solidFill>
                            <a:srgbClr val="1A1A1A"/>
                          </a:solidFill>
                          <a:latin typeface="프리텐다드"/>
                          <a:ea typeface="프리텐다드"/>
                          <a:cs typeface="프리텐다드"/>
                          <a:sym typeface="프리텐다드"/>
                        </a:rPr>
                        <a:t>큰 사진</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86.7%</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72394">
                <a:tc>
                  <a:txBody>
                    <a:bodyPr/>
                    <a:lstStyle/>
                    <a:p>
                      <a:pPr algn="l">
                        <a:lnSpc>
                          <a:spcPts val="2400"/>
                        </a:lnSpc>
                        <a:defRPr/>
                      </a:pPr>
                      <a:r>
                        <a:rPr lang="en-US" sz="2000">
                          <a:solidFill>
                            <a:srgbClr val="1A1A1A"/>
                          </a:solidFill>
                          <a:latin typeface="프리텐다드"/>
                          <a:ea typeface="프리텐다드"/>
                          <a:cs typeface="프리텐다드"/>
                          <a:sym typeface="프리텐다드"/>
                        </a:rPr>
                        <a:t>두 날짜 병기</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78.4%</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31163">
                <a:tc>
                  <a:txBody>
                    <a:bodyPr/>
                    <a:lstStyle/>
                    <a:p>
                      <a:pPr algn="l">
                        <a:lnSpc>
                          <a:spcPts val="2400"/>
                        </a:lnSpc>
                        <a:defRPr/>
                      </a:pPr>
                      <a:r>
                        <a:rPr lang="en-US" sz="2000">
                          <a:solidFill>
                            <a:srgbClr val="1A1A1A"/>
                          </a:solidFill>
                          <a:latin typeface="프리텐다드"/>
                          <a:ea typeface="프리텐다드"/>
                          <a:cs typeface="프리텐다드"/>
                          <a:sym typeface="프리텐다드"/>
                        </a:rPr>
                        <a:t>미인식률</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3.0%</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pSp>
        <p:nvGrpSpPr>
          <p:cNvPr id="21" name="Group 21"/>
          <p:cNvGrpSpPr/>
          <p:nvPr/>
        </p:nvGrpSpPr>
        <p:grpSpPr>
          <a:xfrm>
            <a:off x="535943" y="8912228"/>
            <a:ext cx="17216123" cy="793499"/>
            <a:chOff x="0" y="0"/>
            <a:chExt cx="22954831" cy="1057999"/>
          </a:xfrm>
        </p:grpSpPr>
        <p:grpSp>
          <p:nvGrpSpPr>
            <p:cNvPr id="22" name="Group 22"/>
            <p:cNvGrpSpPr/>
            <p:nvPr/>
          </p:nvGrpSpPr>
          <p:grpSpPr>
            <a:xfrm>
              <a:off x="0" y="0"/>
              <a:ext cx="22954831" cy="1057999"/>
              <a:chOff x="0" y="0"/>
              <a:chExt cx="22954831" cy="1057999"/>
            </a:xfrm>
          </p:grpSpPr>
          <p:sp>
            <p:nvSpPr>
              <p:cNvPr id="23" name="Freeform 23"/>
              <p:cNvSpPr/>
              <p:nvPr/>
            </p:nvSpPr>
            <p:spPr>
              <a:xfrm>
                <a:off x="0" y="0"/>
                <a:ext cx="22954869" cy="1058037"/>
              </a:xfrm>
              <a:custGeom>
                <a:avLst/>
                <a:gdLst/>
                <a:ahLst/>
                <a:cxnLst/>
                <a:rect l="l" t="t" r="r" b="b"/>
                <a:pathLst>
                  <a:path w="22954869" h="1058037">
                    <a:moveTo>
                      <a:pt x="0" y="201549"/>
                    </a:moveTo>
                    <a:cubicBezTo>
                      <a:pt x="0" y="90170"/>
                      <a:pt x="90170" y="0"/>
                      <a:pt x="201549" y="0"/>
                    </a:cubicBezTo>
                    <a:lnTo>
                      <a:pt x="22753320" y="0"/>
                    </a:lnTo>
                    <a:cubicBezTo>
                      <a:pt x="22864572" y="0"/>
                      <a:pt x="22954869" y="90170"/>
                      <a:pt x="22954869" y="201549"/>
                    </a:cubicBezTo>
                    <a:lnTo>
                      <a:pt x="22954869" y="856488"/>
                    </a:lnTo>
                    <a:cubicBezTo>
                      <a:pt x="22954869" y="967740"/>
                      <a:pt x="22864699" y="1058037"/>
                      <a:pt x="22753320" y="1058037"/>
                    </a:cubicBezTo>
                    <a:lnTo>
                      <a:pt x="201549" y="1058037"/>
                    </a:lnTo>
                    <a:cubicBezTo>
                      <a:pt x="90170" y="1058037"/>
                      <a:pt x="0" y="967740"/>
                      <a:pt x="0" y="856488"/>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24" name="Group 24"/>
            <p:cNvGrpSpPr/>
            <p:nvPr/>
          </p:nvGrpSpPr>
          <p:grpSpPr>
            <a:xfrm>
              <a:off x="382689" y="16929"/>
              <a:ext cx="22189440" cy="1024128"/>
              <a:chOff x="0" y="0"/>
              <a:chExt cx="22189440" cy="1024128"/>
            </a:xfrm>
          </p:grpSpPr>
          <p:sp>
            <p:nvSpPr>
              <p:cNvPr id="25" name="Freeform 25"/>
              <p:cNvSpPr/>
              <p:nvPr/>
            </p:nvSpPr>
            <p:spPr>
              <a:xfrm>
                <a:off x="0" y="0"/>
                <a:ext cx="22189439" cy="1024128"/>
              </a:xfrm>
              <a:custGeom>
                <a:avLst/>
                <a:gdLst/>
                <a:ahLst/>
                <a:cxnLst/>
                <a:rect l="l" t="t" r="r" b="b"/>
                <a:pathLst>
                  <a:path w="22189439" h="1024128">
                    <a:moveTo>
                      <a:pt x="0" y="0"/>
                    </a:moveTo>
                    <a:lnTo>
                      <a:pt x="22189439" y="0"/>
                    </a:lnTo>
                    <a:lnTo>
                      <a:pt x="22189439" y="1024128"/>
                    </a:lnTo>
                    <a:lnTo>
                      <a:pt x="0" y="1024128"/>
                    </a:lnTo>
                    <a:close/>
                  </a:path>
                </a:pathLst>
              </a:custGeom>
              <a:blipFill>
                <a:blip r:embed="rId3">
                  <a:alphaModFix amt="0"/>
                </a:blip>
                <a:stretch>
                  <a:fillRect t="-372175" b="-372175"/>
                </a:stretch>
              </a:blipFill>
            </p:spPr>
            <p:txBody>
              <a:bodyPr/>
              <a:lstStyle/>
              <a:p>
                <a:endParaRPr lang="ko-KR" altLang="en-US"/>
              </a:p>
            </p:txBody>
          </p:sp>
          <p:sp>
            <p:nvSpPr>
              <p:cNvPr id="26" name="TextBox 26"/>
              <p:cNvSpPr txBox="1"/>
              <p:nvPr/>
            </p:nvSpPr>
            <p:spPr>
              <a:xfrm>
                <a:off x="0" y="0"/>
                <a:ext cx="22189440" cy="1024128"/>
              </a:xfrm>
              <a:prstGeom prst="rect">
                <a:avLst/>
              </a:prstGeom>
            </p:spPr>
            <p:txBody>
              <a:bodyPr lIns="0" tIns="0" rIns="0" bIns="0" rtlCol="0" anchor="ctr"/>
              <a:lstStyle/>
              <a:p>
                <a:pPr algn="ctr">
                  <a:lnSpc>
                    <a:spcPts val="2999"/>
                  </a:lnSpc>
                </a:pPr>
                <a:r>
                  <a:rPr lang="en-US" sz="2499" dirty="0" err="1">
                    <a:solidFill>
                      <a:srgbClr val="1A1A1A"/>
                    </a:solidFill>
                    <a:latin typeface="프리텐다드"/>
                    <a:ea typeface="프리텐다드"/>
                    <a:cs typeface="프리텐다드"/>
                    <a:sym typeface="프리텐다드"/>
                  </a:rPr>
                  <a:t>판정용</a:t>
                </a:r>
                <a:r>
                  <a:rPr lang="en-US" sz="2499" dirty="0">
                    <a:solidFill>
                      <a:srgbClr val="1A1A1A"/>
                    </a:solidFill>
                    <a:latin typeface="프리텐다드"/>
                    <a:ea typeface="프리텐다드"/>
                    <a:cs typeface="프리텐다드"/>
                    <a:sym typeface="프리텐다드"/>
                  </a:rPr>
                  <a:t> 2,852장에서도 </a:t>
                </a:r>
                <a:r>
                  <a:rPr lang="en-US" sz="2499" b="1" dirty="0">
                    <a:solidFill>
                      <a:srgbClr val="8B0000"/>
                    </a:solidFill>
                    <a:latin typeface="프리텐다드 Bold"/>
                    <a:ea typeface="프리텐다드 Bold"/>
                    <a:cs typeface="프리텐다드 Bold"/>
                    <a:sym typeface="프리텐다드 Bold"/>
                  </a:rPr>
                  <a:t>82.3 → 86.7%</a:t>
                </a:r>
                <a:r>
                  <a:rPr lang="en-US" sz="2499" dirty="0">
                    <a:solidFill>
                      <a:srgbClr val="1A1A1A"/>
                    </a:solidFill>
                    <a:latin typeface="프리텐다드"/>
                    <a:ea typeface="프리텐다드"/>
                    <a:cs typeface="프리텐다드"/>
                    <a:sym typeface="프리텐다드"/>
                  </a:rPr>
                  <a:t> : </a:t>
                </a:r>
                <a:r>
                  <a:rPr lang="en-US" sz="2499" dirty="0" err="1">
                    <a:solidFill>
                      <a:srgbClr val="1A1A1A"/>
                    </a:solidFill>
                    <a:latin typeface="프리텐다드"/>
                    <a:ea typeface="프리텐다드"/>
                    <a:cs typeface="프리텐다드"/>
                    <a:sym typeface="프리텐다드"/>
                  </a:rPr>
                  <a:t>튜닝에</a:t>
                </a:r>
                <a:r>
                  <a:rPr lang="en-US" sz="2499" dirty="0">
                    <a:solidFill>
                      <a:srgbClr val="1A1A1A"/>
                    </a:solidFill>
                    <a:latin typeface="프리텐다드"/>
                    <a:ea typeface="프리텐다드"/>
                    <a:cs typeface="프리텐다드"/>
                    <a:sym typeface="프리텐다드"/>
                  </a:rPr>
                  <a:t> 쓴 </a:t>
                </a:r>
                <a:r>
                  <a:rPr lang="en-US" sz="2499" dirty="0" err="1">
                    <a:solidFill>
                      <a:srgbClr val="1A1A1A"/>
                    </a:solidFill>
                    <a:latin typeface="프리텐다드"/>
                    <a:ea typeface="프리텐다드"/>
                    <a:cs typeface="프리텐다드"/>
                    <a:sym typeface="프리텐다드"/>
                  </a:rPr>
                  <a:t>셋과</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봉인</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셋이</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함께</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올랐습니다</a:t>
                </a:r>
                <a:r>
                  <a:rPr lang="en-US" sz="2499" dirty="0">
                    <a:solidFill>
                      <a:srgbClr val="1A1A1A"/>
                    </a:solidFill>
                    <a:latin typeface="프리텐다드"/>
                    <a:ea typeface="프리텐다드"/>
                    <a:cs typeface="프리텐다드"/>
                    <a:sym typeface="프리텐다드"/>
                  </a:rPr>
                  <a:t>.</a:t>
                </a:r>
              </a:p>
            </p:txBody>
          </p:sp>
        </p:gr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5943" y="535943"/>
            <a:ext cx="153419" cy="756923"/>
            <a:chOff x="0" y="0"/>
            <a:chExt cx="204559" cy="1009231"/>
          </a:xfrm>
        </p:grpSpPr>
        <p:sp>
          <p:nvSpPr>
            <p:cNvPr id="3" name="Freeform 3"/>
            <p:cNvSpPr/>
            <p:nvPr/>
          </p:nvSpPr>
          <p:spPr>
            <a:xfrm>
              <a:off x="0" y="0"/>
              <a:ext cx="204597" cy="1009269"/>
            </a:xfrm>
            <a:custGeom>
              <a:avLst/>
              <a:gdLst/>
              <a:ahLst/>
              <a:cxnLst/>
              <a:rect l="l" t="t" r="r" b="b"/>
              <a:pathLst>
                <a:path w="204597" h="1009269">
                  <a:moveTo>
                    <a:pt x="0" y="0"/>
                  </a:moveTo>
                  <a:lnTo>
                    <a:pt x="204597" y="0"/>
                  </a:lnTo>
                  <a:lnTo>
                    <a:pt x="204597" y="1009269"/>
                  </a:lnTo>
                  <a:lnTo>
                    <a:pt x="0" y="1009269"/>
                  </a:ln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4" name="Group 4"/>
          <p:cNvGrpSpPr/>
          <p:nvPr/>
        </p:nvGrpSpPr>
        <p:grpSpPr>
          <a:xfrm>
            <a:off x="822960" y="457200"/>
            <a:ext cx="15910560" cy="914400"/>
            <a:chOff x="0" y="0"/>
            <a:chExt cx="21214080" cy="1219200"/>
          </a:xfrm>
        </p:grpSpPr>
        <p:sp>
          <p:nvSpPr>
            <p:cNvPr id="5" name="Freeform 5"/>
            <p:cNvSpPr/>
            <p:nvPr/>
          </p:nvSpPr>
          <p:spPr>
            <a:xfrm>
              <a:off x="0" y="0"/>
              <a:ext cx="21214080" cy="1219200"/>
            </a:xfrm>
            <a:custGeom>
              <a:avLst/>
              <a:gdLst/>
              <a:ahLst/>
              <a:cxnLst/>
              <a:rect l="l" t="t" r="r" b="b"/>
              <a:pathLst>
                <a:path w="21214080" h="1219200">
                  <a:moveTo>
                    <a:pt x="0" y="0"/>
                  </a:moveTo>
                  <a:lnTo>
                    <a:pt x="21214080" y="0"/>
                  </a:lnTo>
                  <a:lnTo>
                    <a:pt x="21214080" y="1219200"/>
                  </a:lnTo>
                  <a:lnTo>
                    <a:pt x="0" y="1219200"/>
                  </a:lnTo>
                  <a:close/>
                </a:path>
              </a:pathLst>
            </a:custGeom>
            <a:blipFill>
              <a:blip r:embed="rId3">
                <a:alphaModFix amt="0"/>
              </a:blip>
              <a:stretch>
                <a:fillRect t="-289039" b="-289039"/>
              </a:stretch>
            </a:blipFill>
          </p:spPr>
          <p:txBody>
            <a:bodyPr/>
            <a:lstStyle/>
            <a:p>
              <a:endParaRPr lang="ko-KR" altLang="en-US"/>
            </a:p>
          </p:txBody>
        </p:sp>
        <p:sp>
          <p:nvSpPr>
            <p:cNvPr id="6" name="TextBox 6"/>
            <p:cNvSpPr txBox="1"/>
            <p:nvPr/>
          </p:nvSpPr>
          <p:spPr>
            <a:xfrm>
              <a:off x="0" y="0"/>
              <a:ext cx="21214080" cy="1219200"/>
            </a:xfrm>
            <a:prstGeom prst="rect">
              <a:avLst/>
            </a:prstGeom>
          </p:spPr>
          <p:txBody>
            <a:bodyPr lIns="0" tIns="0" rIns="0" bIns="0" rtlCol="0" anchor="ctr"/>
            <a:lstStyle/>
            <a:p>
              <a:pPr algn="l">
                <a:lnSpc>
                  <a:spcPts val="4560"/>
                </a:lnSpc>
              </a:pPr>
              <a:r>
                <a:rPr lang="en-US" sz="3800" b="1">
                  <a:solidFill>
                    <a:srgbClr val="1A1A1A"/>
                  </a:solidFill>
                  <a:latin typeface="프리텐다드 Bold"/>
                  <a:ea typeface="프리텐다드 Bold"/>
                  <a:cs typeface="프리텐다드 Bold"/>
                  <a:sym typeface="프리텐다드 Bold"/>
                </a:rPr>
                <a:t>모델·대안 비교 : </a:t>
              </a:r>
              <a:r>
                <a:rPr lang="en-US" sz="3800" b="1">
                  <a:solidFill>
                    <a:srgbClr val="8B0000"/>
                  </a:solidFill>
                  <a:latin typeface="프리텐다드 Bold"/>
                  <a:ea typeface="프리텐다드 Bold"/>
                  <a:cs typeface="프리텐다드 Bold"/>
                  <a:sym typeface="프리텐다드 Bold"/>
                </a:rPr>
                <a:t>점수가 올라도 기각한 것들</a:t>
              </a:r>
            </a:p>
          </p:txBody>
        </p:sp>
      </p:grpSp>
      <p:sp>
        <p:nvSpPr>
          <p:cNvPr id="7" name="AutoShape 7"/>
          <p:cNvSpPr/>
          <p:nvPr/>
        </p:nvSpPr>
        <p:spPr>
          <a:xfrm rot="3780">
            <a:off x="539105" y="1494854"/>
            <a:ext cx="17209780" cy="0"/>
          </a:xfrm>
          <a:prstGeom prst="line">
            <a:avLst/>
          </a:prstGeom>
          <a:ln w="9525" cap="rnd">
            <a:solidFill>
              <a:srgbClr val="BFBFBF"/>
            </a:solidFill>
            <a:prstDash val="solid"/>
            <a:headEnd type="none" w="sm" len="sm"/>
            <a:tailEnd type="none" w="sm" len="sm"/>
          </a:ln>
        </p:spPr>
        <p:txBody>
          <a:bodyPr/>
          <a:lstStyle/>
          <a:p>
            <a:endParaRPr lang="ko-KR" altLang="en-US"/>
          </a:p>
        </p:txBody>
      </p:sp>
      <p:grpSp>
        <p:nvGrpSpPr>
          <p:cNvPr id="8" name="Group 8"/>
          <p:cNvGrpSpPr/>
          <p:nvPr/>
        </p:nvGrpSpPr>
        <p:grpSpPr>
          <a:xfrm>
            <a:off x="17007840" y="219456"/>
            <a:ext cx="914400" cy="457200"/>
            <a:chOff x="0" y="0"/>
            <a:chExt cx="1219200" cy="609600"/>
          </a:xfrm>
        </p:grpSpPr>
        <p:sp>
          <p:nvSpPr>
            <p:cNvPr id="9" name="Freeform 9"/>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10" name="TextBox 10"/>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1A1A1A"/>
                  </a:solidFill>
                  <a:latin typeface="프리텐다드"/>
                  <a:ea typeface="프리텐다드"/>
                  <a:cs typeface="프리텐다드"/>
                  <a:sym typeface="프리텐다드"/>
                </a:rPr>
                <a:t>12</a:t>
              </a:r>
            </a:p>
          </p:txBody>
        </p:sp>
      </p:grpSp>
      <p:graphicFrame>
        <p:nvGraphicFramePr>
          <p:cNvPr id="11" name="Table 11"/>
          <p:cNvGraphicFramePr>
            <a:graphicFrameLocks noGrp="1"/>
          </p:cNvGraphicFramePr>
          <p:nvPr>
            <p:extLst>
              <p:ext uri="{D42A27DB-BD31-4B8C-83A1-F6EECF244321}">
                <p14:modId xmlns:p14="http://schemas.microsoft.com/office/powerpoint/2010/main" val="690387853"/>
              </p:ext>
            </p:extLst>
          </p:nvPr>
        </p:nvGraphicFramePr>
        <p:xfrm>
          <a:off x="548640" y="1828800"/>
          <a:ext cx="17145000" cy="6096000"/>
        </p:xfrm>
        <a:graphic>
          <a:graphicData uri="http://schemas.openxmlformats.org/drawingml/2006/table">
            <a:tbl>
              <a:tblPr/>
              <a:tblGrid>
                <a:gridCol w="5464843">
                  <a:extLst>
                    <a:ext uri="{9D8B030D-6E8A-4147-A177-3AD203B41FA5}">
                      <a16:colId xmlns:a16="http://schemas.microsoft.com/office/drawing/2014/main" val="20000"/>
                    </a:ext>
                  </a:extLst>
                </a:gridCol>
                <a:gridCol w="4376911">
                  <a:extLst>
                    <a:ext uri="{9D8B030D-6E8A-4147-A177-3AD203B41FA5}">
                      <a16:colId xmlns:a16="http://schemas.microsoft.com/office/drawing/2014/main" val="20001"/>
                    </a:ext>
                  </a:extLst>
                </a:gridCol>
                <a:gridCol w="1475759">
                  <a:extLst>
                    <a:ext uri="{9D8B030D-6E8A-4147-A177-3AD203B41FA5}">
                      <a16:colId xmlns:a16="http://schemas.microsoft.com/office/drawing/2014/main" val="20002"/>
                    </a:ext>
                  </a:extLst>
                </a:gridCol>
                <a:gridCol w="5827487">
                  <a:extLst>
                    <a:ext uri="{9D8B030D-6E8A-4147-A177-3AD203B41FA5}">
                      <a16:colId xmlns:a16="http://schemas.microsoft.com/office/drawing/2014/main" val="20003"/>
                    </a:ext>
                  </a:extLst>
                </a:gridCol>
              </a:tblGrid>
              <a:tr h="609600">
                <a:tc>
                  <a:txBody>
                    <a:bodyPr/>
                    <a:lstStyle/>
                    <a:p>
                      <a:pPr algn="l">
                        <a:lnSpc>
                          <a:spcPts val="2351"/>
                        </a:lnSpc>
                        <a:defRPr/>
                      </a:pPr>
                      <a:r>
                        <a:rPr lang="en-US" sz="1959">
                          <a:solidFill>
                            <a:srgbClr val="FFFFFF"/>
                          </a:solidFill>
                          <a:latin typeface="프리텐다드"/>
                          <a:ea typeface="프리텐다드"/>
                          <a:cs typeface="프리텐다드"/>
                          <a:sym typeface="프리텐다드"/>
                        </a:rPr>
                        <a:t>시도</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351"/>
                        </a:lnSpc>
                        <a:defRPr/>
                      </a:pPr>
                      <a:r>
                        <a:rPr lang="en-US" sz="1959">
                          <a:solidFill>
                            <a:srgbClr val="FFFFFF"/>
                          </a:solidFill>
                          <a:latin typeface="프리텐다드"/>
                          <a:ea typeface="프리텐다드"/>
                          <a:cs typeface="프리텐다드"/>
                          <a:sym typeface="프리텐다드"/>
                        </a:rPr>
                        <a:t>결과 (회복 / 퇴보)</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351"/>
                        </a:lnSpc>
                        <a:defRPr/>
                      </a:pPr>
                      <a:r>
                        <a:rPr lang="en-US" sz="1959">
                          <a:solidFill>
                            <a:srgbClr val="FFFFFF"/>
                          </a:solidFill>
                          <a:latin typeface="프리텐다드"/>
                          <a:ea typeface="프리텐다드"/>
                          <a:cs typeface="프리텐다드"/>
                          <a:sym typeface="프리텐다드"/>
                        </a:rPr>
                        <a:t>판단</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351"/>
                        </a:lnSpc>
                        <a:defRPr/>
                      </a:pPr>
                      <a:r>
                        <a:rPr lang="en-US" sz="1959">
                          <a:solidFill>
                            <a:srgbClr val="FFFFFF"/>
                          </a:solidFill>
                          <a:latin typeface="프리텐다드"/>
                          <a:ea typeface="프리텐다드"/>
                          <a:cs typeface="프리텐다드"/>
                          <a:sym typeface="프리텐다드"/>
                        </a:rPr>
                        <a:t>이유</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extLst>
                  <a:ext uri="{0D108BD9-81ED-4DB2-BD59-A6C34878D82A}">
                    <a16:rowId xmlns:a16="http://schemas.microsoft.com/office/drawing/2014/main" val="10000"/>
                  </a:ext>
                </a:extLst>
              </a:tr>
              <a:tr h="609600">
                <a:tc>
                  <a:txBody>
                    <a:bodyPr/>
                    <a:lstStyle/>
                    <a:p>
                      <a:pPr algn="l">
                        <a:lnSpc>
                          <a:spcPts val="2351"/>
                        </a:lnSpc>
                        <a:defRPr/>
                      </a:pPr>
                      <a:r>
                        <a:rPr lang="en-US" sz="1959">
                          <a:solidFill>
                            <a:srgbClr val="1A1A1A"/>
                          </a:solidFill>
                          <a:latin typeface="프리텐다드"/>
                          <a:ea typeface="프리텐다드"/>
                          <a:cs typeface="프리텐다드"/>
                          <a:sym typeface="프리텐다드"/>
                        </a:rPr>
                        <a:t>탐지·인식기 PP-OCRv5 mobile 로 교체</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1A1A1A"/>
                          </a:solidFill>
                          <a:latin typeface="프리텐다드"/>
                          <a:ea typeface="프리텐다드"/>
                          <a:cs typeface="프리텐다드"/>
                          <a:sym typeface="프리텐다드"/>
                        </a:rPr>
                        <a:t>39.1 → 67.7%, 5.8 → 1.8초</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8B0000"/>
                          </a:solidFill>
                          <a:latin typeface="프리텐다드"/>
                          <a:ea typeface="프리텐다드"/>
                          <a:cs typeface="프리텐다드"/>
                          <a:sym typeface="프리텐다드"/>
                        </a:rPr>
                        <a:t>채택</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1A1A1A"/>
                          </a:solidFill>
                          <a:latin typeface="프리텐다드"/>
                          <a:ea typeface="프리텐다드"/>
                          <a:cs typeface="프리텐다드"/>
                          <a:sym typeface="프리텐다드"/>
                        </a:rPr>
                        <a:t>속도 한도와 정확도를 동시에 해결</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9600">
                <a:tc>
                  <a:txBody>
                    <a:bodyPr/>
                    <a:lstStyle/>
                    <a:p>
                      <a:pPr algn="l">
                        <a:lnSpc>
                          <a:spcPts val="2351"/>
                        </a:lnSpc>
                        <a:defRPr/>
                      </a:pPr>
                      <a:r>
                        <a:rPr lang="en-US" sz="1959">
                          <a:solidFill>
                            <a:srgbClr val="1A1A1A"/>
                          </a:solidFill>
                          <a:latin typeface="프리텐다드"/>
                          <a:ea typeface="프리텐다드"/>
                          <a:cs typeface="프리텐다드"/>
                          <a:sym typeface="프리텐다드"/>
                        </a:rPr>
                        <a:t>다시 읽기 규칙 (1차 후보를 지우지 못하게 등)</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1A1A1A"/>
                          </a:solidFill>
                          <a:latin typeface="프리텐다드"/>
                          <a:ea typeface="프리텐다드"/>
                          <a:cs typeface="프리텐다드"/>
                          <a:sym typeface="프리텐다드"/>
                        </a:rPr>
                        <a:t>+63 / −5</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8B0000"/>
                          </a:solidFill>
                          <a:latin typeface="프리텐다드"/>
                          <a:ea typeface="프리텐다드"/>
                          <a:cs typeface="프리텐다드"/>
                          <a:sym typeface="프리텐다드"/>
                        </a:rPr>
                        <a:t>채택</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1A1A1A"/>
                          </a:solidFill>
                          <a:latin typeface="프리텐다드"/>
                          <a:ea typeface="프리텐다드"/>
                          <a:cs typeface="프리텐다드"/>
                          <a:sym typeface="프리텐다드"/>
                        </a:rPr>
                        <a:t>82.3 → 84.3%. 코드 로직 결함 수정</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09600">
                <a:tc>
                  <a:txBody>
                    <a:bodyPr/>
                    <a:lstStyle/>
                    <a:p>
                      <a:pPr algn="l">
                        <a:lnSpc>
                          <a:spcPts val="2351"/>
                        </a:lnSpc>
                        <a:defRPr/>
                      </a:pPr>
                      <a:r>
                        <a:rPr lang="en-US" sz="1959">
                          <a:solidFill>
                            <a:srgbClr val="1A1A1A"/>
                          </a:solidFill>
                          <a:latin typeface="프리텐다드"/>
                          <a:ea typeface="프리텐다드"/>
                          <a:cs typeface="프리텐다드"/>
                          <a:sym typeface="프리텐다드"/>
                        </a:rPr>
                        <a:t>해석 규칙 4개</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1A1A1A"/>
                          </a:solidFill>
                          <a:latin typeface="프리텐다드"/>
                          <a:ea typeface="프리텐다드"/>
                          <a:cs typeface="프리텐다드"/>
                          <a:sym typeface="프리텐다드"/>
                        </a:rPr>
                        <a:t>+39 / −2</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8B0000"/>
                          </a:solidFill>
                          <a:latin typeface="프리텐다드"/>
                          <a:ea typeface="프리텐다드"/>
                          <a:cs typeface="프리텐다드"/>
                          <a:sym typeface="프리텐다드"/>
                        </a:rPr>
                        <a:t>채택</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1A1A1A"/>
                          </a:solidFill>
                          <a:latin typeface="프리텐다드"/>
                          <a:ea typeface="프리텐다드"/>
                          <a:cs typeface="프리텐다드"/>
                          <a:sym typeface="프리텐다드"/>
                        </a:rPr>
                        <a:t>병기 64.9 → 78.3%</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9600">
                <a:tc>
                  <a:txBody>
                    <a:bodyPr/>
                    <a:lstStyle/>
                    <a:p>
                      <a:pPr algn="l">
                        <a:lnSpc>
                          <a:spcPts val="2351"/>
                        </a:lnSpc>
                        <a:defRPr/>
                      </a:pPr>
                      <a:r>
                        <a:rPr lang="en-US" sz="1959">
                          <a:solidFill>
                            <a:srgbClr val="1A1A1A"/>
                          </a:solidFill>
                          <a:latin typeface="프리텐다드"/>
                          <a:ea typeface="프리텐다드"/>
                          <a:cs typeface="프리텐다드"/>
                          <a:sym typeface="프리텐다드"/>
                        </a:rPr>
                        <a:t>주변 재탐지 · 확대 재시도 · 파인튜닝 재시도</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1A1A1A"/>
                          </a:solidFill>
                          <a:latin typeface="프리텐다드"/>
                          <a:ea typeface="프리텐다드"/>
                          <a:cs typeface="프리텐다드"/>
                          <a:sym typeface="프리텐다드"/>
                        </a:rPr>
                        <a:t>+25 / −1</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8B0000"/>
                          </a:solidFill>
                          <a:latin typeface="프리텐다드"/>
                          <a:ea typeface="프리텐다드"/>
                          <a:cs typeface="프리텐다드"/>
                          <a:sym typeface="프리텐다드"/>
                        </a:rPr>
                        <a:t>채택</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dirty="0">
                          <a:solidFill>
                            <a:srgbClr val="1A1A1A"/>
                          </a:solidFill>
                          <a:latin typeface="프리텐다드"/>
                          <a:ea typeface="프리텐다드"/>
                          <a:cs typeface="프리텐다드"/>
                          <a:sym typeface="프리텐다드"/>
                        </a:rPr>
                        <a:t>못 </a:t>
                      </a:r>
                      <a:r>
                        <a:rPr lang="en-US" sz="1959" dirty="0" err="1">
                          <a:solidFill>
                            <a:srgbClr val="1A1A1A"/>
                          </a:solidFill>
                          <a:latin typeface="프리텐다드"/>
                          <a:ea typeface="프리텐다드"/>
                          <a:cs typeface="프리텐다드"/>
                          <a:sym typeface="프리텐다드"/>
                        </a:rPr>
                        <a:t>읽은</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사진에만</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비용을</a:t>
                      </a:r>
                      <a:r>
                        <a:rPr lang="en-US" sz="1959" dirty="0">
                          <a:solidFill>
                            <a:srgbClr val="1A1A1A"/>
                          </a:solidFill>
                          <a:latin typeface="프리텐다드"/>
                          <a:ea typeface="프리텐다드"/>
                          <a:cs typeface="프리텐다드"/>
                          <a:sym typeface="프리텐다드"/>
                        </a:rPr>
                        <a:t> </a:t>
                      </a:r>
                      <a:r>
                        <a:rPr lang="ko-KR" altLang="en-US" sz="1959" dirty="0">
                          <a:solidFill>
                            <a:srgbClr val="1A1A1A"/>
                          </a:solidFill>
                          <a:latin typeface="프리텐다드"/>
                          <a:ea typeface="프리텐다드"/>
                          <a:cs typeface="프리텐다드"/>
                          <a:sym typeface="프리텐다드"/>
                        </a:rPr>
                        <a:t>투자</a:t>
                      </a:r>
                      <a:endParaRPr lang="en-US" sz="1100" dirty="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09600">
                <a:tc>
                  <a:txBody>
                    <a:bodyPr/>
                    <a:lstStyle/>
                    <a:p>
                      <a:pPr algn="l">
                        <a:lnSpc>
                          <a:spcPts val="2351"/>
                        </a:lnSpc>
                        <a:defRPr/>
                      </a:pPr>
                      <a:r>
                        <a:rPr lang="en-US" sz="1959" dirty="0" err="1">
                          <a:solidFill>
                            <a:srgbClr val="1A1A1A"/>
                          </a:solidFill>
                          <a:latin typeface="프리텐다드"/>
                          <a:ea typeface="프리텐다드"/>
                          <a:cs typeface="프리텐다드"/>
                          <a:sym typeface="프리텐다드"/>
                        </a:rPr>
                        <a:t>파인튜닝</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인식기를</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다시</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읽기에</a:t>
                      </a:r>
                      <a:r>
                        <a:rPr lang="en-US" sz="1959" dirty="0">
                          <a:solidFill>
                            <a:srgbClr val="1A1A1A"/>
                          </a:solidFill>
                          <a:latin typeface="프리텐다드"/>
                          <a:ea typeface="프리텐다드"/>
                          <a:cs typeface="프리텐다드"/>
                          <a:sym typeface="프리텐다드"/>
                        </a:rPr>
                        <a:t> </a:t>
                      </a:r>
                      <a:r>
                        <a:rPr lang="ko-KR" altLang="en-US" sz="1959" dirty="0">
                          <a:solidFill>
                            <a:srgbClr val="1A1A1A"/>
                          </a:solidFill>
                          <a:latin typeface="프리텐다드"/>
                          <a:ea typeface="프리텐다드"/>
                          <a:cs typeface="프리텐다드"/>
                          <a:sym typeface="프리텐다드"/>
                        </a:rPr>
                        <a:t>적용</a:t>
                      </a:r>
                      <a:endParaRPr lang="en-US" sz="1100" dirty="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1A1A1A"/>
                          </a:solidFill>
                          <a:latin typeface="프리텐다드"/>
                          <a:ea typeface="프리텐다드"/>
                          <a:cs typeface="프리텐다드"/>
                          <a:sym typeface="프리텐다드"/>
                        </a:rPr>
                        <a:t>+86 / −64</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1A1A1A"/>
                          </a:solidFill>
                          <a:latin typeface="프리텐다드"/>
                          <a:ea typeface="프리텐다드"/>
                          <a:cs typeface="프리텐다드"/>
                          <a:sym typeface="프리텐다드"/>
                        </a:rPr>
                        <a:t>기각</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dirty="0" err="1">
                          <a:solidFill>
                            <a:srgbClr val="1A1A1A"/>
                          </a:solidFill>
                          <a:latin typeface="프리텐다드"/>
                          <a:ea typeface="프리텐다드"/>
                          <a:cs typeface="프리텐다드"/>
                          <a:sym typeface="프리텐다드"/>
                        </a:rPr>
                        <a:t>점수가</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올라도</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맞던</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답을</a:t>
                      </a:r>
                      <a:r>
                        <a:rPr lang="en-US" sz="1959" dirty="0">
                          <a:solidFill>
                            <a:srgbClr val="1A1A1A"/>
                          </a:solidFill>
                          <a:latin typeface="프리텐다드"/>
                          <a:ea typeface="프리텐다드"/>
                          <a:cs typeface="프리텐다드"/>
                          <a:sym typeface="프리텐다드"/>
                        </a:rPr>
                        <a:t> </a:t>
                      </a:r>
                      <a:r>
                        <a:rPr lang="ko-KR" altLang="en-US" sz="1959" dirty="0">
                          <a:solidFill>
                            <a:srgbClr val="1A1A1A"/>
                          </a:solidFill>
                          <a:latin typeface="프리텐다드"/>
                          <a:ea typeface="프리텐다드"/>
                          <a:cs typeface="프리텐다드"/>
                          <a:sym typeface="프리텐다드"/>
                        </a:rPr>
                        <a:t>틀리게 만들면 버림</a:t>
                      </a:r>
                      <a:endParaRPr lang="en-US" sz="1100" dirty="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09600">
                <a:tc>
                  <a:txBody>
                    <a:bodyPr/>
                    <a:lstStyle/>
                    <a:p>
                      <a:pPr algn="l">
                        <a:lnSpc>
                          <a:spcPts val="2351"/>
                        </a:lnSpc>
                        <a:defRPr/>
                      </a:pPr>
                      <a:r>
                        <a:rPr lang="en-US" sz="1959">
                          <a:solidFill>
                            <a:srgbClr val="1A1A1A"/>
                          </a:solidFill>
                          <a:latin typeface="프리텐다드"/>
                          <a:ea typeface="프리텐다드"/>
                          <a:cs typeface="프리텐다드"/>
                          <a:sym typeface="프리텐다드"/>
                        </a:rPr>
                        <a:t>합성 도트 글자 3,000장 추가 학습</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1A1A1A"/>
                          </a:solidFill>
                          <a:latin typeface="프리텐다드"/>
                          <a:ea typeface="프리텐다드"/>
                          <a:cs typeface="프리텐다드"/>
                          <a:sym typeface="프리텐다드"/>
                        </a:rPr>
                        <a:t>정밀도 84 → 81%</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1A1A1A"/>
                          </a:solidFill>
                          <a:latin typeface="프리텐다드"/>
                          <a:ea typeface="프리텐다드"/>
                          <a:cs typeface="프리텐다드"/>
                          <a:sym typeface="프리텐다드"/>
                        </a:rPr>
                        <a:t>기각</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dirty="0" err="1">
                          <a:solidFill>
                            <a:srgbClr val="1A1A1A"/>
                          </a:solidFill>
                          <a:latin typeface="프리텐다드"/>
                          <a:ea typeface="프리텐다드"/>
                          <a:cs typeface="프리텐다드"/>
                          <a:sym typeface="프리텐다드"/>
                        </a:rPr>
                        <a:t>진짜</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글씨를</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대충</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읽게</a:t>
                      </a:r>
                      <a:r>
                        <a:rPr lang="en-US" sz="1959" dirty="0">
                          <a:solidFill>
                            <a:srgbClr val="1A1A1A"/>
                          </a:solidFill>
                          <a:latin typeface="프리텐다드"/>
                          <a:ea typeface="프리텐다드"/>
                          <a:cs typeface="프리텐다드"/>
                          <a:sym typeface="프리텐다드"/>
                        </a:rPr>
                        <a:t> 됨</a:t>
                      </a:r>
                      <a:endParaRPr lang="en-US" sz="1100" dirty="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609600">
                <a:tc>
                  <a:txBody>
                    <a:bodyPr/>
                    <a:lstStyle/>
                    <a:p>
                      <a:pPr algn="l">
                        <a:lnSpc>
                          <a:spcPts val="2351"/>
                        </a:lnSpc>
                        <a:defRPr/>
                      </a:pPr>
                      <a:r>
                        <a:rPr lang="en-US" sz="1959">
                          <a:solidFill>
                            <a:srgbClr val="1A1A1A"/>
                          </a:solidFill>
                          <a:latin typeface="프리텐다드"/>
                          <a:ea typeface="프리텐다드"/>
                          <a:cs typeface="프리텐다드"/>
                          <a:sym typeface="프리텐다드"/>
                        </a:rPr>
                        <a:t>인식기 셋 다수결</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1A1A1A"/>
                          </a:solidFill>
                          <a:latin typeface="프리텐다드"/>
                          <a:ea typeface="프리텐다드"/>
                          <a:cs typeface="프리텐다드"/>
                          <a:sym typeface="프리텐다드"/>
                        </a:rPr>
                        <a:t>+8 / −4, 장당 +0.43초</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1A1A1A"/>
                          </a:solidFill>
                          <a:latin typeface="프리텐다드"/>
                          <a:ea typeface="프리텐다드"/>
                          <a:cs typeface="프리텐다드"/>
                          <a:sym typeface="프리텐다드"/>
                        </a:rPr>
                        <a:t>기각</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1A1A1A"/>
                          </a:solidFill>
                          <a:latin typeface="프리텐다드"/>
                          <a:ea typeface="프리텐다드"/>
                          <a:cs typeface="프리텐다드"/>
                          <a:sym typeface="프리텐다드"/>
                        </a:rPr>
                        <a:t>퇴보가 회복의 1/3 초과</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09600">
                <a:tc>
                  <a:txBody>
                    <a:bodyPr/>
                    <a:lstStyle/>
                    <a:p>
                      <a:pPr algn="l">
                        <a:lnSpc>
                          <a:spcPts val="2351"/>
                        </a:lnSpc>
                        <a:defRPr/>
                      </a:pPr>
                      <a:r>
                        <a:rPr lang="en-US" sz="1959">
                          <a:solidFill>
                            <a:srgbClr val="1A1A1A"/>
                          </a:solidFill>
                          <a:latin typeface="프리텐다드"/>
                          <a:ea typeface="프리텐다드"/>
                          <a:cs typeface="프리텐다드"/>
                          <a:sym typeface="프리텐다드"/>
                        </a:rPr>
                        <a:t>탐지 해상도 상향</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1A1A1A"/>
                          </a:solidFill>
                          <a:latin typeface="프리텐다드"/>
                          <a:ea typeface="프리텐다드"/>
                          <a:cs typeface="프리텐다드"/>
                          <a:sym typeface="프리텐다드"/>
                        </a:rPr>
                        <a:t>±1%p, 시간 +30~50%</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1A1A1A"/>
                          </a:solidFill>
                          <a:latin typeface="프리텐다드"/>
                          <a:ea typeface="프리텐다드"/>
                          <a:cs typeface="프리텐다드"/>
                          <a:sym typeface="프리텐다드"/>
                        </a:rPr>
                        <a:t>기각</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1A1A1A"/>
                          </a:solidFill>
                          <a:latin typeface="프리텐다드"/>
                          <a:ea typeface="프리텐다드"/>
                          <a:cs typeface="프리텐다드"/>
                          <a:sym typeface="프리텐다드"/>
                        </a:rPr>
                        <a:t>원인이 해상도가 아님</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609600">
                <a:tc>
                  <a:txBody>
                    <a:bodyPr/>
                    <a:lstStyle/>
                    <a:p>
                      <a:pPr algn="l">
                        <a:lnSpc>
                          <a:spcPts val="2351"/>
                        </a:lnSpc>
                        <a:defRPr/>
                      </a:pPr>
                      <a:r>
                        <a:rPr lang="en-US" sz="1959">
                          <a:solidFill>
                            <a:srgbClr val="1A1A1A"/>
                          </a:solidFill>
                          <a:latin typeface="프리텐다드"/>
                          <a:ea typeface="프리텐다드"/>
                          <a:cs typeface="프리텐다드"/>
                          <a:sym typeface="프리텐다드"/>
                        </a:rPr>
                        <a:t>한국어 인식기로 한 번 더 읽기</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1A1A1A"/>
                          </a:solidFill>
                          <a:latin typeface="프리텐다드"/>
                          <a:ea typeface="프리텐다드"/>
                          <a:cs typeface="프리텐다드"/>
                          <a:sym typeface="프리텐다드"/>
                        </a:rPr>
                        <a:t>판정용 +7 / −2, 장당 +0.3~0.7초</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1A1A1A"/>
                          </a:solidFill>
                          <a:latin typeface="프리텐다드"/>
                          <a:ea typeface="프리텐다드"/>
                          <a:cs typeface="프리텐다드"/>
                          <a:sym typeface="프리텐다드"/>
                        </a:rPr>
                        <a:t>기본 끔</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dirty="0" err="1">
                          <a:solidFill>
                            <a:srgbClr val="1A1A1A"/>
                          </a:solidFill>
                          <a:latin typeface="프리텐다드"/>
                          <a:ea typeface="프리텐다드"/>
                          <a:cs typeface="프리텐다드"/>
                          <a:sym typeface="프리텐다드"/>
                        </a:rPr>
                        <a:t>시간이</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한도의</a:t>
                      </a:r>
                      <a:r>
                        <a:rPr lang="en-US" sz="1959" dirty="0">
                          <a:solidFill>
                            <a:srgbClr val="1A1A1A"/>
                          </a:solidFill>
                          <a:latin typeface="프리텐다드"/>
                          <a:ea typeface="프리텐다드"/>
                          <a:cs typeface="프리텐다드"/>
                          <a:sym typeface="프리텐다드"/>
                        </a:rPr>
                        <a:t> 94% </a:t>
                      </a:r>
                      <a:r>
                        <a:rPr lang="en-US" sz="1959" dirty="0" err="1">
                          <a:solidFill>
                            <a:srgbClr val="1A1A1A"/>
                          </a:solidFill>
                          <a:latin typeface="프리텐다드"/>
                          <a:ea typeface="프리텐다드"/>
                          <a:cs typeface="프리텐다드"/>
                          <a:sym typeface="프리텐다드"/>
                        </a:rPr>
                        <a:t>까지</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차서</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여유를</a:t>
                      </a:r>
                      <a:r>
                        <a:rPr lang="en-US" sz="1959" dirty="0">
                          <a:solidFill>
                            <a:srgbClr val="1A1A1A"/>
                          </a:solidFill>
                          <a:latin typeface="프리텐다드"/>
                          <a:ea typeface="프리텐다드"/>
                          <a:cs typeface="프리텐다드"/>
                          <a:sym typeface="프리텐다드"/>
                        </a:rPr>
                        <a:t> </a:t>
                      </a:r>
                      <a:r>
                        <a:rPr lang="ko-KR" altLang="en-US" sz="1959" dirty="0">
                          <a:solidFill>
                            <a:srgbClr val="1A1A1A"/>
                          </a:solidFill>
                          <a:latin typeface="프리텐다드"/>
                          <a:ea typeface="프리텐다드"/>
                          <a:cs typeface="프리텐다드"/>
                          <a:sym typeface="프리텐다드"/>
                        </a:rPr>
                        <a:t>택함</a:t>
                      </a:r>
                      <a:endParaRPr lang="en-US" sz="1100" dirty="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grpSp>
        <p:nvGrpSpPr>
          <p:cNvPr id="12" name="Group 12"/>
          <p:cNvGrpSpPr/>
          <p:nvPr/>
        </p:nvGrpSpPr>
        <p:grpSpPr>
          <a:xfrm>
            <a:off x="535943" y="8674103"/>
            <a:ext cx="17216123" cy="793499"/>
            <a:chOff x="0" y="0"/>
            <a:chExt cx="22954831" cy="1057999"/>
          </a:xfrm>
        </p:grpSpPr>
        <p:sp>
          <p:nvSpPr>
            <p:cNvPr id="13" name="Freeform 13"/>
            <p:cNvSpPr/>
            <p:nvPr/>
          </p:nvSpPr>
          <p:spPr>
            <a:xfrm>
              <a:off x="0" y="0"/>
              <a:ext cx="22954869" cy="1058037"/>
            </a:xfrm>
            <a:custGeom>
              <a:avLst/>
              <a:gdLst/>
              <a:ahLst/>
              <a:cxnLst/>
              <a:rect l="l" t="t" r="r" b="b"/>
              <a:pathLst>
                <a:path w="22954869" h="1058037">
                  <a:moveTo>
                    <a:pt x="0" y="201549"/>
                  </a:moveTo>
                  <a:cubicBezTo>
                    <a:pt x="0" y="90170"/>
                    <a:pt x="90170" y="0"/>
                    <a:pt x="201549" y="0"/>
                  </a:cubicBezTo>
                  <a:lnTo>
                    <a:pt x="22753320" y="0"/>
                  </a:lnTo>
                  <a:cubicBezTo>
                    <a:pt x="22864572" y="0"/>
                    <a:pt x="22954869" y="90170"/>
                    <a:pt x="22954869" y="201549"/>
                  </a:cubicBezTo>
                  <a:lnTo>
                    <a:pt x="22954869" y="856488"/>
                  </a:lnTo>
                  <a:cubicBezTo>
                    <a:pt x="22954869" y="967740"/>
                    <a:pt x="22864699" y="1058037"/>
                    <a:pt x="22753320" y="1058037"/>
                  </a:cubicBezTo>
                  <a:lnTo>
                    <a:pt x="201549" y="1058037"/>
                  </a:lnTo>
                  <a:cubicBezTo>
                    <a:pt x="90170" y="1058037"/>
                    <a:pt x="0" y="967740"/>
                    <a:pt x="0" y="856488"/>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14" name="Group 14"/>
          <p:cNvGrpSpPr/>
          <p:nvPr/>
        </p:nvGrpSpPr>
        <p:grpSpPr>
          <a:xfrm>
            <a:off x="822960" y="8686800"/>
            <a:ext cx="16642080" cy="768096"/>
            <a:chOff x="0" y="0"/>
            <a:chExt cx="22189440" cy="1024128"/>
          </a:xfrm>
        </p:grpSpPr>
        <p:sp>
          <p:nvSpPr>
            <p:cNvPr id="15" name="Freeform 15"/>
            <p:cNvSpPr/>
            <p:nvPr/>
          </p:nvSpPr>
          <p:spPr>
            <a:xfrm>
              <a:off x="0" y="0"/>
              <a:ext cx="22189439" cy="1024128"/>
            </a:xfrm>
            <a:custGeom>
              <a:avLst/>
              <a:gdLst/>
              <a:ahLst/>
              <a:cxnLst/>
              <a:rect l="l" t="t" r="r" b="b"/>
              <a:pathLst>
                <a:path w="22189439" h="1024128">
                  <a:moveTo>
                    <a:pt x="0" y="0"/>
                  </a:moveTo>
                  <a:lnTo>
                    <a:pt x="22189439" y="0"/>
                  </a:lnTo>
                  <a:lnTo>
                    <a:pt x="22189439" y="1024128"/>
                  </a:lnTo>
                  <a:lnTo>
                    <a:pt x="0" y="1024128"/>
                  </a:lnTo>
                  <a:close/>
                </a:path>
              </a:pathLst>
            </a:custGeom>
            <a:blipFill>
              <a:blip r:embed="rId3">
                <a:alphaModFix amt="0"/>
              </a:blip>
              <a:stretch>
                <a:fillRect t="-372175" b="-372175"/>
              </a:stretch>
            </a:blipFill>
          </p:spPr>
          <p:txBody>
            <a:bodyPr/>
            <a:lstStyle/>
            <a:p>
              <a:endParaRPr lang="ko-KR" altLang="en-US"/>
            </a:p>
          </p:txBody>
        </p:sp>
        <p:sp>
          <p:nvSpPr>
            <p:cNvPr id="16" name="TextBox 16"/>
            <p:cNvSpPr txBox="1"/>
            <p:nvPr/>
          </p:nvSpPr>
          <p:spPr>
            <a:xfrm>
              <a:off x="0" y="0"/>
              <a:ext cx="22189440" cy="1024128"/>
            </a:xfrm>
            <a:prstGeom prst="rect">
              <a:avLst/>
            </a:prstGeom>
          </p:spPr>
          <p:txBody>
            <a:bodyPr lIns="0" tIns="0" rIns="0" bIns="0" rtlCol="0" anchor="ctr"/>
            <a:lstStyle/>
            <a:p>
              <a:pPr algn="ctr">
                <a:lnSpc>
                  <a:spcPts val="2999"/>
                </a:lnSpc>
              </a:pPr>
              <a:r>
                <a:rPr lang="en-US" sz="2499" dirty="0" err="1">
                  <a:solidFill>
                    <a:srgbClr val="1A1A1A"/>
                  </a:solidFill>
                  <a:latin typeface="프리텐다드"/>
                  <a:ea typeface="프리텐다드"/>
                  <a:cs typeface="프리텐다드"/>
                  <a:sym typeface="프리텐다드"/>
                </a:rPr>
                <a:t>파인튜닝은</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점수를</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올렸지만</a:t>
              </a:r>
              <a:r>
                <a:rPr lang="en-US" sz="2499" dirty="0">
                  <a:solidFill>
                    <a:srgbClr val="1A1A1A"/>
                  </a:solidFill>
                  <a:latin typeface="프리텐다드"/>
                  <a:ea typeface="프리텐다드"/>
                  <a:cs typeface="프리텐다드"/>
                  <a:sym typeface="프리텐다드"/>
                </a:rPr>
                <a:t> </a:t>
              </a:r>
              <a:r>
                <a:rPr lang="en-US" sz="2499" b="1" dirty="0" err="1">
                  <a:solidFill>
                    <a:srgbClr val="8B0000"/>
                  </a:solidFill>
                  <a:latin typeface="프리텐다드"/>
                  <a:ea typeface="프리텐다드"/>
                  <a:cs typeface="프리텐다드"/>
                  <a:sym typeface="프리텐다드"/>
                </a:rPr>
                <a:t>퇴보</a:t>
              </a:r>
              <a:r>
                <a:rPr lang="en-US" sz="2499" b="1" dirty="0">
                  <a:solidFill>
                    <a:srgbClr val="8B0000"/>
                  </a:solidFill>
                  <a:latin typeface="프리텐다드"/>
                  <a:ea typeface="프리텐다드"/>
                  <a:cs typeface="프리텐다드"/>
                  <a:sym typeface="프리텐다드"/>
                </a:rPr>
                <a:t> 64장</a:t>
              </a:r>
              <a:r>
                <a:rPr lang="en-US" sz="2499" b="1"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때문에</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버렸습니다</a:t>
              </a:r>
              <a:r>
                <a:rPr lang="en-US" sz="2499" dirty="0">
                  <a:solidFill>
                    <a:srgbClr val="1A1A1A"/>
                  </a:solidFill>
                  <a:latin typeface="프리텐다드"/>
                  <a:ea typeface="프리텐다드"/>
                  <a:cs typeface="프리텐다드"/>
                  <a:sym typeface="프리텐다드"/>
                </a:rPr>
                <a:t>. </a:t>
              </a:r>
              <a:r>
                <a:rPr lang="ko-KR" altLang="en-US" sz="2499" dirty="0">
                  <a:solidFill>
                    <a:srgbClr val="1A1A1A"/>
                  </a:solidFill>
                  <a:latin typeface="프리텐다드"/>
                  <a:ea typeface="프리텐다드"/>
                  <a:cs typeface="프리텐다드"/>
                  <a:sym typeface="프리텐다드"/>
                </a:rPr>
                <a:t>점수보다 회복과 퇴보로 판단했습니다</a:t>
              </a:r>
              <a:r>
                <a:rPr lang="en-US" altLang="ko-KR" sz="2499" dirty="0">
                  <a:solidFill>
                    <a:srgbClr val="1A1A1A"/>
                  </a:solidFill>
                  <a:latin typeface="프리텐다드"/>
                  <a:ea typeface="프리텐다드"/>
                  <a:cs typeface="프리텐다드"/>
                  <a:sym typeface="프리텐다드"/>
                </a:rPr>
                <a:t>.</a:t>
              </a:r>
              <a:endParaRPr lang="en-US" sz="2499" dirty="0">
                <a:solidFill>
                  <a:srgbClr val="1A1A1A"/>
                </a:solidFill>
                <a:latin typeface="프리텐다드"/>
                <a:ea typeface="프리텐다드"/>
                <a:cs typeface="프리텐다드"/>
                <a:sym typeface="프리텐다드"/>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5943" y="535943"/>
            <a:ext cx="153419" cy="756923"/>
            <a:chOff x="0" y="0"/>
            <a:chExt cx="204559" cy="1009231"/>
          </a:xfrm>
        </p:grpSpPr>
        <p:sp>
          <p:nvSpPr>
            <p:cNvPr id="3" name="Freeform 3"/>
            <p:cNvSpPr/>
            <p:nvPr/>
          </p:nvSpPr>
          <p:spPr>
            <a:xfrm>
              <a:off x="0" y="0"/>
              <a:ext cx="204597" cy="1009269"/>
            </a:xfrm>
            <a:custGeom>
              <a:avLst/>
              <a:gdLst/>
              <a:ahLst/>
              <a:cxnLst/>
              <a:rect l="l" t="t" r="r" b="b"/>
              <a:pathLst>
                <a:path w="204597" h="1009269">
                  <a:moveTo>
                    <a:pt x="0" y="0"/>
                  </a:moveTo>
                  <a:lnTo>
                    <a:pt x="204597" y="0"/>
                  </a:lnTo>
                  <a:lnTo>
                    <a:pt x="204597" y="1009269"/>
                  </a:lnTo>
                  <a:lnTo>
                    <a:pt x="0" y="1009269"/>
                  </a:ln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4" name="Group 4"/>
          <p:cNvGrpSpPr/>
          <p:nvPr/>
        </p:nvGrpSpPr>
        <p:grpSpPr>
          <a:xfrm>
            <a:off x="822960" y="457200"/>
            <a:ext cx="15910560" cy="914400"/>
            <a:chOff x="0" y="0"/>
            <a:chExt cx="21214080" cy="1219200"/>
          </a:xfrm>
        </p:grpSpPr>
        <p:sp>
          <p:nvSpPr>
            <p:cNvPr id="5" name="Freeform 5"/>
            <p:cNvSpPr/>
            <p:nvPr/>
          </p:nvSpPr>
          <p:spPr>
            <a:xfrm>
              <a:off x="0" y="0"/>
              <a:ext cx="21214080" cy="1219200"/>
            </a:xfrm>
            <a:custGeom>
              <a:avLst/>
              <a:gdLst/>
              <a:ahLst/>
              <a:cxnLst/>
              <a:rect l="l" t="t" r="r" b="b"/>
              <a:pathLst>
                <a:path w="21214080" h="1219200">
                  <a:moveTo>
                    <a:pt x="0" y="0"/>
                  </a:moveTo>
                  <a:lnTo>
                    <a:pt x="21214080" y="0"/>
                  </a:lnTo>
                  <a:lnTo>
                    <a:pt x="21214080" y="1219200"/>
                  </a:lnTo>
                  <a:lnTo>
                    <a:pt x="0" y="1219200"/>
                  </a:lnTo>
                  <a:close/>
                </a:path>
              </a:pathLst>
            </a:custGeom>
            <a:blipFill>
              <a:blip r:embed="rId3">
                <a:alphaModFix amt="0"/>
              </a:blip>
              <a:stretch>
                <a:fillRect t="-289039" b="-289039"/>
              </a:stretch>
            </a:blipFill>
          </p:spPr>
          <p:txBody>
            <a:bodyPr/>
            <a:lstStyle/>
            <a:p>
              <a:endParaRPr lang="ko-KR" altLang="en-US"/>
            </a:p>
          </p:txBody>
        </p:sp>
        <p:sp>
          <p:nvSpPr>
            <p:cNvPr id="6" name="TextBox 6"/>
            <p:cNvSpPr txBox="1"/>
            <p:nvPr/>
          </p:nvSpPr>
          <p:spPr>
            <a:xfrm>
              <a:off x="0" y="0"/>
              <a:ext cx="21214080" cy="1219200"/>
            </a:xfrm>
            <a:prstGeom prst="rect">
              <a:avLst/>
            </a:prstGeom>
          </p:spPr>
          <p:txBody>
            <a:bodyPr lIns="0" tIns="0" rIns="0" bIns="0" rtlCol="0" anchor="ctr"/>
            <a:lstStyle/>
            <a:p>
              <a:pPr algn="l">
                <a:lnSpc>
                  <a:spcPts val="4560"/>
                </a:lnSpc>
              </a:pPr>
              <a:r>
                <a:rPr lang="en-US" sz="3800" b="1" dirty="0" err="1">
                  <a:solidFill>
                    <a:srgbClr val="1A1A1A"/>
                  </a:solidFill>
                  <a:latin typeface="프리텐다드 Bold"/>
                  <a:ea typeface="프리텐다드 Bold"/>
                  <a:cs typeface="프리텐다드 Bold"/>
                  <a:sym typeface="프리텐다드 Bold"/>
                </a:rPr>
                <a:t>속도·효율</a:t>
              </a:r>
              <a:r>
                <a:rPr lang="en-US" sz="3800" b="1" dirty="0">
                  <a:solidFill>
                    <a:srgbClr val="1A1A1A"/>
                  </a:solidFill>
                  <a:latin typeface="프리텐다드 Bold"/>
                  <a:ea typeface="프리텐다드 Bold"/>
                  <a:cs typeface="프리텐다드 Bold"/>
                  <a:sym typeface="프리텐다드 Bold"/>
                </a:rPr>
                <a:t> : </a:t>
              </a:r>
              <a:r>
                <a:rPr lang="en-US" sz="3800" b="1" dirty="0" err="1">
                  <a:solidFill>
                    <a:srgbClr val="8B0000"/>
                  </a:solidFill>
                  <a:latin typeface="프리텐다드 Bold"/>
                  <a:ea typeface="프리텐다드 Bold"/>
                  <a:cs typeface="프리텐다드 Bold"/>
                  <a:sym typeface="프리텐다드 Bold"/>
                </a:rPr>
                <a:t>한도의</a:t>
              </a:r>
              <a:r>
                <a:rPr lang="en-US" sz="3800" b="1" dirty="0">
                  <a:solidFill>
                    <a:srgbClr val="8B0000"/>
                  </a:solidFill>
                  <a:latin typeface="프리텐다드 Bold"/>
                  <a:ea typeface="프리텐다드 Bold"/>
                  <a:cs typeface="프리텐다드 Bold"/>
                  <a:sym typeface="프리텐다드 Bold"/>
                </a:rPr>
                <a:t> 55 ~ 79%, </a:t>
              </a:r>
              <a:r>
                <a:rPr lang="en-US" sz="3800" b="1" dirty="0" err="1">
                  <a:solidFill>
                    <a:srgbClr val="8B0000"/>
                  </a:solidFill>
                  <a:latin typeface="프리텐다드 Bold"/>
                  <a:ea typeface="프리텐다드 Bold"/>
                  <a:cs typeface="프리텐다드 Bold"/>
                  <a:sym typeface="프리텐다드 Bold"/>
                </a:rPr>
                <a:t>그리고</a:t>
              </a:r>
              <a:r>
                <a:rPr lang="en-US" sz="3800" b="1" dirty="0">
                  <a:solidFill>
                    <a:srgbClr val="8B0000"/>
                  </a:solidFill>
                  <a:latin typeface="프리텐다드 Bold"/>
                  <a:ea typeface="프리텐다드 Bold"/>
                  <a:cs typeface="프리텐다드 Bold"/>
                  <a:sym typeface="프리텐다드 Bold"/>
                </a:rPr>
                <a:t> </a:t>
              </a:r>
              <a:r>
                <a:rPr lang="en-US" sz="3800" b="1" dirty="0" err="1">
                  <a:solidFill>
                    <a:srgbClr val="8B0000"/>
                  </a:solidFill>
                  <a:latin typeface="프리텐다드 Bold"/>
                  <a:ea typeface="프리텐다드 Bold"/>
                  <a:cs typeface="프리텐다드 Bold"/>
                  <a:sym typeface="프리텐다드 Bold"/>
                </a:rPr>
                <a:t>완주</a:t>
              </a:r>
              <a:r>
                <a:rPr lang="en-US" sz="3800" b="1" dirty="0">
                  <a:solidFill>
                    <a:srgbClr val="8B0000"/>
                  </a:solidFill>
                  <a:latin typeface="프리텐다드 Bold"/>
                  <a:ea typeface="프리텐다드 Bold"/>
                  <a:cs typeface="프리텐다드 Bold"/>
                  <a:sym typeface="프리텐다드 Bold"/>
                </a:rPr>
                <a:t> </a:t>
              </a:r>
              <a:r>
                <a:rPr lang="en-US" sz="3800" b="1" dirty="0" err="1">
                  <a:solidFill>
                    <a:srgbClr val="8B0000"/>
                  </a:solidFill>
                  <a:latin typeface="프리텐다드 Bold"/>
                  <a:ea typeface="프리텐다드 Bold"/>
                  <a:cs typeface="프리텐다드 Bold"/>
                  <a:sym typeface="프리텐다드 Bold"/>
                </a:rPr>
                <a:t>보장</a:t>
              </a:r>
              <a:endParaRPr lang="en-US" sz="3800" b="1" dirty="0">
                <a:solidFill>
                  <a:srgbClr val="8B0000"/>
                </a:solidFill>
                <a:latin typeface="프리텐다드 Bold"/>
                <a:ea typeface="프리텐다드 Bold"/>
                <a:cs typeface="프리텐다드 Bold"/>
                <a:sym typeface="프리텐다드 Bold"/>
              </a:endParaRPr>
            </a:p>
          </p:txBody>
        </p:sp>
      </p:grpSp>
      <p:sp>
        <p:nvSpPr>
          <p:cNvPr id="7" name="AutoShape 7"/>
          <p:cNvSpPr/>
          <p:nvPr/>
        </p:nvSpPr>
        <p:spPr>
          <a:xfrm rot="3780">
            <a:off x="539105" y="1494854"/>
            <a:ext cx="17209780" cy="0"/>
          </a:xfrm>
          <a:prstGeom prst="line">
            <a:avLst/>
          </a:prstGeom>
          <a:ln w="9525" cap="rnd">
            <a:solidFill>
              <a:srgbClr val="BFBFBF"/>
            </a:solidFill>
            <a:prstDash val="solid"/>
            <a:headEnd type="none" w="sm" len="sm"/>
            <a:tailEnd type="none" w="sm" len="sm"/>
          </a:ln>
        </p:spPr>
        <p:txBody>
          <a:bodyPr/>
          <a:lstStyle/>
          <a:p>
            <a:endParaRPr lang="ko-KR" altLang="en-US"/>
          </a:p>
        </p:txBody>
      </p:sp>
      <p:grpSp>
        <p:nvGrpSpPr>
          <p:cNvPr id="8" name="Group 8"/>
          <p:cNvGrpSpPr/>
          <p:nvPr/>
        </p:nvGrpSpPr>
        <p:grpSpPr>
          <a:xfrm>
            <a:off x="17007840" y="219456"/>
            <a:ext cx="914400" cy="457200"/>
            <a:chOff x="0" y="0"/>
            <a:chExt cx="1219200" cy="609600"/>
          </a:xfrm>
        </p:grpSpPr>
        <p:sp>
          <p:nvSpPr>
            <p:cNvPr id="9" name="Freeform 9"/>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10" name="TextBox 10"/>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1A1A1A"/>
                  </a:solidFill>
                  <a:latin typeface="프리텐다드"/>
                  <a:ea typeface="프리텐다드"/>
                  <a:cs typeface="프리텐다드"/>
                  <a:sym typeface="프리텐다드"/>
                </a:rPr>
                <a:t>13</a:t>
              </a:r>
            </a:p>
          </p:txBody>
        </p:sp>
      </p:grpSp>
      <p:grpSp>
        <p:nvGrpSpPr>
          <p:cNvPr id="11" name="Group 11"/>
          <p:cNvGrpSpPr/>
          <p:nvPr/>
        </p:nvGrpSpPr>
        <p:grpSpPr>
          <a:xfrm>
            <a:off x="535943" y="1852679"/>
            <a:ext cx="4158491" cy="2402843"/>
            <a:chOff x="0" y="0"/>
            <a:chExt cx="5544655" cy="3203791"/>
          </a:xfrm>
        </p:grpSpPr>
        <p:sp>
          <p:nvSpPr>
            <p:cNvPr id="12" name="Freeform 12"/>
            <p:cNvSpPr/>
            <p:nvPr/>
          </p:nvSpPr>
          <p:spPr>
            <a:xfrm>
              <a:off x="0" y="0"/>
              <a:ext cx="5544566" cy="3203702"/>
            </a:xfrm>
            <a:custGeom>
              <a:avLst/>
              <a:gdLst/>
              <a:ahLst/>
              <a:cxnLst/>
              <a:rect l="l" t="t" r="r" b="b"/>
              <a:pathLst>
                <a:path w="5544566" h="3203702">
                  <a:moveTo>
                    <a:pt x="0" y="197104"/>
                  </a:moveTo>
                  <a:cubicBezTo>
                    <a:pt x="0" y="88265"/>
                    <a:pt x="88265" y="0"/>
                    <a:pt x="197104" y="0"/>
                  </a:cubicBezTo>
                  <a:lnTo>
                    <a:pt x="5347462" y="0"/>
                  </a:lnTo>
                  <a:cubicBezTo>
                    <a:pt x="5456301" y="0"/>
                    <a:pt x="5544566" y="88265"/>
                    <a:pt x="5544566" y="197104"/>
                  </a:cubicBezTo>
                  <a:lnTo>
                    <a:pt x="5544566" y="3006598"/>
                  </a:lnTo>
                  <a:cubicBezTo>
                    <a:pt x="5544566" y="3115437"/>
                    <a:pt x="5456301" y="3203702"/>
                    <a:pt x="5347462" y="3203702"/>
                  </a:cubicBezTo>
                  <a:lnTo>
                    <a:pt x="197104" y="3203702"/>
                  </a:lnTo>
                  <a:cubicBezTo>
                    <a:pt x="88265" y="3203829"/>
                    <a:pt x="0" y="3115564"/>
                    <a:pt x="0" y="3006598"/>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13" name="Group 13"/>
          <p:cNvGrpSpPr/>
          <p:nvPr/>
        </p:nvGrpSpPr>
        <p:grpSpPr>
          <a:xfrm>
            <a:off x="822960" y="1975104"/>
            <a:ext cx="3767328" cy="1005840"/>
            <a:chOff x="0" y="0"/>
            <a:chExt cx="5023104" cy="1341120"/>
          </a:xfrm>
        </p:grpSpPr>
        <p:sp>
          <p:nvSpPr>
            <p:cNvPr id="14" name="Freeform 14"/>
            <p:cNvSpPr/>
            <p:nvPr/>
          </p:nvSpPr>
          <p:spPr>
            <a:xfrm>
              <a:off x="0" y="0"/>
              <a:ext cx="5023104" cy="1341120"/>
            </a:xfrm>
            <a:custGeom>
              <a:avLst/>
              <a:gdLst/>
              <a:ahLst/>
              <a:cxnLst/>
              <a:rect l="l" t="t" r="r" b="b"/>
              <a:pathLst>
                <a:path w="5023104" h="1341120">
                  <a:moveTo>
                    <a:pt x="0" y="0"/>
                  </a:moveTo>
                  <a:lnTo>
                    <a:pt x="5023104" y="0"/>
                  </a:lnTo>
                  <a:lnTo>
                    <a:pt x="5023104" y="1341120"/>
                  </a:lnTo>
                  <a:lnTo>
                    <a:pt x="0" y="1341120"/>
                  </a:lnTo>
                  <a:close/>
                </a:path>
              </a:pathLst>
            </a:custGeom>
            <a:blipFill>
              <a:blip r:embed="rId3">
                <a:alphaModFix amt="0"/>
              </a:blip>
              <a:stretch>
                <a:fillRect t="-22980" b="-22980"/>
              </a:stretch>
            </a:blipFill>
          </p:spPr>
          <p:txBody>
            <a:bodyPr/>
            <a:lstStyle/>
            <a:p>
              <a:endParaRPr lang="ko-KR" altLang="en-US"/>
            </a:p>
          </p:txBody>
        </p:sp>
        <p:sp>
          <p:nvSpPr>
            <p:cNvPr id="15" name="TextBox 15"/>
            <p:cNvSpPr txBox="1"/>
            <p:nvPr/>
          </p:nvSpPr>
          <p:spPr>
            <a:xfrm>
              <a:off x="0" y="-9525"/>
              <a:ext cx="5023104" cy="1350645"/>
            </a:xfrm>
            <a:prstGeom prst="rect">
              <a:avLst/>
            </a:prstGeom>
          </p:spPr>
          <p:txBody>
            <a:bodyPr lIns="0" tIns="0" rIns="0" bIns="0" rtlCol="0" anchor="ctr"/>
            <a:lstStyle/>
            <a:p>
              <a:pPr algn="l">
                <a:lnSpc>
                  <a:spcPts val="4320"/>
                </a:lnSpc>
              </a:pPr>
              <a:r>
                <a:rPr lang="en-US" sz="3600" b="1">
                  <a:solidFill>
                    <a:srgbClr val="8B0000"/>
                  </a:solidFill>
                  <a:latin typeface="프리텐다드 Heavy"/>
                  <a:ea typeface="프리텐다드 Heavy"/>
                  <a:cs typeface="프리텐다드 Heavy"/>
                  <a:sym typeface="프리텐다드 Heavy"/>
                </a:rPr>
                <a:t>2.7 ~ 4.0초</a:t>
              </a:r>
            </a:p>
          </p:txBody>
        </p:sp>
      </p:grpSp>
      <p:sp>
        <p:nvSpPr>
          <p:cNvPr id="16" name="TextBox 16"/>
          <p:cNvSpPr txBox="1"/>
          <p:nvPr/>
        </p:nvSpPr>
        <p:spPr>
          <a:xfrm>
            <a:off x="822960" y="2971419"/>
            <a:ext cx="3584448" cy="352425"/>
          </a:xfrm>
          <a:prstGeom prst="rect">
            <a:avLst/>
          </a:prstGeom>
        </p:spPr>
        <p:txBody>
          <a:bodyPr lIns="0" tIns="0" rIns="0" bIns="0" rtlCol="0" anchor="t">
            <a:spAutoFit/>
          </a:bodyPr>
          <a:lstStyle/>
          <a:p>
            <a:pPr algn="l">
              <a:lnSpc>
                <a:spcPts val="2760"/>
              </a:lnSpc>
            </a:pPr>
            <a:r>
              <a:rPr lang="en-US" sz="2300">
                <a:solidFill>
                  <a:srgbClr val="1A1A1A"/>
                </a:solidFill>
                <a:latin typeface="프리텐다드"/>
                <a:ea typeface="프리텐다드"/>
                <a:cs typeface="프리텐다드"/>
                <a:sym typeface="프리텐다드"/>
              </a:rPr>
              <a:t>장당 처리 시간</a:t>
            </a:r>
          </a:p>
        </p:txBody>
      </p:sp>
      <p:sp>
        <p:nvSpPr>
          <p:cNvPr id="17" name="TextBox 17"/>
          <p:cNvSpPr txBox="1"/>
          <p:nvPr/>
        </p:nvSpPr>
        <p:spPr>
          <a:xfrm>
            <a:off x="822960" y="3465195"/>
            <a:ext cx="3584448" cy="314325"/>
          </a:xfrm>
          <a:prstGeom prst="rect">
            <a:avLst/>
          </a:prstGeom>
        </p:spPr>
        <p:txBody>
          <a:bodyPr lIns="0" tIns="0" rIns="0" bIns="0" rtlCol="0" anchor="t">
            <a:spAutoFit/>
          </a:bodyPr>
          <a:lstStyle/>
          <a:p>
            <a:pPr algn="l">
              <a:lnSpc>
                <a:spcPts val="2400"/>
              </a:lnSpc>
            </a:pPr>
            <a:r>
              <a:rPr lang="en-US" sz="2000">
                <a:solidFill>
                  <a:srgbClr val="6B6B6B"/>
                </a:solidFill>
                <a:latin typeface="프리텐다드"/>
                <a:ea typeface="프리텐다드"/>
                <a:cs typeface="프리텐다드"/>
                <a:sym typeface="프리텐다드"/>
              </a:rPr>
              <a:t>개발 PC 두 대, 4스레드</a:t>
            </a:r>
          </a:p>
        </p:txBody>
      </p:sp>
      <p:grpSp>
        <p:nvGrpSpPr>
          <p:cNvPr id="18" name="Group 18"/>
          <p:cNvGrpSpPr/>
          <p:nvPr/>
        </p:nvGrpSpPr>
        <p:grpSpPr>
          <a:xfrm>
            <a:off x="4888487" y="1852679"/>
            <a:ext cx="4158491" cy="2402843"/>
            <a:chOff x="0" y="0"/>
            <a:chExt cx="5544655" cy="3203791"/>
          </a:xfrm>
        </p:grpSpPr>
        <p:sp>
          <p:nvSpPr>
            <p:cNvPr id="19" name="Freeform 19"/>
            <p:cNvSpPr/>
            <p:nvPr/>
          </p:nvSpPr>
          <p:spPr>
            <a:xfrm>
              <a:off x="0" y="0"/>
              <a:ext cx="5544566" cy="3203702"/>
            </a:xfrm>
            <a:custGeom>
              <a:avLst/>
              <a:gdLst/>
              <a:ahLst/>
              <a:cxnLst/>
              <a:rect l="l" t="t" r="r" b="b"/>
              <a:pathLst>
                <a:path w="5544566" h="3203702">
                  <a:moveTo>
                    <a:pt x="0" y="197104"/>
                  </a:moveTo>
                  <a:cubicBezTo>
                    <a:pt x="0" y="88265"/>
                    <a:pt x="88265" y="0"/>
                    <a:pt x="197104" y="0"/>
                  </a:cubicBezTo>
                  <a:lnTo>
                    <a:pt x="5347462" y="0"/>
                  </a:lnTo>
                  <a:cubicBezTo>
                    <a:pt x="5456301" y="0"/>
                    <a:pt x="5544566" y="88265"/>
                    <a:pt x="5544566" y="197104"/>
                  </a:cubicBezTo>
                  <a:lnTo>
                    <a:pt x="5544566" y="3006598"/>
                  </a:lnTo>
                  <a:cubicBezTo>
                    <a:pt x="5544566" y="3115437"/>
                    <a:pt x="5456301" y="3203702"/>
                    <a:pt x="5347462" y="3203702"/>
                  </a:cubicBezTo>
                  <a:lnTo>
                    <a:pt x="197104" y="3203702"/>
                  </a:lnTo>
                  <a:cubicBezTo>
                    <a:pt x="88265" y="3203829"/>
                    <a:pt x="0" y="3115564"/>
                    <a:pt x="0" y="3006598"/>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20" name="Group 20"/>
          <p:cNvGrpSpPr/>
          <p:nvPr/>
        </p:nvGrpSpPr>
        <p:grpSpPr>
          <a:xfrm>
            <a:off x="5175504" y="1975104"/>
            <a:ext cx="3767328" cy="1005840"/>
            <a:chOff x="0" y="0"/>
            <a:chExt cx="5023104" cy="1341120"/>
          </a:xfrm>
        </p:grpSpPr>
        <p:sp>
          <p:nvSpPr>
            <p:cNvPr id="21" name="Freeform 21"/>
            <p:cNvSpPr/>
            <p:nvPr/>
          </p:nvSpPr>
          <p:spPr>
            <a:xfrm>
              <a:off x="0" y="0"/>
              <a:ext cx="5023104" cy="1341120"/>
            </a:xfrm>
            <a:custGeom>
              <a:avLst/>
              <a:gdLst/>
              <a:ahLst/>
              <a:cxnLst/>
              <a:rect l="l" t="t" r="r" b="b"/>
              <a:pathLst>
                <a:path w="5023104" h="1341120">
                  <a:moveTo>
                    <a:pt x="0" y="0"/>
                  </a:moveTo>
                  <a:lnTo>
                    <a:pt x="5023104" y="0"/>
                  </a:lnTo>
                  <a:lnTo>
                    <a:pt x="5023104" y="1341120"/>
                  </a:lnTo>
                  <a:lnTo>
                    <a:pt x="0" y="1341120"/>
                  </a:lnTo>
                  <a:close/>
                </a:path>
              </a:pathLst>
            </a:custGeom>
            <a:blipFill>
              <a:blip r:embed="rId3">
                <a:alphaModFix amt="0"/>
              </a:blip>
              <a:stretch>
                <a:fillRect t="-22980" b="-22980"/>
              </a:stretch>
            </a:blipFill>
          </p:spPr>
          <p:txBody>
            <a:bodyPr/>
            <a:lstStyle/>
            <a:p>
              <a:endParaRPr lang="ko-KR" altLang="en-US"/>
            </a:p>
          </p:txBody>
        </p:sp>
        <p:sp>
          <p:nvSpPr>
            <p:cNvPr id="22" name="TextBox 22"/>
            <p:cNvSpPr txBox="1"/>
            <p:nvPr/>
          </p:nvSpPr>
          <p:spPr>
            <a:xfrm>
              <a:off x="0" y="-9525"/>
              <a:ext cx="5023104" cy="1350645"/>
            </a:xfrm>
            <a:prstGeom prst="rect">
              <a:avLst/>
            </a:prstGeom>
          </p:spPr>
          <p:txBody>
            <a:bodyPr lIns="0" tIns="0" rIns="0" bIns="0" rtlCol="0" anchor="ctr"/>
            <a:lstStyle/>
            <a:p>
              <a:pPr algn="l">
                <a:lnSpc>
                  <a:spcPts val="4320"/>
                </a:lnSpc>
              </a:pPr>
              <a:r>
                <a:rPr lang="en-US" sz="3600" b="1">
                  <a:solidFill>
                    <a:srgbClr val="8B0000"/>
                  </a:solidFill>
                  <a:latin typeface="프리텐다드 Heavy"/>
                  <a:ea typeface="프리텐다드 Heavy"/>
                  <a:cs typeface="프리텐다드 Heavy"/>
                  <a:sym typeface="프리텐다드 Heavy"/>
                </a:rPr>
                <a:t>1,370 ~ 1,985초</a:t>
              </a:r>
            </a:p>
          </p:txBody>
        </p:sp>
      </p:grpSp>
      <p:sp>
        <p:nvSpPr>
          <p:cNvPr id="23" name="TextBox 23"/>
          <p:cNvSpPr txBox="1"/>
          <p:nvPr/>
        </p:nvSpPr>
        <p:spPr>
          <a:xfrm>
            <a:off x="5175504" y="2971419"/>
            <a:ext cx="3584448" cy="352425"/>
          </a:xfrm>
          <a:prstGeom prst="rect">
            <a:avLst/>
          </a:prstGeom>
        </p:spPr>
        <p:txBody>
          <a:bodyPr lIns="0" tIns="0" rIns="0" bIns="0" rtlCol="0" anchor="t">
            <a:spAutoFit/>
          </a:bodyPr>
          <a:lstStyle/>
          <a:p>
            <a:pPr algn="l">
              <a:lnSpc>
                <a:spcPts val="2760"/>
              </a:lnSpc>
            </a:pPr>
            <a:r>
              <a:rPr lang="en-US" sz="2300">
                <a:solidFill>
                  <a:srgbClr val="1A1A1A"/>
                </a:solidFill>
                <a:latin typeface="프리텐다드"/>
                <a:ea typeface="프리텐다드"/>
                <a:cs typeface="프리텐다드"/>
                <a:sym typeface="프리텐다드"/>
              </a:rPr>
              <a:t>500장</a:t>
            </a:r>
          </a:p>
        </p:txBody>
      </p:sp>
      <p:sp>
        <p:nvSpPr>
          <p:cNvPr id="24" name="TextBox 24"/>
          <p:cNvSpPr txBox="1"/>
          <p:nvPr/>
        </p:nvSpPr>
        <p:spPr>
          <a:xfrm>
            <a:off x="5175504" y="3465195"/>
            <a:ext cx="3584448" cy="314325"/>
          </a:xfrm>
          <a:prstGeom prst="rect">
            <a:avLst/>
          </a:prstGeom>
        </p:spPr>
        <p:txBody>
          <a:bodyPr lIns="0" tIns="0" rIns="0" bIns="0" rtlCol="0" anchor="t">
            <a:spAutoFit/>
          </a:bodyPr>
          <a:lstStyle/>
          <a:p>
            <a:pPr algn="l">
              <a:lnSpc>
                <a:spcPts val="2400"/>
              </a:lnSpc>
            </a:pPr>
            <a:r>
              <a:rPr lang="en-US" sz="2000">
                <a:solidFill>
                  <a:srgbClr val="6B6B6B"/>
                </a:solidFill>
                <a:latin typeface="프리텐다드"/>
                <a:ea typeface="프리텐다드"/>
                <a:cs typeface="프리텐다드"/>
                <a:sym typeface="프리텐다드"/>
              </a:rPr>
              <a:t>한도 2,500초의 55 ~ 79%</a:t>
            </a:r>
          </a:p>
        </p:txBody>
      </p:sp>
      <p:grpSp>
        <p:nvGrpSpPr>
          <p:cNvPr id="25" name="Group 25"/>
          <p:cNvGrpSpPr/>
          <p:nvPr/>
        </p:nvGrpSpPr>
        <p:grpSpPr>
          <a:xfrm>
            <a:off x="9241031" y="1852679"/>
            <a:ext cx="4158491" cy="2402843"/>
            <a:chOff x="0" y="0"/>
            <a:chExt cx="5544655" cy="3203791"/>
          </a:xfrm>
        </p:grpSpPr>
        <p:sp>
          <p:nvSpPr>
            <p:cNvPr id="26" name="Freeform 26"/>
            <p:cNvSpPr/>
            <p:nvPr/>
          </p:nvSpPr>
          <p:spPr>
            <a:xfrm>
              <a:off x="0" y="0"/>
              <a:ext cx="5544566" cy="3203702"/>
            </a:xfrm>
            <a:custGeom>
              <a:avLst/>
              <a:gdLst/>
              <a:ahLst/>
              <a:cxnLst/>
              <a:rect l="l" t="t" r="r" b="b"/>
              <a:pathLst>
                <a:path w="5544566" h="3203702">
                  <a:moveTo>
                    <a:pt x="0" y="197104"/>
                  </a:moveTo>
                  <a:cubicBezTo>
                    <a:pt x="0" y="88265"/>
                    <a:pt x="88265" y="0"/>
                    <a:pt x="197104" y="0"/>
                  </a:cubicBezTo>
                  <a:lnTo>
                    <a:pt x="5347462" y="0"/>
                  </a:lnTo>
                  <a:cubicBezTo>
                    <a:pt x="5456301" y="0"/>
                    <a:pt x="5544566" y="88265"/>
                    <a:pt x="5544566" y="197104"/>
                  </a:cubicBezTo>
                  <a:lnTo>
                    <a:pt x="5544566" y="3006598"/>
                  </a:lnTo>
                  <a:cubicBezTo>
                    <a:pt x="5544566" y="3115437"/>
                    <a:pt x="5456301" y="3203702"/>
                    <a:pt x="5347462" y="3203702"/>
                  </a:cubicBezTo>
                  <a:lnTo>
                    <a:pt x="197104" y="3203702"/>
                  </a:lnTo>
                  <a:cubicBezTo>
                    <a:pt x="88265" y="3203829"/>
                    <a:pt x="0" y="3115564"/>
                    <a:pt x="0" y="3006598"/>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27" name="Group 27"/>
          <p:cNvGrpSpPr/>
          <p:nvPr/>
        </p:nvGrpSpPr>
        <p:grpSpPr>
          <a:xfrm>
            <a:off x="9528048" y="1975104"/>
            <a:ext cx="3767328" cy="1005840"/>
            <a:chOff x="0" y="0"/>
            <a:chExt cx="5023104" cy="1341120"/>
          </a:xfrm>
        </p:grpSpPr>
        <p:sp>
          <p:nvSpPr>
            <p:cNvPr id="28" name="Freeform 28"/>
            <p:cNvSpPr/>
            <p:nvPr/>
          </p:nvSpPr>
          <p:spPr>
            <a:xfrm>
              <a:off x="0" y="0"/>
              <a:ext cx="5023104" cy="1341120"/>
            </a:xfrm>
            <a:custGeom>
              <a:avLst/>
              <a:gdLst/>
              <a:ahLst/>
              <a:cxnLst/>
              <a:rect l="l" t="t" r="r" b="b"/>
              <a:pathLst>
                <a:path w="5023104" h="1341120">
                  <a:moveTo>
                    <a:pt x="0" y="0"/>
                  </a:moveTo>
                  <a:lnTo>
                    <a:pt x="5023104" y="0"/>
                  </a:lnTo>
                  <a:lnTo>
                    <a:pt x="5023104" y="1341120"/>
                  </a:lnTo>
                  <a:lnTo>
                    <a:pt x="0" y="1341120"/>
                  </a:lnTo>
                  <a:close/>
                </a:path>
              </a:pathLst>
            </a:custGeom>
            <a:blipFill>
              <a:blip r:embed="rId3">
                <a:alphaModFix amt="0"/>
              </a:blip>
              <a:stretch>
                <a:fillRect t="-22980" b="-22980"/>
              </a:stretch>
            </a:blipFill>
          </p:spPr>
          <p:txBody>
            <a:bodyPr/>
            <a:lstStyle/>
            <a:p>
              <a:endParaRPr lang="ko-KR" altLang="en-US"/>
            </a:p>
          </p:txBody>
        </p:sp>
        <p:sp>
          <p:nvSpPr>
            <p:cNvPr id="29" name="TextBox 29"/>
            <p:cNvSpPr txBox="1"/>
            <p:nvPr/>
          </p:nvSpPr>
          <p:spPr>
            <a:xfrm>
              <a:off x="0" y="-9525"/>
              <a:ext cx="5023104" cy="1350645"/>
            </a:xfrm>
            <a:prstGeom prst="rect">
              <a:avLst/>
            </a:prstGeom>
          </p:spPr>
          <p:txBody>
            <a:bodyPr lIns="0" tIns="0" rIns="0" bIns="0" rtlCol="0" anchor="ctr"/>
            <a:lstStyle/>
            <a:p>
              <a:pPr algn="l">
                <a:lnSpc>
                  <a:spcPts val="4320"/>
                </a:lnSpc>
              </a:pPr>
              <a:r>
                <a:rPr lang="en-US" altLang="ko-KR" sz="3600" b="1" dirty="0">
                  <a:solidFill>
                    <a:srgbClr val="8B0000"/>
                  </a:solidFill>
                  <a:latin typeface="프리텐다드 Heavy"/>
                  <a:ea typeface="프리텐다드 Heavy"/>
                  <a:cs typeface="프리텐다드 Heavy"/>
                  <a:sym typeface="프리텐다드 Heavy"/>
                </a:rPr>
                <a:t>0.83</a:t>
              </a:r>
              <a:r>
                <a:rPr lang="en-US" sz="3600" b="1" dirty="0">
                  <a:solidFill>
                    <a:srgbClr val="8B0000"/>
                  </a:solidFill>
                  <a:latin typeface="프리텐다드 Heavy"/>
                  <a:ea typeface="프리텐다드 Heavy"/>
                  <a:cs typeface="프리텐다드 Heavy"/>
                  <a:sym typeface="프리텐다드 Heavy"/>
                </a:rPr>
                <a:t>GB</a:t>
              </a:r>
            </a:p>
          </p:txBody>
        </p:sp>
      </p:grpSp>
      <p:sp>
        <p:nvSpPr>
          <p:cNvPr id="30" name="TextBox 30"/>
          <p:cNvSpPr txBox="1"/>
          <p:nvPr/>
        </p:nvSpPr>
        <p:spPr>
          <a:xfrm>
            <a:off x="9528048" y="2971419"/>
            <a:ext cx="3584448" cy="352425"/>
          </a:xfrm>
          <a:prstGeom prst="rect">
            <a:avLst/>
          </a:prstGeom>
        </p:spPr>
        <p:txBody>
          <a:bodyPr lIns="0" tIns="0" rIns="0" bIns="0" rtlCol="0" anchor="t">
            <a:spAutoFit/>
          </a:bodyPr>
          <a:lstStyle/>
          <a:p>
            <a:pPr algn="l">
              <a:lnSpc>
                <a:spcPts val="2760"/>
              </a:lnSpc>
            </a:pPr>
            <a:r>
              <a:rPr lang="en-US" sz="2300">
                <a:solidFill>
                  <a:srgbClr val="1A1A1A"/>
                </a:solidFill>
                <a:latin typeface="프리텐다드"/>
                <a:ea typeface="프리텐다드"/>
                <a:cs typeface="프리텐다드"/>
                <a:sym typeface="프리텐다드"/>
              </a:rPr>
              <a:t>최대 메모리</a:t>
            </a:r>
          </a:p>
        </p:txBody>
      </p:sp>
      <p:sp>
        <p:nvSpPr>
          <p:cNvPr id="31" name="TextBox 31"/>
          <p:cNvSpPr txBox="1"/>
          <p:nvPr/>
        </p:nvSpPr>
        <p:spPr>
          <a:xfrm>
            <a:off x="9528048" y="3465195"/>
            <a:ext cx="3584448" cy="314325"/>
          </a:xfrm>
          <a:prstGeom prst="rect">
            <a:avLst/>
          </a:prstGeom>
        </p:spPr>
        <p:txBody>
          <a:bodyPr lIns="0" tIns="0" rIns="0" bIns="0" rtlCol="0" anchor="t">
            <a:spAutoFit/>
          </a:bodyPr>
          <a:lstStyle/>
          <a:p>
            <a:pPr algn="l">
              <a:lnSpc>
                <a:spcPts val="2400"/>
              </a:lnSpc>
            </a:pPr>
            <a:r>
              <a:rPr lang="en-US" sz="2000">
                <a:solidFill>
                  <a:srgbClr val="6B6B6B"/>
                </a:solidFill>
                <a:latin typeface="프리텐다드"/>
                <a:ea typeface="프리텐다드"/>
                <a:cs typeface="프리텐다드"/>
                <a:sym typeface="프리텐다드"/>
              </a:rPr>
              <a:t>한도 8GB (500장 실측, macOS)</a:t>
            </a:r>
          </a:p>
        </p:txBody>
      </p:sp>
      <p:grpSp>
        <p:nvGrpSpPr>
          <p:cNvPr id="32" name="Group 32"/>
          <p:cNvGrpSpPr/>
          <p:nvPr/>
        </p:nvGrpSpPr>
        <p:grpSpPr>
          <a:xfrm>
            <a:off x="13593575" y="1852679"/>
            <a:ext cx="4158491" cy="2402843"/>
            <a:chOff x="0" y="0"/>
            <a:chExt cx="5544655" cy="3203791"/>
          </a:xfrm>
        </p:grpSpPr>
        <p:sp>
          <p:nvSpPr>
            <p:cNvPr id="33" name="Freeform 33"/>
            <p:cNvSpPr/>
            <p:nvPr/>
          </p:nvSpPr>
          <p:spPr>
            <a:xfrm>
              <a:off x="0" y="0"/>
              <a:ext cx="5544566" cy="3203702"/>
            </a:xfrm>
            <a:custGeom>
              <a:avLst/>
              <a:gdLst/>
              <a:ahLst/>
              <a:cxnLst/>
              <a:rect l="l" t="t" r="r" b="b"/>
              <a:pathLst>
                <a:path w="5544566" h="3203702">
                  <a:moveTo>
                    <a:pt x="0" y="197104"/>
                  </a:moveTo>
                  <a:cubicBezTo>
                    <a:pt x="0" y="88265"/>
                    <a:pt x="88265" y="0"/>
                    <a:pt x="197104" y="0"/>
                  </a:cubicBezTo>
                  <a:lnTo>
                    <a:pt x="5347462" y="0"/>
                  </a:lnTo>
                  <a:cubicBezTo>
                    <a:pt x="5456301" y="0"/>
                    <a:pt x="5544566" y="88265"/>
                    <a:pt x="5544566" y="197104"/>
                  </a:cubicBezTo>
                  <a:lnTo>
                    <a:pt x="5544566" y="3006598"/>
                  </a:lnTo>
                  <a:cubicBezTo>
                    <a:pt x="5544566" y="3115437"/>
                    <a:pt x="5456301" y="3203702"/>
                    <a:pt x="5347462" y="3203702"/>
                  </a:cubicBezTo>
                  <a:lnTo>
                    <a:pt x="197104" y="3203702"/>
                  </a:lnTo>
                  <a:cubicBezTo>
                    <a:pt x="88265" y="3203829"/>
                    <a:pt x="0" y="3115564"/>
                    <a:pt x="0" y="3006598"/>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34" name="Group 34"/>
          <p:cNvGrpSpPr/>
          <p:nvPr/>
        </p:nvGrpSpPr>
        <p:grpSpPr>
          <a:xfrm>
            <a:off x="13880592" y="1975104"/>
            <a:ext cx="3767328" cy="1005840"/>
            <a:chOff x="0" y="0"/>
            <a:chExt cx="5023104" cy="1341120"/>
          </a:xfrm>
        </p:grpSpPr>
        <p:sp>
          <p:nvSpPr>
            <p:cNvPr id="35" name="Freeform 35"/>
            <p:cNvSpPr/>
            <p:nvPr/>
          </p:nvSpPr>
          <p:spPr>
            <a:xfrm>
              <a:off x="0" y="0"/>
              <a:ext cx="5023104" cy="1341120"/>
            </a:xfrm>
            <a:custGeom>
              <a:avLst/>
              <a:gdLst/>
              <a:ahLst/>
              <a:cxnLst/>
              <a:rect l="l" t="t" r="r" b="b"/>
              <a:pathLst>
                <a:path w="5023104" h="1341120">
                  <a:moveTo>
                    <a:pt x="0" y="0"/>
                  </a:moveTo>
                  <a:lnTo>
                    <a:pt x="5023104" y="0"/>
                  </a:lnTo>
                  <a:lnTo>
                    <a:pt x="5023104" y="1341120"/>
                  </a:lnTo>
                  <a:lnTo>
                    <a:pt x="0" y="1341120"/>
                  </a:lnTo>
                  <a:close/>
                </a:path>
              </a:pathLst>
            </a:custGeom>
            <a:blipFill>
              <a:blip r:embed="rId3">
                <a:alphaModFix amt="0"/>
              </a:blip>
              <a:stretch>
                <a:fillRect t="-22980" b="-22980"/>
              </a:stretch>
            </a:blipFill>
          </p:spPr>
          <p:txBody>
            <a:bodyPr/>
            <a:lstStyle/>
            <a:p>
              <a:endParaRPr lang="ko-KR" altLang="en-US"/>
            </a:p>
          </p:txBody>
        </p:sp>
        <p:sp>
          <p:nvSpPr>
            <p:cNvPr id="36" name="TextBox 36"/>
            <p:cNvSpPr txBox="1"/>
            <p:nvPr/>
          </p:nvSpPr>
          <p:spPr>
            <a:xfrm>
              <a:off x="0" y="-9525"/>
              <a:ext cx="5023104" cy="1350645"/>
            </a:xfrm>
            <a:prstGeom prst="rect">
              <a:avLst/>
            </a:prstGeom>
          </p:spPr>
          <p:txBody>
            <a:bodyPr lIns="0" tIns="0" rIns="0" bIns="0" rtlCol="0" anchor="ctr"/>
            <a:lstStyle/>
            <a:p>
              <a:pPr algn="l">
                <a:lnSpc>
                  <a:spcPts val="4320"/>
                </a:lnSpc>
              </a:pPr>
              <a:r>
                <a:rPr lang="en-US" sz="3600" b="1">
                  <a:solidFill>
                    <a:srgbClr val="8B0000"/>
                  </a:solidFill>
                  <a:latin typeface="프리텐다드 Heavy"/>
                  <a:ea typeface="프리텐다드 Heavy"/>
                  <a:cs typeface="프리텐다드 Heavy"/>
                  <a:sym typeface="프리텐다드 Heavy"/>
                </a:rPr>
                <a:t>0원</a:t>
              </a:r>
            </a:p>
          </p:txBody>
        </p:sp>
      </p:grpSp>
      <p:sp>
        <p:nvSpPr>
          <p:cNvPr id="37" name="TextBox 37"/>
          <p:cNvSpPr txBox="1"/>
          <p:nvPr/>
        </p:nvSpPr>
        <p:spPr>
          <a:xfrm>
            <a:off x="13880592" y="2971419"/>
            <a:ext cx="3584448" cy="352425"/>
          </a:xfrm>
          <a:prstGeom prst="rect">
            <a:avLst/>
          </a:prstGeom>
        </p:spPr>
        <p:txBody>
          <a:bodyPr lIns="0" tIns="0" rIns="0" bIns="0" rtlCol="0" anchor="t">
            <a:spAutoFit/>
          </a:bodyPr>
          <a:lstStyle/>
          <a:p>
            <a:pPr algn="l">
              <a:lnSpc>
                <a:spcPts val="2760"/>
              </a:lnSpc>
            </a:pPr>
            <a:r>
              <a:rPr lang="en-US" sz="2300">
                <a:solidFill>
                  <a:srgbClr val="1A1A1A"/>
                </a:solidFill>
                <a:latin typeface="프리텐다드"/>
                <a:ea typeface="프리텐다드"/>
                <a:cs typeface="프리텐다드"/>
                <a:sym typeface="프리텐다드"/>
              </a:rPr>
              <a:t>학습 비용</a:t>
            </a:r>
          </a:p>
        </p:txBody>
      </p:sp>
      <p:sp>
        <p:nvSpPr>
          <p:cNvPr id="38" name="TextBox 38"/>
          <p:cNvSpPr txBox="1"/>
          <p:nvPr/>
        </p:nvSpPr>
        <p:spPr>
          <a:xfrm>
            <a:off x="13880592" y="3465195"/>
            <a:ext cx="3584448" cy="314325"/>
          </a:xfrm>
          <a:prstGeom prst="rect">
            <a:avLst/>
          </a:prstGeom>
        </p:spPr>
        <p:txBody>
          <a:bodyPr lIns="0" tIns="0" rIns="0" bIns="0" rtlCol="0" anchor="t">
            <a:spAutoFit/>
          </a:bodyPr>
          <a:lstStyle/>
          <a:p>
            <a:pPr algn="l">
              <a:lnSpc>
                <a:spcPts val="2400"/>
              </a:lnSpc>
            </a:pPr>
            <a:r>
              <a:rPr lang="en-US" sz="2000">
                <a:solidFill>
                  <a:srgbClr val="6B6B6B"/>
                </a:solidFill>
                <a:latin typeface="프리텐다드"/>
                <a:ea typeface="프리텐다드"/>
                <a:cs typeface="프리텐다드"/>
                <a:sym typeface="프리텐다드"/>
              </a:rPr>
              <a:t>무료 Colab T4 만 사용</a:t>
            </a:r>
          </a:p>
        </p:txBody>
      </p:sp>
      <p:sp>
        <p:nvSpPr>
          <p:cNvPr id="39" name="TextBox 39"/>
          <p:cNvSpPr txBox="1"/>
          <p:nvPr/>
        </p:nvSpPr>
        <p:spPr>
          <a:xfrm>
            <a:off x="685800" y="4914900"/>
            <a:ext cx="8412480" cy="419100"/>
          </a:xfrm>
          <a:prstGeom prst="rect">
            <a:avLst/>
          </a:prstGeom>
        </p:spPr>
        <p:txBody>
          <a:bodyPr lIns="0" tIns="0" rIns="0" bIns="0" rtlCol="0" anchor="t">
            <a:spAutoFit/>
          </a:bodyPr>
          <a:lstStyle/>
          <a:p>
            <a:pPr algn="l">
              <a:lnSpc>
                <a:spcPts val="3239"/>
              </a:lnSpc>
            </a:pPr>
            <a:r>
              <a:rPr lang="en-US" sz="2699" b="1" dirty="0" err="1">
                <a:solidFill>
                  <a:srgbClr val="1A1A1A"/>
                </a:solidFill>
                <a:latin typeface="프리텐다드 Bold"/>
                <a:ea typeface="프리텐다드 Bold"/>
                <a:cs typeface="프리텐다드 Bold"/>
                <a:sym typeface="프리텐다드 Bold"/>
              </a:rPr>
              <a:t>속도를</a:t>
            </a:r>
            <a:r>
              <a:rPr lang="en-US" sz="2699" b="1" dirty="0">
                <a:solidFill>
                  <a:srgbClr val="1A1A1A"/>
                </a:solidFill>
                <a:latin typeface="프리텐다드 Bold"/>
                <a:ea typeface="프리텐다드 Bold"/>
                <a:cs typeface="프리텐다드 Bold"/>
                <a:sym typeface="프리텐다드 Bold"/>
              </a:rPr>
              <a:t> </a:t>
            </a:r>
            <a:r>
              <a:rPr lang="en-US" sz="2699" b="1" dirty="0" err="1">
                <a:solidFill>
                  <a:srgbClr val="1A1A1A"/>
                </a:solidFill>
                <a:latin typeface="프리텐다드 Bold"/>
                <a:ea typeface="프리텐다드 Bold"/>
                <a:cs typeface="프리텐다드 Bold"/>
                <a:sym typeface="프리텐다드 Bold"/>
              </a:rPr>
              <a:t>만든</a:t>
            </a:r>
            <a:r>
              <a:rPr lang="en-US" sz="2699" b="1" dirty="0">
                <a:solidFill>
                  <a:srgbClr val="1A1A1A"/>
                </a:solidFill>
                <a:latin typeface="프리텐다드 Bold"/>
                <a:ea typeface="프리텐다드 Bold"/>
                <a:cs typeface="프리텐다드 Bold"/>
                <a:sym typeface="프리텐다드 Bold"/>
              </a:rPr>
              <a:t> </a:t>
            </a:r>
            <a:r>
              <a:rPr lang="en-US" sz="2699" b="1" dirty="0" err="1">
                <a:solidFill>
                  <a:srgbClr val="1A1A1A"/>
                </a:solidFill>
                <a:latin typeface="프리텐다드 Bold"/>
                <a:ea typeface="프리텐다드 Bold"/>
                <a:cs typeface="프리텐다드 Bold"/>
                <a:sym typeface="프리텐다드 Bold"/>
              </a:rPr>
              <a:t>결정</a:t>
            </a:r>
            <a:endParaRPr lang="en-US" sz="2699" b="1" dirty="0">
              <a:solidFill>
                <a:srgbClr val="1A1A1A"/>
              </a:solidFill>
              <a:latin typeface="프리텐다드 Bold"/>
              <a:ea typeface="프리텐다드 Bold"/>
              <a:cs typeface="프리텐다드 Bold"/>
              <a:sym typeface="프리텐다드 Bold"/>
            </a:endParaRPr>
          </a:p>
        </p:txBody>
      </p:sp>
      <p:sp>
        <p:nvSpPr>
          <p:cNvPr id="40" name="TextBox 40"/>
          <p:cNvSpPr txBox="1"/>
          <p:nvPr/>
        </p:nvSpPr>
        <p:spPr>
          <a:xfrm>
            <a:off x="533400" y="5470525"/>
            <a:ext cx="8406889" cy="2492375"/>
          </a:xfrm>
          <a:prstGeom prst="rect">
            <a:avLst/>
          </a:prstGeom>
        </p:spPr>
        <p:txBody>
          <a:bodyPr lIns="0" tIns="0" rIns="0" bIns="0" rtlCol="0" anchor="t">
            <a:spAutoFit/>
          </a:bodyPr>
          <a:lstStyle/>
          <a:p>
            <a:pPr marL="603249" lvl="1" indent="-301625" algn="just">
              <a:lnSpc>
                <a:spcPts val="3999"/>
              </a:lnSpc>
              <a:buFont typeface="Arial"/>
              <a:buChar char="•"/>
            </a:pPr>
            <a:r>
              <a:rPr lang="en-US" sz="2499" dirty="0" err="1">
                <a:solidFill>
                  <a:srgbClr val="1A1A1A"/>
                </a:solidFill>
                <a:latin typeface="프리텐다드 Medium"/>
                <a:ea typeface="프리텐다드 Medium"/>
                <a:cs typeface="프리텐다드 Medium"/>
                <a:sym typeface="프리텐다드 Medium"/>
              </a:rPr>
              <a:t>탐지는</a:t>
            </a:r>
            <a:r>
              <a:rPr lang="en-US" sz="2499" dirty="0">
                <a:solidFill>
                  <a:srgbClr val="1A1A1A"/>
                </a:solidFill>
                <a:latin typeface="프리텐다드 Medium"/>
                <a:ea typeface="프리텐다드 Medium"/>
                <a:cs typeface="프리텐다드 Medium"/>
                <a:sym typeface="프리텐다드 Medium"/>
              </a:rPr>
              <a:t> 640px </a:t>
            </a:r>
            <a:r>
              <a:rPr lang="en-US" sz="2499" dirty="0" err="1">
                <a:solidFill>
                  <a:srgbClr val="1A1A1A"/>
                </a:solidFill>
                <a:latin typeface="프리텐다드 Medium"/>
                <a:ea typeface="프리텐다드 Medium"/>
                <a:cs typeface="프리텐다드 Medium"/>
                <a:sym typeface="프리텐다드 Medium"/>
              </a:rPr>
              <a:t>축소본에서</a:t>
            </a:r>
            <a:r>
              <a:rPr lang="en-US" sz="2499" dirty="0">
                <a:solidFill>
                  <a:srgbClr val="1A1A1A"/>
                </a:solidFill>
                <a:latin typeface="프리텐다드 Medium"/>
                <a:ea typeface="프리텐다드 Medium"/>
                <a:cs typeface="프리텐다드 Medium"/>
                <a:sym typeface="프리텐다드 Medium"/>
              </a:rPr>
              <a:t> </a:t>
            </a:r>
            <a:r>
              <a:rPr lang="en-US" sz="2499" dirty="0" err="1">
                <a:solidFill>
                  <a:srgbClr val="1A1A1A"/>
                </a:solidFill>
                <a:latin typeface="프리텐다드 Medium"/>
                <a:ea typeface="프리텐다드 Medium"/>
                <a:cs typeface="프리텐다드 Medium"/>
                <a:sym typeface="프리텐다드 Medium"/>
              </a:rPr>
              <a:t>장당</a:t>
            </a:r>
            <a:r>
              <a:rPr lang="en-US" sz="2499" dirty="0">
                <a:solidFill>
                  <a:srgbClr val="1A1A1A"/>
                </a:solidFill>
                <a:latin typeface="프리텐다드 Medium"/>
                <a:ea typeface="프리텐다드 Medium"/>
                <a:cs typeface="프리텐다드 Medium"/>
                <a:sym typeface="프리텐다드 Medium"/>
              </a:rPr>
              <a:t> 1회 (</a:t>
            </a:r>
            <a:r>
              <a:rPr lang="en-US" sz="2499" dirty="0" err="1">
                <a:solidFill>
                  <a:srgbClr val="1A1A1A"/>
                </a:solidFill>
                <a:latin typeface="프리텐다드 Medium"/>
                <a:ea typeface="프리텐다드 Medium"/>
                <a:cs typeface="프리텐다드 Medium"/>
                <a:sym typeface="프리텐다드 Medium"/>
              </a:rPr>
              <a:t>탐지</a:t>
            </a:r>
            <a:r>
              <a:rPr lang="en-US" sz="2499" dirty="0">
                <a:solidFill>
                  <a:srgbClr val="1A1A1A"/>
                </a:solidFill>
                <a:latin typeface="프리텐다드 Medium"/>
                <a:ea typeface="프리텐다드 Medium"/>
                <a:cs typeface="프리텐다드 Medium"/>
                <a:sym typeface="프리텐다드 Medium"/>
              </a:rPr>
              <a:t> </a:t>
            </a:r>
            <a:r>
              <a:rPr lang="en-US" sz="2499" dirty="0" err="1">
                <a:solidFill>
                  <a:srgbClr val="1A1A1A"/>
                </a:solidFill>
                <a:latin typeface="프리텐다드 Medium"/>
                <a:ea typeface="프리텐다드 Medium"/>
                <a:cs typeface="프리텐다드 Medium"/>
                <a:sym typeface="프리텐다드 Medium"/>
              </a:rPr>
              <a:t>비용</a:t>
            </a:r>
            <a:r>
              <a:rPr lang="en-US" sz="2499" dirty="0">
                <a:solidFill>
                  <a:srgbClr val="1A1A1A"/>
                </a:solidFill>
                <a:latin typeface="프리텐다드 Medium"/>
                <a:ea typeface="프리텐다드 Medium"/>
                <a:cs typeface="프리텐다드 Medium"/>
                <a:sym typeface="프리텐다드 Medium"/>
              </a:rPr>
              <a:t> = </a:t>
            </a:r>
            <a:r>
              <a:rPr lang="en-US" sz="2499" dirty="0" err="1">
                <a:solidFill>
                  <a:srgbClr val="1A1A1A"/>
                </a:solidFill>
                <a:latin typeface="프리텐다드 Medium"/>
                <a:ea typeface="프리텐다드 Medium"/>
                <a:cs typeface="프리텐다드 Medium"/>
                <a:sym typeface="프리텐다드 Medium"/>
              </a:rPr>
              <a:t>픽셀</a:t>
            </a:r>
            <a:r>
              <a:rPr lang="en-US" sz="2499" dirty="0">
                <a:solidFill>
                  <a:srgbClr val="1A1A1A"/>
                </a:solidFill>
                <a:latin typeface="프리텐다드 Medium"/>
                <a:ea typeface="프리텐다드 Medium"/>
                <a:cs typeface="프리텐다드 Medium"/>
                <a:sym typeface="프리텐다드 Medium"/>
              </a:rPr>
              <a:t> 수)</a:t>
            </a:r>
          </a:p>
          <a:p>
            <a:pPr marL="603249" lvl="1" indent="-301625" algn="just">
              <a:lnSpc>
                <a:spcPts val="3999"/>
              </a:lnSpc>
              <a:buFont typeface="Arial"/>
              <a:buChar char="•"/>
            </a:pPr>
            <a:r>
              <a:rPr lang="en-US" sz="2499" dirty="0" err="1">
                <a:solidFill>
                  <a:srgbClr val="1A1A1A"/>
                </a:solidFill>
                <a:latin typeface="프리텐다드 Medium"/>
                <a:ea typeface="프리텐다드 Medium"/>
                <a:cs typeface="프리텐다드 Medium"/>
                <a:sym typeface="프리텐다드 Medium"/>
              </a:rPr>
              <a:t>인식은</a:t>
            </a:r>
            <a:r>
              <a:rPr lang="en-US" sz="2499" dirty="0">
                <a:solidFill>
                  <a:srgbClr val="1A1A1A"/>
                </a:solidFill>
                <a:latin typeface="프리텐다드 Medium"/>
                <a:ea typeface="프리텐다드 Medium"/>
                <a:cs typeface="프리텐다드 Medium"/>
                <a:sym typeface="프리텐다드 Medium"/>
              </a:rPr>
              <a:t> 큰 </a:t>
            </a:r>
            <a:r>
              <a:rPr lang="en-US" sz="2499" dirty="0" err="1">
                <a:solidFill>
                  <a:srgbClr val="1A1A1A"/>
                </a:solidFill>
                <a:latin typeface="프리텐다드 Medium"/>
                <a:ea typeface="프리텐다드 Medium"/>
                <a:cs typeface="프리텐다드 Medium"/>
                <a:sym typeface="프리텐다드 Medium"/>
              </a:rPr>
              <a:t>글자부터</a:t>
            </a:r>
            <a:r>
              <a:rPr lang="en-US" sz="2499" dirty="0">
                <a:solidFill>
                  <a:srgbClr val="1A1A1A"/>
                </a:solidFill>
                <a:latin typeface="프리텐다드 Medium"/>
                <a:ea typeface="프리텐다드 Medium"/>
                <a:cs typeface="프리텐다드 Medium"/>
                <a:sym typeface="프리텐다드 Medium"/>
              </a:rPr>
              <a:t>, </a:t>
            </a:r>
            <a:r>
              <a:rPr lang="en-US" sz="2499" dirty="0" err="1">
                <a:solidFill>
                  <a:srgbClr val="1A1A1A"/>
                </a:solidFill>
                <a:latin typeface="프리텐다드 Medium"/>
                <a:ea typeface="프리텐다드 Medium"/>
                <a:cs typeface="프리텐다드 Medium"/>
                <a:sym typeface="프리텐다드 Medium"/>
              </a:rPr>
              <a:t>날짜를</a:t>
            </a:r>
            <a:r>
              <a:rPr lang="en-US" sz="2499" dirty="0">
                <a:solidFill>
                  <a:srgbClr val="1A1A1A"/>
                </a:solidFill>
                <a:latin typeface="프리텐다드 Medium"/>
                <a:ea typeface="프리텐다드 Medium"/>
                <a:cs typeface="프리텐다드 Medium"/>
                <a:sym typeface="프리텐다드 Medium"/>
              </a:rPr>
              <a:t> </a:t>
            </a:r>
            <a:r>
              <a:rPr lang="en-US" sz="2499" dirty="0" err="1">
                <a:solidFill>
                  <a:srgbClr val="1A1A1A"/>
                </a:solidFill>
                <a:latin typeface="프리텐다드 Medium"/>
                <a:ea typeface="프리텐다드 Medium"/>
                <a:cs typeface="프리텐다드 Medium"/>
                <a:sym typeface="프리텐다드 Medium"/>
              </a:rPr>
              <a:t>찾으면</a:t>
            </a:r>
            <a:r>
              <a:rPr lang="en-US" sz="2499" dirty="0">
                <a:solidFill>
                  <a:srgbClr val="1A1A1A"/>
                </a:solidFill>
                <a:latin typeface="프리텐다드 Medium"/>
                <a:ea typeface="프리텐다드 Medium"/>
                <a:cs typeface="프리텐다드 Medium"/>
                <a:sym typeface="프리텐다드 Medium"/>
              </a:rPr>
              <a:t> </a:t>
            </a:r>
            <a:r>
              <a:rPr lang="en-US" sz="2499" dirty="0" err="1">
                <a:solidFill>
                  <a:srgbClr val="1A1A1A"/>
                </a:solidFill>
                <a:latin typeface="프리텐다드 Medium"/>
                <a:ea typeface="프리텐다드 Medium"/>
                <a:cs typeface="프리텐다드 Medium"/>
                <a:sym typeface="프리텐다드 Medium"/>
              </a:rPr>
              <a:t>잔글씨</a:t>
            </a:r>
            <a:r>
              <a:rPr lang="en-US" sz="2499" dirty="0">
                <a:solidFill>
                  <a:srgbClr val="1A1A1A"/>
                </a:solidFill>
                <a:latin typeface="프리텐다드 Medium"/>
                <a:ea typeface="프리텐다드 Medium"/>
                <a:cs typeface="프리텐다드 Medium"/>
                <a:sym typeface="프리텐다드 Medium"/>
              </a:rPr>
              <a:t> </a:t>
            </a:r>
            <a:r>
              <a:rPr lang="en-US" sz="2499" dirty="0" err="1">
                <a:solidFill>
                  <a:srgbClr val="1A1A1A"/>
                </a:solidFill>
                <a:latin typeface="프리텐다드 Medium"/>
                <a:ea typeface="프리텐다드 Medium"/>
                <a:cs typeface="프리텐다드 Medium"/>
                <a:sym typeface="프리텐다드 Medium"/>
              </a:rPr>
              <a:t>생략</a:t>
            </a:r>
            <a:endParaRPr lang="en-US" sz="2499" dirty="0">
              <a:solidFill>
                <a:srgbClr val="1A1A1A"/>
              </a:solidFill>
              <a:latin typeface="프리텐다드 Medium"/>
              <a:ea typeface="프리텐다드 Medium"/>
              <a:cs typeface="프리텐다드 Medium"/>
              <a:sym typeface="프리텐다드 Medium"/>
            </a:endParaRPr>
          </a:p>
          <a:p>
            <a:pPr marL="603249" lvl="1" indent="-301625" algn="just">
              <a:lnSpc>
                <a:spcPts val="3999"/>
              </a:lnSpc>
              <a:buFont typeface="Arial"/>
              <a:buChar char="•"/>
            </a:pPr>
            <a:r>
              <a:rPr lang="en-US" sz="2499" dirty="0" err="1">
                <a:solidFill>
                  <a:srgbClr val="1A1A1A"/>
                </a:solidFill>
                <a:latin typeface="프리텐다드 Medium"/>
                <a:ea typeface="프리텐다드 Medium"/>
                <a:cs typeface="프리텐다드 Medium"/>
                <a:sym typeface="프리텐다드 Medium"/>
              </a:rPr>
              <a:t>사진의</a:t>
            </a:r>
            <a:r>
              <a:rPr lang="en-US" sz="2499" dirty="0">
                <a:solidFill>
                  <a:srgbClr val="1A1A1A"/>
                </a:solidFill>
                <a:latin typeface="프리텐다드 Medium"/>
                <a:ea typeface="프리텐다드 Medium"/>
                <a:cs typeface="프리텐다드 Medium"/>
                <a:sym typeface="프리텐다드 Medium"/>
              </a:rPr>
              <a:t> 88% 는 1.8초에 </a:t>
            </a:r>
            <a:r>
              <a:rPr lang="en-US" sz="2499" dirty="0" err="1">
                <a:solidFill>
                  <a:srgbClr val="1A1A1A"/>
                </a:solidFill>
                <a:latin typeface="프리텐다드 Medium"/>
                <a:ea typeface="프리텐다드 Medium"/>
                <a:cs typeface="프리텐다드 Medium"/>
                <a:sym typeface="프리텐다드 Medium"/>
              </a:rPr>
              <a:t>끝나고</a:t>
            </a:r>
            <a:r>
              <a:rPr lang="en-US" sz="2499" dirty="0">
                <a:solidFill>
                  <a:srgbClr val="1A1A1A"/>
                </a:solidFill>
                <a:latin typeface="프리텐다드 Medium"/>
                <a:ea typeface="프리텐다드 Medium"/>
                <a:cs typeface="프리텐다드 Medium"/>
                <a:sym typeface="프리텐다드 Medium"/>
              </a:rPr>
              <a:t>, </a:t>
            </a:r>
            <a:r>
              <a:rPr lang="en-US" sz="2499" dirty="0" err="1">
                <a:solidFill>
                  <a:srgbClr val="1A1A1A"/>
                </a:solidFill>
                <a:latin typeface="프리텐다드 Medium"/>
                <a:ea typeface="프리텐다드 Medium"/>
                <a:cs typeface="프리텐다드 Medium"/>
                <a:sym typeface="프리텐다드 Medium"/>
              </a:rPr>
              <a:t>재시도까지</a:t>
            </a:r>
            <a:r>
              <a:rPr lang="en-US" sz="2499" dirty="0">
                <a:solidFill>
                  <a:srgbClr val="1A1A1A"/>
                </a:solidFill>
                <a:latin typeface="프리텐다드 Medium"/>
                <a:ea typeface="프리텐다드 Medium"/>
                <a:cs typeface="프리텐다드 Medium"/>
                <a:sym typeface="프리텐다드 Medium"/>
              </a:rPr>
              <a:t> 간 12% 가 </a:t>
            </a:r>
            <a:r>
              <a:rPr lang="en-US" sz="2499" dirty="0" err="1">
                <a:solidFill>
                  <a:srgbClr val="1A1A1A"/>
                </a:solidFill>
                <a:latin typeface="프리텐다드 Medium"/>
                <a:ea typeface="프리텐다드 Medium"/>
                <a:cs typeface="프리텐다드 Medium"/>
                <a:sym typeface="프리텐다드 Medium"/>
              </a:rPr>
              <a:t>시간의</a:t>
            </a:r>
            <a:r>
              <a:rPr lang="en-US" sz="2499" dirty="0">
                <a:solidFill>
                  <a:srgbClr val="1A1A1A"/>
                </a:solidFill>
                <a:latin typeface="프리텐다드 Medium"/>
                <a:ea typeface="프리텐다드 Medium"/>
                <a:cs typeface="프리텐다드 Medium"/>
                <a:sym typeface="프리텐다드 Medium"/>
              </a:rPr>
              <a:t> </a:t>
            </a:r>
            <a:r>
              <a:rPr lang="en-US" sz="2499" dirty="0" err="1">
                <a:solidFill>
                  <a:srgbClr val="1A1A1A"/>
                </a:solidFill>
                <a:latin typeface="프리텐다드 Medium"/>
                <a:ea typeface="프리텐다드 Medium"/>
                <a:cs typeface="프리텐다드 Medium"/>
                <a:sym typeface="프리텐다드 Medium"/>
              </a:rPr>
              <a:t>절반을</a:t>
            </a:r>
            <a:r>
              <a:rPr lang="en-US" sz="2499" dirty="0">
                <a:solidFill>
                  <a:srgbClr val="1A1A1A"/>
                </a:solidFill>
                <a:latin typeface="프리텐다드 Medium"/>
                <a:ea typeface="프리텐다드 Medium"/>
                <a:cs typeface="프리텐다드 Medium"/>
                <a:sym typeface="프리텐다드 Medium"/>
              </a:rPr>
              <a:t> </a:t>
            </a:r>
            <a:r>
              <a:rPr lang="en-US" sz="2499" dirty="0" err="1">
                <a:solidFill>
                  <a:srgbClr val="1A1A1A"/>
                </a:solidFill>
                <a:latin typeface="프리텐다드 Medium"/>
                <a:ea typeface="프리텐다드 Medium"/>
                <a:cs typeface="프리텐다드 Medium"/>
                <a:sym typeface="프리텐다드 Medium"/>
              </a:rPr>
              <a:t>씁니다</a:t>
            </a:r>
            <a:endParaRPr lang="en-US" sz="2499" dirty="0">
              <a:solidFill>
                <a:srgbClr val="1A1A1A"/>
              </a:solidFill>
              <a:latin typeface="프리텐다드 Medium"/>
              <a:ea typeface="프리텐다드 Medium"/>
              <a:cs typeface="프리텐다드 Medium"/>
              <a:sym typeface="프리텐다드 Medium"/>
            </a:endParaRPr>
          </a:p>
          <a:p>
            <a:pPr marL="603249" lvl="1" indent="-301625" algn="just">
              <a:lnSpc>
                <a:spcPts val="3999"/>
              </a:lnSpc>
              <a:buFont typeface="Arial"/>
              <a:buChar char="•"/>
            </a:pPr>
            <a:r>
              <a:rPr lang="en-US" sz="2499" dirty="0" err="1">
                <a:solidFill>
                  <a:srgbClr val="1A1A1A"/>
                </a:solidFill>
                <a:latin typeface="프리텐다드 Medium"/>
                <a:ea typeface="프리텐다드 Medium"/>
                <a:cs typeface="프리텐다드 Medium"/>
                <a:sym typeface="프리텐다드 Medium"/>
              </a:rPr>
              <a:t>다시</a:t>
            </a:r>
            <a:r>
              <a:rPr lang="en-US" sz="2499" dirty="0">
                <a:solidFill>
                  <a:srgbClr val="1A1A1A"/>
                </a:solidFill>
                <a:latin typeface="프리텐다드 Medium"/>
                <a:ea typeface="프리텐다드 Medium"/>
                <a:cs typeface="프리텐다드 Medium"/>
                <a:sym typeface="프리텐다드 Medium"/>
              </a:rPr>
              <a:t> </a:t>
            </a:r>
            <a:r>
              <a:rPr lang="en-US" sz="2499" dirty="0" err="1">
                <a:solidFill>
                  <a:srgbClr val="1A1A1A"/>
                </a:solidFill>
                <a:latin typeface="프리텐다드 Medium"/>
                <a:ea typeface="프리텐다드 Medium"/>
                <a:cs typeface="프리텐다드 Medium"/>
                <a:sym typeface="프리텐다드 Medium"/>
              </a:rPr>
              <a:t>읽기는</a:t>
            </a:r>
            <a:r>
              <a:rPr lang="en-US" sz="2499" dirty="0">
                <a:solidFill>
                  <a:srgbClr val="1A1A1A"/>
                </a:solidFill>
                <a:latin typeface="프리텐다드 Medium"/>
                <a:ea typeface="프리텐다드 Medium"/>
                <a:cs typeface="프리텐다드 Medium"/>
                <a:sym typeface="프리텐다드 Medium"/>
              </a:rPr>
              <a:t> </a:t>
            </a:r>
            <a:r>
              <a:rPr lang="en-US" sz="2499" dirty="0" err="1">
                <a:solidFill>
                  <a:srgbClr val="1A1A1A"/>
                </a:solidFill>
                <a:latin typeface="프리텐다드 Medium"/>
                <a:ea typeface="프리텐다드 Medium"/>
                <a:cs typeface="프리텐다드 Medium"/>
                <a:sym typeface="프리텐다드 Medium"/>
              </a:rPr>
              <a:t>후보</a:t>
            </a:r>
            <a:r>
              <a:rPr lang="en-US" sz="2499" dirty="0">
                <a:solidFill>
                  <a:srgbClr val="1A1A1A"/>
                </a:solidFill>
                <a:latin typeface="프리텐다드 Medium"/>
                <a:ea typeface="프리텐다드 Medium"/>
                <a:cs typeface="프리텐다드 Medium"/>
                <a:sym typeface="프리텐다드 Medium"/>
              </a:rPr>
              <a:t> 줄 </a:t>
            </a:r>
            <a:r>
              <a:rPr lang="en-US" sz="2499" dirty="0" err="1">
                <a:solidFill>
                  <a:srgbClr val="1A1A1A"/>
                </a:solidFill>
                <a:latin typeface="프리텐다드 Medium"/>
                <a:ea typeface="프리텐다드 Medium"/>
                <a:cs typeface="프리텐다드 Medium"/>
                <a:sym typeface="프리텐다드 Medium"/>
              </a:rPr>
              <a:t>크롭만</a:t>
            </a:r>
            <a:r>
              <a:rPr lang="en-US" sz="2499" dirty="0">
                <a:solidFill>
                  <a:srgbClr val="1A1A1A"/>
                </a:solidFill>
                <a:latin typeface="프리텐다드 Medium"/>
                <a:ea typeface="프리텐다드 Medium"/>
                <a:cs typeface="프리텐다드 Medium"/>
                <a:sym typeface="프리텐다드 Medium"/>
              </a:rPr>
              <a:t>, </a:t>
            </a:r>
            <a:r>
              <a:rPr lang="en-US" sz="2499" dirty="0" err="1">
                <a:solidFill>
                  <a:srgbClr val="1A1A1A"/>
                </a:solidFill>
                <a:latin typeface="프리텐다드 Medium"/>
                <a:ea typeface="프리텐다드 Medium"/>
                <a:cs typeface="프리텐다드 Medium"/>
                <a:sym typeface="프리텐다드 Medium"/>
              </a:rPr>
              <a:t>폴백은</a:t>
            </a:r>
            <a:r>
              <a:rPr lang="en-US" sz="2499" dirty="0">
                <a:solidFill>
                  <a:srgbClr val="1A1A1A"/>
                </a:solidFill>
                <a:latin typeface="프리텐다드 Medium"/>
                <a:ea typeface="프리텐다드 Medium"/>
                <a:cs typeface="프리텐다드 Medium"/>
                <a:sym typeface="프리텐다드 Medium"/>
              </a:rPr>
              <a:t> </a:t>
            </a:r>
            <a:r>
              <a:rPr lang="en-US" sz="2499" dirty="0" err="1">
                <a:solidFill>
                  <a:srgbClr val="1A1A1A"/>
                </a:solidFill>
                <a:latin typeface="프리텐다드 Medium"/>
                <a:ea typeface="프리텐다드 Medium"/>
                <a:cs typeface="프리텐다드 Medium"/>
                <a:sym typeface="프리텐다드 Medium"/>
              </a:rPr>
              <a:t>후보</a:t>
            </a:r>
            <a:r>
              <a:rPr lang="en-US" sz="2499" dirty="0">
                <a:solidFill>
                  <a:srgbClr val="1A1A1A"/>
                </a:solidFill>
                <a:latin typeface="프리텐다드 Medium"/>
                <a:ea typeface="프리텐다드 Medium"/>
                <a:cs typeface="프리텐다드 Medium"/>
                <a:sym typeface="프리텐다드 Medium"/>
              </a:rPr>
              <a:t> </a:t>
            </a:r>
            <a:r>
              <a:rPr lang="en-US" sz="2499" dirty="0" err="1">
                <a:solidFill>
                  <a:srgbClr val="1A1A1A"/>
                </a:solidFill>
                <a:latin typeface="프리텐다드 Medium"/>
                <a:ea typeface="프리텐다드 Medium"/>
                <a:cs typeface="프리텐다드 Medium"/>
                <a:sym typeface="프리텐다드 Medium"/>
              </a:rPr>
              <a:t>없는</a:t>
            </a:r>
            <a:r>
              <a:rPr lang="en-US" sz="2499" dirty="0">
                <a:solidFill>
                  <a:srgbClr val="1A1A1A"/>
                </a:solidFill>
                <a:latin typeface="프리텐다드 Medium"/>
                <a:ea typeface="프리텐다드 Medium"/>
                <a:cs typeface="프리텐다드 Medium"/>
                <a:sym typeface="프리텐다드 Medium"/>
              </a:rPr>
              <a:t> </a:t>
            </a:r>
            <a:r>
              <a:rPr lang="en-US" sz="2499" dirty="0" err="1">
                <a:solidFill>
                  <a:srgbClr val="1A1A1A"/>
                </a:solidFill>
                <a:latin typeface="프리텐다드 Medium"/>
                <a:ea typeface="프리텐다드 Medium"/>
                <a:cs typeface="프리텐다드 Medium"/>
                <a:sym typeface="프리텐다드 Medium"/>
              </a:rPr>
              <a:t>장에만</a:t>
            </a:r>
            <a:endParaRPr lang="en-US" sz="2499" dirty="0">
              <a:solidFill>
                <a:srgbClr val="1A1A1A"/>
              </a:solidFill>
              <a:latin typeface="프리텐다드 Medium"/>
              <a:ea typeface="프리텐다드 Medium"/>
              <a:cs typeface="프리텐다드 Medium"/>
              <a:sym typeface="프리텐다드 Medium"/>
            </a:endParaRPr>
          </a:p>
        </p:txBody>
      </p:sp>
      <p:grpSp>
        <p:nvGrpSpPr>
          <p:cNvPr id="41" name="Group 41"/>
          <p:cNvGrpSpPr/>
          <p:nvPr/>
        </p:nvGrpSpPr>
        <p:grpSpPr>
          <a:xfrm>
            <a:off x="9314183" y="4559303"/>
            <a:ext cx="8437883" cy="3774443"/>
            <a:chOff x="0" y="0"/>
            <a:chExt cx="11250511" cy="5032591"/>
          </a:xfrm>
        </p:grpSpPr>
        <p:sp>
          <p:nvSpPr>
            <p:cNvPr id="42" name="Freeform 42"/>
            <p:cNvSpPr/>
            <p:nvPr/>
          </p:nvSpPr>
          <p:spPr>
            <a:xfrm>
              <a:off x="0" y="0"/>
              <a:ext cx="11250423" cy="5032502"/>
            </a:xfrm>
            <a:custGeom>
              <a:avLst/>
              <a:gdLst/>
              <a:ahLst/>
              <a:cxnLst/>
              <a:rect l="l" t="t" r="r" b="b"/>
              <a:pathLst>
                <a:path w="11250423" h="5032502">
                  <a:moveTo>
                    <a:pt x="0" y="196342"/>
                  </a:moveTo>
                  <a:cubicBezTo>
                    <a:pt x="0" y="87884"/>
                    <a:pt x="87884" y="0"/>
                    <a:pt x="196342" y="0"/>
                  </a:cubicBezTo>
                  <a:lnTo>
                    <a:pt x="11054080" y="0"/>
                  </a:lnTo>
                  <a:cubicBezTo>
                    <a:pt x="11162538" y="0"/>
                    <a:pt x="11250423" y="87884"/>
                    <a:pt x="11250423" y="196342"/>
                  </a:cubicBezTo>
                  <a:lnTo>
                    <a:pt x="11250423" y="4836160"/>
                  </a:lnTo>
                  <a:cubicBezTo>
                    <a:pt x="11250423" y="4944618"/>
                    <a:pt x="11162538" y="5032502"/>
                    <a:pt x="11054080" y="5032502"/>
                  </a:cubicBezTo>
                  <a:lnTo>
                    <a:pt x="196342" y="5032502"/>
                  </a:lnTo>
                  <a:cubicBezTo>
                    <a:pt x="87884" y="5032629"/>
                    <a:pt x="0" y="4944618"/>
                    <a:pt x="0" y="4836160"/>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43" name="Group 43"/>
          <p:cNvGrpSpPr/>
          <p:nvPr/>
        </p:nvGrpSpPr>
        <p:grpSpPr>
          <a:xfrm>
            <a:off x="9588503" y="4979989"/>
            <a:ext cx="7863840" cy="757809"/>
            <a:chOff x="0" y="0"/>
            <a:chExt cx="10485120" cy="1010412"/>
          </a:xfrm>
        </p:grpSpPr>
        <p:sp>
          <p:nvSpPr>
            <p:cNvPr id="44" name="TextBox 44"/>
            <p:cNvSpPr txBox="1"/>
            <p:nvPr/>
          </p:nvSpPr>
          <p:spPr>
            <a:xfrm>
              <a:off x="0" y="-9525"/>
              <a:ext cx="10485120" cy="492125"/>
            </a:xfrm>
            <a:prstGeom prst="rect">
              <a:avLst/>
            </a:prstGeom>
          </p:spPr>
          <p:txBody>
            <a:bodyPr lIns="0" tIns="0" rIns="0" bIns="0" rtlCol="0" anchor="t">
              <a:spAutoFit/>
            </a:bodyPr>
            <a:lstStyle/>
            <a:p>
              <a:pPr algn="l">
                <a:lnSpc>
                  <a:spcPts val="2879"/>
                </a:lnSpc>
              </a:pPr>
              <a:r>
                <a:rPr lang="en-US" sz="2400" b="1">
                  <a:solidFill>
                    <a:srgbClr val="1A1A1A"/>
                  </a:solidFill>
                  <a:latin typeface="프리텐다드 Bold"/>
                  <a:ea typeface="프리텐다드 Bold"/>
                  <a:cs typeface="프리텐다드 Bold"/>
                  <a:sym typeface="프리텐다드 Bold"/>
                </a:rPr>
                <a:t>시간 예산 가드 : 3단계 자동 경량화</a:t>
              </a:r>
            </a:p>
          </p:txBody>
        </p:sp>
        <p:sp>
          <p:nvSpPr>
            <p:cNvPr id="45" name="TextBox 45"/>
            <p:cNvSpPr txBox="1"/>
            <p:nvPr/>
          </p:nvSpPr>
          <p:spPr>
            <a:xfrm>
              <a:off x="0" y="581787"/>
              <a:ext cx="10485120" cy="428625"/>
            </a:xfrm>
            <a:prstGeom prst="rect">
              <a:avLst/>
            </a:prstGeom>
          </p:spPr>
          <p:txBody>
            <a:bodyPr lIns="0" tIns="0" rIns="0" bIns="0" rtlCol="0" anchor="t">
              <a:spAutoFit/>
            </a:bodyPr>
            <a:lstStyle/>
            <a:p>
              <a:pPr algn="l">
                <a:lnSpc>
                  <a:spcPts val="2520"/>
                </a:lnSpc>
              </a:pPr>
              <a:r>
                <a:rPr lang="en-US" sz="2100">
                  <a:solidFill>
                    <a:srgbClr val="6B6B6B"/>
                  </a:solidFill>
                  <a:latin typeface="프리텐다드"/>
                  <a:ea typeface="프리텐다드"/>
                  <a:cs typeface="프리텐다드"/>
                  <a:sym typeface="프리텐다드"/>
                </a:rPr>
                <a:t>최근 20장 속도로 총 소요를 예측, 2,000초를 넘길 것 같으면</a:t>
              </a:r>
            </a:p>
          </p:txBody>
        </p:sp>
      </p:grpSp>
      <p:grpSp>
        <p:nvGrpSpPr>
          <p:cNvPr id="46" name="Group 46"/>
          <p:cNvGrpSpPr/>
          <p:nvPr/>
        </p:nvGrpSpPr>
        <p:grpSpPr>
          <a:xfrm>
            <a:off x="9588503" y="5930903"/>
            <a:ext cx="647195" cy="647195"/>
            <a:chOff x="0" y="0"/>
            <a:chExt cx="862927" cy="862927"/>
          </a:xfrm>
        </p:grpSpPr>
        <p:sp>
          <p:nvSpPr>
            <p:cNvPr id="47" name="Freeform 47"/>
            <p:cNvSpPr/>
            <p:nvPr/>
          </p:nvSpPr>
          <p:spPr>
            <a:xfrm>
              <a:off x="0" y="0"/>
              <a:ext cx="862965" cy="862965"/>
            </a:xfrm>
            <a:custGeom>
              <a:avLst/>
              <a:gdLst/>
              <a:ahLst/>
              <a:cxnLst/>
              <a:rect l="l" t="t" r="r" b="b"/>
              <a:pathLst>
                <a:path w="862965" h="862965">
                  <a:moveTo>
                    <a:pt x="0" y="431419"/>
                  </a:moveTo>
                  <a:cubicBezTo>
                    <a:pt x="0" y="193167"/>
                    <a:pt x="193167" y="0"/>
                    <a:pt x="431419" y="0"/>
                  </a:cubicBezTo>
                  <a:cubicBezTo>
                    <a:pt x="669671" y="0"/>
                    <a:pt x="862965" y="193167"/>
                    <a:pt x="862965" y="431419"/>
                  </a:cubicBezTo>
                  <a:cubicBezTo>
                    <a:pt x="862965" y="669671"/>
                    <a:pt x="669798" y="862965"/>
                    <a:pt x="431419" y="862965"/>
                  </a:cubicBezTo>
                  <a:cubicBezTo>
                    <a:pt x="193040" y="862965"/>
                    <a:pt x="0" y="669798"/>
                    <a:pt x="0" y="431419"/>
                  </a:cubicBez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48" name="Group 48"/>
          <p:cNvGrpSpPr/>
          <p:nvPr/>
        </p:nvGrpSpPr>
        <p:grpSpPr>
          <a:xfrm>
            <a:off x="9601200" y="5943600"/>
            <a:ext cx="621792" cy="621792"/>
            <a:chOff x="0" y="0"/>
            <a:chExt cx="829056" cy="829056"/>
          </a:xfrm>
        </p:grpSpPr>
        <p:sp>
          <p:nvSpPr>
            <p:cNvPr id="49" name="Freeform 49"/>
            <p:cNvSpPr/>
            <p:nvPr/>
          </p:nvSpPr>
          <p:spPr>
            <a:xfrm>
              <a:off x="0" y="0"/>
              <a:ext cx="829056" cy="829056"/>
            </a:xfrm>
            <a:custGeom>
              <a:avLst/>
              <a:gdLst/>
              <a:ahLst/>
              <a:cxnLst/>
              <a:rect l="l" t="t" r="r" b="b"/>
              <a:pathLst>
                <a:path w="829056" h="829056">
                  <a:moveTo>
                    <a:pt x="0" y="0"/>
                  </a:moveTo>
                  <a:lnTo>
                    <a:pt x="829056" y="0"/>
                  </a:lnTo>
                  <a:lnTo>
                    <a:pt x="829056" y="829056"/>
                  </a:lnTo>
                  <a:lnTo>
                    <a:pt x="0" y="829056"/>
                  </a:lnTo>
                  <a:close/>
                </a:path>
              </a:pathLst>
            </a:custGeom>
            <a:blipFill>
              <a:blip r:embed="rId3">
                <a:alphaModFix amt="0"/>
              </a:blip>
              <a:stretch>
                <a:fillRect l="-78303" r="-78303"/>
              </a:stretch>
            </a:blipFill>
          </p:spPr>
          <p:txBody>
            <a:bodyPr/>
            <a:lstStyle/>
            <a:p>
              <a:endParaRPr lang="ko-KR" altLang="en-US"/>
            </a:p>
          </p:txBody>
        </p:sp>
        <p:sp>
          <p:nvSpPr>
            <p:cNvPr id="50" name="TextBox 50"/>
            <p:cNvSpPr txBox="1"/>
            <p:nvPr/>
          </p:nvSpPr>
          <p:spPr>
            <a:xfrm>
              <a:off x="0" y="-9525"/>
              <a:ext cx="829056" cy="838581"/>
            </a:xfrm>
            <a:prstGeom prst="rect">
              <a:avLst/>
            </a:prstGeom>
          </p:spPr>
          <p:txBody>
            <a:bodyPr lIns="0" tIns="0" rIns="0" bIns="0" rtlCol="0" anchor="ctr"/>
            <a:lstStyle/>
            <a:p>
              <a:pPr algn="ctr">
                <a:lnSpc>
                  <a:spcPts val="2400"/>
                </a:lnSpc>
              </a:pPr>
              <a:r>
                <a:rPr lang="en-US" sz="2000" b="1">
                  <a:solidFill>
                    <a:srgbClr val="FFFFFF"/>
                  </a:solidFill>
                  <a:latin typeface="프리텐다드 Bold"/>
                  <a:ea typeface="프리텐다드 Bold"/>
                  <a:cs typeface="프리텐다드 Bold"/>
                  <a:sym typeface="프리텐다드 Bold"/>
                </a:rPr>
                <a:t>1</a:t>
              </a:r>
            </a:p>
          </p:txBody>
        </p:sp>
      </p:grpSp>
      <p:grpSp>
        <p:nvGrpSpPr>
          <p:cNvPr id="51" name="Group 51"/>
          <p:cNvGrpSpPr/>
          <p:nvPr/>
        </p:nvGrpSpPr>
        <p:grpSpPr>
          <a:xfrm>
            <a:off x="10387584" y="5943600"/>
            <a:ext cx="7132320" cy="621792"/>
            <a:chOff x="0" y="0"/>
            <a:chExt cx="9509760" cy="829056"/>
          </a:xfrm>
        </p:grpSpPr>
        <p:sp>
          <p:nvSpPr>
            <p:cNvPr id="52" name="Freeform 52"/>
            <p:cNvSpPr/>
            <p:nvPr/>
          </p:nvSpPr>
          <p:spPr>
            <a:xfrm>
              <a:off x="0" y="0"/>
              <a:ext cx="9509760" cy="829056"/>
            </a:xfrm>
            <a:custGeom>
              <a:avLst/>
              <a:gdLst/>
              <a:ahLst/>
              <a:cxnLst/>
              <a:rect l="l" t="t" r="r" b="b"/>
              <a:pathLst>
                <a:path w="9509760" h="829056">
                  <a:moveTo>
                    <a:pt x="0" y="0"/>
                  </a:moveTo>
                  <a:lnTo>
                    <a:pt x="9509760" y="0"/>
                  </a:lnTo>
                  <a:lnTo>
                    <a:pt x="9509760" y="829056"/>
                  </a:lnTo>
                  <a:lnTo>
                    <a:pt x="0" y="829056"/>
                  </a:lnTo>
                  <a:close/>
                </a:path>
              </a:pathLst>
            </a:custGeom>
            <a:blipFill>
              <a:blip r:embed="rId3">
                <a:alphaModFix amt="0"/>
              </a:blip>
              <a:stretch>
                <a:fillRect t="-173504" b="-173504"/>
              </a:stretch>
            </a:blipFill>
          </p:spPr>
          <p:txBody>
            <a:bodyPr/>
            <a:lstStyle/>
            <a:p>
              <a:endParaRPr lang="ko-KR" altLang="en-US"/>
            </a:p>
          </p:txBody>
        </p:sp>
        <p:sp>
          <p:nvSpPr>
            <p:cNvPr id="53" name="TextBox 53"/>
            <p:cNvSpPr txBox="1"/>
            <p:nvPr/>
          </p:nvSpPr>
          <p:spPr>
            <a:xfrm>
              <a:off x="0" y="-9525"/>
              <a:ext cx="9509760" cy="838581"/>
            </a:xfrm>
            <a:prstGeom prst="rect">
              <a:avLst/>
            </a:prstGeom>
          </p:spPr>
          <p:txBody>
            <a:bodyPr lIns="0" tIns="0" rIns="0" bIns="0" rtlCol="0" anchor="ctr"/>
            <a:lstStyle/>
            <a:p>
              <a:pPr algn="l">
                <a:lnSpc>
                  <a:spcPts val="2639"/>
                </a:lnSpc>
              </a:pPr>
              <a:r>
                <a:rPr lang="en-US" sz="2199" b="1">
                  <a:solidFill>
                    <a:srgbClr val="1A1A1A"/>
                  </a:solidFill>
                  <a:latin typeface="프리텐다드 Bold"/>
                  <a:ea typeface="프리텐다드 Bold"/>
                  <a:cs typeface="프리텐다드 Bold"/>
                  <a:sym typeface="프리텐다드 Bold"/>
                </a:rPr>
                <a:t>재시도 단계 생략</a:t>
              </a:r>
            </a:p>
          </p:txBody>
        </p:sp>
      </p:grpSp>
      <p:grpSp>
        <p:nvGrpSpPr>
          <p:cNvPr id="54" name="Group 54"/>
          <p:cNvGrpSpPr/>
          <p:nvPr/>
        </p:nvGrpSpPr>
        <p:grpSpPr>
          <a:xfrm>
            <a:off x="9588503" y="6662423"/>
            <a:ext cx="647195" cy="647195"/>
            <a:chOff x="0" y="0"/>
            <a:chExt cx="862927" cy="862927"/>
          </a:xfrm>
        </p:grpSpPr>
        <p:sp>
          <p:nvSpPr>
            <p:cNvPr id="55" name="Freeform 55"/>
            <p:cNvSpPr/>
            <p:nvPr/>
          </p:nvSpPr>
          <p:spPr>
            <a:xfrm>
              <a:off x="0" y="0"/>
              <a:ext cx="862965" cy="862965"/>
            </a:xfrm>
            <a:custGeom>
              <a:avLst/>
              <a:gdLst/>
              <a:ahLst/>
              <a:cxnLst/>
              <a:rect l="l" t="t" r="r" b="b"/>
              <a:pathLst>
                <a:path w="862965" h="862965">
                  <a:moveTo>
                    <a:pt x="0" y="431419"/>
                  </a:moveTo>
                  <a:cubicBezTo>
                    <a:pt x="0" y="193167"/>
                    <a:pt x="193167" y="0"/>
                    <a:pt x="431419" y="0"/>
                  </a:cubicBezTo>
                  <a:cubicBezTo>
                    <a:pt x="669671" y="0"/>
                    <a:pt x="862965" y="193167"/>
                    <a:pt x="862965" y="431419"/>
                  </a:cubicBezTo>
                  <a:cubicBezTo>
                    <a:pt x="862965" y="669671"/>
                    <a:pt x="669798" y="862965"/>
                    <a:pt x="431419" y="862965"/>
                  </a:cubicBezTo>
                  <a:cubicBezTo>
                    <a:pt x="193040" y="862965"/>
                    <a:pt x="0" y="669798"/>
                    <a:pt x="0" y="431419"/>
                  </a:cubicBez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56" name="Group 56"/>
          <p:cNvGrpSpPr/>
          <p:nvPr/>
        </p:nvGrpSpPr>
        <p:grpSpPr>
          <a:xfrm>
            <a:off x="9601200" y="6675120"/>
            <a:ext cx="621792" cy="621792"/>
            <a:chOff x="0" y="0"/>
            <a:chExt cx="829056" cy="829056"/>
          </a:xfrm>
        </p:grpSpPr>
        <p:sp>
          <p:nvSpPr>
            <p:cNvPr id="57" name="Freeform 57"/>
            <p:cNvSpPr/>
            <p:nvPr/>
          </p:nvSpPr>
          <p:spPr>
            <a:xfrm>
              <a:off x="0" y="0"/>
              <a:ext cx="829056" cy="829056"/>
            </a:xfrm>
            <a:custGeom>
              <a:avLst/>
              <a:gdLst/>
              <a:ahLst/>
              <a:cxnLst/>
              <a:rect l="l" t="t" r="r" b="b"/>
              <a:pathLst>
                <a:path w="829056" h="829056">
                  <a:moveTo>
                    <a:pt x="0" y="0"/>
                  </a:moveTo>
                  <a:lnTo>
                    <a:pt x="829056" y="0"/>
                  </a:lnTo>
                  <a:lnTo>
                    <a:pt x="829056" y="829056"/>
                  </a:lnTo>
                  <a:lnTo>
                    <a:pt x="0" y="829056"/>
                  </a:lnTo>
                  <a:close/>
                </a:path>
              </a:pathLst>
            </a:custGeom>
            <a:blipFill>
              <a:blip r:embed="rId3">
                <a:alphaModFix amt="0"/>
              </a:blip>
              <a:stretch>
                <a:fillRect l="-78303" r="-78303"/>
              </a:stretch>
            </a:blipFill>
          </p:spPr>
          <p:txBody>
            <a:bodyPr/>
            <a:lstStyle/>
            <a:p>
              <a:endParaRPr lang="ko-KR" altLang="en-US"/>
            </a:p>
          </p:txBody>
        </p:sp>
        <p:sp>
          <p:nvSpPr>
            <p:cNvPr id="58" name="TextBox 58"/>
            <p:cNvSpPr txBox="1"/>
            <p:nvPr/>
          </p:nvSpPr>
          <p:spPr>
            <a:xfrm>
              <a:off x="0" y="-9525"/>
              <a:ext cx="829056" cy="838581"/>
            </a:xfrm>
            <a:prstGeom prst="rect">
              <a:avLst/>
            </a:prstGeom>
          </p:spPr>
          <p:txBody>
            <a:bodyPr lIns="0" tIns="0" rIns="0" bIns="0" rtlCol="0" anchor="ctr"/>
            <a:lstStyle/>
            <a:p>
              <a:pPr algn="ctr">
                <a:lnSpc>
                  <a:spcPts val="2400"/>
                </a:lnSpc>
              </a:pPr>
              <a:r>
                <a:rPr lang="en-US" sz="2000" b="1">
                  <a:solidFill>
                    <a:srgbClr val="FFFFFF"/>
                  </a:solidFill>
                  <a:latin typeface="프리텐다드 Bold"/>
                  <a:ea typeface="프리텐다드 Bold"/>
                  <a:cs typeface="프리텐다드 Bold"/>
                  <a:sym typeface="프리텐다드 Bold"/>
                </a:rPr>
                <a:t>2</a:t>
              </a:r>
            </a:p>
          </p:txBody>
        </p:sp>
      </p:grpSp>
      <p:grpSp>
        <p:nvGrpSpPr>
          <p:cNvPr id="59" name="Group 59"/>
          <p:cNvGrpSpPr/>
          <p:nvPr/>
        </p:nvGrpSpPr>
        <p:grpSpPr>
          <a:xfrm>
            <a:off x="10387584" y="6675120"/>
            <a:ext cx="7132320" cy="621792"/>
            <a:chOff x="0" y="0"/>
            <a:chExt cx="9509760" cy="829056"/>
          </a:xfrm>
        </p:grpSpPr>
        <p:sp>
          <p:nvSpPr>
            <p:cNvPr id="60" name="Freeform 60"/>
            <p:cNvSpPr/>
            <p:nvPr/>
          </p:nvSpPr>
          <p:spPr>
            <a:xfrm>
              <a:off x="0" y="0"/>
              <a:ext cx="9509760" cy="829056"/>
            </a:xfrm>
            <a:custGeom>
              <a:avLst/>
              <a:gdLst/>
              <a:ahLst/>
              <a:cxnLst/>
              <a:rect l="l" t="t" r="r" b="b"/>
              <a:pathLst>
                <a:path w="9509760" h="829056">
                  <a:moveTo>
                    <a:pt x="0" y="0"/>
                  </a:moveTo>
                  <a:lnTo>
                    <a:pt x="9509760" y="0"/>
                  </a:lnTo>
                  <a:lnTo>
                    <a:pt x="9509760" y="829056"/>
                  </a:lnTo>
                  <a:lnTo>
                    <a:pt x="0" y="829056"/>
                  </a:lnTo>
                  <a:close/>
                </a:path>
              </a:pathLst>
            </a:custGeom>
            <a:blipFill>
              <a:blip r:embed="rId3">
                <a:alphaModFix amt="0"/>
              </a:blip>
              <a:stretch>
                <a:fillRect t="-173504" b="-173504"/>
              </a:stretch>
            </a:blipFill>
          </p:spPr>
          <p:txBody>
            <a:bodyPr/>
            <a:lstStyle/>
            <a:p>
              <a:endParaRPr lang="ko-KR" altLang="en-US"/>
            </a:p>
          </p:txBody>
        </p:sp>
        <p:sp>
          <p:nvSpPr>
            <p:cNvPr id="61" name="TextBox 61"/>
            <p:cNvSpPr txBox="1"/>
            <p:nvPr/>
          </p:nvSpPr>
          <p:spPr>
            <a:xfrm>
              <a:off x="0" y="-9525"/>
              <a:ext cx="9509760" cy="838581"/>
            </a:xfrm>
            <a:prstGeom prst="rect">
              <a:avLst/>
            </a:prstGeom>
          </p:spPr>
          <p:txBody>
            <a:bodyPr lIns="0" tIns="0" rIns="0" bIns="0" rtlCol="0" anchor="ctr"/>
            <a:lstStyle/>
            <a:p>
              <a:pPr algn="l">
                <a:lnSpc>
                  <a:spcPts val="2639"/>
                </a:lnSpc>
              </a:pPr>
              <a:r>
                <a:rPr lang="en-US" sz="2199" b="1">
                  <a:solidFill>
                    <a:srgbClr val="1A1A1A"/>
                  </a:solidFill>
                  <a:latin typeface="프리텐다드 Bold"/>
                  <a:ea typeface="프리텐다드 Bold"/>
                  <a:cs typeface="프리텐다드 Bold"/>
                  <a:sym typeface="프리텐다드 Bold"/>
                </a:rPr>
                <a:t>다시 읽기 생략</a:t>
              </a:r>
            </a:p>
          </p:txBody>
        </p:sp>
      </p:grpSp>
      <p:grpSp>
        <p:nvGrpSpPr>
          <p:cNvPr id="62" name="Group 62"/>
          <p:cNvGrpSpPr/>
          <p:nvPr/>
        </p:nvGrpSpPr>
        <p:grpSpPr>
          <a:xfrm>
            <a:off x="9588503" y="7393943"/>
            <a:ext cx="647195" cy="647195"/>
            <a:chOff x="0" y="0"/>
            <a:chExt cx="862927" cy="862927"/>
          </a:xfrm>
        </p:grpSpPr>
        <p:sp>
          <p:nvSpPr>
            <p:cNvPr id="63" name="Freeform 63"/>
            <p:cNvSpPr/>
            <p:nvPr/>
          </p:nvSpPr>
          <p:spPr>
            <a:xfrm>
              <a:off x="0" y="0"/>
              <a:ext cx="862965" cy="862965"/>
            </a:xfrm>
            <a:custGeom>
              <a:avLst/>
              <a:gdLst/>
              <a:ahLst/>
              <a:cxnLst/>
              <a:rect l="l" t="t" r="r" b="b"/>
              <a:pathLst>
                <a:path w="862965" h="862965">
                  <a:moveTo>
                    <a:pt x="0" y="431419"/>
                  </a:moveTo>
                  <a:cubicBezTo>
                    <a:pt x="0" y="193167"/>
                    <a:pt x="193167" y="0"/>
                    <a:pt x="431419" y="0"/>
                  </a:cubicBezTo>
                  <a:cubicBezTo>
                    <a:pt x="669671" y="0"/>
                    <a:pt x="862965" y="193167"/>
                    <a:pt x="862965" y="431419"/>
                  </a:cubicBezTo>
                  <a:cubicBezTo>
                    <a:pt x="862965" y="669671"/>
                    <a:pt x="669798" y="862965"/>
                    <a:pt x="431419" y="862965"/>
                  </a:cubicBezTo>
                  <a:cubicBezTo>
                    <a:pt x="193040" y="862965"/>
                    <a:pt x="0" y="669798"/>
                    <a:pt x="0" y="431419"/>
                  </a:cubicBez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64" name="Group 64"/>
          <p:cNvGrpSpPr/>
          <p:nvPr/>
        </p:nvGrpSpPr>
        <p:grpSpPr>
          <a:xfrm>
            <a:off x="9601200" y="7406640"/>
            <a:ext cx="621792" cy="621792"/>
            <a:chOff x="0" y="0"/>
            <a:chExt cx="829056" cy="829056"/>
          </a:xfrm>
        </p:grpSpPr>
        <p:sp>
          <p:nvSpPr>
            <p:cNvPr id="65" name="Freeform 65"/>
            <p:cNvSpPr/>
            <p:nvPr/>
          </p:nvSpPr>
          <p:spPr>
            <a:xfrm>
              <a:off x="0" y="0"/>
              <a:ext cx="829056" cy="829056"/>
            </a:xfrm>
            <a:custGeom>
              <a:avLst/>
              <a:gdLst/>
              <a:ahLst/>
              <a:cxnLst/>
              <a:rect l="l" t="t" r="r" b="b"/>
              <a:pathLst>
                <a:path w="829056" h="829056">
                  <a:moveTo>
                    <a:pt x="0" y="0"/>
                  </a:moveTo>
                  <a:lnTo>
                    <a:pt x="829056" y="0"/>
                  </a:lnTo>
                  <a:lnTo>
                    <a:pt x="829056" y="829056"/>
                  </a:lnTo>
                  <a:lnTo>
                    <a:pt x="0" y="829056"/>
                  </a:lnTo>
                  <a:close/>
                </a:path>
              </a:pathLst>
            </a:custGeom>
            <a:blipFill>
              <a:blip r:embed="rId3">
                <a:alphaModFix amt="0"/>
              </a:blip>
              <a:stretch>
                <a:fillRect l="-78303" r="-78303"/>
              </a:stretch>
            </a:blipFill>
          </p:spPr>
          <p:txBody>
            <a:bodyPr/>
            <a:lstStyle/>
            <a:p>
              <a:endParaRPr lang="ko-KR" altLang="en-US"/>
            </a:p>
          </p:txBody>
        </p:sp>
        <p:sp>
          <p:nvSpPr>
            <p:cNvPr id="66" name="TextBox 66"/>
            <p:cNvSpPr txBox="1"/>
            <p:nvPr/>
          </p:nvSpPr>
          <p:spPr>
            <a:xfrm>
              <a:off x="0" y="-9525"/>
              <a:ext cx="829056" cy="838581"/>
            </a:xfrm>
            <a:prstGeom prst="rect">
              <a:avLst/>
            </a:prstGeom>
          </p:spPr>
          <p:txBody>
            <a:bodyPr lIns="0" tIns="0" rIns="0" bIns="0" rtlCol="0" anchor="ctr"/>
            <a:lstStyle/>
            <a:p>
              <a:pPr algn="ctr">
                <a:lnSpc>
                  <a:spcPts val="2400"/>
                </a:lnSpc>
              </a:pPr>
              <a:r>
                <a:rPr lang="en-US" sz="2000" b="1">
                  <a:solidFill>
                    <a:srgbClr val="FFFFFF"/>
                  </a:solidFill>
                  <a:latin typeface="프리텐다드 Bold"/>
                  <a:ea typeface="프리텐다드 Bold"/>
                  <a:cs typeface="프리텐다드 Bold"/>
                  <a:sym typeface="프리텐다드 Bold"/>
                </a:rPr>
                <a:t>3</a:t>
              </a:r>
            </a:p>
          </p:txBody>
        </p:sp>
      </p:grpSp>
      <p:grpSp>
        <p:nvGrpSpPr>
          <p:cNvPr id="67" name="Group 67"/>
          <p:cNvGrpSpPr/>
          <p:nvPr/>
        </p:nvGrpSpPr>
        <p:grpSpPr>
          <a:xfrm>
            <a:off x="10387584" y="7406640"/>
            <a:ext cx="7132320" cy="621792"/>
            <a:chOff x="0" y="0"/>
            <a:chExt cx="9509760" cy="829056"/>
          </a:xfrm>
        </p:grpSpPr>
        <p:sp>
          <p:nvSpPr>
            <p:cNvPr id="68" name="Freeform 68"/>
            <p:cNvSpPr/>
            <p:nvPr/>
          </p:nvSpPr>
          <p:spPr>
            <a:xfrm>
              <a:off x="0" y="0"/>
              <a:ext cx="9509760" cy="829056"/>
            </a:xfrm>
            <a:custGeom>
              <a:avLst/>
              <a:gdLst/>
              <a:ahLst/>
              <a:cxnLst/>
              <a:rect l="l" t="t" r="r" b="b"/>
              <a:pathLst>
                <a:path w="9509760" h="829056">
                  <a:moveTo>
                    <a:pt x="0" y="0"/>
                  </a:moveTo>
                  <a:lnTo>
                    <a:pt x="9509760" y="0"/>
                  </a:lnTo>
                  <a:lnTo>
                    <a:pt x="9509760" y="829056"/>
                  </a:lnTo>
                  <a:lnTo>
                    <a:pt x="0" y="829056"/>
                  </a:lnTo>
                  <a:close/>
                </a:path>
              </a:pathLst>
            </a:custGeom>
            <a:blipFill>
              <a:blip r:embed="rId3">
                <a:alphaModFix amt="0"/>
              </a:blip>
              <a:stretch>
                <a:fillRect t="-173504" b="-173504"/>
              </a:stretch>
            </a:blipFill>
          </p:spPr>
          <p:txBody>
            <a:bodyPr/>
            <a:lstStyle/>
            <a:p>
              <a:endParaRPr lang="ko-KR" altLang="en-US"/>
            </a:p>
          </p:txBody>
        </p:sp>
        <p:sp>
          <p:nvSpPr>
            <p:cNvPr id="69" name="TextBox 69"/>
            <p:cNvSpPr txBox="1"/>
            <p:nvPr/>
          </p:nvSpPr>
          <p:spPr>
            <a:xfrm>
              <a:off x="0" y="-9525"/>
              <a:ext cx="9509760" cy="838581"/>
            </a:xfrm>
            <a:prstGeom prst="rect">
              <a:avLst/>
            </a:prstGeom>
          </p:spPr>
          <p:txBody>
            <a:bodyPr lIns="0" tIns="0" rIns="0" bIns="0" rtlCol="0" anchor="ctr"/>
            <a:lstStyle/>
            <a:p>
              <a:pPr algn="l">
                <a:lnSpc>
                  <a:spcPts val="2639"/>
                </a:lnSpc>
              </a:pPr>
              <a:r>
                <a:rPr lang="en-US" sz="2199" b="1">
                  <a:solidFill>
                    <a:srgbClr val="1A1A1A"/>
                  </a:solidFill>
                  <a:latin typeface="프리텐다드 Bold"/>
                  <a:ea typeface="프리텐다드 Bold"/>
                  <a:cs typeface="프리텐다드 Bold"/>
                  <a:sym typeface="프리텐다드 Bold"/>
                </a:rPr>
                <a:t>남은 장 NONE, 결과 파일은 반드시 생성</a:t>
              </a:r>
            </a:p>
          </p:txBody>
        </p:sp>
      </p:grpSp>
      <p:grpSp>
        <p:nvGrpSpPr>
          <p:cNvPr id="70" name="Group 70"/>
          <p:cNvGrpSpPr/>
          <p:nvPr/>
        </p:nvGrpSpPr>
        <p:grpSpPr>
          <a:xfrm>
            <a:off x="535943" y="8674103"/>
            <a:ext cx="17216123" cy="793499"/>
            <a:chOff x="0" y="0"/>
            <a:chExt cx="22954831" cy="1057999"/>
          </a:xfrm>
        </p:grpSpPr>
        <p:sp>
          <p:nvSpPr>
            <p:cNvPr id="71" name="Freeform 71"/>
            <p:cNvSpPr/>
            <p:nvPr/>
          </p:nvSpPr>
          <p:spPr>
            <a:xfrm>
              <a:off x="0" y="0"/>
              <a:ext cx="22954869" cy="1058037"/>
            </a:xfrm>
            <a:custGeom>
              <a:avLst/>
              <a:gdLst/>
              <a:ahLst/>
              <a:cxnLst/>
              <a:rect l="l" t="t" r="r" b="b"/>
              <a:pathLst>
                <a:path w="22954869" h="1058037">
                  <a:moveTo>
                    <a:pt x="0" y="201549"/>
                  </a:moveTo>
                  <a:cubicBezTo>
                    <a:pt x="0" y="90170"/>
                    <a:pt x="90170" y="0"/>
                    <a:pt x="201549" y="0"/>
                  </a:cubicBezTo>
                  <a:lnTo>
                    <a:pt x="22753320" y="0"/>
                  </a:lnTo>
                  <a:cubicBezTo>
                    <a:pt x="22864572" y="0"/>
                    <a:pt x="22954869" y="90170"/>
                    <a:pt x="22954869" y="201549"/>
                  </a:cubicBezTo>
                  <a:lnTo>
                    <a:pt x="22954869" y="856488"/>
                  </a:lnTo>
                  <a:cubicBezTo>
                    <a:pt x="22954869" y="967740"/>
                    <a:pt x="22864699" y="1058037"/>
                    <a:pt x="22753320" y="1058037"/>
                  </a:cubicBezTo>
                  <a:lnTo>
                    <a:pt x="201549" y="1058037"/>
                  </a:lnTo>
                  <a:cubicBezTo>
                    <a:pt x="90170" y="1058037"/>
                    <a:pt x="0" y="967740"/>
                    <a:pt x="0" y="856488"/>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72" name="Group 72"/>
          <p:cNvGrpSpPr/>
          <p:nvPr/>
        </p:nvGrpSpPr>
        <p:grpSpPr>
          <a:xfrm>
            <a:off x="822960" y="8686800"/>
            <a:ext cx="16642080" cy="768096"/>
            <a:chOff x="0" y="0"/>
            <a:chExt cx="22189440" cy="1024128"/>
          </a:xfrm>
        </p:grpSpPr>
        <p:sp>
          <p:nvSpPr>
            <p:cNvPr id="73" name="Freeform 73"/>
            <p:cNvSpPr/>
            <p:nvPr/>
          </p:nvSpPr>
          <p:spPr>
            <a:xfrm>
              <a:off x="0" y="0"/>
              <a:ext cx="22189439" cy="1024128"/>
            </a:xfrm>
            <a:custGeom>
              <a:avLst/>
              <a:gdLst/>
              <a:ahLst/>
              <a:cxnLst/>
              <a:rect l="l" t="t" r="r" b="b"/>
              <a:pathLst>
                <a:path w="22189439" h="1024128">
                  <a:moveTo>
                    <a:pt x="0" y="0"/>
                  </a:moveTo>
                  <a:lnTo>
                    <a:pt x="22189439" y="0"/>
                  </a:lnTo>
                  <a:lnTo>
                    <a:pt x="22189439" y="1024128"/>
                  </a:lnTo>
                  <a:lnTo>
                    <a:pt x="0" y="1024128"/>
                  </a:lnTo>
                  <a:close/>
                </a:path>
              </a:pathLst>
            </a:custGeom>
            <a:blipFill>
              <a:blip r:embed="rId3">
                <a:alphaModFix amt="0"/>
              </a:blip>
              <a:stretch>
                <a:fillRect t="-372175" b="-372175"/>
              </a:stretch>
            </a:blipFill>
          </p:spPr>
          <p:txBody>
            <a:bodyPr/>
            <a:lstStyle/>
            <a:p>
              <a:endParaRPr lang="ko-KR" altLang="en-US"/>
            </a:p>
          </p:txBody>
        </p:sp>
        <p:sp>
          <p:nvSpPr>
            <p:cNvPr id="74" name="TextBox 74"/>
            <p:cNvSpPr txBox="1"/>
            <p:nvPr/>
          </p:nvSpPr>
          <p:spPr>
            <a:xfrm>
              <a:off x="0" y="0"/>
              <a:ext cx="22189440" cy="1024128"/>
            </a:xfrm>
            <a:prstGeom prst="rect">
              <a:avLst/>
            </a:prstGeom>
          </p:spPr>
          <p:txBody>
            <a:bodyPr lIns="0" tIns="0" rIns="0" bIns="0" rtlCol="0" anchor="ctr"/>
            <a:lstStyle/>
            <a:p>
              <a:pPr algn="ctr">
                <a:lnSpc>
                  <a:spcPts val="2999"/>
                </a:lnSpc>
              </a:pPr>
              <a:r>
                <a:rPr lang="en-US" sz="2499" dirty="0" err="1">
                  <a:solidFill>
                    <a:srgbClr val="1A1A1A"/>
                  </a:solidFill>
                  <a:latin typeface="프리텐다드"/>
                  <a:ea typeface="프리텐다드"/>
                  <a:cs typeface="프리텐다드"/>
                  <a:sym typeface="프리텐다드"/>
                </a:rPr>
                <a:t>채점</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서버</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속도를</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모르는</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상황에서</a:t>
              </a:r>
              <a:r>
                <a:rPr lang="en-US" sz="2499" dirty="0">
                  <a:solidFill>
                    <a:srgbClr val="1A1A1A"/>
                  </a:solidFill>
                  <a:latin typeface="프리텐다드"/>
                  <a:ea typeface="프리텐다드"/>
                  <a:cs typeface="프리텐다드"/>
                  <a:sym typeface="프리텐다드"/>
                </a:rPr>
                <a:t> “</a:t>
              </a:r>
              <a:r>
                <a:rPr lang="en-US" sz="2499" b="1" dirty="0" err="1">
                  <a:solidFill>
                    <a:srgbClr val="8B0000"/>
                  </a:solidFill>
                  <a:latin typeface="프리텐다드 Bold"/>
                  <a:ea typeface="프리텐다드 Bold"/>
                  <a:cs typeface="프리텐다드 Bold"/>
                  <a:sym typeface="프리텐다드 Bold"/>
                </a:rPr>
                <a:t>느리면</a:t>
              </a:r>
              <a:r>
                <a:rPr lang="en-US" sz="2499" b="1" dirty="0">
                  <a:solidFill>
                    <a:srgbClr val="8B0000"/>
                  </a:solidFill>
                  <a:latin typeface="프리텐다드 Bold"/>
                  <a:ea typeface="프리텐다드 Bold"/>
                  <a:cs typeface="프리텐다드 Bold"/>
                  <a:sym typeface="프리텐다드 Bold"/>
                </a:rPr>
                <a:t> 0점”</a:t>
              </a:r>
              <a:r>
                <a:rPr lang="en-US" sz="2499" dirty="0">
                  <a:solidFill>
                    <a:srgbClr val="1A1A1A"/>
                  </a:solidFill>
                  <a:latin typeface="프리텐다드"/>
                  <a:ea typeface="프리텐다드"/>
                  <a:cs typeface="프리텐다드"/>
                  <a:sym typeface="프리텐다드"/>
                </a:rPr>
                <a:t> 을 </a:t>
              </a:r>
              <a:r>
                <a:rPr lang="en-US" sz="2499" dirty="0" err="1">
                  <a:solidFill>
                    <a:srgbClr val="1A1A1A"/>
                  </a:solidFill>
                  <a:latin typeface="프리텐다드"/>
                  <a:ea typeface="프리텐다드"/>
                  <a:cs typeface="프리텐다드"/>
                  <a:sym typeface="프리텐다드"/>
                </a:rPr>
                <a:t>구조로</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막았습니다</a:t>
              </a:r>
              <a:r>
                <a:rPr lang="en-US" sz="2499" dirty="0">
                  <a:solidFill>
                    <a:srgbClr val="1A1A1A"/>
                  </a:solidFill>
                  <a:latin typeface="프리텐다드"/>
                  <a:ea typeface="프리텐다드"/>
                  <a:cs typeface="프리텐다드"/>
                  <a:sym typeface="프리텐다드"/>
                </a:rPr>
                <a:t>.</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5943" y="535943"/>
            <a:ext cx="153419" cy="756923"/>
            <a:chOff x="0" y="0"/>
            <a:chExt cx="204559" cy="1009231"/>
          </a:xfrm>
        </p:grpSpPr>
        <p:sp>
          <p:nvSpPr>
            <p:cNvPr id="3" name="Freeform 3"/>
            <p:cNvSpPr/>
            <p:nvPr/>
          </p:nvSpPr>
          <p:spPr>
            <a:xfrm>
              <a:off x="0" y="0"/>
              <a:ext cx="204597" cy="1009269"/>
            </a:xfrm>
            <a:custGeom>
              <a:avLst/>
              <a:gdLst/>
              <a:ahLst/>
              <a:cxnLst/>
              <a:rect l="l" t="t" r="r" b="b"/>
              <a:pathLst>
                <a:path w="204597" h="1009269">
                  <a:moveTo>
                    <a:pt x="0" y="0"/>
                  </a:moveTo>
                  <a:lnTo>
                    <a:pt x="204597" y="0"/>
                  </a:lnTo>
                  <a:lnTo>
                    <a:pt x="204597" y="1009269"/>
                  </a:lnTo>
                  <a:lnTo>
                    <a:pt x="0" y="1009269"/>
                  </a:ln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4" name="Group 4"/>
          <p:cNvGrpSpPr/>
          <p:nvPr/>
        </p:nvGrpSpPr>
        <p:grpSpPr>
          <a:xfrm>
            <a:off x="822960" y="457200"/>
            <a:ext cx="15910560" cy="914400"/>
            <a:chOff x="0" y="0"/>
            <a:chExt cx="21214080" cy="1219200"/>
          </a:xfrm>
        </p:grpSpPr>
        <p:sp>
          <p:nvSpPr>
            <p:cNvPr id="5" name="Freeform 5"/>
            <p:cNvSpPr/>
            <p:nvPr/>
          </p:nvSpPr>
          <p:spPr>
            <a:xfrm>
              <a:off x="0" y="0"/>
              <a:ext cx="21214080" cy="1219200"/>
            </a:xfrm>
            <a:custGeom>
              <a:avLst/>
              <a:gdLst/>
              <a:ahLst/>
              <a:cxnLst/>
              <a:rect l="l" t="t" r="r" b="b"/>
              <a:pathLst>
                <a:path w="21214080" h="1219200">
                  <a:moveTo>
                    <a:pt x="0" y="0"/>
                  </a:moveTo>
                  <a:lnTo>
                    <a:pt x="21214080" y="0"/>
                  </a:lnTo>
                  <a:lnTo>
                    <a:pt x="21214080" y="1219200"/>
                  </a:lnTo>
                  <a:lnTo>
                    <a:pt x="0" y="1219200"/>
                  </a:lnTo>
                  <a:close/>
                </a:path>
              </a:pathLst>
            </a:custGeom>
            <a:blipFill>
              <a:blip r:embed="rId3">
                <a:alphaModFix amt="0"/>
              </a:blip>
              <a:stretch>
                <a:fillRect t="-289039" b="-289039"/>
              </a:stretch>
            </a:blipFill>
          </p:spPr>
          <p:txBody>
            <a:bodyPr/>
            <a:lstStyle/>
            <a:p>
              <a:endParaRPr lang="ko-KR" altLang="en-US"/>
            </a:p>
          </p:txBody>
        </p:sp>
        <p:sp>
          <p:nvSpPr>
            <p:cNvPr id="6" name="TextBox 6"/>
            <p:cNvSpPr txBox="1"/>
            <p:nvPr/>
          </p:nvSpPr>
          <p:spPr>
            <a:xfrm>
              <a:off x="0" y="0"/>
              <a:ext cx="21214080" cy="1219200"/>
            </a:xfrm>
            <a:prstGeom prst="rect">
              <a:avLst/>
            </a:prstGeom>
          </p:spPr>
          <p:txBody>
            <a:bodyPr lIns="0" tIns="0" rIns="0" bIns="0" rtlCol="0" anchor="ctr"/>
            <a:lstStyle/>
            <a:p>
              <a:pPr algn="l">
                <a:lnSpc>
                  <a:spcPts val="4560"/>
                </a:lnSpc>
              </a:pPr>
              <a:r>
                <a:rPr lang="en-US" sz="3800" b="1">
                  <a:solidFill>
                    <a:srgbClr val="1A1A1A"/>
                  </a:solidFill>
                  <a:latin typeface="프리텐다드 Bold"/>
                  <a:ea typeface="프리텐다드 Bold"/>
                  <a:cs typeface="프리텐다드 Bold"/>
                  <a:sym typeface="프리텐다드 Bold"/>
                </a:rPr>
                <a:t>실행 화면 : </a:t>
              </a:r>
              <a:r>
                <a:rPr lang="en-US" sz="3800" b="1">
                  <a:solidFill>
                    <a:srgbClr val="8B0000"/>
                  </a:solidFill>
                  <a:latin typeface="프리텐다드 Bold"/>
                  <a:ea typeface="프리텐다드 Bold"/>
                  <a:cs typeface="프리텐다드 Bold"/>
                  <a:sym typeface="프리텐다드 Bold"/>
                </a:rPr>
                <a:t>실제 파이프라인 출력</a:t>
              </a:r>
            </a:p>
          </p:txBody>
        </p:sp>
      </p:grpSp>
      <p:sp>
        <p:nvSpPr>
          <p:cNvPr id="7" name="AutoShape 7"/>
          <p:cNvSpPr/>
          <p:nvPr/>
        </p:nvSpPr>
        <p:spPr>
          <a:xfrm rot="3780">
            <a:off x="539105" y="1494854"/>
            <a:ext cx="17209780" cy="0"/>
          </a:xfrm>
          <a:prstGeom prst="line">
            <a:avLst/>
          </a:prstGeom>
          <a:ln w="9525" cap="rnd">
            <a:solidFill>
              <a:srgbClr val="BFBFBF"/>
            </a:solidFill>
            <a:prstDash val="solid"/>
            <a:headEnd type="none" w="sm" len="sm"/>
            <a:tailEnd type="none" w="sm" len="sm"/>
          </a:ln>
        </p:spPr>
        <p:txBody>
          <a:bodyPr/>
          <a:lstStyle/>
          <a:p>
            <a:endParaRPr lang="ko-KR" altLang="en-US"/>
          </a:p>
        </p:txBody>
      </p:sp>
      <p:grpSp>
        <p:nvGrpSpPr>
          <p:cNvPr id="8" name="Group 8"/>
          <p:cNvGrpSpPr/>
          <p:nvPr/>
        </p:nvGrpSpPr>
        <p:grpSpPr>
          <a:xfrm>
            <a:off x="17007840" y="219456"/>
            <a:ext cx="914400" cy="457200"/>
            <a:chOff x="0" y="0"/>
            <a:chExt cx="1219200" cy="609600"/>
          </a:xfrm>
        </p:grpSpPr>
        <p:sp>
          <p:nvSpPr>
            <p:cNvPr id="9" name="Freeform 9"/>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10" name="TextBox 10"/>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1A1A1A"/>
                  </a:solidFill>
                  <a:latin typeface="프리텐다드"/>
                  <a:ea typeface="프리텐다드"/>
                  <a:cs typeface="프리텐다드"/>
                  <a:sym typeface="프리텐다드"/>
                </a:rPr>
                <a:t>14</a:t>
              </a:r>
            </a:p>
          </p:txBody>
        </p:sp>
      </p:grpSp>
      <p:grpSp>
        <p:nvGrpSpPr>
          <p:cNvPr id="11" name="Group 11"/>
          <p:cNvGrpSpPr/>
          <p:nvPr/>
        </p:nvGrpSpPr>
        <p:grpSpPr>
          <a:xfrm>
            <a:off x="548640" y="1828800"/>
            <a:ext cx="4133088" cy="3917290"/>
            <a:chOff x="0" y="0"/>
            <a:chExt cx="5510784" cy="5223053"/>
          </a:xfrm>
        </p:grpSpPr>
        <p:sp>
          <p:nvSpPr>
            <p:cNvPr id="12" name="Freeform 12" descr="/Users/choseoyoung/Desktop/itda3-CODE-subway/발표/src/img/demo_plain.png"/>
            <p:cNvSpPr/>
            <p:nvPr/>
          </p:nvSpPr>
          <p:spPr>
            <a:xfrm>
              <a:off x="0" y="0"/>
              <a:ext cx="5510784" cy="5223002"/>
            </a:xfrm>
            <a:custGeom>
              <a:avLst/>
              <a:gdLst/>
              <a:ahLst/>
              <a:cxnLst/>
              <a:rect l="l" t="t" r="r" b="b"/>
              <a:pathLst>
                <a:path w="5510784" h="5223002">
                  <a:moveTo>
                    <a:pt x="0" y="0"/>
                  </a:moveTo>
                  <a:lnTo>
                    <a:pt x="5510784" y="0"/>
                  </a:lnTo>
                  <a:lnTo>
                    <a:pt x="5510784" y="5223002"/>
                  </a:lnTo>
                  <a:lnTo>
                    <a:pt x="0" y="5223002"/>
                  </a:lnTo>
                  <a:lnTo>
                    <a:pt x="0" y="0"/>
                  </a:lnTo>
                  <a:close/>
                </a:path>
              </a:pathLst>
            </a:custGeom>
            <a:blipFill>
              <a:blip r:embed="rId4"/>
              <a:stretch>
                <a:fillRect t="-6" b="-7"/>
              </a:stretch>
            </a:blipFill>
          </p:spPr>
          <p:txBody>
            <a:bodyPr/>
            <a:lstStyle/>
            <a:p>
              <a:endParaRPr lang="ko-KR" altLang="en-US"/>
            </a:p>
          </p:txBody>
        </p:sp>
      </p:grpSp>
      <p:sp>
        <p:nvSpPr>
          <p:cNvPr id="13" name="TextBox 13"/>
          <p:cNvSpPr txBox="1"/>
          <p:nvPr/>
        </p:nvSpPr>
        <p:spPr>
          <a:xfrm>
            <a:off x="548640" y="5842635"/>
            <a:ext cx="4133088" cy="352425"/>
          </a:xfrm>
          <a:prstGeom prst="rect">
            <a:avLst/>
          </a:prstGeom>
        </p:spPr>
        <p:txBody>
          <a:bodyPr lIns="0" tIns="0" rIns="0" bIns="0" rtlCol="0" anchor="t">
            <a:spAutoFit/>
          </a:bodyPr>
          <a:lstStyle/>
          <a:p>
            <a:pPr algn="ctr">
              <a:lnSpc>
                <a:spcPts val="2760"/>
              </a:lnSpc>
            </a:pPr>
            <a:r>
              <a:rPr lang="en-US" sz="2300">
                <a:solidFill>
                  <a:srgbClr val="1A1A1A"/>
                </a:solidFill>
                <a:latin typeface="프리텐다드"/>
                <a:ea typeface="프리텐다드"/>
                <a:cs typeface="프리텐다드"/>
                <a:sym typeface="프리텐다드"/>
              </a:rPr>
              <a:t>일반 인쇄</a:t>
            </a:r>
          </a:p>
        </p:txBody>
      </p:sp>
      <p:grpSp>
        <p:nvGrpSpPr>
          <p:cNvPr id="14" name="Group 14"/>
          <p:cNvGrpSpPr/>
          <p:nvPr/>
        </p:nvGrpSpPr>
        <p:grpSpPr>
          <a:xfrm>
            <a:off x="4901184" y="1828800"/>
            <a:ext cx="4133088" cy="3917290"/>
            <a:chOff x="0" y="0"/>
            <a:chExt cx="5510784" cy="5223053"/>
          </a:xfrm>
        </p:grpSpPr>
        <p:sp>
          <p:nvSpPr>
            <p:cNvPr id="15" name="Freeform 15" descr="/Users/choseoyoung/Desktop/itda3-CODE-subway/발표/src/img/demo_two.png"/>
            <p:cNvSpPr/>
            <p:nvPr/>
          </p:nvSpPr>
          <p:spPr>
            <a:xfrm>
              <a:off x="0" y="0"/>
              <a:ext cx="5510784" cy="5223002"/>
            </a:xfrm>
            <a:custGeom>
              <a:avLst/>
              <a:gdLst/>
              <a:ahLst/>
              <a:cxnLst/>
              <a:rect l="l" t="t" r="r" b="b"/>
              <a:pathLst>
                <a:path w="5510784" h="5223002">
                  <a:moveTo>
                    <a:pt x="0" y="0"/>
                  </a:moveTo>
                  <a:lnTo>
                    <a:pt x="5510784" y="0"/>
                  </a:lnTo>
                  <a:lnTo>
                    <a:pt x="5510784" y="5223002"/>
                  </a:lnTo>
                  <a:lnTo>
                    <a:pt x="0" y="5223002"/>
                  </a:lnTo>
                  <a:lnTo>
                    <a:pt x="0" y="0"/>
                  </a:lnTo>
                  <a:close/>
                </a:path>
              </a:pathLst>
            </a:custGeom>
            <a:blipFill>
              <a:blip r:embed="rId5"/>
              <a:stretch>
                <a:fillRect t="-6" b="-7"/>
              </a:stretch>
            </a:blipFill>
          </p:spPr>
          <p:txBody>
            <a:bodyPr/>
            <a:lstStyle/>
            <a:p>
              <a:endParaRPr lang="ko-KR" altLang="en-US"/>
            </a:p>
          </p:txBody>
        </p:sp>
      </p:grpSp>
      <p:sp>
        <p:nvSpPr>
          <p:cNvPr id="16" name="TextBox 16"/>
          <p:cNvSpPr txBox="1"/>
          <p:nvPr/>
        </p:nvSpPr>
        <p:spPr>
          <a:xfrm>
            <a:off x="4901184" y="5842635"/>
            <a:ext cx="4133088" cy="352425"/>
          </a:xfrm>
          <a:prstGeom prst="rect">
            <a:avLst/>
          </a:prstGeom>
        </p:spPr>
        <p:txBody>
          <a:bodyPr lIns="0" tIns="0" rIns="0" bIns="0" rtlCol="0" anchor="t">
            <a:spAutoFit/>
          </a:bodyPr>
          <a:lstStyle/>
          <a:p>
            <a:pPr algn="ctr">
              <a:lnSpc>
                <a:spcPts val="2760"/>
              </a:lnSpc>
            </a:pPr>
            <a:r>
              <a:rPr lang="en-US" sz="2300">
                <a:solidFill>
                  <a:srgbClr val="1A1A1A"/>
                </a:solidFill>
                <a:latin typeface="프리텐다드"/>
                <a:ea typeface="프리텐다드"/>
                <a:cs typeface="프리텐다드"/>
                <a:sym typeface="프리텐다드"/>
              </a:rPr>
              <a:t>제조·소비 병기</a:t>
            </a:r>
          </a:p>
        </p:txBody>
      </p:sp>
      <p:grpSp>
        <p:nvGrpSpPr>
          <p:cNvPr id="17" name="Group 17"/>
          <p:cNvGrpSpPr/>
          <p:nvPr/>
        </p:nvGrpSpPr>
        <p:grpSpPr>
          <a:xfrm>
            <a:off x="9253728" y="1828800"/>
            <a:ext cx="4133088" cy="3917290"/>
            <a:chOff x="0" y="0"/>
            <a:chExt cx="5510784" cy="5223053"/>
          </a:xfrm>
        </p:grpSpPr>
        <p:sp>
          <p:nvSpPr>
            <p:cNvPr id="18" name="Freeform 18" descr="/Users/choseoyoung/Desktop/itda3-CODE-subway/발표/src/img/demo_dot.png"/>
            <p:cNvSpPr/>
            <p:nvPr/>
          </p:nvSpPr>
          <p:spPr>
            <a:xfrm>
              <a:off x="0" y="0"/>
              <a:ext cx="5510784" cy="5223002"/>
            </a:xfrm>
            <a:custGeom>
              <a:avLst/>
              <a:gdLst/>
              <a:ahLst/>
              <a:cxnLst/>
              <a:rect l="l" t="t" r="r" b="b"/>
              <a:pathLst>
                <a:path w="5510784" h="5223002">
                  <a:moveTo>
                    <a:pt x="0" y="0"/>
                  </a:moveTo>
                  <a:lnTo>
                    <a:pt x="5510784" y="0"/>
                  </a:lnTo>
                  <a:lnTo>
                    <a:pt x="5510784" y="5223002"/>
                  </a:lnTo>
                  <a:lnTo>
                    <a:pt x="0" y="5223002"/>
                  </a:lnTo>
                  <a:lnTo>
                    <a:pt x="0" y="0"/>
                  </a:lnTo>
                  <a:close/>
                </a:path>
              </a:pathLst>
            </a:custGeom>
            <a:blipFill>
              <a:blip r:embed="rId6"/>
              <a:stretch>
                <a:fillRect t="-6" b="-7"/>
              </a:stretch>
            </a:blipFill>
          </p:spPr>
          <p:txBody>
            <a:bodyPr/>
            <a:lstStyle/>
            <a:p>
              <a:endParaRPr lang="ko-KR" altLang="en-US"/>
            </a:p>
          </p:txBody>
        </p:sp>
      </p:grpSp>
      <p:sp>
        <p:nvSpPr>
          <p:cNvPr id="19" name="TextBox 19"/>
          <p:cNvSpPr txBox="1"/>
          <p:nvPr/>
        </p:nvSpPr>
        <p:spPr>
          <a:xfrm>
            <a:off x="9253728" y="5842635"/>
            <a:ext cx="4133088" cy="352425"/>
          </a:xfrm>
          <a:prstGeom prst="rect">
            <a:avLst/>
          </a:prstGeom>
        </p:spPr>
        <p:txBody>
          <a:bodyPr lIns="0" tIns="0" rIns="0" bIns="0" rtlCol="0" anchor="t">
            <a:spAutoFit/>
          </a:bodyPr>
          <a:lstStyle/>
          <a:p>
            <a:pPr algn="ctr">
              <a:lnSpc>
                <a:spcPts val="2760"/>
              </a:lnSpc>
            </a:pPr>
            <a:r>
              <a:rPr lang="en-US" sz="2300">
                <a:solidFill>
                  <a:srgbClr val="1A1A1A"/>
                </a:solidFill>
                <a:latin typeface="프리텐다드"/>
                <a:ea typeface="프리텐다드"/>
                <a:cs typeface="프리텐다드"/>
                <a:sym typeface="프리텐다드"/>
              </a:rPr>
              <a:t>도트 인쇄 (폴백)</a:t>
            </a:r>
          </a:p>
        </p:txBody>
      </p:sp>
      <p:grpSp>
        <p:nvGrpSpPr>
          <p:cNvPr id="20" name="Group 20"/>
          <p:cNvGrpSpPr/>
          <p:nvPr/>
        </p:nvGrpSpPr>
        <p:grpSpPr>
          <a:xfrm>
            <a:off x="13606082" y="1828800"/>
            <a:ext cx="4133088" cy="3917290"/>
            <a:chOff x="0" y="0"/>
            <a:chExt cx="5510784" cy="5223053"/>
          </a:xfrm>
        </p:grpSpPr>
        <p:sp>
          <p:nvSpPr>
            <p:cNvPr id="21" name="Freeform 21" descr="/Users/choseoyoung/Desktop/itda3-CODE-subway/발표/src/img/demo_none.png"/>
            <p:cNvSpPr/>
            <p:nvPr/>
          </p:nvSpPr>
          <p:spPr>
            <a:xfrm>
              <a:off x="0" y="0"/>
              <a:ext cx="5510784" cy="5223002"/>
            </a:xfrm>
            <a:custGeom>
              <a:avLst/>
              <a:gdLst/>
              <a:ahLst/>
              <a:cxnLst/>
              <a:rect l="l" t="t" r="r" b="b"/>
              <a:pathLst>
                <a:path w="5510784" h="5223002">
                  <a:moveTo>
                    <a:pt x="0" y="0"/>
                  </a:moveTo>
                  <a:lnTo>
                    <a:pt x="5510784" y="0"/>
                  </a:lnTo>
                  <a:lnTo>
                    <a:pt x="5510784" y="5223002"/>
                  </a:lnTo>
                  <a:lnTo>
                    <a:pt x="0" y="5223002"/>
                  </a:lnTo>
                  <a:lnTo>
                    <a:pt x="0" y="0"/>
                  </a:lnTo>
                  <a:close/>
                </a:path>
              </a:pathLst>
            </a:custGeom>
            <a:blipFill>
              <a:blip r:embed="rId7"/>
              <a:stretch>
                <a:fillRect t="-6" b="-7"/>
              </a:stretch>
            </a:blipFill>
          </p:spPr>
          <p:txBody>
            <a:bodyPr/>
            <a:lstStyle/>
            <a:p>
              <a:endParaRPr lang="ko-KR" altLang="en-US"/>
            </a:p>
          </p:txBody>
        </p:sp>
      </p:grpSp>
      <p:sp>
        <p:nvSpPr>
          <p:cNvPr id="22" name="TextBox 22"/>
          <p:cNvSpPr txBox="1"/>
          <p:nvPr/>
        </p:nvSpPr>
        <p:spPr>
          <a:xfrm>
            <a:off x="13606082" y="5842635"/>
            <a:ext cx="4133088" cy="352425"/>
          </a:xfrm>
          <a:prstGeom prst="rect">
            <a:avLst/>
          </a:prstGeom>
        </p:spPr>
        <p:txBody>
          <a:bodyPr lIns="0" tIns="0" rIns="0" bIns="0" rtlCol="0" anchor="t">
            <a:spAutoFit/>
          </a:bodyPr>
          <a:lstStyle/>
          <a:p>
            <a:pPr algn="ctr">
              <a:lnSpc>
                <a:spcPts val="2760"/>
              </a:lnSpc>
            </a:pPr>
            <a:r>
              <a:rPr lang="en-US" sz="2300">
                <a:solidFill>
                  <a:srgbClr val="1A1A1A"/>
                </a:solidFill>
                <a:latin typeface="프리텐다드"/>
                <a:ea typeface="프리텐다드"/>
                <a:cs typeface="프리텐다드"/>
                <a:sym typeface="프리텐다드"/>
              </a:rPr>
              <a:t>미인식 → 판매자 입력</a:t>
            </a:r>
          </a:p>
        </p:txBody>
      </p:sp>
      <p:grpSp>
        <p:nvGrpSpPr>
          <p:cNvPr id="23" name="Group 23"/>
          <p:cNvGrpSpPr/>
          <p:nvPr/>
        </p:nvGrpSpPr>
        <p:grpSpPr>
          <a:xfrm>
            <a:off x="535943" y="6607559"/>
            <a:ext cx="17216123" cy="1854203"/>
            <a:chOff x="0" y="0"/>
            <a:chExt cx="22954831" cy="2472271"/>
          </a:xfrm>
        </p:grpSpPr>
        <p:sp>
          <p:nvSpPr>
            <p:cNvPr id="24" name="Freeform 24"/>
            <p:cNvSpPr/>
            <p:nvPr/>
          </p:nvSpPr>
          <p:spPr>
            <a:xfrm>
              <a:off x="0" y="0"/>
              <a:ext cx="22954742" cy="2472182"/>
            </a:xfrm>
            <a:custGeom>
              <a:avLst/>
              <a:gdLst/>
              <a:ahLst/>
              <a:cxnLst/>
              <a:rect l="l" t="t" r="r" b="b"/>
              <a:pathLst>
                <a:path w="22954742" h="2472182">
                  <a:moveTo>
                    <a:pt x="0" y="197739"/>
                  </a:moveTo>
                  <a:cubicBezTo>
                    <a:pt x="0" y="88519"/>
                    <a:pt x="88519" y="0"/>
                    <a:pt x="197739" y="0"/>
                  </a:cubicBezTo>
                  <a:lnTo>
                    <a:pt x="22757003" y="0"/>
                  </a:lnTo>
                  <a:cubicBezTo>
                    <a:pt x="22866223" y="0"/>
                    <a:pt x="22954742" y="88519"/>
                    <a:pt x="22954742" y="197739"/>
                  </a:cubicBezTo>
                  <a:lnTo>
                    <a:pt x="22954742" y="2274443"/>
                  </a:lnTo>
                  <a:cubicBezTo>
                    <a:pt x="22954742" y="2383663"/>
                    <a:pt x="22866223" y="2472182"/>
                    <a:pt x="22757003" y="2472182"/>
                  </a:cubicBezTo>
                  <a:lnTo>
                    <a:pt x="197739" y="2472182"/>
                  </a:lnTo>
                  <a:cubicBezTo>
                    <a:pt x="88519" y="2472309"/>
                    <a:pt x="0" y="2383663"/>
                    <a:pt x="0" y="2274443"/>
                  </a:cubicBezTo>
                  <a:close/>
                </a:path>
              </a:pathLst>
            </a:custGeom>
            <a:solidFill>
              <a:srgbClr val="F2F2F2"/>
            </a:solidFill>
            <a:ln w="25400" cap="sq">
              <a:solidFill>
                <a:srgbClr val="F2F2F2"/>
              </a:solidFill>
              <a:prstDash val="solid"/>
              <a:miter/>
            </a:ln>
          </p:spPr>
          <p:txBody>
            <a:bodyPr/>
            <a:lstStyle/>
            <a:p>
              <a:endParaRPr lang="ko-KR" altLang="en-US"/>
            </a:p>
          </p:txBody>
        </p:sp>
      </p:grpSp>
      <p:sp>
        <p:nvSpPr>
          <p:cNvPr id="25" name="TextBox 25"/>
          <p:cNvSpPr txBox="1"/>
          <p:nvPr/>
        </p:nvSpPr>
        <p:spPr>
          <a:xfrm>
            <a:off x="822960" y="6873626"/>
            <a:ext cx="16642080" cy="1264385"/>
          </a:xfrm>
          <a:prstGeom prst="rect">
            <a:avLst/>
          </a:prstGeom>
        </p:spPr>
        <p:txBody>
          <a:bodyPr lIns="0" tIns="0" rIns="0" bIns="0" rtlCol="0" anchor="t">
            <a:spAutoFit/>
          </a:bodyPr>
          <a:lstStyle/>
          <a:p>
            <a:pPr marL="506730" lvl="1" indent="-253365" algn="l">
              <a:lnSpc>
                <a:spcPts val="3360"/>
              </a:lnSpc>
              <a:buFont typeface="Arial"/>
              <a:buChar char="•"/>
            </a:pPr>
            <a:r>
              <a:rPr lang="en-US" sz="2100" dirty="0" err="1">
                <a:solidFill>
                  <a:srgbClr val="1A1A1A"/>
                </a:solidFill>
                <a:latin typeface="프리텐다드"/>
                <a:ea typeface="프리텐다드"/>
                <a:cs typeface="프리텐다드"/>
                <a:sym typeface="프리텐다드"/>
              </a:rPr>
              <a:t>빨간</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상자</a:t>
            </a:r>
            <a:r>
              <a:rPr lang="en-US" sz="2100" dirty="0">
                <a:solidFill>
                  <a:srgbClr val="1A1A1A"/>
                </a:solidFill>
                <a:latin typeface="프리텐다드"/>
                <a:ea typeface="프리텐다드"/>
                <a:cs typeface="프리텐다드"/>
                <a:sym typeface="프리텐다드"/>
              </a:rPr>
              <a:t> = </a:t>
            </a:r>
            <a:r>
              <a:rPr lang="en-US" sz="2100" dirty="0" err="1">
                <a:solidFill>
                  <a:srgbClr val="1A1A1A"/>
                </a:solidFill>
                <a:latin typeface="프리텐다드"/>
                <a:ea typeface="프리텐다드"/>
                <a:cs typeface="프리텐다드"/>
                <a:sym typeface="프리텐다드"/>
              </a:rPr>
              <a:t>선택된</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날짜</a:t>
            </a:r>
            <a:r>
              <a:rPr lang="en-US" sz="2100" dirty="0">
                <a:solidFill>
                  <a:srgbClr val="1A1A1A"/>
                </a:solidFill>
                <a:latin typeface="프리텐다드"/>
                <a:ea typeface="프리텐다드"/>
                <a:cs typeface="프리텐다드"/>
                <a:sym typeface="프리텐다드"/>
              </a:rPr>
              <a:t> 줄, </a:t>
            </a:r>
            <a:r>
              <a:rPr lang="en-US" sz="2100" dirty="0" err="1">
                <a:solidFill>
                  <a:srgbClr val="1A1A1A"/>
                </a:solidFill>
                <a:latin typeface="프리텐다드"/>
                <a:ea typeface="프리텐다드"/>
                <a:cs typeface="프리텐다드"/>
                <a:sym typeface="프리텐다드"/>
              </a:rPr>
              <a:t>회색</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상자</a:t>
            </a:r>
            <a:r>
              <a:rPr lang="en-US" sz="2100" dirty="0">
                <a:solidFill>
                  <a:srgbClr val="1A1A1A"/>
                </a:solidFill>
                <a:latin typeface="프리텐다드"/>
                <a:ea typeface="프리텐다드"/>
                <a:cs typeface="프리텐다드"/>
                <a:sym typeface="프리텐다드"/>
              </a:rPr>
              <a:t> = </a:t>
            </a:r>
            <a:r>
              <a:rPr lang="en-US" sz="2100" dirty="0" err="1">
                <a:solidFill>
                  <a:srgbClr val="1A1A1A"/>
                </a:solidFill>
                <a:latin typeface="프리텐다드"/>
                <a:ea typeface="프리텐다드"/>
                <a:cs typeface="프리텐다드"/>
                <a:sym typeface="프리텐다드"/>
              </a:rPr>
              <a:t>다른</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후보</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아래</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패널은</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파이프라인이</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실제로</a:t>
            </a:r>
            <a:r>
              <a:rPr lang="en-US" sz="2100" dirty="0">
                <a:solidFill>
                  <a:srgbClr val="1A1A1A"/>
                </a:solidFill>
                <a:latin typeface="프리텐다드"/>
                <a:ea typeface="프리텐다드"/>
                <a:cs typeface="프리텐다드"/>
                <a:sym typeface="프리텐다드"/>
              </a:rPr>
              <a:t> 낸 </a:t>
            </a:r>
            <a:r>
              <a:rPr lang="en-US" sz="2100" dirty="0" err="1">
                <a:solidFill>
                  <a:srgbClr val="1A1A1A"/>
                </a:solidFill>
                <a:latin typeface="프리텐다드"/>
                <a:ea typeface="프리텐다드"/>
                <a:cs typeface="프리텐다드"/>
                <a:sym typeface="프리텐다드"/>
              </a:rPr>
              <a:t>값·후보·처리</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시간</a:t>
            </a:r>
            <a:endParaRPr lang="en-US" sz="2100" dirty="0">
              <a:solidFill>
                <a:srgbClr val="1A1A1A"/>
              </a:solidFill>
              <a:latin typeface="프리텐다드"/>
              <a:ea typeface="프리텐다드"/>
              <a:cs typeface="프리텐다드"/>
              <a:sym typeface="프리텐다드"/>
            </a:endParaRPr>
          </a:p>
          <a:p>
            <a:pPr marL="506730" lvl="1" indent="-253365" algn="l">
              <a:lnSpc>
                <a:spcPts val="3360"/>
              </a:lnSpc>
              <a:buFont typeface="Arial"/>
              <a:buChar char="•"/>
            </a:pPr>
            <a:r>
              <a:rPr lang="en-US" sz="2100" dirty="0" err="1">
                <a:solidFill>
                  <a:srgbClr val="1A1A1A"/>
                </a:solidFill>
                <a:latin typeface="프리텐다드"/>
                <a:ea typeface="프리텐다드"/>
                <a:cs typeface="프리텐다드"/>
                <a:sym typeface="프리텐다드"/>
              </a:rPr>
              <a:t>병기</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사진</a:t>
            </a:r>
            <a:r>
              <a:rPr lang="en-US" sz="2100" dirty="0">
                <a:solidFill>
                  <a:srgbClr val="1A1A1A"/>
                </a:solidFill>
                <a:latin typeface="프리텐다드"/>
                <a:ea typeface="프리텐다드"/>
                <a:cs typeface="프리텐다드"/>
                <a:sym typeface="프리텐다드"/>
              </a:rPr>
              <a:t> : 25.06.26(</a:t>
            </a:r>
            <a:r>
              <a:rPr lang="en-US" sz="2100" dirty="0" err="1">
                <a:solidFill>
                  <a:srgbClr val="1A1A1A"/>
                </a:solidFill>
                <a:latin typeface="프리텐다드"/>
                <a:ea typeface="프리텐다드"/>
                <a:cs typeface="프리텐다드"/>
                <a:sym typeface="프리텐다드"/>
              </a:rPr>
              <a:t>제조</a:t>
            </a:r>
            <a:r>
              <a:rPr lang="en-US" sz="2100" dirty="0">
                <a:solidFill>
                  <a:srgbClr val="1A1A1A"/>
                </a:solidFill>
                <a:latin typeface="프리텐다드"/>
                <a:ea typeface="프리텐다드"/>
                <a:cs typeface="프리텐다드"/>
                <a:sym typeface="프리텐다드"/>
              </a:rPr>
              <a:t>)과 26.06.25(</a:t>
            </a:r>
            <a:r>
              <a:rPr lang="en-US" sz="2100" dirty="0" err="1">
                <a:solidFill>
                  <a:srgbClr val="1A1A1A"/>
                </a:solidFill>
                <a:latin typeface="프리텐다드"/>
                <a:ea typeface="프리텐다드"/>
                <a:cs typeface="프리텐다드"/>
                <a:sym typeface="프리텐다드"/>
              </a:rPr>
              <a:t>소비</a:t>
            </a:r>
            <a:r>
              <a:rPr lang="en-US" sz="2100" dirty="0">
                <a:solidFill>
                  <a:srgbClr val="1A1A1A"/>
                </a:solidFill>
                <a:latin typeface="프리텐다드"/>
                <a:ea typeface="프리텐다드"/>
                <a:cs typeface="프리텐다드"/>
                <a:sym typeface="프리텐다드"/>
              </a:rPr>
              <a:t>)를 </a:t>
            </a:r>
            <a:r>
              <a:rPr lang="en-US" sz="2100" dirty="0" err="1">
                <a:solidFill>
                  <a:srgbClr val="1A1A1A"/>
                </a:solidFill>
                <a:latin typeface="프리텐다드"/>
                <a:ea typeface="프리텐다드"/>
                <a:cs typeface="프리텐다드"/>
                <a:sym typeface="프리텐다드"/>
              </a:rPr>
              <a:t>모두</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읽고</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늦은</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날짜를</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선택</a:t>
            </a:r>
            <a:endParaRPr lang="en-US" sz="2100" dirty="0">
              <a:solidFill>
                <a:srgbClr val="1A1A1A"/>
              </a:solidFill>
              <a:latin typeface="프리텐다드"/>
              <a:ea typeface="프리텐다드"/>
              <a:cs typeface="프리텐다드"/>
              <a:sym typeface="프리텐다드"/>
            </a:endParaRPr>
          </a:p>
          <a:p>
            <a:pPr marL="506730" lvl="1" indent="-253365" algn="l">
              <a:lnSpc>
                <a:spcPts val="3360"/>
              </a:lnSpc>
              <a:buFont typeface="Arial"/>
              <a:buChar char="•"/>
            </a:pPr>
            <a:r>
              <a:rPr lang="en-US" sz="2100" dirty="0">
                <a:solidFill>
                  <a:srgbClr val="1A1A1A"/>
                </a:solidFill>
                <a:latin typeface="프리텐다드"/>
                <a:ea typeface="프리텐다드"/>
                <a:cs typeface="프리텐다드"/>
                <a:sym typeface="프리텐다드"/>
              </a:rPr>
              <a:t>네 </a:t>
            </a:r>
            <a:r>
              <a:rPr lang="en-US" sz="2100" dirty="0" err="1">
                <a:solidFill>
                  <a:srgbClr val="1A1A1A"/>
                </a:solidFill>
                <a:latin typeface="프리텐다드"/>
                <a:ea typeface="프리텐다드"/>
                <a:cs typeface="프리텐다드"/>
                <a:sym typeface="프리텐다드"/>
              </a:rPr>
              <a:t>번째</a:t>
            </a:r>
            <a:r>
              <a:rPr lang="en-US" sz="2100" dirty="0">
                <a:solidFill>
                  <a:srgbClr val="1A1A1A"/>
                </a:solidFill>
                <a:latin typeface="프리텐다드"/>
                <a:ea typeface="프리텐다드"/>
                <a:cs typeface="프리텐다드"/>
                <a:sym typeface="프리텐다드"/>
              </a:rPr>
              <a:t> : </a:t>
            </a:r>
            <a:r>
              <a:rPr lang="en-US" sz="2100" dirty="0" err="1">
                <a:solidFill>
                  <a:srgbClr val="1A1A1A"/>
                </a:solidFill>
                <a:latin typeface="프리텐다드"/>
                <a:ea typeface="프리텐다드"/>
                <a:cs typeface="프리텐다드"/>
                <a:sym typeface="프리텐다드"/>
              </a:rPr>
              <a:t>후보가</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없으면</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날짜를</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지어내지</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않고</a:t>
            </a:r>
            <a:r>
              <a:rPr lang="en-US" sz="2100" dirty="0">
                <a:solidFill>
                  <a:srgbClr val="1A1A1A"/>
                </a:solidFill>
                <a:latin typeface="프리텐다드"/>
                <a:ea typeface="프리텐다드"/>
                <a:cs typeface="프리텐다드"/>
                <a:sym typeface="프리텐다드"/>
              </a:rPr>
              <a:t> NONE. </a:t>
            </a:r>
            <a:r>
              <a:rPr lang="en-US" sz="2100" dirty="0" err="1">
                <a:solidFill>
                  <a:srgbClr val="1A1A1A"/>
                </a:solidFill>
                <a:latin typeface="프리텐다드"/>
                <a:ea typeface="프리텐다드"/>
                <a:cs typeface="프리텐다드"/>
                <a:sym typeface="프리텐다드"/>
              </a:rPr>
              <a:t>게시</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화면에서는</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빈칸으로</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두고</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판매자가</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입력</a:t>
            </a:r>
            <a:endParaRPr lang="en-US" sz="2100" dirty="0">
              <a:solidFill>
                <a:srgbClr val="1A1A1A"/>
              </a:solidFill>
              <a:latin typeface="프리텐다드"/>
              <a:ea typeface="프리텐다드"/>
              <a:cs typeface="프리텐다드"/>
              <a:sym typeface="프리텐다드"/>
            </a:endParaRPr>
          </a:p>
        </p:txBody>
      </p:sp>
      <p:grpSp>
        <p:nvGrpSpPr>
          <p:cNvPr id="26" name="Group 26"/>
          <p:cNvGrpSpPr/>
          <p:nvPr/>
        </p:nvGrpSpPr>
        <p:grpSpPr>
          <a:xfrm>
            <a:off x="535943" y="8674103"/>
            <a:ext cx="17216123" cy="793499"/>
            <a:chOff x="0" y="0"/>
            <a:chExt cx="22954831" cy="1057999"/>
          </a:xfrm>
        </p:grpSpPr>
        <p:sp>
          <p:nvSpPr>
            <p:cNvPr id="27" name="Freeform 27"/>
            <p:cNvSpPr/>
            <p:nvPr/>
          </p:nvSpPr>
          <p:spPr>
            <a:xfrm>
              <a:off x="0" y="0"/>
              <a:ext cx="22954869" cy="1058037"/>
            </a:xfrm>
            <a:custGeom>
              <a:avLst/>
              <a:gdLst/>
              <a:ahLst/>
              <a:cxnLst/>
              <a:rect l="l" t="t" r="r" b="b"/>
              <a:pathLst>
                <a:path w="22954869" h="1058037">
                  <a:moveTo>
                    <a:pt x="0" y="201549"/>
                  </a:moveTo>
                  <a:cubicBezTo>
                    <a:pt x="0" y="90170"/>
                    <a:pt x="90170" y="0"/>
                    <a:pt x="201549" y="0"/>
                  </a:cubicBezTo>
                  <a:lnTo>
                    <a:pt x="22753320" y="0"/>
                  </a:lnTo>
                  <a:cubicBezTo>
                    <a:pt x="22864572" y="0"/>
                    <a:pt x="22954869" y="90170"/>
                    <a:pt x="22954869" y="201549"/>
                  </a:cubicBezTo>
                  <a:lnTo>
                    <a:pt x="22954869" y="856488"/>
                  </a:lnTo>
                  <a:cubicBezTo>
                    <a:pt x="22954869" y="967740"/>
                    <a:pt x="22864699" y="1058037"/>
                    <a:pt x="22753320" y="1058037"/>
                  </a:cubicBezTo>
                  <a:lnTo>
                    <a:pt x="201549" y="1058037"/>
                  </a:lnTo>
                  <a:cubicBezTo>
                    <a:pt x="90170" y="1058037"/>
                    <a:pt x="0" y="967740"/>
                    <a:pt x="0" y="856488"/>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28" name="Group 28"/>
          <p:cNvGrpSpPr/>
          <p:nvPr/>
        </p:nvGrpSpPr>
        <p:grpSpPr>
          <a:xfrm>
            <a:off x="822960" y="8686800"/>
            <a:ext cx="16642080" cy="768096"/>
            <a:chOff x="0" y="0"/>
            <a:chExt cx="22189440" cy="1024128"/>
          </a:xfrm>
        </p:grpSpPr>
        <p:sp>
          <p:nvSpPr>
            <p:cNvPr id="29" name="Freeform 29"/>
            <p:cNvSpPr/>
            <p:nvPr/>
          </p:nvSpPr>
          <p:spPr>
            <a:xfrm>
              <a:off x="0" y="0"/>
              <a:ext cx="22189439" cy="1024128"/>
            </a:xfrm>
            <a:custGeom>
              <a:avLst/>
              <a:gdLst/>
              <a:ahLst/>
              <a:cxnLst/>
              <a:rect l="l" t="t" r="r" b="b"/>
              <a:pathLst>
                <a:path w="22189439" h="1024128">
                  <a:moveTo>
                    <a:pt x="0" y="0"/>
                  </a:moveTo>
                  <a:lnTo>
                    <a:pt x="22189439" y="0"/>
                  </a:lnTo>
                  <a:lnTo>
                    <a:pt x="22189439" y="1024128"/>
                  </a:lnTo>
                  <a:lnTo>
                    <a:pt x="0" y="1024128"/>
                  </a:lnTo>
                  <a:close/>
                </a:path>
              </a:pathLst>
            </a:custGeom>
            <a:blipFill>
              <a:blip r:embed="rId3">
                <a:alphaModFix amt="0"/>
              </a:blip>
              <a:stretch>
                <a:fillRect t="-372175" b="-372175"/>
              </a:stretch>
            </a:blipFill>
          </p:spPr>
          <p:txBody>
            <a:bodyPr/>
            <a:lstStyle/>
            <a:p>
              <a:endParaRPr lang="ko-KR" altLang="en-US"/>
            </a:p>
          </p:txBody>
        </p:sp>
        <p:sp>
          <p:nvSpPr>
            <p:cNvPr id="30" name="TextBox 30"/>
            <p:cNvSpPr txBox="1"/>
            <p:nvPr/>
          </p:nvSpPr>
          <p:spPr>
            <a:xfrm>
              <a:off x="0" y="0"/>
              <a:ext cx="22189440" cy="1024128"/>
            </a:xfrm>
            <a:prstGeom prst="rect">
              <a:avLst/>
            </a:prstGeom>
          </p:spPr>
          <p:txBody>
            <a:bodyPr lIns="0" tIns="0" rIns="0" bIns="0" rtlCol="0" anchor="ctr"/>
            <a:lstStyle/>
            <a:p>
              <a:pPr algn="ctr">
                <a:lnSpc>
                  <a:spcPts val="2999"/>
                </a:lnSpc>
              </a:pPr>
              <a:r>
                <a:rPr lang="en-US" sz="2499" dirty="0" err="1">
                  <a:solidFill>
                    <a:srgbClr val="1A1A1A"/>
                  </a:solidFill>
                  <a:latin typeface="프리텐다드"/>
                  <a:ea typeface="프리텐다드"/>
                  <a:cs typeface="프리텐다드"/>
                  <a:sym typeface="프리텐다드"/>
                </a:rPr>
                <a:t>재현</a:t>
              </a:r>
              <a:r>
                <a:rPr lang="en-US" sz="2499" dirty="0">
                  <a:solidFill>
                    <a:srgbClr val="1A1A1A"/>
                  </a:solidFill>
                  <a:latin typeface="프리텐다드"/>
                  <a:ea typeface="프리텐다드"/>
                  <a:cs typeface="프리텐다드"/>
                  <a:sym typeface="프리텐다드"/>
                </a:rPr>
                <a:t> : 새 </a:t>
              </a:r>
              <a:r>
                <a:rPr lang="en-US" sz="2499" dirty="0" err="1">
                  <a:solidFill>
                    <a:srgbClr val="1A1A1A"/>
                  </a:solidFill>
                  <a:latin typeface="프리텐다드"/>
                  <a:ea typeface="프리텐다드"/>
                  <a:cs typeface="프리텐다드"/>
                  <a:sym typeface="프리텐다드"/>
                </a:rPr>
                <a:t>환경에서</a:t>
              </a:r>
              <a:r>
                <a:rPr lang="en-US" sz="2499" dirty="0">
                  <a:solidFill>
                    <a:srgbClr val="1A1A1A"/>
                  </a:solidFill>
                  <a:latin typeface="프리텐다드"/>
                  <a:ea typeface="프리텐다드"/>
                  <a:cs typeface="프리텐다드"/>
                  <a:sym typeface="프리텐다드"/>
                </a:rPr>
                <a:t> </a:t>
              </a:r>
              <a:r>
                <a:rPr lang="en-US" sz="2499" b="1" dirty="0" err="1">
                  <a:solidFill>
                    <a:srgbClr val="8B0000"/>
                  </a:solidFill>
                  <a:latin typeface="프리텐다드"/>
                  <a:ea typeface="프리텐다드"/>
                  <a:cs typeface="프리텐다드"/>
                  <a:sym typeface="프리텐다드"/>
                </a:rPr>
                <a:t>설치</a:t>
              </a:r>
              <a:r>
                <a:rPr lang="en-US" sz="2499" b="1" dirty="0">
                  <a:solidFill>
                    <a:srgbClr val="8B0000"/>
                  </a:solidFill>
                  <a:latin typeface="프리텐다드"/>
                  <a:ea typeface="프리텐다드"/>
                  <a:cs typeface="프리텐다드"/>
                  <a:sym typeface="프리텐다드"/>
                </a:rPr>
                <a:t> → </a:t>
              </a:r>
              <a:r>
                <a:rPr lang="en-US" sz="2499" b="1" dirty="0" err="1">
                  <a:solidFill>
                    <a:srgbClr val="8B0000"/>
                  </a:solidFill>
                  <a:latin typeface="프리텐다드"/>
                  <a:ea typeface="프리텐다드"/>
                  <a:cs typeface="프리텐다드"/>
                  <a:sym typeface="프리텐다드"/>
                </a:rPr>
                <a:t>가중치</a:t>
              </a:r>
              <a:r>
                <a:rPr lang="en-US" sz="2499" b="1" dirty="0">
                  <a:solidFill>
                    <a:srgbClr val="8B0000"/>
                  </a:solidFill>
                  <a:latin typeface="프리텐다드"/>
                  <a:ea typeface="프리텐다드"/>
                  <a:cs typeface="프리텐다드"/>
                  <a:sym typeface="프리텐다드"/>
                </a:rPr>
                <a:t> </a:t>
              </a:r>
              <a:r>
                <a:rPr lang="en-US" sz="2499" b="1" dirty="0" err="1">
                  <a:solidFill>
                    <a:srgbClr val="8B0000"/>
                  </a:solidFill>
                  <a:latin typeface="프리텐다드"/>
                  <a:ea typeface="프리텐다드"/>
                  <a:cs typeface="프리텐다드"/>
                  <a:sym typeface="프리텐다드"/>
                </a:rPr>
                <a:t>다운로드</a:t>
              </a:r>
              <a:r>
                <a:rPr lang="en-US" sz="2499" b="1" dirty="0">
                  <a:solidFill>
                    <a:srgbClr val="8B0000"/>
                  </a:solidFill>
                  <a:latin typeface="프리텐다드"/>
                  <a:ea typeface="프리텐다드"/>
                  <a:cs typeface="프리텐다드"/>
                  <a:sym typeface="프리텐다드"/>
                </a:rPr>
                <a:t> → Run All</a:t>
              </a:r>
              <a:r>
                <a:rPr lang="en-US" sz="2499" b="1"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검증</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Ubuntu·Python</a:t>
              </a:r>
              <a:r>
                <a:rPr lang="en-US" sz="2499" dirty="0">
                  <a:solidFill>
                    <a:srgbClr val="1A1A1A"/>
                  </a:solidFill>
                  <a:latin typeface="프리텐다드"/>
                  <a:ea typeface="프리텐다드"/>
                  <a:cs typeface="프리텐다드"/>
                  <a:sym typeface="프리텐다드"/>
                </a:rPr>
                <a:t> 3.10·오프라인 </a:t>
              </a:r>
              <a:r>
                <a:rPr lang="en-US" sz="2499" dirty="0" err="1">
                  <a:solidFill>
                    <a:srgbClr val="1A1A1A"/>
                  </a:solidFill>
                  <a:latin typeface="프리텐다드"/>
                  <a:ea typeface="프리텐다드"/>
                  <a:cs typeface="프리텐다드"/>
                  <a:sym typeface="프리텐다드"/>
                </a:rPr>
                <a:t>자동</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테스트</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통과</a:t>
              </a:r>
              <a:endParaRPr lang="en-US" sz="2499" dirty="0">
                <a:solidFill>
                  <a:srgbClr val="1A1A1A"/>
                </a:solidFill>
                <a:latin typeface="프리텐다드"/>
                <a:ea typeface="프리텐다드"/>
                <a:cs typeface="프리텐다드"/>
                <a:sym typeface="프리텐다드"/>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8B0000"/>
        </a:solidFill>
        <a:effectLst/>
      </p:bgPr>
    </p:bg>
    <p:spTree>
      <p:nvGrpSpPr>
        <p:cNvPr id="1" name=""/>
        <p:cNvGrpSpPr/>
        <p:nvPr/>
      </p:nvGrpSpPr>
      <p:grpSpPr>
        <a:xfrm>
          <a:off x="0" y="0"/>
          <a:ext cx="0" cy="0"/>
          <a:chOff x="0" y="0"/>
          <a:chExt cx="0" cy="0"/>
        </a:xfrm>
      </p:grpSpPr>
      <p:grpSp>
        <p:nvGrpSpPr>
          <p:cNvPr id="2" name="Group 2"/>
          <p:cNvGrpSpPr/>
          <p:nvPr/>
        </p:nvGrpSpPr>
        <p:grpSpPr>
          <a:xfrm>
            <a:off x="8481060" y="-2754581"/>
            <a:ext cx="8778240" cy="16408810"/>
            <a:chOff x="0" y="0"/>
            <a:chExt cx="11704320" cy="21878413"/>
          </a:xfrm>
        </p:grpSpPr>
        <p:sp>
          <p:nvSpPr>
            <p:cNvPr id="3" name="Freeform 3"/>
            <p:cNvSpPr/>
            <p:nvPr/>
          </p:nvSpPr>
          <p:spPr>
            <a:xfrm>
              <a:off x="0" y="0"/>
              <a:ext cx="11704320" cy="21878413"/>
            </a:xfrm>
            <a:custGeom>
              <a:avLst/>
              <a:gdLst/>
              <a:ahLst/>
              <a:cxnLst/>
              <a:rect l="l" t="t" r="r" b="b"/>
              <a:pathLst>
                <a:path w="11704320" h="21878413">
                  <a:moveTo>
                    <a:pt x="0" y="0"/>
                  </a:moveTo>
                  <a:lnTo>
                    <a:pt x="11704320" y="0"/>
                  </a:lnTo>
                  <a:lnTo>
                    <a:pt x="11704320" y="21878413"/>
                  </a:lnTo>
                  <a:lnTo>
                    <a:pt x="0" y="21878413"/>
                  </a:lnTo>
                  <a:close/>
                </a:path>
              </a:pathLst>
            </a:custGeom>
            <a:blipFill>
              <a:blip r:embed="rId3">
                <a:alphaModFix amt="0"/>
              </a:blip>
              <a:stretch>
                <a:fillRect l="-94341" r="-94341" b="39815"/>
              </a:stretch>
            </a:blipFill>
          </p:spPr>
          <p:txBody>
            <a:bodyPr/>
            <a:lstStyle/>
            <a:p>
              <a:endParaRPr lang="ko-KR" altLang="en-US"/>
            </a:p>
          </p:txBody>
        </p:sp>
        <p:sp>
          <p:nvSpPr>
            <p:cNvPr id="4" name="TextBox 4"/>
            <p:cNvSpPr txBox="1"/>
            <p:nvPr/>
          </p:nvSpPr>
          <p:spPr>
            <a:xfrm>
              <a:off x="0" y="-19050"/>
              <a:ext cx="11704320" cy="21897463"/>
            </a:xfrm>
            <a:prstGeom prst="rect">
              <a:avLst/>
            </a:prstGeom>
          </p:spPr>
          <p:txBody>
            <a:bodyPr lIns="0" tIns="0" rIns="0" bIns="0" rtlCol="0" anchor="ctr"/>
            <a:lstStyle/>
            <a:p>
              <a:pPr algn="r">
                <a:lnSpc>
                  <a:spcPts val="96000"/>
                </a:lnSpc>
              </a:pPr>
              <a:r>
                <a:rPr lang="en-US" sz="80000">
                  <a:solidFill>
                    <a:srgbClr val="FFFFFF"/>
                  </a:solidFill>
                  <a:latin typeface="프리텐다드"/>
                  <a:ea typeface="프리텐다드"/>
                  <a:cs typeface="프리텐다드"/>
                  <a:sym typeface="프리텐다드"/>
                </a:rPr>
                <a:t>5</a:t>
              </a:r>
            </a:p>
          </p:txBody>
        </p:sp>
      </p:grpSp>
      <p:grpSp>
        <p:nvGrpSpPr>
          <p:cNvPr id="5" name="Group 5"/>
          <p:cNvGrpSpPr/>
          <p:nvPr/>
        </p:nvGrpSpPr>
        <p:grpSpPr>
          <a:xfrm>
            <a:off x="1907543" y="5565143"/>
            <a:ext cx="153419" cy="939803"/>
            <a:chOff x="0" y="0"/>
            <a:chExt cx="204559" cy="1253071"/>
          </a:xfrm>
        </p:grpSpPr>
        <p:sp>
          <p:nvSpPr>
            <p:cNvPr id="6" name="Freeform 6"/>
            <p:cNvSpPr/>
            <p:nvPr/>
          </p:nvSpPr>
          <p:spPr>
            <a:xfrm>
              <a:off x="0" y="0"/>
              <a:ext cx="204597" cy="1253109"/>
            </a:xfrm>
            <a:custGeom>
              <a:avLst/>
              <a:gdLst/>
              <a:ahLst/>
              <a:cxnLst/>
              <a:rect l="l" t="t" r="r" b="b"/>
              <a:pathLst>
                <a:path w="204597" h="1253109">
                  <a:moveTo>
                    <a:pt x="0" y="0"/>
                  </a:moveTo>
                  <a:lnTo>
                    <a:pt x="204597" y="0"/>
                  </a:lnTo>
                  <a:lnTo>
                    <a:pt x="204597" y="1253109"/>
                  </a:lnTo>
                  <a:lnTo>
                    <a:pt x="0" y="1253109"/>
                  </a:lnTo>
                  <a:close/>
                </a:path>
              </a:pathLst>
            </a:custGeom>
            <a:solidFill>
              <a:srgbClr val="FFFFFF"/>
            </a:solidFill>
            <a:ln w="25400" cap="sq">
              <a:solidFill>
                <a:srgbClr val="FFFFFF"/>
              </a:solidFill>
              <a:prstDash val="solid"/>
              <a:miter/>
            </a:ln>
          </p:spPr>
          <p:txBody>
            <a:bodyPr/>
            <a:lstStyle/>
            <a:p>
              <a:endParaRPr lang="ko-KR" altLang="en-US"/>
            </a:p>
          </p:txBody>
        </p:sp>
      </p:grpSp>
      <p:grpSp>
        <p:nvGrpSpPr>
          <p:cNvPr id="7" name="Group 7"/>
          <p:cNvGrpSpPr/>
          <p:nvPr/>
        </p:nvGrpSpPr>
        <p:grpSpPr>
          <a:xfrm>
            <a:off x="2453640" y="5449824"/>
            <a:ext cx="9144000" cy="1188720"/>
            <a:chOff x="0" y="0"/>
            <a:chExt cx="12192000" cy="1584960"/>
          </a:xfrm>
        </p:grpSpPr>
        <p:sp>
          <p:nvSpPr>
            <p:cNvPr id="8" name="Freeform 8"/>
            <p:cNvSpPr/>
            <p:nvPr/>
          </p:nvSpPr>
          <p:spPr>
            <a:xfrm>
              <a:off x="0" y="0"/>
              <a:ext cx="12192000" cy="1584960"/>
            </a:xfrm>
            <a:custGeom>
              <a:avLst/>
              <a:gdLst/>
              <a:ahLst/>
              <a:cxnLst/>
              <a:rect l="l" t="t" r="r" b="b"/>
              <a:pathLst>
                <a:path w="12192000" h="1584960">
                  <a:moveTo>
                    <a:pt x="0" y="0"/>
                  </a:moveTo>
                  <a:lnTo>
                    <a:pt x="12192000" y="0"/>
                  </a:lnTo>
                  <a:lnTo>
                    <a:pt x="12192000" y="1584960"/>
                  </a:lnTo>
                  <a:lnTo>
                    <a:pt x="0" y="1584960"/>
                  </a:lnTo>
                  <a:close/>
                </a:path>
              </a:pathLst>
            </a:custGeom>
            <a:blipFill>
              <a:blip r:embed="rId3">
                <a:alphaModFix amt="0"/>
              </a:blip>
              <a:stretch>
                <a:fillRect t="-99884" b="-99884"/>
              </a:stretch>
            </a:blipFill>
          </p:spPr>
          <p:txBody>
            <a:bodyPr/>
            <a:lstStyle/>
            <a:p>
              <a:endParaRPr lang="ko-KR" altLang="en-US"/>
            </a:p>
          </p:txBody>
        </p:sp>
        <p:sp>
          <p:nvSpPr>
            <p:cNvPr id="9" name="TextBox 9"/>
            <p:cNvSpPr txBox="1"/>
            <p:nvPr/>
          </p:nvSpPr>
          <p:spPr>
            <a:xfrm>
              <a:off x="0" y="-9525"/>
              <a:ext cx="12192000" cy="1594485"/>
            </a:xfrm>
            <a:prstGeom prst="rect">
              <a:avLst/>
            </a:prstGeom>
          </p:spPr>
          <p:txBody>
            <a:bodyPr lIns="0" tIns="0" rIns="0" bIns="0" rtlCol="0" anchor="ctr"/>
            <a:lstStyle/>
            <a:p>
              <a:pPr algn="l">
                <a:lnSpc>
                  <a:spcPts val="6720"/>
                </a:lnSpc>
              </a:pPr>
              <a:r>
                <a:rPr lang="en-US" sz="5600" b="1" dirty="0" err="1">
                  <a:solidFill>
                    <a:srgbClr val="FFFFFF"/>
                  </a:solidFill>
                  <a:latin typeface="프리텐다드 Ultra-Bold"/>
                  <a:ea typeface="프리텐다드 Ultra-Bold"/>
                  <a:cs typeface="프리텐다드 Ultra-Bold"/>
                  <a:sym typeface="프리텐다드 Ultra-Bold"/>
                </a:rPr>
                <a:t>도메인</a:t>
              </a:r>
              <a:r>
                <a:rPr lang="en-US" sz="5600" b="1" dirty="0">
                  <a:solidFill>
                    <a:srgbClr val="FFFFFF"/>
                  </a:solidFill>
                  <a:latin typeface="프리텐다드 Ultra-Bold"/>
                  <a:ea typeface="프리텐다드 Ultra-Bold"/>
                  <a:cs typeface="프리텐다드 Ultra-Bold"/>
                  <a:sym typeface="프리텐다드 Ultra-Bold"/>
                </a:rPr>
                <a:t> </a:t>
              </a:r>
              <a:r>
                <a:rPr lang="en-US" sz="5600" b="1" dirty="0" err="1">
                  <a:solidFill>
                    <a:srgbClr val="FFFFFF"/>
                  </a:solidFill>
                  <a:latin typeface="프리텐다드 Ultra-Bold"/>
                  <a:ea typeface="프리텐다드 Ultra-Bold"/>
                  <a:cs typeface="프리텐다드 Ultra-Bold"/>
                  <a:sym typeface="프리텐다드 Ultra-Bold"/>
                </a:rPr>
                <a:t>적용과</a:t>
              </a:r>
              <a:r>
                <a:rPr lang="en-US" sz="5600" b="1" dirty="0">
                  <a:solidFill>
                    <a:srgbClr val="FFFFFF"/>
                  </a:solidFill>
                  <a:latin typeface="프리텐다드 Ultra-Bold"/>
                  <a:ea typeface="프리텐다드 Ultra-Bold"/>
                  <a:cs typeface="프리텐다드 Ultra-Bold"/>
                  <a:sym typeface="프리텐다드 Ultra-Bold"/>
                </a:rPr>
                <a:t> </a:t>
              </a:r>
              <a:r>
                <a:rPr lang="en-US" sz="5600" b="1" dirty="0" err="1">
                  <a:solidFill>
                    <a:srgbClr val="FFFFFF"/>
                  </a:solidFill>
                  <a:latin typeface="프리텐다드 Ultra-Bold"/>
                  <a:ea typeface="프리텐다드 Ultra-Bold"/>
                  <a:cs typeface="프리텐다드 Ultra-Bold"/>
                  <a:sym typeface="프리텐다드 Ultra-Bold"/>
                </a:rPr>
                <a:t>운영</a:t>
              </a:r>
              <a:endParaRPr lang="en-US" sz="5600" b="1" dirty="0">
                <a:solidFill>
                  <a:srgbClr val="FFFFFF"/>
                </a:solidFill>
                <a:latin typeface="프리텐다드 Ultra-Bold"/>
                <a:ea typeface="프리텐다드 Ultra-Bold"/>
                <a:cs typeface="프리텐다드 Ultra-Bold"/>
                <a:sym typeface="프리텐다드 Ultra-Bold"/>
              </a:endParaRPr>
            </a:p>
          </p:txBody>
        </p:sp>
      </p:grpSp>
      <p:grpSp>
        <p:nvGrpSpPr>
          <p:cNvPr id="10" name="Group 10"/>
          <p:cNvGrpSpPr/>
          <p:nvPr/>
        </p:nvGrpSpPr>
        <p:grpSpPr>
          <a:xfrm>
            <a:off x="2453640" y="6504946"/>
            <a:ext cx="9509760" cy="731520"/>
            <a:chOff x="0" y="0"/>
            <a:chExt cx="12679680" cy="975360"/>
          </a:xfrm>
        </p:grpSpPr>
        <p:sp>
          <p:nvSpPr>
            <p:cNvPr id="11" name="Freeform 11"/>
            <p:cNvSpPr/>
            <p:nvPr/>
          </p:nvSpPr>
          <p:spPr>
            <a:xfrm>
              <a:off x="0" y="0"/>
              <a:ext cx="12679680" cy="975360"/>
            </a:xfrm>
            <a:custGeom>
              <a:avLst/>
              <a:gdLst/>
              <a:ahLst/>
              <a:cxnLst/>
              <a:rect l="l" t="t" r="r" b="b"/>
              <a:pathLst>
                <a:path w="12679680" h="975360">
                  <a:moveTo>
                    <a:pt x="0" y="0"/>
                  </a:moveTo>
                  <a:lnTo>
                    <a:pt x="12679680" y="0"/>
                  </a:lnTo>
                  <a:lnTo>
                    <a:pt x="12679680" y="975360"/>
                  </a:lnTo>
                  <a:lnTo>
                    <a:pt x="0" y="975360"/>
                  </a:lnTo>
                  <a:close/>
                </a:path>
              </a:pathLst>
            </a:custGeom>
            <a:blipFill>
              <a:blip r:embed="rId3">
                <a:alphaModFix amt="0"/>
              </a:blip>
              <a:stretch>
                <a:fillRect t="-203305" b="-203305"/>
              </a:stretch>
            </a:blipFill>
          </p:spPr>
          <p:txBody>
            <a:bodyPr/>
            <a:lstStyle/>
            <a:p>
              <a:endParaRPr lang="ko-KR" altLang="en-US"/>
            </a:p>
          </p:txBody>
        </p:sp>
        <p:sp>
          <p:nvSpPr>
            <p:cNvPr id="12" name="TextBox 12"/>
            <p:cNvSpPr txBox="1"/>
            <p:nvPr/>
          </p:nvSpPr>
          <p:spPr>
            <a:xfrm>
              <a:off x="0" y="-9525"/>
              <a:ext cx="12679680" cy="984885"/>
            </a:xfrm>
            <a:prstGeom prst="rect">
              <a:avLst/>
            </a:prstGeom>
          </p:spPr>
          <p:txBody>
            <a:bodyPr lIns="0" tIns="0" rIns="0" bIns="0" rtlCol="0" anchor="ctr"/>
            <a:lstStyle/>
            <a:p>
              <a:pPr algn="l">
                <a:lnSpc>
                  <a:spcPts val="2879"/>
                </a:lnSpc>
              </a:pPr>
              <a:r>
                <a:rPr lang="en-US" sz="2400" b="1">
                  <a:solidFill>
                    <a:srgbClr val="FFFFFF"/>
                  </a:solidFill>
                  <a:latin typeface="프리텐다드 Bold"/>
                  <a:ea typeface="프리텐다드 Bold"/>
                  <a:cs typeface="프리텐다드 Bold"/>
                  <a:sym typeface="프리텐다드 Bold"/>
                </a:rPr>
                <a:t>중고거래 식품 게시글의 잔여기한</a:t>
              </a:r>
            </a:p>
          </p:txBody>
        </p:sp>
      </p:grpSp>
      <p:grpSp>
        <p:nvGrpSpPr>
          <p:cNvPr id="13" name="Group 13"/>
          <p:cNvGrpSpPr/>
          <p:nvPr/>
        </p:nvGrpSpPr>
        <p:grpSpPr>
          <a:xfrm>
            <a:off x="17007840" y="219456"/>
            <a:ext cx="914400" cy="457200"/>
            <a:chOff x="0" y="0"/>
            <a:chExt cx="1219200" cy="609600"/>
          </a:xfrm>
        </p:grpSpPr>
        <p:sp>
          <p:nvSpPr>
            <p:cNvPr id="14" name="Freeform 14"/>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15" name="TextBox 15"/>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FFFFFF"/>
                  </a:solidFill>
                  <a:latin typeface="프리텐다드"/>
                  <a:ea typeface="프리텐다드"/>
                  <a:cs typeface="프리텐다드"/>
                  <a:sym typeface="프리텐다드"/>
                </a:rPr>
                <a:t>15</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5943" y="535943"/>
            <a:ext cx="153419" cy="756923"/>
            <a:chOff x="0" y="0"/>
            <a:chExt cx="204559" cy="1009231"/>
          </a:xfrm>
        </p:grpSpPr>
        <p:sp>
          <p:nvSpPr>
            <p:cNvPr id="3" name="Freeform 3"/>
            <p:cNvSpPr/>
            <p:nvPr/>
          </p:nvSpPr>
          <p:spPr>
            <a:xfrm>
              <a:off x="0" y="0"/>
              <a:ext cx="204597" cy="1009269"/>
            </a:xfrm>
            <a:custGeom>
              <a:avLst/>
              <a:gdLst/>
              <a:ahLst/>
              <a:cxnLst/>
              <a:rect l="l" t="t" r="r" b="b"/>
              <a:pathLst>
                <a:path w="204597" h="1009269">
                  <a:moveTo>
                    <a:pt x="0" y="0"/>
                  </a:moveTo>
                  <a:lnTo>
                    <a:pt x="204597" y="0"/>
                  </a:lnTo>
                  <a:lnTo>
                    <a:pt x="204597" y="1009269"/>
                  </a:lnTo>
                  <a:lnTo>
                    <a:pt x="0" y="1009269"/>
                  </a:ln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4" name="Group 4"/>
          <p:cNvGrpSpPr/>
          <p:nvPr/>
        </p:nvGrpSpPr>
        <p:grpSpPr>
          <a:xfrm>
            <a:off x="822960" y="457200"/>
            <a:ext cx="15910560" cy="914400"/>
            <a:chOff x="0" y="0"/>
            <a:chExt cx="21214080" cy="1219200"/>
          </a:xfrm>
        </p:grpSpPr>
        <p:sp>
          <p:nvSpPr>
            <p:cNvPr id="5" name="Freeform 5"/>
            <p:cNvSpPr/>
            <p:nvPr/>
          </p:nvSpPr>
          <p:spPr>
            <a:xfrm>
              <a:off x="0" y="0"/>
              <a:ext cx="21214080" cy="1219200"/>
            </a:xfrm>
            <a:custGeom>
              <a:avLst/>
              <a:gdLst/>
              <a:ahLst/>
              <a:cxnLst/>
              <a:rect l="l" t="t" r="r" b="b"/>
              <a:pathLst>
                <a:path w="21214080" h="1219200">
                  <a:moveTo>
                    <a:pt x="0" y="0"/>
                  </a:moveTo>
                  <a:lnTo>
                    <a:pt x="21214080" y="0"/>
                  </a:lnTo>
                  <a:lnTo>
                    <a:pt x="21214080" y="1219200"/>
                  </a:lnTo>
                  <a:lnTo>
                    <a:pt x="0" y="1219200"/>
                  </a:lnTo>
                  <a:close/>
                </a:path>
              </a:pathLst>
            </a:custGeom>
            <a:blipFill>
              <a:blip r:embed="rId3">
                <a:alphaModFix amt="0"/>
              </a:blip>
              <a:stretch>
                <a:fillRect t="-289039" b="-289039"/>
              </a:stretch>
            </a:blipFill>
          </p:spPr>
          <p:txBody>
            <a:bodyPr/>
            <a:lstStyle/>
            <a:p>
              <a:endParaRPr lang="ko-KR" altLang="en-US"/>
            </a:p>
          </p:txBody>
        </p:sp>
        <p:sp>
          <p:nvSpPr>
            <p:cNvPr id="6" name="TextBox 6"/>
            <p:cNvSpPr txBox="1"/>
            <p:nvPr/>
          </p:nvSpPr>
          <p:spPr>
            <a:xfrm>
              <a:off x="0" y="0"/>
              <a:ext cx="21214080" cy="1219200"/>
            </a:xfrm>
            <a:prstGeom prst="rect">
              <a:avLst/>
            </a:prstGeom>
          </p:spPr>
          <p:txBody>
            <a:bodyPr lIns="0" tIns="0" rIns="0" bIns="0" rtlCol="0" anchor="ctr"/>
            <a:lstStyle/>
            <a:p>
              <a:pPr algn="l">
                <a:lnSpc>
                  <a:spcPts val="4560"/>
                </a:lnSpc>
              </a:pPr>
              <a:r>
                <a:rPr lang="en-US" sz="3800" b="1">
                  <a:solidFill>
                    <a:srgbClr val="1A1A1A"/>
                  </a:solidFill>
                  <a:latin typeface="프리텐다드 Bold"/>
                  <a:ea typeface="프리텐다드 Bold"/>
                  <a:cs typeface="프리텐다드 Bold"/>
                  <a:sym typeface="프리텐다드 Bold"/>
                </a:rPr>
                <a:t>적용 도메인 : </a:t>
              </a:r>
              <a:r>
                <a:rPr lang="en-US" sz="3800" b="1">
                  <a:solidFill>
                    <a:srgbClr val="8B0000"/>
                  </a:solidFill>
                  <a:latin typeface="프리텐다드 Bold"/>
                  <a:ea typeface="프리텐다드 Bold"/>
                  <a:cs typeface="프리텐다드 Bold"/>
                  <a:sym typeface="프리텐다드 Bold"/>
                </a:rPr>
                <a:t>중고거래 식품·건강기능식품 게시글의 소비기한</a:t>
              </a:r>
            </a:p>
          </p:txBody>
        </p:sp>
      </p:grpSp>
      <p:sp>
        <p:nvSpPr>
          <p:cNvPr id="7" name="AutoShape 7"/>
          <p:cNvSpPr/>
          <p:nvPr/>
        </p:nvSpPr>
        <p:spPr>
          <a:xfrm rot="3780">
            <a:off x="539105" y="1494854"/>
            <a:ext cx="17209780" cy="0"/>
          </a:xfrm>
          <a:prstGeom prst="line">
            <a:avLst/>
          </a:prstGeom>
          <a:ln w="9525" cap="rnd">
            <a:solidFill>
              <a:srgbClr val="BFBFBF"/>
            </a:solidFill>
            <a:prstDash val="solid"/>
            <a:headEnd type="none" w="sm" len="sm"/>
            <a:tailEnd type="none" w="sm" len="sm"/>
          </a:ln>
        </p:spPr>
        <p:txBody>
          <a:bodyPr/>
          <a:lstStyle/>
          <a:p>
            <a:endParaRPr lang="ko-KR" altLang="en-US"/>
          </a:p>
        </p:txBody>
      </p:sp>
      <p:grpSp>
        <p:nvGrpSpPr>
          <p:cNvPr id="8" name="Group 8"/>
          <p:cNvGrpSpPr/>
          <p:nvPr/>
        </p:nvGrpSpPr>
        <p:grpSpPr>
          <a:xfrm>
            <a:off x="17007840" y="219456"/>
            <a:ext cx="914400" cy="457200"/>
            <a:chOff x="0" y="0"/>
            <a:chExt cx="1219200" cy="609600"/>
          </a:xfrm>
        </p:grpSpPr>
        <p:sp>
          <p:nvSpPr>
            <p:cNvPr id="9" name="Freeform 9"/>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10" name="TextBox 10"/>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1A1A1A"/>
                  </a:solidFill>
                  <a:latin typeface="프리텐다드"/>
                  <a:ea typeface="프리텐다드"/>
                  <a:cs typeface="프리텐다드"/>
                  <a:sym typeface="프리텐다드"/>
                </a:rPr>
                <a:t>16</a:t>
              </a:r>
            </a:p>
          </p:txBody>
        </p:sp>
      </p:grpSp>
      <p:sp>
        <p:nvSpPr>
          <p:cNvPr id="11" name="TextBox 11"/>
          <p:cNvSpPr txBox="1"/>
          <p:nvPr/>
        </p:nvSpPr>
        <p:spPr>
          <a:xfrm>
            <a:off x="548640" y="1700784"/>
            <a:ext cx="17190720" cy="323850"/>
          </a:xfrm>
          <a:prstGeom prst="rect">
            <a:avLst/>
          </a:prstGeom>
        </p:spPr>
        <p:txBody>
          <a:bodyPr lIns="0" tIns="0" rIns="0" bIns="0" rtlCol="0" anchor="t">
            <a:spAutoFit/>
          </a:bodyPr>
          <a:lstStyle/>
          <a:p>
            <a:pPr algn="l">
              <a:lnSpc>
                <a:spcPts val="2592"/>
              </a:lnSpc>
            </a:pPr>
            <a:r>
              <a:rPr lang="en-US" sz="2160">
                <a:solidFill>
                  <a:srgbClr val="1A1A1A"/>
                </a:solidFill>
                <a:latin typeface="프리텐다드"/>
                <a:ea typeface="프리텐다드"/>
                <a:cs typeface="프리텐다드"/>
                <a:sym typeface="프리텐다드"/>
              </a:rPr>
              <a:t>소비기한은 판매자가 손으로 적습니다. 적발된 위반 375건 중 </a:t>
            </a:r>
            <a:r>
              <a:rPr lang="en-US" sz="2160" b="1">
                <a:solidFill>
                  <a:srgbClr val="8B0000"/>
                </a:solidFill>
                <a:latin typeface="프리텐다드 Bold"/>
                <a:ea typeface="프리텐다드 Bold"/>
                <a:cs typeface="프리텐다드 Bold"/>
                <a:sym typeface="프리텐다드 Bold"/>
              </a:rPr>
              <a:t>211건이 사용기한 확인 불가·불일치</a:t>
            </a:r>
            <a:r>
              <a:rPr lang="en-US" sz="2160">
                <a:solidFill>
                  <a:srgbClr val="1A1A1A"/>
                </a:solidFill>
                <a:latin typeface="프리텐다드"/>
                <a:ea typeface="프리텐다드"/>
                <a:cs typeface="프리텐다드"/>
                <a:sym typeface="프리텐다드"/>
              </a:rPr>
              <a:t>, 전담 모니터링 인력은 </a:t>
            </a:r>
            <a:r>
              <a:rPr lang="en-US" sz="2160" b="1">
                <a:solidFill>
                  <a:srgbClr val="8B0000"/>
                </a:solidFill>
                <a:latin typeface="프리텐다드 Bold"/>
                <a:ea typeface="프리텐다드 Bold"/>
                <a:cs typeface="프리텐다드 Bold"/>
                <a:sym typeface="프리텐다드 Bold"/>
              </a:rPr>
              <a:t>5명</a:t>
            </a:r>
          </a:p>
        </p:txBody>
      </p:sp>
      <p:sp>
        <p:nvSpPr>
          <p:cNvPr id="12" name="TextBox 12"/>
          <p:cNvSpPr txBox="1"/>
          <p:nvPr/>
        </p:nvSpPr>
        <p:spPr>
          <a:xfrm>
            <a:off x="548640" y="2149221"/>
            <a:ext cx="17190720" cy="266700"/>
          </a:xfrm>
          <a:prstGeom prst="rect">
            <a:avLst/>
          </a:prstGeom>
        </p:spPr>
        <p:txBody>
          <a:bodyPr lIns="0" tIns="0" rIns="0" bIns="0" rtlCol="0" anchor="t">
            <a:spAutoFit/>
          </a:bodyPr>
          <a:lstStyle/>
          <a:p>
            <a:pPr algn="l">
              <a:lnSpc>
                <a:spcPts val="2160"/>
              </a:lnSpc>
            </a:pPr>
            <a:r>
              <a:rPr lang="en-US" sz="1800" dirty="0" err="1">
                <a:solidFill>
                  <a:srgbClr val="6B6B6B"/>
                </a:solidFill>
                <a:latin typeface="프리텐다드"/>
                <a:ea typeface="프리텐다드"/>
                <a:cs typeface="프리텐다드"/>
                <a:sym typeface="프리텐다드"/>
              </a:rPr>
              <a:t>아래는</a:t>
            </a:r>
            <a:r>
              <a:rPr lang="en-US" sz="1800" dirty="0">
                <a:solidFill>
                  <a:srgbClr val="6B6B6B"/>
                </a:solidFill>
                <a:latin typeface="프리텐다드"/>
                <a:ea typeface="프리텐다드"/>
                <a:cs typeface="프리텐다드"/>
                <a:sym typeface="프리텐다드"/>
              </a:rPr>
              <a:t> </a:t>
            </a:r>
            <a:r>
              <a:rPr lang="en-US" sz="1800" dirty="0" err="1">
                <a:solidFill>
                  <a:srgbClr val="6B6B6B"/>
                </a:solidFill>
                <a:latin typeface="프리텐다드"/>
                <a:ea typeface="프리텐다드"/>
                <a:cs typeface="프리텐다드"/>
                <a:sym typeface="프리텐다드"/>
              </a:rPr>
              <a:t>시연용으로</a:t>
            </a:r>
            <a:r>
              <a:rPr lang="en-US" sz="1800" dirty="0">
                <a:solidFill>
                  <a:srgbClr val="6B6B6B"/>
                </a:solidFill>
                <a:latin typeface="프리텐다드"/>
                <a:ea typeface="프리텐다드"/>
                <a:cs typeface="프리텐다드"/>
                <a:sym typeface="프리텐다드"/>
              </a:rPr>
              <a:t> </a:t>
            </a:r>
            <a:r>
              <a:rPr lang="en-US" sz="1800" dirty="0" err="1">
                <a:solidFill>
                  <a:srgbClr val="6B6B6B"/>
                </a:solidFill>
                <a:latin typeface="프리텐다드"/>
                <a:ea typeface="프리텐다드"/>
                <a:cs typeface="프리텐다드"/>
                <a:sym typeface="프리텐다드"/>
              </a:rPr>
              <a:t>만든</a:t>
            </a:r>
            <a:r>
              <a:rPr lang="en-US" sz="1800" dirty="0">
                <a:solidFill>
                  <a:srgbClr val="6B6B6B"/>
                </a:solidFill>
                <a:latin typeface="프리텐다드"/>
                <a:ea typeface="프리텐다드"/>
                <a:cs typeface="프리텐다드"/>
                <a:sym typeface="프리텐다드"/>
              </a:rPr>
              <a:t> </a:t>
            </a:r>
            <a:r>
              <a:rPr lang="en-US" sz="1800" dirty="0" err="1">
                <a:solidFill>
                  <a:srgbClr val="6B6B6B"/>
                </a:solidFill>
                <a:latin typeface="프리텐다드"/>
                <a:ea typeface="프리텐다드"/>
                <a:cs typeface="프리텐다드"/>
                <a:sym typeface="프리텐다드"/>
              </a:rPr>
              <a:t>서비스</a:t>
            </a:r>
            <a:r>
              <a:rPr lang="en-US" sz="1800" dirty="0">
                <a:solidFill>
                  <a:srgbClr val="6B6B6B"/>
                </a:solidFill>
                <a:latin typeface="프리텐다드"/>
                <a:ea typeface="프리텐다드"/>
                <a:cs typeface="프리텐다드"/>
                <a:sym typeface="프리텐다드"/>
              </a:rPr>
              <a:t> </a:t>
            </a:r>
            <a:r>
              <a:rPr lang="en-US" sz="1800" dirty="0" err="1">
                <a:solidFill>
                  <a:srgbClr val="6B6B6B"/>
                </a:solidFill>
                <a:latin typeface="프리텐다드"/>
                <a:ea typeface="프리텐다드"/>
                <a:cs typeface="프리텐다드"/>
                <a:sym typeface="프리텐다드"/>
              </a:rPr>
              <a:t>화면</a:t>
            </a:r>
            <a:r>
              <a:rPr lang="en-US" sz="1800" dirty="0">
                <a:solidFill>
                  <a:srgbClr val="6B6B6B"/>
                </a:solidFill>
                <a:latin typeface="프리텐다드"/>
                <a:ea typeface="프리텐다드"/>
                <a:cs typeface="프리텐다드"/>
                <a:sym typeface="프리텐다드"/>
              </a:rPr>
              <a:t>(</a:t>
            </a:r>
            <a:r>
              <a:rPr lang="en-US" sz="1800" dirty="0" err="1">
                <a:solidFill>
                  <a:srgbClr val="6B6B6B"/>
                </a:solidFill>
                <a:latin typeface="프리텐다드"/>
                <a:ea typeface="프리텐다드"/>
                <a:cs typeface="프리텐다드"/>
                <a:sym typeface="프리텐다드"/>
              </a:rPr>
              <a:t>설계안</a:t>
            </a:r>
            <a:r>
              <a:rPr lang="en-US" sz="1800" dirty="0">
                <a:solidFill>
                  <a:srgbClr val="6B6B6B"/>
                </a:solidFill>
                <a:latin typeface="프리텐다드"/>
                <a:ea typeface="프리텐다드"/>
                <a:cs typeface="프리텐다드"/>
                <a:sym typeface="프리텐다드"/>
              </a:rPr>
              <a:t>)</a:t>
            </a:r>
            <a:r>
              <a:rPr lang="en-US" sz="1800" dirty="0" err="1">
                <a:solidFill>
                  <a:srgbClr val="6B6B6B"/>
                </a:solidFill>
                <a:latin typeface="프리텐다드"/>
                <a:ea typeface="프리텐다드"/>
                <a:cs typeface="프리텐다드"/>
                <a:sym typeface="프리텐다드"/>
              </a:rPr>
              <a:t>이며</a:t>
            </a:r>
            <a:r>
              <a:rPr lang="en-US" sz="1800" dirty="0">
                <a:solidFill>
                  <a:srgbClr val="6B6B6B"/>
                </a:solidFill>
                <a:latin typeface="프리텐다드"/>
                <a:ea typeface="프리텐다드"/>
                <a:cs typeface="프리텐다드"/>
                <a:sym typeface="프리텐다드"/>
              </a:rPr>
              <a:t> </a:t>
            </a:r>
            <a:r>
              <a:rPr lang="en-US" sz="1800" dirty="0" err="1">
                <a:solidFill>
                  <a:srgbClr val="6B6B6B"/>
                </a:solidFill>
                <a:latin typeface="프리텐다드"/>
                <a:ea typeface="프리텐다드"/>
                <a:cs typeface="프리텐다드"/>
                <a:sym typeface="프리텐다드"/>
              </a:rPr>
              <a:t>실제</a:t>
            </a:r>
            <a:r>
              <a:rPr lang="en-US" sz="1800" dirty="0">
                <a:solidFill>
                  <a:srgbClr val="6B6B6B"/>
                </a:solidFill>
                <a:latin typeface="프리텐다드"/>
                <a:ea typeface="프리텐다드"/>
                <a:cs typeface="프리텐다드"/>
                <a:sym typeface="프리텐다드"/>
              </a:rPr>
              <a:t> </a:t>
            </a:r>
            <a:r>
              <a:rPr lang="en-US" sz="1800" dirty="0" err="1">
                <a:solidFill>
                  <a:srgbClr val="6B6B6B"/>
                </a:solidFill>
                <a:latin typeface="프리텐다드"/>
                <a:ea typeface="프리텐다드"/>
                <a:cs typeface="프리텐다드"/>
                <a:sym typeface="프리텐다드"/>
              </a:rPr>
              <a:t>앱을</a:t>
            </a:r>
            <a:r>
              <a:rPr lang="en-US" sz="1800" dirty="0">
                <a:solidFill>
                  <a:srgbClr val="6B6B6B"/>
                </a:solidFill>
                <a:latin typeface="프리텐다드"/>
                <a:ea typeface="프리텐다드"/>
                <a:cs typeface="프리텐다드"/>
                <a:sym typeface="프리텐다드"/>
              </a:rPr>
              <a:t> </a:t>
            </a:r>
            <a:r>
              <a:rPr lang="en-US" sz="1800" dirty="0" err="1">
                <a:solidFill>
                  <a:srgbClr val="6B6B6B"/>
                </a:solidFill>
                <a:latin typeface="프리텐다드"/>
                <a:ea typeface="프리텐다드"/>
                <a:cs typeface="프리텐다드"/>
                <a:sym typeface="프리텐다드"/>
              </a:rPr>
              <a:t>구현한</a:t>
            </a:r>
            <a:r>
              <a:rPr lang="en-US" sz="1800" dirty="0">
                <a:solidFill>
                  <a:srgbClr val="6B6B6B"/>
                </a:solidFill>
                <a:latin typeface="프리텐다드"/>
                <a:ea typeface="프리텐다드"/>
                <a:cs typeface="프리텐다드"/>
                <a:sym typeface="프리텐다드"/>
              </a:rPr>
              <a:t> </a:t>
            </a:r>
            <a:r>
              <a:rPr lang="en-US" sz="1800" dirty="0" err="1">
                <a:solidFill>
                  <a:srgbClr val="6B6B6B"/>
                </a:solidFill>
                <a:latin typeface="프리텐다드"/>
                <a:ea typeface="프리텐다드"/>
                <a:cs typeface="프리텐다드"/>
                <a:sym typeface="프리텐다드"/>
              </a:rPr>
              <a:t>것은</a:t>
            </a:r>
            <a:r>
              <a:rPr lang="en-US" sz="1800" dirty="0">
                <a:solidFill>
                  <a:srgbClr val="6B6B6B"/>
                </a:solidFill>
                <a:latin typeface="프리텐다드"/>
                <a:ea typeface="프리텐다드"/>
                <a:cs typeface="프리텐다드"/>
                <a:sym typeface="프리텐다드"/>
              </a:rPr>
              <a:t> </a:t>
            </a:r>
            <a:r>
              <a:rPr lang="en-US" sz="1800" dirty="0" err="1">
                <a:solidFill>
                  <a:srgbClr val="6B6B6B"/>
                </a:solidFill>
                <a:latin typeface="프리텐다드"/>
                <a:ea typeface="프리텐다드"/>
                <a:cs typeface="프리텐다드"/>
                <a:sym typeface="프리텐다드"/>
              </a:rPr>
              <a:t>아닙니다</a:t>
            </a:r>
            <a:r>
              <a:rPr lang="en-US" sz="1800" dirty="0">
                <a:solidFill>
                  <a:srgbClr val="6B6B6B"/>
                </a:solidFill>
                <a:latin typeface="프리텐다드"/>
                <a:ea typeface="프리텐다드"/>
                <a:cs typeface="프리텐다드"/>
                <a:sym typeface="프리텐다드"/>
              </a:rPr>
              <a:t>. </a:t>
            </a:r>
            <a:r>
              <a:rPr lang="en-US" sz="1800" dirty="0" err="1">
                <a:solidFill>
                  <a:srgbClr val="6B6B6B"/>
                </a:solidFill>
                <a:latin typeface="프리텐다드"/>
                <a:ea typeface="프리텐다드"/>
                <a:cs typeface="프리텐다드"/>
                <a:sym typeface="프리텐다드"/>
              </a:rPr>
              <a:t>사진·판독값·확신도는</a:t>
            </a:r>
            <a:r>
              <a:rPr lang="en-US" sz="1800" dirty="0">
                <a:solidFill>
                  <a:srgbClr val="6B6B6B"/>
                </a:solidFill>
                <a:latin typeface="프리텐다드"/>
                <a:ea typeface="프리텐다드"/>
                <a:cs typeface="프리텐다드"/>
                <a:sym typeface="프리텐다드"/>
              </a:rPr>
              <a:t> </a:t>
            </a:r>
            <a:r>
              <a:rPr lang="en-US" sz="1800" dirty="0" err="1">
                <a:solidFill>
                  <a:srgbClr val="6B6B6B"/>
                </a:solidFill>
                <a:latin typeface="프리텐다드"/>
                <a:ea typeface="프리텐다드"/>
                <a:cs typeface="프리텐다드"/>
                <a:sym typeface="프리텐다드"/>
              </a:rPr>
              <a:t>파이프라인의</a:t>
            </a:r>
            <a:r>
              <a:rPr lang="en-US" sz="1800" dirty="0">
                <a:solidFill>
                  <a:srgbClr val="6B6B6B"/>
                </a:solidFill>
                <a:latin typeface="프리텐다드"/>
                <a:ea typeface="프리텐다드"/>
                <a:cs typeface="프리텐다드"/>
                <a:sym typeface="프리텐다드"/>
              </a:rPr>
              <a:t> </a:t>
            </a:r>
            <a:r>
              <a:rPr lang="en-US" sz="1800" dirty="0" err="1">
                <a:solidFill>
                  <a:srgbClr val="6B6B6B"/>
                </a:solidFill>
                <a:latin typeface="프리텐다드"/>
                <a:ea typeface="프리텐다드"/>
                <a:cs typeface="프리텐다드"/>
                <a:sym typeface="프리텐다드"/>
              </a:rPr>
              <a:t>실제</a:t>
            </a:r>
            <a:r>
              <a:rPr lang="en-US" sz="1800" dirty="0">
                <a:solidFill>
                  <a:srgbClr val="6B6B6B"/>
                </a:solidFill>
                <a:latin typeface="프리텐다드"/>
                <a:ea typeface="프리텐다드"/>
                <a:cs typeface="프리텐다드"/>
                <a:sym typeface="프리텐다드"/>
              </a:rPr>
              <a:t> </a:t>
            </a:r>
            <a:r>
              <a:rPr lang="en-US" sz="1800" dirty="0" err="1">
                <a:solidFill>
                  <a:srgbClr val="6B6B6B"/>
                </a:solidFill>
                <a:latin typeface="프리텐다드"/>
                <a:ea typeface="프리텐다드"/>
                <a:cs typeface="프리텐다드"/>
                <a:sym typeface="프리텐다드"/>
              </a:rPr>
              <a:t>출력입니다</a:t>
            </a:r>
            <a:r>
              <a:rPr lang="en-US" sz="1800" dirty="0">
                <a:solidFill>
                  <a:srgbClr val="6B6B6B"/>
                </a:solidFill>
                <a:latin typeface="프리텐다드"/>
                <a:ea typeface="프리텐다드"/>
                <a:cs typeface="프리텐다드"/>
                <a:sym typeface="프리텐다드"/>
              </a:rPr>
              <a:t>.</a:t>
            </a:r>
          </a:p>
        </p:txBody>
      </p:sp>
      <p:grpSp>
        <p:nvGrpSpPr>
          <p:cNvPr id="13" name="Group 13"/>
          <p:cNvGrpSpPr/>
          <p:nvPr/>
        </p:nvGrpSpPr>
        <p:grpSpPr>
          <a:xfrm>
            <a:off x="548640" y="2596896"/>
            <a:ext cx="2618842" cy="5486400"/>
            <a:chOff x="0" y="0"/>
            <a:chExt cx="3491789" cy="7315200"/>
          </a:xfrm>
        </p:grpSpPr>
        <p:sp>
          <p:nvSpPr>
            <p:cNvPr id="14" name="Freeform 14" descr="/Users/choseoyoung/Desktop/itda3-CODE-subway/발표/src/img/dash_phone1.png"/>
            <p:cNvSpPr/>
            <p:nvPr/>
          </p:nvSpPr>
          <p:spPr>
            <a:xfrm>
              <a:off x="0" y="0"/>
              <a:ext cx="3491738" cy="7315200"/>
            </a:xfrm>
            <a:custGeom>
              <a:avLst/>
              <a:gdLst/>
              <a:ahLst/>
              <a:cxnLst/>
              <a:rect l="l" t="t" r="r" b="b"/>
              <a:pathLst>
                <a:path w="3491738" h="7315200">
                  <a:moveTo>
                    <a:pt x="0" y="0"/>
                  </a:moveTo>
                  <a:lnTo>
                    <a:pt x="3491738" y="0"/>
                  </a:lnTo>
                  <a:lnTo>
                    <a:pt x="3491738" y="7315200"/>
                  </a:lnTo>
                  <a:lnTo>
                    <a:pt x="0" y="7315200"/>
                  </a:lnTo>
                  <a:lnTo>
                    <a:pt x="0" y="0"/>
                  </a:lnTo>
                  <a:close/>
                </a:path>
              </a:pathLst>
            </a:custGeom>
            <a:blipFill>
              <a:blip r:embed="rId4"/>
              <a:stretch>
                <a:fillRect l="-17" r="-18"/>
              </a:stretch>
            </a:blipFill>
          </p:spPr>
          <p:txBody>
            <a:bodyPr/>
            <a:lstStyle/>
            <a:p>
              <a:endParaRPr lang="ko-KR" altLang="en-US"/>
            </a:p>
          </p:txBody>
        </p:sp>
      </p:grpSp>
      <p:grpSp>
        <p:nvGrpSpPr>
          <p:cNvPr id="15" name="Group 15"/>
          <p:cNvGrpSpPr/>
          <p:nvPr/>
        </p:nvGrpSpPr>
        <p:grpSpPr>
          <a:xfrm>
            <a:off x="365760" y="8119872"/>
            <a:ext cx="2984602" cy="475488"/>
            <a:chOff x="0" y="0"/>
            <a:chExt cx="3979469" cy="633984"/>
          </a:xfrm>
        </p:grpSpPr>
        <p:sp>
          <p:nvSpPr>
            <p:cNvPr id="16" name="Freeform 16"/>
            <p:cNvSpPr/>
            <p:nvPr/>
          </p:nvSpPr>
          <p:spPr>
            <a:xfrm>
              <a:off x="0" y="0"/>
              <a:ext cx="3979470" cy="633984"/>
            </a:xfrm>
            <a:custGeom>
              <a:avLst/>
              <a:gdLst/>
              <a:ahLst/>
              <a:cxnLst/>
              <a:rect l="l" t="t" r="r" b="b"/>
              <a:pathLst>
                <a:path w="3979470" h="633984">
                  <a:moveTo>
                    <a:pt x="0" y="0"/>
                  </a:moveTo>
                  <a:lnTo>
                    <a:pt x="3979470" y="0"/>
                  </a:lnTo>
                  <a:lnTo>
                    <a:pt x="3979470" y="633984"/>
                  </a:lnTo>
                  <a:lnTo>
                    <a:pt x="0" y="633984"/>
                  </a:lnTo>
                  <a:close/>
                </a:path>
              </a:pathLst>
            </a:custGeom>
            <a:blipFill>
              <a:blip r:embed="rId3">
                <a:alphaModFix amt="0"/>
              </a:blip>
              <a:stretch>
                <a:fillRect t="-72306" b="-72306"/>
              </a:stretch>
            </a:blipFill>
          </p:spPr>
          <p:txBody>
            <a:bodyPr/>
            <a:lstStyle/>
            <a:p>
              <a:endParaRPr lang="ko-KR" altLang="en-US"/>
            </a:p>
          </p:txBody>
        </p:sp>
        <p:sp>
          <p:nvSpPr>
            <p:cNvPr id="17" name="TextBox 17"/>
            <p:cNvSpPr txBox="1"/>
            <p:nvPr/>
          </p:nvSpPr>
          <p:spPr>
            <a:xfrm>
              <a:off x="0" y="0"/>
              <a:ext cx="3979469" cy="633984"/>
            </a:xfrm>
            <a:prstGeom prst="rect">
              <a:avLst/>
            </a:prstGeom>
          </p:spPr>
          <p:txBody>
            <a:bodyPr lIns="0" tIns="0" rIns="0" bIns="0" rtlCol="0" anchor="ctr"/>
            <a:lstStyle/>
            <a:p>
              <a:pPr algn="ctr">
                <a:lnSpc>
                  <a:spcPts val="2279"/>
                </a:lnSpc>
              </a:pPr>
              <a:r>
                <a:rPr lang="en-US" sz="1899">
                  <a:solidFill>
                    <a:srgbClr val="1A1A1A"/>
                  </a:solidFill>
                  <a:latin typeface="프리텐다드"/>
                  <a:ea typeface="프리텐다드"/>
                  <a:cs typeface="프리텐다드"/>
                  <a:sym typeface="프리텐다드"/>
                </a:rPr>
                <a:t>① 날짜면 촬영</a:t>
              </a:r>
            </a:p>
          </p:txBody>
        </p:sp>
      </p:grpSp>
      <p:grpSp>
        <p:nvGrpSpPr>
          <p:cNvPr id="18" name="Group 18"/>
          <p:cNvGrpSpPr/>
          <p:nvPr/>
        </p:nvGrpSpPr>
        <p:grpSpPr>
          <a:xfrm>
            <a:off x="3167482" y="5065776"/>
            <a:ext cx="416966" cy="548640"/>
            <a:chOff x="0" y="0"/>
            <a:chExt cx="555955" cy="731520"/>
          </a:xfrm>
        </p:grpSpPr>
        <p:sp>
          <p:nvSpPr>
            <p:cNvPr id="19" name="Freeform 19"/>
            <p:cNvSpPr/>
            <p:nvPr/>
          </p:nvSpPr>
          <p:spPr>
            <a:xfrm>
              <a:off x="0" y="0"/>
              <a:ext cx="555955" cy="731520"/>
            </a:xfrm>
            <a:custGeom>
              <a:avLst/>
              <a:gdLst/>
              <a:ahLst/>
              <a:cxnLst/>
              <a:rect l="l" t="t" r="r" b="b"/>
              <a:pathLst>
                <a:path w="555955" h="731520">
                  <a:moveTo>
                    <a:pt x="0" y="0"/>
                  </a:moveTo>
                  <a:lnTo>
                    <a:pt x="555955" y="0"/>
                  </a:lnTo>
                  <a:lnTo>
                    <a:pt x="555955" y="731520"/>
                  </a:lnTo>
                  <a:lnTo>
                    <a:pt x="0" y="731520"/>
                  </a:lnTo>
                  <a:close/>
                </a:path>
              </a:pathLst>
            </a:custGeom>
            <a:blipFill>
              <a:blip r:embed="rId3">
                <a:alphaModFix amt="0"/>
              </a:blip>
              <a:stretch>
                <a:fillRect l="-118820" r="-118820"/>
              </a:stretch>
            </a:blipFill>
          </p:spPr>
          <p:txBody>
            <a:bodyPr/>
            <a:lstStyle/>
            <a:p>
              <a:endParaRPr lang="ko-KR" altLang="en-US"/>
            </a:p>
          </p:txBody>
        </p:sp>
        <p:sp>
          <p:nvSpPr>
            <p:cNvPr id="20" name="TextBox 20"/>
            <p:cNvSpPr txBox="1"/>
            <p:nvPr/>
          </p:nvSpPr>
          <p:spPr>
            <a:xfrm>
              <a:off x="0" y="0"/>
              <a:ext cx="555955" cy="731520"/>
            </a:xfrm>
            <a:prstGeom prst="rect">
              <a:avLst/>
            </a:prstGeom>
          </p:spPr>
          <p:txBody>
            <a:bodyPr lIns="0" tIns="0" rIns="0" bIns="0" rtlCol="0" anchor="ctr"/>
            <a:lstStyle/>
            <a:p>
              <a:pPr algn="ctr">
                <a:lnSpc>
                  <a:spcPts val="2160"/>
                </a:lnSpc>
              </a:pPr>
              <a:r>
                <a:rPr lang="en-US" sz="1800">
                  <a:solidFill>
                    <a:srgbClr val="6B6B6B"/>
                  </a:solidFill>
                  <a:latin typeface="프리텐다드"/>
                  <a:ea typeface="프리텐다드"/>
                  <a:cs typeface="프리텐다드"/>
                  <a:sym typeface="프리텐다드"/>
                </a:rPr>
                <a:t>▶</a:t>
              </a:r>
            </a:p>
          </p:txBody>
        </p:sp>
      </p:grpSp>
      <p:grpSp>
        <p:nvGrpSpPr>
          <p:cNvPr id="21" name="Group 21"/>
          <p:cNvGrpSpPr/>
          <p:nvPr/>
        </p:nvGrpSpPr>
        <p:grpSpPr>
          <a:xfrm>
            <a:off x="3584448" y="2596896"/>
            <a:ext cx="2618842" cy="5486400"/>
            <a:chOff x="0" y="0"/>
            <a:chExt cx="3491789" cy="7315200"/>
          </a:xfrm>
        </p:grpSpPr>
        <p:sp>
          <p:nvSpPr>
            <p:cNvPr id="22" name="Freeform 22" descr="/Users/choseoyoung/Desktop/itda3-CODE-subway/발표/src/img/dash_phone2.png"/>
            <p:cNvSpPr/>
            <p:nvPr/>
          </p:nvSpPr>
          <p:spPr>
            <a:xfrm>
              <a:off x="0" y="0"/>
              <a:ext cx="3491738" cy="7315200"/>
            </a:xfrm>
            <a:custGeom>
              <a:avLst/>
              <a:gdLst/>
              <a:ahLst/>
              <a:cxnLst/>
              <a:rect l="l" t="t" r="r" b="b"/>
              <a:pathLst>
                <a:path w="3491738" h="7315200">
                  <a:moveTo>
                    <a:pt x="0" y="0"/>
                  </a:moveTo>
                  <a:lnTo>
                    <a:pt x="3491738" y="0"/>
                  </a:lnTo>
                  <a:lnTo>
                    <a:pt x="3491738" y="7315200"/>
                  </a:lnTo>
                  <a:lnTo>
                    <a:pt x="0" y="7315200"/>
                  </a:lnTo>
                  <a:lnTo>
                    <a:pt x="0" y="0"/>
                  </a:lnTo>
                  <a:close/>
                </a:path>
              </a:pathLst>
            </a:custGeom>
            <a:blipFill>
              <a:blip r:embed="rId5"/>
              <a:stretch>
                <a:fillRect l="-17" r="-18"/>
              </a:stretch>
            </a:blipFill>
          </p:spPr>
          <p:txBody>
            <a:bodyPr/>
            <a:lstStyle/>
            <a:p>
              <a:endParaRPr lang="ko-KR" altLang="en-US"/>
            </a:p>
          </p:txBody>
        </p:sp>
      </p:grpSp>
      <p:grpSp>
        <p:nvGrpSpPr>
          <p:cNvPr id="23" name="Group 23"/>
          <p:cNvGrpSpPr/>
          <p:nvPr/>
        </p:nvGrpSpPr>
        <p:grpSpPr>
          <a:xfrm>
            <a:off x="3401568" y="8119872"/>
            <a:ext cx="2984602" cy="475488"/>
            <a:chOff x="0" y="0"/>
            <a:chExt cx="3979469" cy="633984"/>
          </a:xfrm>
        </p:grpSpPr>
        <p:sp>
          <p:nvSpPr>
            <p:cNvPr id="24" name="Freeform 24"/>
            <p:cNvSpPr/>
            <p:nvPr/>
          </p:nvSpPr>
          <p:spPr>
            <a:xfrm>
              <a:off x="0" y="0"/>
              <a:ext cx="3979470" cy="633984"/>
            </a:xfrm>
            <a:custGeom>
              <a:avLst/>
              <a:gdLst/>
              <a:ahLst/>
              <a:cxnLst/>
              <a:rect l="l" t="t" r="r" b="b"/>
              <a:pathLst>
                <a:path w="3979470" h="633984">
                  <a:moveTo>
                    <a:pt x="0" y="0"/>
                  </a:moveTo>
                  <a:lnTo>
                    <a:pt x="3979470" y="0"/>
                  </a:lnTo>
                  <a:lnTo>
                    <a:pt x="3979470" y="633984"/>
                  </a:lnTo>
                  <a:lnTo>
                    <a:pt x="0" y="633984"/>
                  </a:lnTo>
                  <a:close/>
                </a:path>
              </a:pathLst>
            </a:custGeom>
            <a:blipFill>
              <a:blip r:embed="rId3">
                <a:alphaModFix amt="0"/>
              </a:blip>
              <a:stretch>
                <a:fillRect t="-72306" b="-72306"/>
              </a:stretch>
            </a:blipFill>
          </p:spPr>
          <p:txBody>
            <a:bodyPr/>
            <a:lstStyle/>
            <a:p>
              <a:endParaRPr lang="ko-KR" altLang="en-US"/>
            </a:p>
          </p:txBody>
        </p:sp>
        <p:sp>
          <p:nvSpPr>
            <p:cNvPr id="25" name="TextBox 25"/>
            <p:cNvSpPr txBox="1"/>
            <p:nvPr/>
          </p:nvSpPr>
          <p:spPr>
            <a:xfrm>
              <a:off x="0" y="0"/>
              <a:ext cx="3979469" cy="633984"/>
            </a:xfrm>
            <a:prstGeom prst="rect">
              <a:avLst/>
            </a:prstGeom>
          </p:spPr>
          <p:txBody>
            <a:bodyPr lIns="0" tIns="0" rIns="0" bIns="0" rtlCol="0" anchor="ctr"/>
            <a:lstStyle/>
            <a:p>
              <a:pPr algn="ctr">
                <a:lnSpc>
                  <a:spcPts val="2279"/>
                </a:lnSpc>
              </a:pPr>
              <a:r>
                <a:rPr lang="en-US" sz="1899" dirty="0">
                  <a:solidFill>
                    <a:srgbClr val="1A1A1A"/>
                  </a:solidFill>
                  <a:latin typeface="프리텐다드"/>
                  <a:ea typeface="프리텐다드"/>
                  <a:cs typeface="프리텐다드"/>
                  <a:sym typeface="프리텐다드"/>
                </a:rPr>
                <a:t>② </a:t>
              </a:r>
              <a:r>
                <a:rPr lang="ko-KR" altLang="en-US" sz="1899" dirty="0">
                  <a:solidFill>
                    <a:srgbClr val="1A1A1A"/>
                  </a:solidFill>
                  <a:latin typeface="프리텐다드"/>
                  <a:ea typeface="프리텐다드"/>
                  <a:cs typeface="프리텐다드"/>
                  <a:sym typeface="프리텐다드"/>
                </a:rPr>
                <a:t>모델이 </a:t>
              </a:r>
              <a:r>
                <a:rPr lang="en-US" sz="1899" dirty="0" err="1">
                  <a:solidFill>
                    <a:srgbClr val="1A1A1A"/>
                  </a:solidFill>
                  <a:latin typeface="프리텐다드"/>
                  <a:ea typeface="프리텐다드"/>
                  <a:cs typeface="프리텐다드"/>
                  <a:sym typeface="프리텐다드"/>
                </a:rPr>
                <a:t>확신하면</a:t>
              </a:r>
              <a:r>
                <a:rPr lang="en-US" sz="1899" dirty="0">
                  <a:solidFill>
                    <a:srgbClr val="1A1A1A"/>
                  </a:solidFill>
                  <a:latin typeface="프리텐다드"/>
                  <a:ea typeface="프리텐다드"/>
                  <a:cs typeface="프리텐다드"/>
                  <a:sym typeface="프리텐다드"/>
                </a:rPr>
                <a:t> </a:t>
              </a:r>
              <a:r>
                <a:rPr lang="en-US" sz="1899" dirty="0" err="1">
                  <a:solidFill>
                    <a:srgbClr val="1A1A1A"/>
                  </a:solidFill>
                  <a:latin typeface="프리텐다드"/>
                  <a:ea typeface="프리텐다드"/>
                  <a:cs typeface="프리텐다드"/>
                  <a:sym typeface="프리텐다드"/>
                </a:rPr>
                <a:t>자동</a:t>
              </a:r>
              <a:r>
                <a:rPr lang="en-US" sz="1899" dirty="0">
                  <a:solidFill>
                    <a:srgbClr val="1A1A1A"/>
                  </a:solidFill>
                  <a:latin typeface="프리텐다드"/>
                  <a:ea typeface="프리텐다드"/>
                  <a:cs typeface="프리텐다드"/>
                  <a:sym typeface="프리텐다드"/>
                </a:rPr>
                <a:t> </a:t>
              </a:r>
              <a:r>
                <a:rPr lang="en-US" sz="1899" dirty="0" err="1">
                  <a:solidFill>
                    <a:srgbClr val="1A1A1A"/>
                  </a:solidFill>
                  <a:latin typeface="프리텐다드"/>
                  <a:ea typeface="프리텐다드"/>
                  <a:cs typeface="프리텐다드"/>
                  <a:sym typeface="프리텐다드"/>
                </a:rPr>
                <a:t>입력</a:t>
              </a:r>
              <a:endParaRPr lang="en-US" sz="1899" dirty="0">
                <a:solidFill>
                  <a:srgbClr val="1A1A1A"/>
                </a:solidFill>
                <a:latin typeface="프리텐다드"/>
                <a:ea typeface="프리텐다드"/>
                <a:cs typeface="프리텐다드"/>
                <a:sym typeface="프리텐다드"/>
              </a:endParaRPr>
            </a:p>
          </p:txBody>
        </p:sp>
      </p:grpSp>
      <p:grpSp>
        <p:nvGrpSpPr>
          <p:cNvPr id="26" name="Group 26"/>
          <p:cNvGrpSpPr/>
          <p:nvPr/>
        </p:nvGrpSpPr>
        <p:grpSpPr>
          <a:xfrm>
            <a:off x="6203290" y="5065776"/>
            <a:ext cx="416966" cy="548640"/>
            <a:chOff x="0" y="0"/>
            <a:chExt cx="555955" cy="731520"/>
          </a:xfrm>
        </p:grpSpPr>
        <p:sp>
          <p:nvSpPr>
            <p:cNvPr id="27" name="Freeform 27"/>
            <p:cNvSpPr/>
            <p:nvPr/>
          </p:nvSpPr>
          <p:spPr>
            <a:xfrm>
              <a:off x="0" y="0"/>
              <a:ext cx="555955" cy="731520"/>
            </a:xfrm>
            <a:custGeom>
              <a:avLst/>
              <a:gdLst/>
              <a:ahLst/>
              <a:cxnLst/>
              <a:rect l="l" t="t" r="r" b="b"/>
              <a:pathLst>
                <a:path w="555955" h="731520">
                  <a:moveTo>
                    <a:pt x="0" y="0"/>
                  </a:moveTo>
                  <a:lnTo>
                    <a:pt x="555955" y="0"/>
                  </a:lnTo>
                  <a:lnTo>
                    <a:pt x="555955" y="731520"/>
                  </a:lnTo>
                  <a:lnTo>
                    <a:pt x="0" y="731520"/>
                  </a:lnTo>
                  <a:close/>
                </a:path>
              </a:pathLst>
            </a:custGeom>
            <a:blipFill>
              <a:blip r:embed="rId3">
                <a:alphaModFix amt="0"/>
              </a:blip>
              <a:stretch>
                <a:fillRect l="-118820" r="-118820"/>
              </a:stretch>
            </a:blipFill>
          </p:spPr>
          <p:txBody>
            <a:bodyPr/>
            <a:lstStyle/>
            <a:p>
              <a:endParaRPr lang="ko-KR" altLang="en-US"/>
            </a:p>
          </p:txBody>
        </p:sp>
        <p:sp>
          <p:nvSpPr>
            <p:cNvPr id="28" name="TextBox 28"/>
            <p:cNvSpPr txBox="1"/>
            <p:nvPr/>
          </p:nvSpPr>
          <p:spPr>
            <a:xfrm>
              <a:off x="0" y="0"/>
              <a:ext cx="555955" cy="731520"/>
            </a:xfrm>
            <a:prstGeom prst="rect">
              <a:avLst/>
            </a:prstGeom>
          </p:spPr>
          <p:txBody>
            <a:bodyPr lIns="0" tIns="0" rIns="0" bIns="0" rtlCol="0" anchor="ctr"/>
            <a:lstStyle/>
            <a:p>
              <a:pPr algn="ctr">
                <a:lnSpc>
                  <a:spcPts val="2160"/>
                </a:lnSpc>
              </a:pPr>
              <a:r>
                <a:rPr lang="en-US" sz="1800">
                  <a:solidFill>
                    <a:srgbClr val="6B6B6B"/>
                  </a:solidFill>
                  <a:latin typeface="프리텐다드"/>
                  <a:ea typeface="프리텐다드"/>
                  <a:cs typeface="프리텐다드"/>
                  <a:sym typeface="프리텐다드"/>
                </a:rPr>
                <a:t>▶</a:t>
              </a:r>
            </a:p>
          </p:txBody>
        </p:sp>
      </p:grpSp>
      <p:grpSp>
        <p:nvGrpSpPr>
          <p:cNvPr id="29" name="Group 29"/>
          <p:cNvGrpSpPr/>
          <p:nvPr/>
        </p:nvGrpSpPr>
        <p:grpSpPr>
          <a:xfrm>
            <a:off x="6620256" y="2596896"/>
            <a:ext cx="2618842" cy="5486400"/>
            <a:chOff x="0" y="0"/>
            <a:chExt cx="3491789" cy="7315200"/>
          </a:xfrm>
        </p:grpSpPr>
        <p:sp>
          <p:nvSpPr>
            <p:cNvPr id="30" name="Freeform 30" descr="/Users/choseoyoung/Desktop/itda3-CODE-subway/발표/src/img/dash_phone3.png"/>
            <p:cNvSpPr/>
            <p:nvPr/>
          </p:nvSpPr>
          <p:spPr>
            <a:xfrm>
              <a:off x="0" y="0"/>
              <a:ext cx="3491738" cy="7315200"/>
            </a:xfrm>
            <a:custGeom>
              <a:avLst/>
              <a:gdLst/>
              <a:ahLst/>
              <a:cxnLst/>
              <a:rect l="l" t="t" r="r" b="b"/>
              <a:pathLst>
                <a:path w="3491738" h="7315200">
                  <a:moveTo>
                    <a:pt x="0" y="0"/>
                  </a:moveTo>
                  <a:lnTo>
                    <a:pt x="3491738" y="0"/>
                  </a:lnTo>
                  <a:lnTo>
                    <a:pt x="3491738" y="7315200"/>
                  </a:lnTo>
                  <a:lnTo>
                    <a:pt x="0" y="7315200"/>
                  </a:lnTo>
                  <a:lnTo>
                    <a:pt x="0" y="0"/>
                  </a:lnTo>
                  <a:close/>
                </a:path>
              </a:pathLst>
            </a:custGeom>
            <a:blipFill>
              <a:blip r:embed="rId6"/>
              <a:stretch>
                <a:fillRect l="-17" r="-18"/>
              </a:stretch>
            </a:blipFill>
          </p:spPr>
          <p:txBody>
            <a:bodyPr/>
            <a:lstStyle/>
            <a:p>
              <a:endParaRPr lang="ko-KR" altLang="en-US"/>
            </a:p>
          </p:txBody>
        </p:sp>
      </p:grpSp>
      <p:grpSp>
        <p:nvGrpSpPr>
          <p:cNvPr id="31" name="Group 31"/>
          <p:cNvGrpSpPr/>
          <p:nvPr/>
        </p:nvGrpSpPr>
        <p:grpSpPr>
          <a:xfrm>
            <a:off x="6437376" y="8119872"/>
            <a:ext cx="2984602" cy="475488"/>
            <a:chOff x="0" y="0"/>
            <a:chExt cx="3979469" cy="633984"/>
          </a:xfrm>
        </p:grpSpPr>
        <p:sp>
          <p:nvSpPr>
            <p:cNvPr id="32" name="Freeform 32"/>
            <p:cNvSpPr/>
            <p:nvPr/>
          </p:nvSpPr>
          <p:spPr>
            <a:xfrm>
              <a:off x="0" y="0"/>
              <a:ext cx="3979470" cy="633984"/>
            </a:xfrm>
            <a:custGeom>
              <a:avLst/>
              <a:gdLst/>
              <a:ahLst/>
              <a:cxnLst/>
              <a:rect l="l" t="t" r="r" b="b"/>
              <a:pathLst>
                <a:path w="3979470" h="633984">
                  <a:moveTo>
                    <a:pt x="0" y="0"/>
                  </a:moveTo>
                  <a:lnTo>
                    <a:pt x="3979470" y="0"/>
                  </a:lnTo>
                  <a:lnTo>
                    <a:pt x="3979470" y="633984"/>
                  </a:lnTo>
                  <a:lnTo>
                    <a:pt x="0" y="633984"/>
                  </a:lnTo>
                  <a:close/>
                </a:path>
              </a:pathLst>
            </a:custGeom>
            <a:blipFill>
              <a:blip r:embed="rId3">
                <a:alphaModFix amt="0"/>
              </a:blip>
              <a:stretch>
                <a:fillRect t="-72306" b="-72306"/>
              </a:stretch>
            </a:blipFill>
          </p:spPr>
          <p:txBody>
            <a:bodyPr/>
            <a:lstStyle/>
            <a:p>
              <a:endParaRPr lang="ko-KR" altLang="en-US"/>
            </a:p>
          </p:txBody>
        </p:sp>
        <p:sp>
          <p:nvSpPr>
            <p:cNvPr id="33" name="TextBox 33"/>
            <p:cNvSpPr txBox="1"/>
            <p:nvPr/>
          </p:nvSpPr>
          <p:spPr>
            <a:xfrm>
              <a:off x="0" y="0"/>
              <a:ext cx="3979469" cy="633984"/>
            </a:xfrm>
            <a:prstGeom prst="rect">
              <a:avLst/>
            </a:prstGeom>
          </p:spPr>
          <p:txBody>
            <a:bodyPr lIns="0" tIns="0" rIns="0" bIns="0" rtlCol="0" anchor="ctr"/>
            <a:lstStyle/>
            <a:p>
              <a:pPr algn="ctr">
                <a:lnSpc>
                  <a:spcPts val="2279"/>
                </a:lnSpc>
              </a:pPr>
              <a:r>
                <a:rPr lang="en-US" sz="1899" dirty="0">
                  <a:solidFill>
                    <a:srgbClr val="1A1A1A"/>
                  </a:solidFill>
                  <a:latin typeface="프리텐다드"/>
                  <a:ea typeface="프리텐다드"/>
                  <a:cs typeface="프리텐다드"/>
                  <a:sym typeface="프리텐다드"/>
                </a:rPr>
                <a:t>③ </a:t>
              </a:r>
              <a:r>
                <a:rPr lang="ko-KR" altLang="en-US" sz="1899" dirty="0">
                  <a:solidFill>
                    <a:srgbClr val="1A1A1A"/>
                  </a:solidFill>
                  <a:latin typeface="프리텐다드"/>
                  <a:ea typeface="프리텐다드"/>
                  <a:cs typeface="프리텐다드"/>
                  <a:sym typeface="프리텐다드"/>
                </a:rPr>
                <a:t>모델 </a:t>
              </a:r>
              <a:r>
                <a:rPr lang="en-US" sz="1899" dirty="0" err="1">
                  <a:solidFill>
                    <a:srgbClr val="1A1A1A"/>
                  </a:solidFill>
                  <a:latin typeface="프리텐다드"/>
                  <a:ea typeface="프리텐다드"/>
                  <a:cs typeface="프리텐다드"/>
                  <a:sym typeface="프리텐다드"/>
                </a:rPr>
                <a:t>확신이</a:t>
              </a:r>
              <a:r>
                <a:rPr lang="en-US" sz="1899" dirty="0">
                  <a:solidFill>
                    <a:srgbClr val="1A1A1A"/>
                  </a:solidFill>
                  <a:latin typeface="프리텐다드"/>
                  <a:ea typeface="프리텐다드"/>
                  <a:cs typeface="프리텐다드"/>
                  <a:sym typeface="프리텐다드"/>
                </a:rPr>
                <a:t> </a:t>
              </a:r>
              <a:r>
                <a:rPr lang="en-US" sz="1899" dirty="0" err="1">
                  <a:solidFill>
                    <a:srgbClr val="1A1A1A"/>
                  </a:solidFill>
                  <a:latin typeface="프리텐다드"/>
                  <a:ea typeface="프리텐다드"/>
                  <a:cs typeface="프리텐다드"/>
                  <a:sym typeface="프리텐다드"/>
                </a:rPr>
                <a:t>낮으면</a:t>
              </a:r>
              <a:r>
                <a:rPr lang="en-US" sz="1899" dirty="0">
                  <a:solidFill>
                    <a:srgbClr val="1A1A1A"/>
                  </a:solidFill>
                  <a:latin typeface="프리텐다드"/>
                  <a:ea typeface="프리텐다드"/>
                  <a:cs typeface="프리텐다드"/>
                  <a:sym typeface="프리텐다드"/>
                </a:rPr>
                <a:t> </a:t>
              </a:r>
              <a:r>
                <a:rPr lang="en-US" sz="1899" dirty="0" err="1">
                  <a:solidFill>
                    <a:srgbClr val="1A1A1A"/>
                  </a:solidFill>
                  <a:latin typeface="프리텐다드"/>
                  <a:ea typeface="프리텐다드"/>
                  <a:cs typeface="프리텐다드"/>
                  <a:sym typeface="프리텐다드"/>
                </a:rPr>
                <a:t>빈칸</a:t>
              </a:r>
              <a:endParaRPr lang="en-US" sz="1899" dirty="0">
                <a:solidFill>
                  <a:srgbClr val="1A1A1A"/>
                </a:solidFill>
                <a:latin typeface="프리텐다드"/>
                <a:ea typeface="프리텐다드"/>
                <a:cs typeface="프리텐다드"/>
                <a:sym typeface="프리텐다드"/>
              </a:endParaRPr>
            </a:p>
          </p:txBody>
        </p:sp>
      </p:grpSp>
      <p:grpSp>
        <p:nvGrpSpPr>
          <p:cNvPr id="34" name="Group 34"/>
          <p:cNvGrpSpPr/>
          <p:nvPr/>
        </p:nvGrpSpPr>
        <p:grpSpPr>
          <a:xfrm>
            <a:off x="9239098" y="5065776"/>
            <a:ext cx="416966" cy="548640"/>
            <a:chOff x="0" y="0"/>
            <a:chExt cx="555955" cy="731520"/>
          </a:xfrm>
        </p:grpSpPr>
        <p:sp>
          <p:nvSpPr>
            <p:cNvPr id="35" name="Freeform 35"/>
            <p:cNvSpPr/>
            <p:nvPr/>
          </p:nvSpPr>
          <p:spPr>
            <a:xfrm>
              <a:off x="0" y="0"/>
              <a:ext cx="555955" cy="731520"/>
            </a:xfrm>
            <a:custGeom>
              <a:avLst/>
              <a:gdLst/>
              <a:ahLst/>
              <a:cxnLst/>
              <a:rect l="l" t="t" r="r" b="b"/>
              <a:pathLst>
                <a:path w="555955" h="731520">
                  <a:moveTo>
                    <a:pt x="0" y="0"/>
                  </a:moveTo>
                  <a:lnTo>
                    <a:pt x="555955" y="0"/>
                  </a:lnTo>
                  <a:lnTo>
                    <a:pt x="555955" y="731520"/>
                  </a:lnTo>
                  <a:lnTo>
                    <a:pt x="0" y="731520"/>
                  </a:lnTo>
                  <a:close/>
                </a:path>
              </a:pathLst>
            </a:custGeom>
            <a:blipFill>
              <a:blip r:embed="rId3">
                <a:alphaModFix amt="0"/>
              </a:blip>
              <a:stretch>
                <a:fillRect l="-118820" r="-118820"/>
              </a:stretch>
            </a:blipFill>
          </p:spPr>
          <p:txBody>
            <a:bodyPr/>
            <a:lstStyle/>
            <a:p>
              <a:endParaRPr lang="ko-KR" altLang="en-US"/>
            </a:p>
          </p:txBody>
        </p:sp>
        <p:sp>
          <p:nvSpPr>
            <p:cNvPr id="36" name="TextBox 36"/>
            <p:cNvSpPr txBox="1"/>
            <p:nvPr/>
          </p:nvSpPr>
          <p:spPr>
            <a:xfrm>
              <a:off x="0" y="0"/>
              <a:ext cx="555955" cy="731520"/>
            </a:xfrm>
            <a:prstGeom prst="rect">
              <a:avLst/>
            </a:prstGeom>
          </p:spPr>
          <p:txBody>
            <a:bodyPr lIns="0" tIns="0" rIns="0" bIns="0" rtlCol="0" anchor="ctr"/>
            <a:lstStyle/>
            <a:p>
              <a:pPr algn="ctr">
                <a:lnSpc>
                  <a:spcPts val="2160"/>
                </a:lnSpc>
              </a:pPr>
              <a:r>
                <a:rPr lang="en-US" sz="1800">
                  <a:solidFill>
                    <a:srgbClr val="6B6B6B"/>
                  </a:solidFill>
                  <a:latin typeface="프리텐다드"/>
                  <a:ea typeface="프리텐다드"/>
                  <a:cs typeface="프리텐다드"/>
                  <a:sym typeface="프리텐다드"/>
                </a:rPr>
                <a:t>▶</a:t>
              </a:r>
            </a:p>
          </p:txBody>
        </p:sp>
      </p:grpSp>
      <p:grpSp>
        <p:nvGrpSpPr>
          <p:cNvPr id="37" name="Group 37"/>
          <p:cNvGrpSpPr/>
          <p:nvPr/>
        </p:nvGrpSpPr>
        <p:grpSpPr>
          <a:xfrm>
            <a:off x="9656064" y="2596896"/>
            <a:ext cx="2618842" cy="5486400"/>
            <a:chOff x="0" y="0"/>
            <a:chExt cx="3491789" cy="7315200"/>
          </a:xfrm>
        </p:grpSpPr>
        <p:sp>
          <p:nvSpPr>
            <p:cNvPr id="38" name="Freeform 38" descr="/Users/choseoyoung/Desktop/itda3-CODE-subway/발표/src/img/dash_phone4.png"/>
            <p:cNvSpPr/>
            <p:nvPr/>
          </p:nvSpPr>
          <p:spPr>
            <a:xfrm>
              <a:off x="0" y="0"/>
              <a:ext cx="3491738" cy="7315200"/>
            </a:xfrm>
            <a:custGeom>
              <a:avLst/>
              <a:gdLst/>
              <a:ahLst/>
              <a:cxnLst/>
              <a:rect l="l" t="t" r="r" b="b"/>
              <a:pathLst>
                <a:path w="3491738" h="7315200">
                  <a:moveTo>
                    <a:pt x="0" y="0"/>
                  </a:moveTo>
                  <a:lnTo>
                    <a:pt x="3491738" y="0"/>
                  </a:lnTo>
                  <a:lnTo>
                    <a:pt x="3491738" y="7315200"/>
                  </a:lnTo>
                  <a:lnTo>
                    <a:pt x="0" y="7315200"/>
                  </a:lnTo>
                  <a:lnTo>
                    <a:pt x="0" y="0"/>
                  </a:lnTo>
                  <a:close/>
                </a:path>
              </a:pathLst>
            </a:custGeom>
            <a:blipFill>
              <a:blip r:embed="rId7"/>
              <a:stretch>
                <a:fillRect l="-17" r="-18"/>
              </a:stretch>
            </a:blipFill>
          </p:spPr>
          <p:txBody>
            <a:bodyPr/>
            <a:lstStyle/>
            <a:p>
              <a:endParaRPr lang="ko-KR" altLang="en-US"/>
            </a:p>
          </p:txBody>
        </p:sp>
      </p:grpSp>
      <p:grpSp>
        <p:nvGrpSpPr>
          <p:cNvPr id="39" name="Group 39"/>
          <p:cNvGrpSpPr/>
          <p:nvPr/>
        </p:nvGrpSpPr>
        <p:grpSpPr>
          <a:xfrm>
            <a:off x="9473184" y="8119872"/>
            <a:ext cx="2984602" cy="475488"/>
            <a:chOff x="0" y="0"/>
            <a:chExt cx="3979469" cy="633984"/>
          </a:xfrm>
        </p:grpSpPr>
        <p:sp>
          <p:nvSpPr>
            <p:cNvPr id="40" name="Freeform 40"/>
            <p:cNvSpPr/>
            <p:nvPr/>
          </p:nvSpPr>
          <p:spPr>
            <a:xfrm>
              <a:off x="0" y="0"/>
              <a:ext cx="3979470" cy="633984"/>
            </a:xfrm>
            <a:custGeom>
              <a:avLst/>
              <a:gdLst/>
              <a:ahLst/>
              <a:cxnLst/>
              <a:rect l="l" t="t" r="r" b="b"/>
              <a:pathLst>
                <a:path w="3979470" h="633984">
                  <a:moveTo>
                    <a:pt x="0" y="0"/>
                  </a:moveTo>
                  <a:lnTo>
                    <a:pt x="3979470" y="0"/>
                  </a:lnTo>
                  <a:lnTo>
                    <a:pt x="3979470" y="633984"/>
                  </a:lnTo>
                  <a:lnTo>
                    <a:pt x="0" y="633984"/>
                  </a:lnTo>
                  <a:close/>
                </a:path>
              </a:pathLst>
            </a:custGeom>
            <a:blipFill>
              <a:blip r:embed="rId3">
                <a:alphaModFix amt="0"/>
              </a:blip>
              <a:stretch>
                <a:fillRect t="-72306" b="-72306"/>
              </a:stretch>
            </a:blipFill>
          </p:spPr>
          <p:txBody>
            <a:bodyPr/>
            <a:lstStyle/>
            <a:p>
              <a:endParaRPr lang="ko-KR" altLang="en-US"/>
            </a:p>
          </p:txBody>
        </p:sp>
        <p:sp>
          <p:nvSpPr>
            <p:cNvPr id="41" name="TextBox 41"/>
            <p:cNvSpPr txBox="1"/>
            <p:nvPr/>
          </p:nvSpPr>
          <p:spPr>
            <a:xfrm>
              <a:off x="0" y="0"/>
              <a:ext cx="3979469" cy="633984"/>
            </a:xfrm>
            <a:prstGeom prst="rect">
              <a:avLst/>
            </a:prstGeom>
          </p:spPr>
          <p:txBody>
            <a:bodyPr lIns="0" tIns="0" rIns="0" bIns="0" rtlCol="0" anchor="ctr"/>
            <a:lstStyle/>
            <a:p>
              <a:pPr algn="ctr">
                <a:lnSpc>
                  <a:spcPts val="2279"/>
                </a:lnSpc>
              </a:pPr>
              <a:r>
                <a:rPr lang="en-US" sz="1899">
                  <a:solidFill>
                    <a:srgbClr val="1A1A1A"/>
                  </a:solidFill>
                  <a:latin typeface="프리텐다드"/>
                  <a:ea typeface="프리텐다드"/>
                  <a:cs typeface="프리텐다드"/>
                  <a:sym typeface="프리텐다드"/>
                </a:rPr>
                <a:t>④ 날짜·남은 일수·원본</a:t>
              </a:r>
            </a:p>
          </p:txBody>
        </p:sp>
      </p:grpSp>
      <p:sp>
        <p:nvSpPr>
          <p:cNvPr id="42" name="TextBox 42"/>
          <p:cNvSpPr txBox="1"/>
          <p:nvPr/>
        </p:nvSpPr>
        <p:spPr>
          <a:xfrm>
            <a:off x="12710160" y="2587371"/>
            <a:ext cx="5029200" cy="342900"/>
          </a:xfrm>
          <a:prstGeom prst="rect">
            <a:avLst/>
          </a:prstGeom>
        </p:spPr>
        <p:txBody>
          <a:bodyPr lIns="0" tIns="0" rIns="0" bIns="0" rtlCol="0" anchor="t">
            <a:spAutoFit/>
          </a:bodyPr>
          <a:lstStyle/>
          <a:p>
            <a:pPr algn="l">
              <a:lnSpc>
                <a:spcPts val="2639"/>
              </a:lnSpc>
            </a:pPr>
            <a:r>
              <a:rPr lang="en-US" sz="2199" b="1">
                <a:solidFill>
                  <a:srgbClr val="1A1A1A"/>
                </a:solidFill>
                <a:latin typeface="프리텐다드 Bold"/>
                <a:ea typeface="프리텐다드 Bold"/>
                <a:cs typeface="프리텐다드 Bold"/>
                <a:sym typeface="프리텐다드 Bold"/>
              </a:rPr>
              <a:t>모델 결과별로 판매자에게 일어나는 일</a:t>
            </a:r>
          </a:p>
        </p:txBody>
      </p:sp>
      <p:graphicFrame>
        <p:nvGraphicFramePr>
          <p:cNvPr id="43" name="Table 43"/>
          <p:cNvGraphicFramePr>
            <a:graphicFrameLocks noGrp="1"/>
          </p:cNvGraphicFramePr>
          <p:nvPr/>
        </p:nvGraphicFramePr>
        <p:xfrm>
          <a:off x="12710160" y="3182112"/>
          <a:ext cx="5003800" cy="3488692"/>
        </p:xfrm>
        <a:graphic>
          <a:graphicData uri="http://schemas.openxmlformats.org/drawingml/2006/table">
            <a:tbl>
              <a:tblPr/>
              <a:tblGrid>
                <a:gridCol w="1736319">
                  <a:extLst>
                    <a:ext uri="{9D8B030D-6E8A-4147-A177-3AD203B41FA5}">
                      <a16:colId xmlns:a16="http://schemas.microsoft.com/office/drawing/2014/main" val="20000"/>
                    </a:ext>
                  </a:extLst>
                </a:gridCol>
                <a:gridCol w="3267481">
                  <a:extLst>
                    <a:ext uri="{9D8B030D-6E8A-4147-A177-3AD203B41FA5}">
                      <a16:colId xmlns:a16="http://schemas.microsoft.com/office/drawing/2014/main" val="20001"/>
                    </a:ext>
                  </a:extLst>
                </a:gridCol>
              </a:tblGrid>
              <a:tr h="634886">
                <a:tc>
                  <a:txBody>
                    <a:bodyPr/>
                    <a:lstStyle/>
                    <a:p>
                      <a:pPr algn="l">
                        <a:lnSpc>
                          <a:spcPts val="2112"/>
                        </a:lnSpc>
                        <a:defRPr/>
                      </a:pPr>
                      <a:r>
                        <a:rPr lang="en-US" sz="1760">
                          <a:solidFill>
                            <a:srgbClr val="FFFFFF"/>
                          </a:solidFill>
                          <a:latin typeface="프리텐다드"/>
                          <a:ea typeface="프리텐다드"/>
                          <a:cs typeface="프리텐다드"/>
                          <a:sym typeface="프리텐다드"/>
                        </a:rPr>
                        <a:t>모델 결과</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112"/>
                        </a:lnSpc>
                        <a:defRPr/>
                      </a:pPr>
                      <a:r>
                        <a:rPr lang="en-US" sz="1760">
                          <a:solidFill>
                            <a:srgbClr val="FFFFFF"/>
                          </a:solidFill>
                          <a:latin typeface="프리텐다드"/>
                          <a:ea typeface="프리텐다드"/>
                          <a:cs typeface="프리텐다드"/>
                          <a:sym typeface="프리텐다드"/>
                        </a:rPr>
                        <a:t>판매자에게 일어나는 일</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extLst>
                  <a:ext uri="{0D108BD9-81ED-4DB2-BD59-A6C34878D82A}">
                    <a16:rowId xmlns:a16="http://schemas.microsoft.com/office/drawing/2014/main" val="10000"/>
                  </a:ext>
                </a:extLst>
              </a:tr>
              <a:tr h="634886">
                <a:tc>
                  <a:txBody>
                    <a:bodyPr/>
                    <a:lstStyle/>
                    <a:p>
                      <a:pPr algn="l">
                        <a:lnSpc>
                          <a:spcPts val="2112"/>
                        </a:lnSpc>
                        <a:defRPr/>
                      </a:pPr>
                      <a:r>
                        <a:rPr lang="en-US" sz="1760">
                          <a:solidFill>
                            <a:srgbClr val="1A1A1A"/>
                          </a:solidFill>
                          <a:latin typeface="프리텐다드"/>
                          <a:ea typeface="프리텐다드"/>
                          <a:cs typeface="프리텐다드"/>
                          <a:sym typeface="프리텐다드"/>
                        </a:rPr>
                        <a:t>맞게 읽음</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112"/>
                        </a:lnSpc>
                        <a:defRPr/>
                      </a:pPr>
                      <a:r>
                        <a:rPr lang="en-US" sz="1760">
                          <a:solidFill>
                            <a:srgbClr val="1A1A1A"/>
                          </a:solidFill>
                          <a:latin typeface="프리텐다드"/>
                          <a:ea typeface="프리텐다드"/>
                          <a:cs typeface="프리텐다드"/>
                          <a:sym typeface="프리텐다드"/>
                        </a:rPr>
                        <a:t>채워진 날짜를 확인</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92017">
                <a:tc>
                  <a:txBody>
                    <a:bodyPr/>
                    <a:lstStyle/>
                    <a:p>
                      <a:pPr algn="l">
                        <a:lnSpc>
                          <a:spcPts val="2112"/>
                        </a:lnSpc>
                        <a:defRPr/>
                      </a:pPr>
                      <a:r>
                        <a:rPr lang="en-US" sz="1760">
                          <a:solidFill>
                            <a:srgbClr val="1A1A1A"/>
                          </a:solidFill>
                          <a:latin typeface="프리텐다드"/>
                          <a:ea typeface="프리텐다드"/>
                          <a:cs typeface="프리텐다드"/>
                          <a:sym typeface="프리텐다드"/>
                        </a:rPr>
                        <a:t>못 읽음 · 확신 낮음</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112"/>
                        </a:lnSpc>
                        <a:defRPr/>
                      </a:pPr>
                      <a:r>
                        <a:rPr lang="en-US" sz="1760">
                          <a:solidFill>
                            <a:srgbClr val="1A1A1A"/>
                          </a:solidFill>
                          <a:latin typeface="프리텐다드"/>
                          <a:ea typeface="프리텐다드"/>
                          <a:cs typeface="프리텐다드"/>
                          <a:sym typeface="프리텐다드"/>
                        </a:rPr>
                        <a:t>빈칸. 손으로 입력 (지금과 같음)</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34886">
                <a:tc>
                  <a:txBody>
                    <a:bodyPr/>
                    <a:lstStyle/>
                    <a:p>
                      <a:pPr algn="l">
                        <a:lnSpc>
                          <a:spcPts val="2112"/>
                        </a:lnSpc>
                        <a:defRPr/>
                      </a:pPr>
                      <a:r>
                        <a:rPr lang="en-US" sz="1760">
                          <a:solidFill>
                            <a:srgbClr val="1A1A1A"/>
                          </a:solidFill>
                          <a:latin typeface="프리텐다드"/>
                          <a:ea typeface="프리텐다드"/>
                          <a:cs typeface="프리텐다드"/>
                          <a:sym typeface="프리텐다드"/>
                        </a:rPr>
                        <a:t>이르게 읽음</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112"/>
                        </a:lnSpc>
                        <a:defRPr/>
                      </a:pPr>
                      <a:r>
                        <a:rPr lang="en-US" sz="1760">
                          <a:solidFill>
                            <a:srgbClr val="1A1A1A"/>
                          </a:solidFill>
                          <a:latin typeface="프리텐다드"/>
                          <a:ea typeface="프리텐다드"/>
                          <a:cs typeface="프리텐다드"/>
                          <a:sym typeface="프리텐다드"/>
                        </a:rPr>
                        <a:t>확대본을 보고 고침</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92017">
                <a:tc>
                  <a:txBody>
                    <a:bodyPr/>
                    <a:lstStyle/>
                    <a:p>
                      <a:pPr algn="l">
                        <a:lnSpc>
                          <a:spcPts val="2112"/>
                        </a:lnSpc>
                        <a:defRPr/>
                      </a:pPr>
                      <a:r>
                        <a:rPr lang="en-US" sz="1760">
                          <a:solidFill>
                            <a:srgbClr val="8B0000"/>
                          </a:solidFill>
                          <a:latin typeface="프리텐다드"/>
                          <a:ea typeface="프리텐다드"/>
                          <a:cs typeface="프리텐다드"/>
                          <a:sym typeface="프리텐다드"/>
                        </a:rPr>
                        <a:t>늦게 읽음</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6E3E3"/>
                    </a:solidFill>
                  </a:tcPr>
                </a:tc>
                <a:tc>
                  <a:txBody>
                    <a:bodyPr/>
                    <a:lstStyle/>
                    <a:p>
                      <a:pPr algn="l">
                        <a:lnSpc>
                          <a:spcPts val="2112"/>
                        </a:lnSpc>
                        <a:defRPr/>
                      </a:pPr>
                      <a:r>
                        <a:rPr lang="en-US" sz="1760">
                          <a:solidFill>
                            <a:srgbClr val="1A1A1A"/>
                          </a:solidFill>
                          <a:latin typeface="프리텐다드"/>
                          <a:ea typeface="프리텐다드"/>
                          <a:cs typeface="프리텐다드"/>
                          <a:sym typeface="프리텐다드"/>
                        </a:rPr>
                        <a:t>확대본을 보고 고침. 안 고치면 남은 날이 많게 표시</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6E3E3"/>
                    </a:solidFill>
                  </a:tcPr>
                </a:tc>
                <a:extLst>
                  <a:ext uri="{0D108BD9-81ED-4DB2-BD59-A6C34878D82A}">
                    <a16:rowId xmlns:a16="http://schemas.microsoft.com/office/drawing/2014/main" val="10004"/>
                  </a:ext>
                </a:extLst>
              </a:tr>
            </a:tbl>
          </a:graphicData>
        </a:graphic>
      </p:graphicFrame>
      <p:grpSp>
        <p:nvGrpSpPr>
          <p:cNvPr id="44" name="Group 44"/>
          <p:cNvGrpSpPr/>
          <p:nvPr/>
        </p:nvGrpSpPr>
        <p:grpSpPr>
          <a:xfrm>
            <a:off x="12697463" y="6900167"/>
            <a:ext cx="5054603" cy="1707899"/>
            <a:chOff x="0" y="0"/>
            <a:chExt cx="6739471" cy="2277199"/>
          </a:xfrm>
        </p:grpSpPr>
        <p:sp>
          <p:nvSpPr>
            <p:cNvPr id="45" name="Freeform 45"/>
            <p:cNvSpPr/>
            <p:nvPr/>
          </p:nvSpPr>
          <p:spPr>
            <a:xfrm>
              <a:off x="0" y="0"/>
              <a:ext cx="6739382" cy="2277110"/>
            </a:xfrm>
            <a:custGeom>
              <a:avLst/>
              <a:gdLst/>
              <a:ahLst/>
              <a:cxnLst/>
              <a:rect l="l" t="t" r="r" b="b"/>
              <a:pathLst>
                <a:path w="6739382" h="2277110">
                  <a:moveTo>
                    <a:pt x="0" y="197993"/>
                  </a:moveTo>
                  <a:cubicBezTo>
                    <a:pt x="0" y="88646"/>
                    <a:pt x="88646" y="0"/>
                    <a:pt x="197993" y="0"/>
                  </a:cubicBezTo>
                  <a:lnTo>
                    <a:pt x="6541389" y="0"/>
                  </a:lnTo>
                  <a:cubicBezTo>
                    <a:pt x="6650736" y="0"/>
                    <a:pt x="6739382" y="88646"/>
                    <a:pt x="6739382" y="197993"/>
                  </a:cubicBezTo>
                  <a:lnTo>
                    <a:pt x="6739382" y="2079117"/>
                  </a:lnTo>
                  <a:cubicBezTo>
                    <a:pt x="6739382" y="2188464"/>
                    <a:pt x="6650736" y="2277110"/>
                    <a:pt x="6541389" y="2277110"/>
                  </a:cubicBezTo>
                  <a:lnTo>
                    <a:pt x="197993" y="2277110"/>
                  </a:lnTo>
                  <a:cubicBezTo>
                    <a:pt x="88646" y="2277237"/>
                    <a:pt x="0" y="2188591"/>
                    <a:pt x="0" y="2079117"/>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46" name="Group 46"/>
          <p:cNvGrpSpPr/>
          <p:nvPr/>
        </p:nvGrpSpPr>
        <p:grpSpPr>
          <a:xfrm>
            <a:off x="12929616" y="6986016"/>
            <a:ext cx="4590288" cy="1536192"/>
            <a:chOff x="0" y="0"/>
            <a:chExt cx="6120384" cy="2048256"/>
          </a:xfrm>
        </p:grpSpPr>
        <p:sp>
          <p:nvSpPr>
            <p:cNvPr id="47" name="Freeform 47"/>
            <p:cNvSpPr/>
            <p:nvPr/>
          </p:nvSpPr>
          <p:spPr>
            <a:xfrm>
              <a:off x="0" y="0"/>
              <a:ext cx="6120384" cy="2048256"/>
            </a:xfrm>
            <a:custGeom>
              <a:avLst/>
              <a:gdLst/>
              <a:ahLst/>
              <a:cxnLst/>
              <a:rect l="l" t="t" r="r" b="b"/>
              <a:pathLst>
                <a:path w="6120384" h="2048256">
                  <a:moveTo>
                    <a:pt x="0" y="0"/>
                  </a:moveTo>
                  <a:lnTo>
                    <a:pt x="6120384" y="0"/>
                  </a:lnTo>
                  <a:lnTo>
                    <a:pt x="6120384" y="2048256"/>
                  </a:lnTo>
                  <a:lnTo>
                    <a:pt x="0" y="2048256"/>
                  </a:lnTo>
                  <a:close/>
                </a:path>
              </a:pathLst>
            </a:custGeom>
            <a:blipFill>
              <a:blip r:embed="rId3">
                <a:alphaModFix amt="0"/>
              </a:blip>
              <a:stretch>
                <a:fillRect t="-8223" b="-8223"/>
              </a:stretch>
            </a:blipFill>
          </p:spPr>
          <p:txBody>
            <a:bodyPr/>
            <a:lstStyle/>
            <a:p>
              <a:endParaRPr lang="ko-KR" altLang="en-US"/>
            </a:p>
          </p:txBody>
        </p:sp>
        <p:sp>
          <p:nvSpPr>
            <p:cNvPr id="48" name="TextBox 48"/>
            <p:cNvSpPr txBox="1"/>
            <p:nvPr/>
          </p:nvSpPr>
          <p:spPr>
            <a:xfrm>
              <a:off x="0" y="-47625"/>
              <a:ext cx="6120384" cy="2095881"/>
            </a:xfrm>
            <a:prstGeom prst="rect">
              <a:avLst/>
            </a:prstGeom>
          </p:spPr>
          <p:txBody>
            <a:bodyPr lIns="0" tIns="0" rIns="0" bIns="0" rtlCol="0" anchor="ctr"/>
            <a:lstStyle/>
            <a:p>
              <a:pPr algn="just">
                <a:lnSpc>
                  <a:spcPts val="2604"/>
                </a:lnSpc>
              </a:pPr>
              <a:r>
                <a:rPr lang="en-US" sz="1860" dirty="0" err="1">
                  <a:solidFill>
                    <a:srgbClr val="1A1A1A"/>
                  </a:solidFill>
                  <a:latin typeface="프리텐다드"/>
                  <a:ea typeface="프리텐다드"/>
                  <a:cs typeface="프리텐다드"/>
                  <a:sym typeface="프리텐다드"/>
                </a:rPr>
                <a:t>판매자가</a:t>
              </a:r>
              <a:r>
                <a:rPr lang="en-US" sz="1860" dirty="0">
                  <a:solidFill>
                    <a:srgbClr val="1A1A1A"/>
                  </a:solidFill>
                  <a:latin typeface="프리텐다드"/>
                  <a:ea typeface="프리텐다드"/>
                  <a:cs typeface="프리텐다드"/>
                  <a:sym typeface="프리텐다드"/>
                </a:rPr>
                <a:t> </a:t>
              </a:r>
              <a:r>
                <a:rPr lang="ko-KR" altLang="en-US" sz="1860" dirty="0">
                  <a:solidFill>
                    <a:srgbClr val="1A1A1A"/>
                  </a:solidFill>
                  <a:latin typeface="프리텐다드"/>
                  <a:ea typeface="프리텐다드"/>
                  <a:cs typeface="프리텐다드"/>
                  <a:sym typeface="프리텐다드"/>
                </a:rPr>
                <a:t>실제로 확인하는 한</a:t>
              </a:r>
              <a:r>
                <a:rPr lang="en-US" altLang="ko-KR" sz="1860" dirty="0">
                  <a:solidFill>
                    <a:srgbClr val="1A1A1A"/>
                  </a:solidFill>
                  <a:latin typeface="프리텐다드"/>
                  <a:ea typeface="프리텐다드"/>
                  <a:cs typeface="프리텐다드"/>
                  <a:sym typeface="프리텐다드"/>
                </a:rPr>
                <a:t>,</a:t>
              </a:r>
              <a:r>
                <a:rPr lang="ko-KR" altLang="en-US" sz="1860" dirty="0">
                  <a:solidFill>
                    <a:srgbClr val="1A1A1A"/>
                  </a:solidFill>
                  <a:latin typeface="프리텐다드"/>
                  <a:ea typeface="프리텐다드"/>
                  <a:cs typeface="프리텐다드"/>
                  <a:sym typeface="프리텐다드"/>
                </a:rPr>
                <a:t> </a:t>
              </a:r>
              <a:r>
                <a:rPr lang="en-US" sz="1860" dirty="0" err="1">
                  <a:solidFill>
                    <a:srgbClr val="1A1A1A"/>
                  </a:solidFill>
                  <a:latin typeface="프리텐다드"/>
                  <a:ea typeface="프리텐다드"/>
                  <a:cs typeface="프리텐다드"/>
                  <a:sym typeface="프리텐다드"/>
                </a:rPr>
                <a:t>정확도는</a:t>
              </a:r>
              <a:r>
                <a:rPr lang="en-US" sz="1860" dirty="0">
                  <a:solidFill>
                    <a:srgbClr val="1A1A1A"/>
                  </a:solidFill>
                  <a:latin typeface="프리텐다드"/>
                  <a:ea typeface="프리텐다드"/>
                  <a:cs typeface="프리텐다드"/>
                  <a:sym typeface="프리텐다드"/>
                </a:rPr>
                <a:t> </a:t>
              </a:r>
              <a:r>
                <a:rPr lang="en-US" sz="1860" dirty="0" err="1">
                  <a:solidFill>
                    <a:srgbClr val="1A1A1A"/>
                  </a:solidFill>
                  <a:latin typeface="프리텐다드"/>
                  <a:ea typeface="프리텐다드"/>
                  <a:cs typeface="프리텐다드"/>
                  <a:sym typeface="프리텐다드"/>
                </a:rPr>
                <a:t>안전성이</a:t>
              </a:r>
              <a:r>
                <a:rPr lang="en-US" sz="1860" dirty="0">
                  <a:solidFill>
                    <a:srgbClr val="1A1A1A"/>
                  </a:solidFill>
                  <a:latin typeface="프리텐다드"/>
                  <a:ea typeface="프리텐다드"/>
                  <a:cs typeface="프리텐다드"/>
                  <a:sym typeface="프리텐다드"/>
                </a:rPr>
                <a:t> </a:t>
              </a:r>
              <a:r>
                <a:rPr lang="en-US" sz="1860" dirty="0" err="1">
                  <a:solidFill>
                    <a:srgbClr val="1A1A1A"/>
                  </a:solidFill>
                  <a:latin typeface="프리텐다드"/>
                  <a:ea typeface="프리텐다드"/>
                  <a:cs typeface="프리텐다드"/>
                  <a:sym typeface="프리텐다드"/>
                </a:rPr>
                <a:t>아니라</a:t>
              </a:r>
              <a:r>
                <a:rPr lang="en-US" sz="1860" dirty="0">
                  <a:solidFill>
                    <a:srgbClr val="1A1A1A"/>
                  </a:solidFill>
                  <a:latin typeface="프리텐다드"/>
                  <a:ea typeface="프리텐다드"/>
                  <a:cs typeface="프리텐다드"/>
                  <a:sym typeface="프리텐다드"/>
                </a:rPr>
                <a:t> </a:t>
              </a:r>
              <a:r>
                <a:rPr lang="en-US" sz="1860" b="1" dirty="0" err="1">
                  <a:solidFill>
                    <a:srgbClr val="8B0000"/>
                  </a:solidFill>
                  <a:latin typeface="프리텐다드 Bold"/>
                  <a:ea typeface="프리텐다드 Bold"/>
                  <a:cs typeface="프리텐다드 Bold"/>
                  <a:sym typeface="프리텐다드 Bold"/>
                </a:rPr>
                <a:t>자동</a:t>
              </a:r>
              <a:r>
                <a:rPr lang="en-US" sz="1860" b="1" dirty="0">
                  <a:solidFill>
                    <a:srgbClr val="8B0000"/>
                  </a:solidFill>
                  <a:latin typeface="프리텐다드 Bold"/>
                  <a:ea typeface="프리텐다드 Bold"/>
                  <a:cs typeface="프리텐다드 Bold"/>
                  <a:sym typeface="프리텐다드 Bold"/>
                </a:rPr>
                <a:t> </a:t>
              </a:r>
              <a:r>
                <a:rPr lang="en-US" sz="1860" b="1" dirty="0" err="1">
                  <a:solidFill>
                    <a:srgbClr val="8B0000"/>
                  </a:solidFill>
                  <a:latin typeface="프리텐다드 Bold"/>
                  <a:ea typeface="프리텐다드 Bold"/>
                  <a:cs typeface="프리텐다드 Bold"/>
                  <a:sym typeface="프리텐다드 Bold"/>
                </a:rPr>
                <a:t>입력</a:t>
              </a:r>
              <a:r>
                <a:rPr lang="en-US" sz="1860" b="1" dirty="0">
                  <a:solidFill>
                    <a:srgbClr val="8B0000"/>
                  </a:solidFill>
                  <a:latin typeface="프리텐다드 Bold"/>
                  <a:ea typeface="프리텐다드 Bold"/>
                  <a:cs typeface="프리텐다드 Bold"/>
                  <a:sym typeface="프리텐다드 Bold"/>
                </a:rPr>
                <a:t> </a:t>
              </a:r>
              <a:r>
                <a:rPr lang="en-US" sz="1860" b="1" dirty="0" err="1">
                  <a:solidFill>
                    <a:srgbClr val="8B0000"/>
                  </a:solidFill>
                  <a:latin typeface="프리텐다드 Bold"/>
                  <a:ea typeface="프리텐다드 Bold"/>
                  <a:cs typeface="프리텐다드 Bold"/>
                  <a:sym typeface="프리텐다드 Bold"/>
                </a:rPr>
                <a:t>비율</a:t>
              </a:r>
              <a:r>
                <a:rPr lang="en-US" sz="1860" dirty="0">
                  <a:solidFill>
                    <a:srgbClr val="1A1A1A"/>
                  </a:solidFill>
                  <a:latin typeface="프리텐다드"/>
                  <a:ea typeface="프리텐다드"/>
                  <a:cs typeface="프리텐다드"/>
                  <a:sym typeface="프리텐다드"/>
                </a:rPr>
                <a:t> 을 </a:t>
              </a:r>
              <a:r>
                <a:rPr lang="en-US" sz="1860" dirty="0" err="1">
                  <a:solidFill>
                    <a:srgbClr val="1A1A1A"/>
                  </a:solidFill>
                  <a:latin typeface="프리텐다드"/>
                  <a:ea typeface="프리텐다드"/>
                  <a:cs typeface="프리텐다드"/>
                  <a:sym typeface="프리텐다드"/>
                </a:rPr>
                <a:t>정합니다</a:t>
              </a:r>
              <a:r>
                <a:rPr lang="en-US" sz="1860" dirty="0">
                  <a:solidFill>
                    <a:srgbClr val="1A1A1A"/>
                  </a:solidFill>
                  <a:latin typeface="프리텐다드"/>
                  <a:ea typeface="프리텐다드"/>
                  <a:cs typeface="프리텐다드"/>
                  <a:sym typeface="프리텐다드"/>
                </a:rPr>
                <a:t>. </a:t>
              </a:r>
              <a:r>
                <a:rPr lang="en-US" sz="1860" dirty="0" err="1">
                  <a:solidFill>
                    <a:srgbClr val="1A1A1A"/>
                  </a:solidFill>
                  <a:latin typeface="프리텐다드"/>
                  <a:ea typeface="프리텐다드"/>
                  <a:cs typeface="프리텐다드"/>
                  <a:sym typeface="프리텐다드"/>
                </a:rPr>
                <a:t>속이려는</a:t>
              </a:r>
              <a:r>
                <a:rPr lang="en-US" sz="1860" dirty="0">
                  <a:solidFill>
                    <a:srgbClr val="1A1A1A"/>
                  </a:solidFill>
                  <a:latin typeface="프리텐다드"/>
                  <a:ea typeface="프리텐다드"/>
                  <a:cs typeface="프리텐다드"/>
                  <a:sym typeface="프리텐다드"/>
                </a:rPr>
                <a:t> </a:t>
              </a:r>
              <a:r>
                <a:rPr lang="en-US" sz="1860" dirty="0" err="1">
                  <a:solidFill>
                    <a:srgbClr val="1A1A1A"/>
                  </a:solidFill>
                  <a:latin typeface="프리텐다드"/>
                  <a:ea typeface="프리텐다드"/>
                  <a:cs typeface="프리텐다드"/>
                  <a:sym typeface="프리텐다드"/>
                </a:rPr>
                <a:t>소수는</a:t>
              </a:r>
              <a:r>
                <a:rPr lang="en-US" sz="1860" dirty="0">
                  <a:solidFill>
                    <a:srgbClr val="1A1A1A"/>
                  </a:solidFill>
                  <a:latin typeface="프리텐다드"/>
                  <a:ea typeface="프리텐다드"/>
                  <a:cs typeface="프리텐다드"/>
                  <a:sym typeface="프리텐다드"/>
                </a:rPr>
                <a:t> </a:t>
              </a:r>
              <a:r>
                <a:rPr lang="en-US" sz="1860" dirty="0" err="1">
                  <a:solidFill>
                    <a:srgbClr val="1A1A1A"/>
                  </a:solidFill>
                  <a:latin typeface="프리텐다드"/>
                  <a:ea typeface="프리텐다드"/>
                  <a:cs typeface="프리텐다드"/>
                  <a:sym typeface="프리텐다드"/>
                </a:rPr>
                <a:t>기존</a:t>
              </a:r>
              <a:r>
                <a:rPr lang="en-US" sz="1860" dirty="0">
                  <a:solidFill>
                    <a:srgbClr val="1A1A1A"/>
                  </a:solidFill>
                  <a:latin typeface="프리텐다드"/>
                  <a:ea typeface="프리텐다드"/>
                  <a:cs typeface="프리텐다드"/>
                  <a:sym typeface="프리텐다드"/>
                </a:rPr>
                <a:t> </a:t>
              </a:r>
              <a:r>
                <a:rPr lang="en-US" sz="1860" dirty="0" err="1">
                  <a:solidFill>
                    <a:srgbClr val="1A1A1A"/>
                  </a:solidFill>
                  <a:latin typeface="프리텐다드"/>
                  <a:ea typeface="프리텐다드"/>
                  <a:cs typeface="프리텐다드"/>
                  <a:sym typeface="프리텐다드"/>
                </a:rPr>
                <a:t>사후</a:t>
              </a:r>
              <a:r>
                <a:rPr lang="en-US" sz="1860" dirty="0">
                  <a:solidFill>
                    <a:srgbClr val="1A1A1A"/>
                  </a:solidFill>
                  <a:latin typeface="프리텐다드"/>
                  <a:ea typeface="프리텐다드"/>
                  <a:cs typeface="프리텐다드"/>
                  <a:sym typeface="프리텐다드"/>
                </a:rPr>
                <a:t> </a:t>
              </a:r>
              <a:r>
                <a:rPr lang="en-US" sz="1860" dirty="0" err="1">
                  <a:solidFill>
                    <a:srgbClr val="1A1A1A"/>
                  </a:solidFill>
                  <a:latin typeface="프리텐다드"/>
                  <a:ea typeface="프리텐다드"/>
                  <a:cs typeface="프리텐다드"/>
                  <a:sym typeface="프리텐다드"/>
                </a:rPr>
                <a:t>모니터링이</a:t>
              </a:r>
              <a:r>
                <a:rPr lang="en-US" sz="1860" dirty="0">
                  <a:solidFill>
                    <a:srgbClr val="1A1A1A"/>
                  </a:solidFill>
                  <a:latin typeface="프리텐다드"/>
                  <a:ea typeface="프리텐다드"/>
                  <a:cs typeface="프리텐다드"/>
                  <a:sym typeface="프리텐다드"/>
                </a:rPr>
                <a:t> </a:t>
              </a:r>
              <a:r>
                <a:rPr lang="en-US" sz="1860" dirty="0" err="1">
                  <a:solidFill>
                    <a:srgbClr val="1A1A1A"/>
                  </a:solidFill>
                  <a:latin typeface="프리텐다드"/>
                  <a:ea typeface="프리텐다드"/>
                  <a:cs typeface="프리텐다드"/>
                  <a:sym typeface="프리텐다드"/>
                </a:rPr>
                <a:t>맡습니다</a:t>
              </a:r>
              <a:r>
                <a:rPr lang="en-US" sz="1860" dirty="0">
                  <a:solidFill>
                    <a:srgbClr val="1A1A1A"/>
                  </a:solidFill>
                  <a:latin typeface="프리텐다드"/>
                  <a:ea typeface="프리텐다드"/>
                  <a:cs typeface="프리텐다드"/>
                  <a:sym typeface="프리텐다드"/>
                </a:rPr>
                <a:t>.</a:t>
              </a:r>
            </a:p>
          </p:txBody>
        </p:sp>
      </p:grpSp>
      <p:grpSp>
        <p:nvGrpSpPr>
          <p:cNvPr id="49" name="Group 49"/>
          <p:cNvGrpSpPr/>
          <p:nvPr/>
        </p:nvGrpSpPr>
        <p:grpSpPr>
          <a:xfrm>
            <a:off x="535943" y="8674103"/>
            <a:ext cx="17216123" cy="793499"/>
            <a:chOff x="0" y="0"/>
            <a:chExt cx="22954831" cy="1057999"/>
          </a:xfrm>
        </p:grpSpPr>
        <p:sp>
          <p:nvSpPr>
            <p:cNvPr id="50" name="Freeform 50"/>
            <p:cNvSpPr/>
            <p:nvPr/>
          </p:nvSpPr>
          <p:spPr>
            <a:xfrm>
              <a:off x="0" y="0"/>
              <a:ext cx="22954869" cy="1058037"/>
            </a:xfrm>
            <a:custGeom>
              <a:avLst/>
              <a:gdLst/>
              <a:ahLst/>
              <a:cxnLst/>
              <a:rect l="l" t="t" r="r" b="b"/>
              <a:pathLst>
                <a:path w="22954869" h="1058037">
                  <a:moveTo>
                    <a:pt x="0" y="201549"/>
                  </a:moveTo>
                  <a:cubicBezTo>
                    <a:pt x="0" y="90170"/>
                    <a:pt x="90170" y="0"/>
                    <a:pt x="201549" y="0"/>
                  </a:cubicBezTo>
                  <a:lnTo>
                    <a:pt x="22753320" y="0"/>
                  </a:lnTo>
                  <a:cubicBezTo>
                    <a:pt x="22864572" y="0"/>
                    <a:pt x="22954869" y="90170"/>
                    <a:pt x="22954869" y="201549"/>
                  </a:cubicBezTo>
                  <a:lnTo>
                    <a:pt x="22954869" y="856488"/>
                  </a:lnTo>
                  <a:cubicBezTo>
                    <a:pt x="22954869" y="967740"/>
                    <a:pt x="22864699" y="1058037"/>
                    <a:pt x="22753320" y="1058037"/>
                  </a:cubicBezTo>
                  <a:lnTo>
                    <a:pt x="201549" y="1058037"/>
                  </a:lnTo>
                  <a:cubicBezTo>
                    <a:pt x="90170" y="1058037"/>
                    <a:pt x="0" y="967740"/>
                    <a:pt x="0" y="856488"/>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51" name="Group 51"/>
          <p:cNvGrpSpPr/>
          <p:nvPr/>
        </p:nvGrpSpPr>
        <p:grpSpPr>
          <a:xfrm>
            <a:off x="822960" y="8686800"/>
            <a:ext cx="16642080" cy="768096"/>
            <a:chOff x="0" y="0"/>
            <a:chExt cx="22189440" cy="1024128"/>
          </a:xfrm>
        </p:grpSpPr>
        <p:sp>
          <p:nvSpPr>
            <p:cNvPr id="52" name="Freeform 52"/>
            <p:cNvSpPr/>
            <p:nvPr/>
          </p:nvSpPr>
          <p:spPr>
            <a:xfrm>
              <a:off x="0" y="0"/>
              <a:ext cx="22189439" cy="1024128"/>
            </a:xfrm>
            <a:custGeom>
              <a:avLst/>
              <a:gdLst/>
              <a:ahLst/>
              <a:cxnLst/>
              <a:rect l="l" t="t" r="r" b="b"/>
              <a:pathLst>
                <a:path w="22189439" h="1024128">
                  <a:moveTo>
                    <a:pt x="0" y="0"/>
                  </a:moveTo>
                  <a:lnTo>
                    <a:pt x="22189439" y="0"/>
                  </a:lnTo>
                  <a:lnTo>
                    <a:pt x="22189439" y="1024128"/>
                  </a:lnTo>
                  <a:lnTo>
                    <a:pt x="0" y="1024128"/>
                  </a:lnTo>
                  <a:close/>
                </a:path>
              </a:pathLst>
            </a:custGeom>
            <a:blipFill>
              <a:blip r:embed="rId3">
                <a:alphaModFix amt="0"/>
              </a:blip>
              <a:stretch>
                <a:fillRect t="-372175" b="-372175"/>
              </a:stretch>
            </a:blipFill>
          </p:spPr>
          <p:txBody>
            <a:bodyPr/>
            <a:lstStyle/>
            <a:p>
              <a:endParaRPr lang="ko-KR" altLang="en-US"/>
            </a:p>
          </p:txBody>
        </p:sp>
        <p:sp>
          <p:nvSpPr>
            <p:cNvPr id="53" name="TextBox 53"/>
            <p:cNvSpPr txBox="1"/>
            <p:nvPr/>
          </p:nvSpPr>
          <p:spPr>
            <a:xfrm>
              <a:off x="0" y="0"/>
              <a:ext cx="22189440" cy="1024128"/>
            </a:xfrm>
            <a:prstGeom prst="rect">
              <a:avLst/>
            </a:prstGeom>
          </p:spPr>
          <p:txBody>
            <a:bodyPr lIns="0" tIns="0" rIns="0" bIns="0" rtlCol="0" anchor="ctr"/>
            <a:lstStyle/>
            <a:p>
              <a:pPr algn="ctr">
                <a:lnSpc>
                  <a:spcPts val="2999"/>
                </a:lnSpc>
              </a:pPr>
              <a:r>
                <a:rPr lang="en-US" sz="2499" dirty="0" err="1">
                  <a:solidFill>
                    <a:srgbClr val="1A1A1A"/>
                  </a:solidFill>
                  <a:latin typeface="프리텐다드"/>
                  <a:ea typeface="프리텐다드"/>
                  <a:cs typeface="프리텐다드"/>
                  <a:sym typeface="프리텐다드"/>
                </a:rPr>
                <a:t>포장</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판독과</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사진</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기반</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자동</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입력은</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이미</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있습니다</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저희는</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둘을</a:t>
              </a:r>
              <a:r>
                <a:rPr lang="en-US" sz="2499" dirty="0">
                  <a:solidFill>
                    <a:srgbClr val="1A1A1A"/>
                  </a:solidFill>
                  <a:latin typeface="프리텐다드"/>
                  <a:ea typeface="프리텐다드"/>
                  <a:cs typeface="프리텐다드"/>
                  <a:sym typeface="프리텐다드"/>
                </a:rPr>
                <a:t> </a:t>
              </a:r>
              <a:r>
                <a:rPr lang="ko-KR" altLang="en-US" sz="2499" dirty="0">
                  <a:solidFill>
                    <a:srgbClr val="1A1A1A"/>
                  </a:solidFill>
                  <a:latin typeface="프리텐다드"/>
                  <a:ea typeface="프리텐다드"/>
                  <a:cs typeface="프리텐다드"/>
                  <a:sym typeface="프리텐다드"/>
                </a:rPr>
                <a:t>잇는</a:t>
              </a:r>
              <a:r>
                <a:rPr lang="en-US" sz="2499" dirty="0">
                  <a:solidFill>
                    <a:srgbClr val="1A1A1A"/>
                  </a:solidFill>
                  <a:latin typeface="프리텐다드"/>
                  <a:ea typeface="프리텐다드"/>
                  <a:cs typeface="프리텐다드"/>
                  <a:sym typeface="프리텐다드"/>
                </a:rPr>
                <a:t> </a:t>
              </a:r>
              <a:r>
                <a:rPr lang="en-US" sz="2499" b="1" dirty="0" err="1">
                  <a:solidFill>
                    <a:srgbClr val="8B0000"/>
                  </a:solidFill>
                  <a:latin typeface="프리텐다드 Bold"/>
                  <a:ea typeface="프리텐다드 Bold"/>
                  <a:cs typeface="프리텐다드 Bold"/>
                  <a:sym typeface="프리텐다드 Bold"/>
                </a:rPr>
                <a:t>빈자리</a:t>
              </a:r>
              <a:r>
                <a:rPr lang="en-US" sz="2499" dirty="0">
                  <a:solidFill>
                    <a:srgbClr val="1A1A1A"/>
                  </a:solidFill>
                  <a:latin typeface="프리텐다드"/>
                  <a:ea typeface="프리텐다드"/>
                  <a:cs typeface="프리텐다드"/>
                  <a:sym typeface="프리텐다드"/>
                </a:rPr>
                <a:t> 를 </a:t>
              </a:r>
              <a:r>
                <a:rPr lang="en-US" sz="2499" dirty="0" err="1">
                  <a:solidFill>
                    <a:srgbClr val="1A1A1A"/>
                  </a:solidFill>
                  <a:latin typeface="프리텐다드"/>
                  <a:ea typeface="프리텐다드"/>
                  <a:cs typeface="프리텐다드"/>
                  <a:sym typeface="프리텐다드"/>
                </a:rPr>
                <a:t>채웁니다</a:t>
              </a:r>
              <a:r>
                <a:rPr lang="en-US" sz="2499" dirty="0">
                  <a:solidFill>
                    <a:srgbClr val="1A1A1A"/>
                  </a:solidFill>
                  <a:latin typeface="프리텐다드"/>
                  <a:ea typeface="프리텐다드"/>
                  <a:cs typeface="프리텐다드"/>
                  <a:sym typeface="프리텐다드"/>
                </a:rPr>
                <a:t>.</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5943" y="535943"/>
            <a:ext cx="153419" cy="756923"/>
            <a:chOff x="0" y="0"/>
            <a:chExt cx="204559" cy="1009231"/>
          </a:xfrm>
        </p:grpSpPr>
        <p:sp>
          <p:nvSpPr>
            <p:cNvPr id="3" name="Freeform 3"/>
            <p:cNvSpPr/>
            <p:nvPr/>
          </p:nvSpPr>
          <p:spPr>
            <a:xfrm>
              <a:off x="0" y="0"/>
              <a:ext cx="204597" cy="1009269"/>
            </a:xfrm>
            <a:custGeom>
              <a:avLst/>
              <a:gdLst/>
              <a:ahLst/>
              <a:cxnLst/>
              <a:rect l="l" t="t" r="r" b="b"/>
              <a:pathLst>
                <a:path w="204597" h="1009269">
                  <a:moveTo>
                    <a:pt x="0" y="0"/>
                  </a:moveTo>
                  <a:lnTo>
                    <a:pt x="204597" y="0"/>
                  </a:lnTo>
                  <a:lnTo>
                    <a:pt x="204597" y="1009269"/>
                  </a:lnTo>
                  <a:lnTo>
                    <a:pt x="0" y="1009269"/>
                  </a:ln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4" name="Group 4"/>
          <p:cNvGrpSpPr/>
          <p:nvPr/>
        </p:nvGrpSpPr>
        <p:grpSpPr>
          <a:xfrm>
            <a:off x="822960" y="457200"/>
            <a:ext cx="15910560" cy="914400"/>
            <a:chOff x="0" y="0"/>
            <a:chExt cx="21214080" cy="1219200"/>
          </a:xfrm>
        </p:grpSpPr>
        <p:sp>
          <p:nvSpPr>
            <p:cNvPr id="5" name="Freeform 5"/>
            <p:cNvSpPr/>
            <p:nvPr/>
          </p:nvSpPr>
          <p:spPr>
            <a:xfrm>
              <a:off x="0" y="0"/>
              <a:ext cx="21214080" cy="1219200"/>
            </a:xfrm>
            <a:custGeom>
              <a:avLst/>
              <a:gdLst/>
              <a:ahLst/>
              <a:cxnLst/>
              <a:rect l="l" t="t" r="r" b="b"/>
              <a:pathLst>
                <a:path w="21214080" h="1219200">
                  <a:moveTo>
                    <a:pt x="0" y="0"/>
                  </a:moveTo>
                  <a:lnTo>
                    <a:pt x="21214080" y="0"/>
                  </a:lnTo>
                  <a:lnTo>
                    <a:pt x="21214080" y="1219200"/>
                  </a:lnTo>
                  <a:lnTo>
                    <a:pt x="0" y="1219200"/>
                  </a:lnTo>
                  <a:close/>
                </a:path>
              </a:pathLst>
            </a:custGeom>
            <a:blipFill>
              <a:blip r:embed="rId3">
                <a:alphaModFix amt="0"/>
              </a:blip>
              <a:stretch>
                <a:fillRect t="-289039" b="-289039"/>
              </a:stretch>
            </a:blipFill>
          </p:spPr>
          <p:txBody>
            <a:bodyPr/>
            <a:lstStyle/>
            <a:p>
              <a:endParaRPr lang="ko-KR" altLang="en-US"/>
            </a:p>
          </p:txBody>
        </p:sp>
        <p:sp>
          <p:nvSpPr>
            <p:cNvPr id="6" name="TextBox 6"/>
            <p:cNvSpPr txBox="1"/>
            <p:nvPr/>
          </p:nvSpPr>
          <p:spPr>
            <a:xfrm>
              <a:off x="0" y="0"/>
              <a:ext cx="21214080" cy="1219200"/>
            </a:xfrm>
            <a:prstGeom prst="rect">
              <a:avLst/>
            </a:prstGeom>
          </p:spPr>
          <p:txBody>
            <a:bodyPr lIns="0" tIns="0" rIns="0" bIns="0" rtlCol="0" anchor="ctr"/>
            <a:lstStyle/>
            <a:p>
              <a:pPr algn="l">
                <a:lnSpc>
                  <a:spcPts val="4560"/>
                </a:lnSpc>
              </a:pPr>
              <a:r>
                <a:rPr lang="en-US" sz="3800" b="1">
                  <a:solidFill>
                    <a:srgbClr val="1A1A1A"/>
                  </a:solidFill>
                  <a:latin typeface="프리텐다드 Bold"/>
                  <a:ea typeface="프리텐다드 Bold"/>
                  <a:cs typeface="프리텐다드 Bold"/>
                  <a:sym typeface="프리텐다드 Bold"/>
                </a:rPr>
                <a:t>운영 구조와 비용 : </a:t>
              </a:r>
              <a:r>
                <a:rPr lang="en-US" sz="3800" b="1">
                  <a:solidFill>
                    <a:srgbClr val="8B0000"/>
                  </a:solidFill>
                  <a:latin typeface="프리텐다드 Bold"/>
                  <a:ea typeface="프리텐다드 Bold"/>
                  <a:cs typeface="프리텐다드 Bold"/>
                  <a:sym typeface="프리텐다드 Bold"/>
                </a:rPr>
                <a:t>건당 0.2 ~ 5.8원, 도입 이유는 규제 대응</a:t>
              </a:r>
            </a:p>
          </p:txBody>
        </p:sp>
      </p:grpSp>
      <p:sp>
        <p:nvSpPr>
          <p:cNvPr id="7" name="AutoShape 7"/>
          <p:cNvSpPr/>
          <p:nvPr/>
        </p:nvSpPr>
        <p:spPr>
          <a:xfrm rot="3780">
            <a:off x="539105" y="1494854"/>
            <a:ext cx="17209780" cy="0"/>
          </a:xfrm>
          <a:prstGeom prst="line">
            <a:avLst/>
          </a:prstGeom>
          <a:ln w="9525" cap="rnd">
            <a:solidFill>
              <a:srgbClr val="BFBFBF"/>
            </a:solidFill>
            <a:prstDash val="solid"/>
            <a:headEnd type="none" w="sm" len="sm"/>
            <a:tailEnd type="none" w="sm" len="sm"/>
          </a:ln>
        </p:spPr>
        <p:txBody>
          <a:bodyPr/>
          <a:lstStyle/>
          <a:p>
            <a:endParaRPr lang="ko-KR" altLang="en-US"/>
          </a:p>
        </p:txBody>
      </p:sp>
      <p:grpSp>
        <p:nvGrpSpPr>
          <p:cNvPr id="8" name="Group 8"/>
          <p:cNvGrpSpPr/>
          <p:nvPr/>
        </p:nvGrpSpPr>
        <p:grpSpPr>
          <a:xfrm>
            <a:off x="17007840" y="219456"/>
            <a:ext cx="914400" cy="457200"/>
            <a:chOff x="0" y="0"/>
            <a:chExt cx="1219200" cy="609600"/>
          </a:xfrm>
        </p:grpSpPr>
        <p:sp>
          <p:nvSpPr>
            <p:cNvPr id="9" name="Freeform 9"/>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10" name="TextBox 10"/>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1A1A1A"/>
                  </a:solidFill>
                  <a:latin typeface="프리텐다드"/>
                  <a:ea typeface="프리텐다드"/>
                  <a:cs typeface="프리텐다드"/>
                  <a:sym typeface="프리텐다드"/>
                </a:rPr>
                <a:t>17</a:t>
              </a:r>
            </a:p>
          </p:txBody>
        </p:sp>
      </p:grpSp>
      <p:graphicFrame>
        <p:nvGraphicFramePr>
          <p:cNvPr id="11" name="Table 11"/>
          <p:cNvGraphicFramePr>
            <a:graphicFrameLocks noGrp="1"/>
          </p:cNvGraphicFramePr>
          <p:nvPr/>
        </p:nvGraphicFramePr>
        <p:xfrm>
          <a:off x="548640" y="1828800"/>
          <a:ext cx="10236200" cy="3657600"/>
        </p:xfrm>
        <a:graphic>
          <a:graphicData uri="http://schemas.openxmlformats.org/drawingml/2006/table">
            <a:tbl>
              <a:tblPr/>
              <a:tblGrid>
                <a:gridCol w="1844133">
                  <a:extLst>
                    <a:ext uri="{9D8B030D-6E8A-4147-A177-3AD203B41FA5}">
                      <a16:colId xmlns:a16="http://schemas.microsoft.com/office/drawing/2014/main" val="20000"/>
                    </a:ext>
                  </a:extLst>
                </a:gridCol>
                <a:gridCol w="8392067">
                  <a:extLst>
                    <a:ext uri="{9D8B030D-6E8A-4147-A177-3AD203B41FA5}">
                      <a16:colId xmlns:a16="http://schemas.microsoft.com/office/drawing/2014/main" val="20001"/>
                    </a:ext>
                  </a:extLst>
                </a:gridCol>
              </a:tblGrid>
              <a:tr h="609600">
                <a:tc>
                  <a:txBody>
                    <a:bodyPr/>
                    <a:lstStyle/>
                    <a:p>
                      <a:pPr algn="l">
                        <a:lnSpc>
                          <a:spcPts val="2351"/>
                        </a:lnSpc>
                        <a:defRPr/>
                      </a:pPr>
                      <a:r>
                        <a:rPr lang="en-US" sz="1959">
                          <a:solidFill>
                            <a:srgbClr val="FFFFFF"/>
                          </a:solidFill>
                          <a:latin typeface="프리텐다드"/>
                          <a:ea typeface="프리텐다드"/>
                          <a:cs typeface="프리텐다드"/>
                          <a:sym typeface="프리텐다드"/>
                        </a:rPr>
                        <a:t>항목</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351"/>
                        </a:lnSpc>
                        <a:defRPr/>
                      </a:pPr>
                      <a:r>
                        <a:rPr lang="en-US" sz="1959">
                          <a:solidFill>
                            <a:srgbClr val="FFFFFF"/>
                          </a:solidFill>
                          <a:latin typeface="프리텐다드"/>
                          <a:ea typeface="프리텐다드"/>
                          <a:cs typeface="프리텐다드"/>
                          <a:sym typeface="프리텐다드"/>
                        </a:rPr>
                        <a:t>내용</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extLst>
                  <a:ext uri="{0D108BD9-81ED-4DB2-BD59-A6C34878D82A}">
                    <a16:rowId xmlns:a16="http://schemas.microsoft.com/office/drawing/2014/main" val="10000"/>
                  </a:ext>
                </a:extLst>
              </a:tr>
              <a:tr h="609600">
                <a:tc>
                  <a:txBody>
                    <a:bodyPr/>
                    <a:lstStyle/>
                    <a:p>
                      <a:pPr algn="l">
                        <a:lnSpc>
                          <a:spcPts val="2351"/>
                        </a:lnSpc>
                        <a:defRPr/>
                      </a:pPr>
                      <a:r>
                        <a:rPr lang="en-US" sz="1959">
                          <a:solidFill>
                            <a:srgbClr val="1A1A1A"/>
                          </a:solidFill>
                          <a:latin typeface="프리텐다드"/>
                          <a:ea typeface="프리텐다드"/>
                          <a:cs typeface="프리텐다드"/>
                          <a:sym typeface="프리텐다드"/>
                        </a:rPr>
                        <a:t>1차 대상</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1A1A1A"/>
                          </a:solidFill>
                          <a:latin typeface="프리텐다드"/>
                          <a:ea typeface="프리텐다드"/>
                          <a:cs typeface="프리텐다드"/>
                          <a:sym typeface="프리텐다드"/>
                        </a:rPr>
                        <a:t>건강기능식품 카테고리 (미개봉 · 소비기한 이내 · 연 10회 이하)</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9600">
                <a:tc>
                  <a:txBody>
                    <a:bodyPr/>
                    <a:lstStyle/>
                    <a:p>
                      <a:pPr algn="l">
                        <a:lnSpc>
                          <a:spcPts val="2351"/>
                        </a:lnSpc>
                        <a:defRPr/>
                      </a:pPr>
                      <a:r>
                        <a:rPr lang="en-US" sz="1959">
                          <a:solidFill>
                            <a:srgbClr val="1A1A1A"/>
                          </a:solidFill>
                          <a:latin typeface="프리텐다드"/>
                          <a:ea typeface="프리텐다드"/>
                          <a:cs typeface="프리텐다드"/>
                          <a:sym typeface="프리텐다드"/>
                        </a:rPr>
                        <a:t>규모</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1A1A1A"/>
                          </a:solidFill>
                          <a:latin typeface="프리텐다드"/>
                          <a:ea typeface="프리텐다드"/>
                          <a:cs typeface="프리텐다드"/>
                          <a:sym typeface="프리텐다드"/>
                        </a:rPr>
                        <a:t>게시글 월 약 2.4만 건, 하루 약 800건 (식약처 자료)</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09600">
                <a:tc>
                  <a:txBody>
                    <a:bodyPr/>
                    <a:lstStyle/>
                    <a:p>
                      <a:pPr algn="l">
                        <a:lnSpc>
                          <a:spcPts val="2351"/>
                        </a:lnSpc>
                        <a:defRPr/>
                      </a:pPr>
                      <a:r>
                        <a:rPr lang="en-US" sz="1959">
                          <a:solidFill>
                            <a:srgbClr val="1A1A1A"/>
                          </a:solidFill>
                          <a:latin typeface="프리텐다드"/>
                          <a:ea typeface="프리텐다드"/>
                          <a:cs typeface="프리텐다드"/>
                          <a:sym typeface="프리텐다드"/>
                        </a:rPr>
                        <a:t>구조</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1A1A1A"/>
                          </a:solidFill>
                          <a:latin typeface="프리텐다드"/>
                          <a:ea typeface="프리텐다드"/>
                          <a:cs typeface="프리텐다드"/>
                          <a:sym typeface="프리텐다드"/>
                        </a:rPr>
                        <a:t>플랫폼 서버에서 추론. 모델 21MB, CPU 전용, 10초 제한</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9600">
                <a:tc>
                  <a:txBody>
                    <a:bodyPr/>
                    <a:lstStyle/>
                    <a:p>
                      <a:pPr algn="l">
                        <a:lnSpc>
                          <a:spcPts val="2351"/>
                        </a:lnSpc>
                        <a:defRPr/>
                      </a:pPr>
                      <a:r>
                        <a:rPr lang="en-US" sz="1959">
                          <a:solidFill>
                            <a:srgbClr val="1A1A1A"/>
                          </a:solidFill>
                          <a:latin typeface="프리텐다드"/>
                          <a:ea typeface="프리텐다드"/>
                          <a:cs typeface="프리텐다드"/>
                          <a:sym typeface="프리텐다드"/>
                        </a:rPr>
                        <a:t>서버</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1A1A1A"/>
                          </a:solidFill>
                          <a:latin typeface="프리텐다드"/>
                          <a:ea typeface="프리텐다드"/>
                          <a:cs typeface="프리텐다드"/>
                          <a:sym typeface="프리텐다드"/>
                        </a:rPr>
                        <a:t>하루 53분 ~ 2.4시간 = 서버 1대의 4 ~ 10%</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09600">
                <a:tc>
                  <a:txBody>
                    <a:bodyPr/>
                    <a:lstStyle/>
                    <a:p>
                      <a:pPr algn="l">
                        <a:lnSpc>
                          <a:spcPts val="2351"/>
                        </a:lnSpc>
                        <a:defRPr/>
                      </a:pPr>
                      <a:r>
                        <a:rPr lang="en-US" sz="1959">
                          <a:solidFill>
                            <a:srgbClr val="1A1A1A"/>
                          </a:solidFill>
                          <a:latin typeface="프리텐다드"/>
                          <a:ea typeface="프리텐다드"/>
                          <a:cs typeface="프리텐다드"/>
                          <a:sym typeface="프리텐다드"/>
                        </a:rPr>
                        <a:t>비용</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51"/>
                        </a:lnSpc>
                        <a:defRPr/>
                      </a:pPr>
                      <a:r>
                        <a:rPr lang="en-US" sz="1959">
                          <a:solidFill>
                            <a:srgbClr val="8B0000"/>
                          </a:solidFill>
                          <a:latin typeface="프리텐다드"/>
                          <a:ea typeface="프리텐다드"/>
                          <a:cs typeface="프리텐다드"/>
                          <a:sym typeface="프리텐다드"/>
                        </a:rPr>
                        <a:t>게시글 한 건당 0.2 ~ 5.8원. 라이선스·GPU·학습비 0원</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pSp>
        <p:nvGrpSpPr>
          <p:cNvPr id="12" name="Group 12"/>
          <p:cNvGrpSpPr/>
          <p:nvPr/>
        </p:nvGrpSpPr>
        <p:grpSpPr>
          <a:xfrm>
            <a:off x="11142983" y="1816103"/>
            <a:ext cx="6609083" cy="3774443"/>
            <a:chOff x="0" y="0"/>
            <a:chExt cx="8812111" cy="5032591"/>
          </a:xfrm>
        </p:grpSpPr>
        <p:sp>
          <p:nvSpPr>
            <p:cNvPr id="13" name="Freeform 13"/>
            <p:cNvSpPr/>
            <p:nvPr/>
          </p:nvSpPr>
          <p:spPr>
            <a:xfrm>
              <a:off x="0" y="0"/>
              <a:ext cx="8812023" cy="5032502"/>
            </a:xfrm>
            <a:custGeom>
              <a:avLst/>
              <a:gdLst/>
              <a:ahLst/>
              <a:cxnLst/>
              <a:rect l="l" t="t" r="r" b="b"/>
              <a:pathLst>
                <a:path w="8812023" h="5032502">
                  <a:moveTo>
                    <a:pt x="0" y="196342"/>
                  </a:moveTo>
                  <a:cubicBezTo>
                    <a:pt x="0" y="87884"/>
                    <a:pt x="87884" y="0"/>
                    <a:pt x="196342" y="0"/>
                  </a:cubicBezTo>
                  <a:lnTo>
                    <a:pt x="8615680" y="0"/>
                  </a:lnTo>
                  <a:cubicBezTo>
                    <a:pt x="8724138" y="0"/>
                    <a:pt x="8812023" y="87884"/>
                    <a:pt x="8812023" y="196342"/>
                  </a:cubicBezTo>
                  <a:lnTo>
                    <a:pt x="8812023" y="4836160"/>
                  </a:lnTo>
                  <a:cubicBezTo>
                    <a:pt x="8812023" y="4944618"/>
                    <a:pt x="8724138" y="5032502"/>
                    <a:pt x="8615680" y="5032502"/>
                  </a:cubicBezTo>
                  <a:lnTo>
                    <a:pt x="196342" y="5032502"/>
                  </a:lnTo>
                  <a:cubicBezTo>
                    <a:pt x="87884" y="5032629"/>
                    <a:pt x="0" y="4944618"/>
                    <a:pt x="0" y="4836160"/>
                  </a:cubicBezTo>
                  <a:close/>
                </a:path>
              </a:pathLst>
            </a:custGeom>
            <a:solidFill>
              <a:srgbClr val="F2F2F2"/>
            </a:solidFill>
            <a:ln w="25400" cap="sq">
              <a:solidFill>
                <a:srgbClr val="F2F2F2"/>
              </a:solidFill>
              <a:prstDash val="solid"/>
              <a:miter/>
            </a:ln>
          </p:spPr>
          <p:txBody>
            <a:bodyPr/>
            <a:lstStyle/>
            <a:p>
              <a:endParaRPr lang="ko-KR" altLang="en-US"/>
            </a:p>
          </p:txBody>
        </p:sp>
      </p:grpSp>
      <p:sp>
        <p:nvSpPr>
          <p:cNvPr id="14" name="TextBox 14"/>
          <p:cNvSpPr txBox="1"/>
          <p:nvPr/>
        </p:nvSpPr>
        <p:spPr>
          <a:xfrm>
            <a:off x="11430005" y="2293625"/>
            <a:ext cx="6035040" cy="371475"/>
          </a:xfrm>
          <a:prstGeom prst="rect">
            <a:avLst/>
          </a:prstGeom>
        </p:spPr>
        <p:txBody>
          <a:bodyPr lIns="0" tIns="0" rIns="0" bIns="0" rtlCol="0" anchor="t">
            <a:spAutoFit/>
          </a:bodyPr>
          <a:lstStyle/>
          <a:p>
            <a:pPr algn="l">
              <a:lnSpc>
                <a:spcPts val="2879"/>
              </a:lnSpc>
            </a:pPr>
            <a:r>
              <a:rPr lang="en-US" sz="2400" b="1">
                <a:solidFill>
                  <a:srgbClr val="1A1A1A"/>
                </a:solidFill>
                <a:latin typeface="프리텐다드 Bold"/>
                <a:ea typeface="프리텐다드 Bold"/>
                <a:cs typeface="프리텐다드 Bold"/>
                <a:sym typeface="프리텐다드 Bold"/>
              </a:rPr>
              <a:t>도입 이유 : 비용 절감이 아닙니다</a:t>
            </a:r>
          </a:p>
        </p:txBody>
      </p:sp>
      <p:sp>
        <p:nvSpPr>
          <p:cNvPr id="15" name="TextBox 15"/>
          <p:cNvSpPr txBox="1"/>
          <p:nvPr/>
        </p:nvSpPr>
        <p:spPr>
          <a:xfrm>
            <a:off x="11430000" y="2731775"/>
            <a:ext cx="5829300" cy="2329307"/>
          </a:xfrm>
          <a:prstGeom prst="rect">
            <a:avLst/>
          </a:prstGeom>
        </p:spPr>
        <p:txBody>
          <a:bodyPr lIns="0" tIns="0" rIns="0" bIns="0" rtlCol="0" anchor="t">
            <a:spAutoFit/>
          </a:bodyPr>
          <a:lstStyle/>
          <a:p>
            <a:pPr marL="472947" lvl="1" indent="-236474" algn="l">
              <a:lnSpc>
                <a:spcPts val="3135"/>
              </a:lnSpc>
              <a:buFont typeface="Arial"/>
              <a:buChar char="•"/>
            </a:pPr>
            <a:r>
              <a:rPr lang="en-US" sz="1959" dirty="0" err="1">
                <a:solidFill>
                  <a:srgbClr val="1A1A1A"/>
                </a:solidFill>
                <a:latin typeface="프리텐다드"/>
                <a:ea typeface="프리텐다드"/>
                <a:cs typeface="프리텐다드"/>
                <a:sym typeface="프리텐다드"/>
              </a:rPr>
              <a:t>위반</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처리비</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절감으로는</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본전이</a:t>
            </a:r>
            <a:r>
              <a:rPr lang="en-US" sz="1959" dirty="0">
                <a:solidFill>
                  <a:srgbClr val="1A1A1A"/>
                </a:solidFill>
                <a:latin typeface="프리텐다드"/>
                <a:ea typeface="프리텐다드"/>
                <a:cs typeface="프리텐다드"/>
                <a:sym typeface="프리텐다드"/>
              </a:rPr>
              <a:t> 안 </a:t>
            </a:r>
            <a:r>
              <a:rPr lang="en-US" sz="1959" dirty="0" err="1">
                <a:solidFill>
                  <a:srgbClr val="1A1A1A"/>
                </a:solidFill>
                <a:latin typeface="프리텐다드"/>
                <a:ea typeface="프리텐다드"/>
                <a:cs typeface="프리텐다드"/>
                <a:sym typeface="프리텐다드"/>
              </a:rPr>
              <a:t>됩니다</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손익분기</a:t>
            </a:r>
            <a:r>
              <a:rPr lang="en-US" sz="1959" dirty="0">
                <a:solidFill>
                  <a:srgbClr val="1A1A1A"/>
                </a:solidFill>
                <a:latin typeface="프리텐다드"/>
                <a:ea typeface="프리텐다드"/>
                <a:cs typeface="프리텐다드"/>
                <a:sym typeface="프리텐다드"/>
              </a:rPr>
              <a:t> 780 ~ 1,900원, </a:t>
            </a:r>
            <a:r>
              <a:rPr lang="en-US" sz="1959" dirty="0" err="1">
                <a:solidFill>
                  <a:srgbClr val="1A1A1A"/>
                </a:solidFill>
                <a:latin typeface="프리텐다드"/>
                <a:ea typeface="프리텐다드"/>
                <a:cs typeface="프리텐다드"/>
                <a:sym typeface="프리텐다드"/>
              </a:rPr>
              <a:t>사람</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검토는</a:t>
            </a:r>
            <a:r>
              <a:rPr lang="en-US" sz="1959" dirty="0">
                <a:solidFill>
                  <a:srgbClr val="1A1A1A"/>
                </a:solidFill>
                <a:latin typeface="프리텐다드"/>
                <a:ea typeface="프리텐다드"/>
                <a:cs typeface="프리텐다드"/>
                <a:sym typeface="프리텐다드"/>
              </a:rPr>
              <a:t> 약 86원 (</a:t>
            </a:r>
            <a:r>
              <a:rPr lang="en-US" sz="1959" dirty="0" err="1">
                <a:solidFill>
                  <a:srgbClr val="1A1A1A"/>
                </a:solidFill>
                <a:latin typeface="프리텐다드"/>
                <a:ea typeface="프리텐다드"/>
                <a:cs typeface="프리텐다드"/>
                <a:sym typeface="프리텐다드"/>
              </a:rPr>
              <a:t>가정</a:t>
            </a:r>
            <a:r>
              <a:rPr lang="en-US" sz="1959" dirty="0">
                <a:solidFill>
                  <a:srgbClr val="1A1A1A"/>
                </a:solidFill>
                <a:latin typeface="프리텐다드"/>
                <a:ea typeface="프리텐다드"/>
                <a:cs typeface="프리텐다드"/>
                <a:sym typeface="프리텐다드"/>
              </a:rPr>
              <a:t>)</a:t>
            </a:r>
          </a:p>
          <a:p>
            <a:pPr marL="472947" lvl="1" indent="-236474" algn="l">
              <a:lnSpc>
                <a:spcPts val="3135"/>
              </a:lnSpc>
              <a:buFont typeface="Arial"/>
              <a:buChar char="•"/>
            </a:pPr>
            <a:r>
              <a:rPr lang="en-US" sz="1959" dirty="0" err="1">
                <a:solidFill>
                  <a:srgbClr val="1A1A1A"/>
                </a:solidFill>
                <a:latin typeface="프리텐다드"/>
                <a:ea typeface="프리텐다드"/>
                <a:cs typeface="프리텐다드"/>
                <a:sym typeface="프리텐다드"/>
              </a:rPr>
              <a:t>건강기능식품</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개인</a:t>
            </a:r>
            <a:r>
              <a:rPr lang="en-US" sz="1959" dirty="0">
                <a:solidFill>
                  <a:srgbClr val="1A1A1A"/>
                </a:solidFill>
                <a:latin typeface="프리텐다드"/>
                <a:ea typeface="프리텐다드"/>
                <a:cs typeface="프리텐다드"/>
                <a:sym typeface="프리텐다드"/>
              </a:rPr>
              <a:t> 간 </a:t>
            </a:r>
            <a:r>
              <a:rPr lang="en-US" sz="1959" dirty="0" err="1">
                <a:solidFill>
                  <a:srgbClr val="1A1A1A"/>
                </a:solidFill>
                <a:latin typeface="프리텐다드"/>
                <a:ea typeface="프리텐다드"/>
                <a:cs typeface="프리텐다드"/>
                <a:sym typeface="프리텐다드"/>
              </a:rPr>
              <a:t>거래는</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시범사업</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게시글마다</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남는</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사진과</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판독</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기록이</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관리</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체계의</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증거</a:t>
            </a:r>
            <a:endParaRPr lang="en-US" sz="1959" dirty="0">
              <a:solidFill>
                <a:srgbClr val="1A1A1A"/>
              </a:solidFill>
              <a:latin typeface="프리텐다드"/>
              <a:ea typeface="프리텐다드"/>
              <a:cs typeface="프리텐다드"/>
              <a:sym typeface="프리텐다드"/>
            </a:endParaRPr>
          </a:p>
          <a:p>
            <a:pPr marL="472947" lvl="1" indent="-236474" algn="l">
              <a:lnSpc>
                <a:spcPts val="3135"/>
              </a:lnSpc>
              <a:buFont typeface="Arial"/>
              <a:buChar char="•"/>
            </a:pPr>
            <a:r>
              <a:rPr lang="en-US" sz="1959" dirty="0" err="1">
                <a:solidFill>
                  <a:srgbClr val="1A1A1A"/>
                </a:solidFill>
                <a:latin typeface="프리텐다드"/>
                <a:ea typeface="프리텐다드"/>
                <a:cs typeface="프리텐다드"/>
                <a:sym typeface="프리텐다드"/>
              </a:rPr>
              <a:t>남은</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일수</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표시·자동</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숨김은</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날짜</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칸만으로</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되므로</a:t>
            </a:r>
            <a:r>
              <a:rPr lang="en-US" sz="1959" dirty="0">
                <a:solidFill>
                  <a:srgbClr val="1A1A1A"/>
                </a:solidFill>
                <a:latin typeface="프리텐다드"/>
                <a:ea typeface="프리텐다드"/>
                <a:cs typeface="프리텐다드"/>
                <a:sym typeface="프리텐다드"/>
              </a:rPr>
              <a:t> OCR </a:t>
            </a:r>
            <a:r>
              <a:rPr lang="en-US" sz="1959" dirty="0" err="1">
                <a:solidFill>
                  <a:srgbClr val="1A1A1A"/>
                </a:solidFill>
                <a:latin typeface="프리텐다드"/>
                <a:ea typeface="프리텐다드"/>
                <a:cs typeface="프리텐다드"/>
                <a:sym typeface="프리텐다드"/>
              </a:rPr>
              <a:t>효과로</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세지</a:t>
            </a:r>
            <a:r>
              <a:rPr lang="en-US" sz="1959" dirty="0">
                <a:solidFill>
                  <a:srgbClr val="1A1A1A"/>
                </a:solidFill>
                <a:latin typeface="프리텐다드"/>
                <a:ea typeface="프리텐다드"/>
                <a:cs typeface="프리텐다드"/>
                <a:sym typeface="프리텐다드"/>
              </a:rPr>
              <a:t> </a:t>
            </a:r>
            <a:r>
              <a:rPr lang="en-US" sz="1959" dirty="0" err="1">
                <a:solidFill>
                  <a:srgbClr val="1A1A1A"/>
                </a:solidFill>
                <a:latin typeface="프리텐다드"/>
                <a:ea typeface="프리텐다드"/>
                <a:cs typeface="프리텐다드"/>
                <a:sym typeface="프리텐다드"/>
              </a:rPr>
              <a:t>않았습니다</a:t>
            </a:r>
            <a:r>
              <a:rPr lang="en-US" sz="1959" dirty="0">
                <a:solidFill>
                  <a:srgbClr val="1A1A1A"/>
                </a:solidFill>
                <a:latin typeface="프리텐다드"/>
                <a:ea typeface="프리텐다드"/>
                <a:cs typeface="프리텐다드"/>
                <a:sym typeface="프리텐다드"/>
              </a:rPr>
              <a:t>.</a:t>
            </a:r>
          </a:p>
        </p:txBody>
      </p:sp>
      <p:sp>
        <p:nvSpPr>
          <p:cNvPr id="16" name="TextBox 16"/>
          <p:cNvSpPr txBox="1"/>
          <p:nvPr/>
        </p:nvSpPr>
        <p:spPr>
          <a:xfrm>
            <a:off x="548640" y="5751195"/>
            <a:ext cx="17190720" cy="371475"/>
          </a:xfrm>
          <a:prstGeom prst="rect">
            <a:avLst/>
          </a:prstGeom>
        </p:spPr>
        <p:txBody>
          <a:bodyPr lIns="0" tIns="0" rIns="0" bIns="0" rtlCol="0" anchor="t">
            <a:spAutoFit/>
          </a:bodyPr>
          <a:lstStyle/>
          <a:p>
            <a:pPr algn="l">
              <a:lnSpc>
                <a:spcPts val="2879"/>
              </a:lnSpc>
            </a:pPr>
            <a:r>
              <a:rPr lang="en-US" sz="2400" b="1">
                <a:solidFill>
                  <a:srgbClr val="1A1A1A"/>
                </a:solidFill>
                <a:latin typeface="프리텐다드 Bold"/>
                <a:ea typeface="프리텐다드 Bold"/>
                <a:cs typeface="프리텐다드 Bold"/>
                <a:sym typeface="프리텐다드 Bold"/>
              </a:rPr>
              <a:t>자동 입력 기준 (직접 찍은 폰 사진 389장 실측)</a:t>
            </a:r>
          </a:p>
        </p:txBody>
      </p:sp>
      <p:graphicFrame>
        <p:nvGraphicFramePr>
          <p:cNvPr id="17" name="Table 17"/>
          <p:cNvGraphicFramePr>
            <a:graphicFrameLocks noGrp="1"/>
          </p:cNvGraphicFramePr>
          <p:nvPr>
            <p:extLst>
              <p:ext uri="{D42A27DB-BD31-4B8C-83A1-F6EECF244321}">
                <p14:modId xmlns:p14="http://schemas.microsoft.com/office/powerpoint/2010/main" val="2418098052"/>
              </p:ext>
            </p:extLst>
          </p:nvPr>
        </p:nvGraphicFramePr>
        <p:xfrm>
          <a:off x="548640" y="6272784"/>
          <a:ext cx="17170400" cy="2768600"/>
        </p:xfrm>
        <a:graphic>
          <a:graphicData uri="http://schemas.openxmlformats.org/drawingml/2006/table">
            <a:tbl>
              <a:tblPr/>
              <a:tblGrid>
                <a:gridCol w="6199301">
                  <a:extLst>
                    <a:ext uri="{9D8B030D-6E8A-4147-A177-3AD203B41FA5}">
                      <a16:colId xmlns:a16="http://schemas.microsoft.com/office/drawing/2014/main" val="20000"/>
                    </a:ext>
                  </a:extLst>
                </a:gridCol>
                <a:gridCol w="3657033">
                  <a:extLst>
                    <a:ext uri="{9D8B030D-6E8A-4147-A177-3AD203B41FA5}">
                      <a16:colId xmlns:a16="http://schemas.microsoft.com/office/drawing/2014/main" val="20001"/>
                    </a:ext>
                  </a:extLst>
                </a:gridCol>
                <a:gridCol w="3657033">
                  <a:extLst>
                    <a:ext uri="{9D8B030D-6E8A-4147-A177-3AD203B41FA5}">
                      <a16:colId xmlns:a16="http://schemas.microsoft.com/office/drawing/2014/main" val="20002"/>
                    </a:ext>
                  </a:extLst>
                </a:gridCol>
                <a:gridCol w="3657033">
                  <a:extLst>
                    <a:ext uri="{9D8B030D-6E8A-4147-A177-3AD203B41FA5}">
                      <a16:colId xmlns:a16="http://schemas.microsoft.com/office/drawing/2014/main" val="20003"/>
                    </a:ext>
                  </a:extLst>
                </a:gridCol>
              </a:tblGrid>
              <a:tr h="553720">
                <a:tc>
                  <a:txBody>
                    <a:bodyPr/>
                    <a:lstStyle/>
                    <a:p>
                      <a:pPr algn="l">
                        <a:lnSpc>
                          <a:spcPts val="2304"/>
                        </a:lnSpc>
                        <a:defRPr/>
                      </a:pPr>
                      <a:r>
                        <a:rPr lang="en-US" sz="1920">
                          <a:solidFill>
                            <a:srgbClr val="FFFFFF"/>
                          </a:solidFill>
                          <a:latin typeface="프리텐다드"/>
                          <a:ea typeface="프리텐다드"/>
                          <a:cs typeface="프리텐다드"/>
                          <a:sym typeface="프리텐다드"/>
                        </a:rPr>
                        <a:t>자동 입력 기준</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304"/>
                        </a:lnSpc>
                        <a:defRPr/>
                      </a:pPr>
                      <a:r>
                        <a:rPr lang="en-US" sz="1920">
                          <a:solidFill>
                            <a:srgbClr val="FFFFFF"/>
                          </a:solidFill>
                          <a:latin typeface="프리텐다드"/>
                          <a:ea typeface="프리텐다드"/>
                          <a:cs typeface="프리텐다드"/>
                          <a:sym typeface="프리텐다드"/>
                        </a:rPr>
                        <a:t>채워지는 비율</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304"/>
                        </a:lnSpc>
                        <a:defRPr/>
                      </a:pPr>
                      <a:r>
                        <a:rPr lang="en-US" sz="1920">
                          <a:solidFill>
                            <a:srgbClr val="FFFFFF"/>
                          </a:solidFill>
                          <a:latin typeface="프리텐다드"/>
                          <a:ea typeface="프리텐다드"/>
                          <a:cs typeface="프리텐다드"/>
                          <a:sym typeface="프리텐다드"/>
                        </a:rPr>
                        <a:t>채운 값의 정확도</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304"/>
                        </a:lnSpc>
                        <a:defRPr/>
                      </a:pPr>
                      <a:r>
                        <a:rPr lang="en-US" sz="1920">
                          <a:solidFill>
                            <a:srgbClr val="FFFFFF"/>
                          </a:solidFill>
                          <a:latin typeface="프리텐다드"/>
                          <a:ea typeface="프리텐다드"/>
                          <a:cs typeface="프리텐다드"/>
                          <a:sym typeface="프리텐다드"/>
                        </a:rPr>
                        <a:t>틀린 값을 받는 판매자</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extLst>
                  <a:ext uri="{0D108BD9-81ED-4DB2-BD59-A6C34878D82A}">
                    <a16:rowId xmlns:a16="http://schemas.microsoft.com/office/drawing/2014/main" val="10000"/>
                  </a:ext>
                </a:extLst>
              </a:tr>
              <a:tr h="553720">
                <a:tc>
                  <a:txBody>
                    <a:bodyPr/>
                    <a:lstStyle/>
                    <a:p>
                      <a:pPr algn="l">
                        <a:lnSpc>
                          <a:spcPts val="2304"/>
                        </a:lnSpc>
                        <a:defRPr/>
                      </a:pPr>
                      <a:r>
                        <a:rPr lang="en-US" sz="1920">
                          <a:solidFill>
                            <a:srgbClr val="1A1A1A"/>
                          </a:solidFill>
                          <a:latin typeface="프리텐다드"/>
                          <a:ea typeface="프리텐다드"/>
                          <a:cs typeface="프리텐다드"/>
                          <a:sym typeface="프리텐다드"/>
                        </a:rPr>
                        <a:t>기준 없음 (읽히면 채움)</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70.2%</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70.3%</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20.8%</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3720">
                <a:tc>
                  <a:txBody>
                    <a:bodyPr/>
                    <a:lstStyle/>
                    <a:p>
                      <a:pPr algn="l">
                        <a:lnSpc>
                          <a:spcPts val="2304"/>
                        </a:lnSpc>
                        <a:defRPr/>
                      </a:pPr>
                      <a:r>
                        <a:rPr lang="en-US" sz="1920">
                          <a:solidFill>
                            <a:srgbClr val="1A1A1A"/>
                          </a:solidFill>
                          <a:latin typeface="프리텐다드"/>
                          <a:ea typeface="프리텐다드"/>
                          <a:cs typeface="프리텐다드"/>
                          <a:sym typeface="프리텐다드"/>
                        </a:rPr>
                        <a:t>확신도 0.7 이상</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44.7%</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77.0%</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10.3%</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3720">
                <a:tc>
                  <a:txBody>
                    <a:bodyPr/>
                    <a:lstStyle/>
                    <a:p>
                      <a:pPr algn="l">
                        <a:lnSpc>
                          <a:spcPts val="2304"/>
                        </a:lnSpc>
                        <a:defRPr/>
                      </a:pPr>
                      <a:r>
                        <a:rPr lang="en-US" sz="1920">
                          <a:solidFill>
                            <a:srgbClr val="1A1A1A"/>
                          </a:solidFill>
                          <a:latin typeface="프리텐다드"/>
                          <a:ea typeface="프리텐다드"/>
                          <a:cs typeface="프리텐다드"/>
                          <a:sym typeface="프리텐다드"/>
                        </a:rPr>
                        <a:t>확신도 0.7 이상 + 10초 제한 (운영 기준)</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6E3E3"/>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40.6%</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6E3E3"/>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79.7%</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6E3E3"/>
                    </a:solidFill>
                  </a:tcPr>
                </a:tc>
                <a:tc>
                  <a:txBody>
                    <a:bodyPr/>
                    <a:lstStyle/>
                    <a:p>
                      <a:pPr algn="l">
                        <a:lnSpc>
                          <a:spcPts val="2304"/>
                        </a:lnSpc>
                        <a:defRPr/>
                      </a:pPr>
                      <a:r>
                        <a:rPr lang="en-US" sz="1920">
                          <a:solidFill>
                            <a:srgbClr val="8B0000"/>
                          </a:solidFill>
                          <a:latin typeface="프리텐다드"/>
                          <a:ea typeface="프리텐다드"/>
                          <a:cs typeface="프리텐다드"/>
                          <a:sym typeface="프리텐다드"/>
                        </a:rPr>
                        <a:t>8.2%</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6E3E3"/>
                    </a:solidFill>
                  </a:tcPr>
                </a:tc>
                <a:extLst>
                  <a:ext uri="{0D108BD9-81ED-4DB2-BD59-A6C34878D82A}">
                    <a16:rowId xmlns:a16="http://schemas.microsoft.com/office/drawing/2014/main" val="10003"/>
                  </a:ext>
                </a:extLst>
              </a:tr>
              <a:tr h="553720">
                <a:tc>
                  <a:txBody>
                    <a:bodyPr/>
                    <a:lstStyle/>
                    <a:p>
                      <a:pPr algn="l">
                        <a:lnSpc>
                          <a:spcPts val="2304"/>
                        </a:lnSpc>
                        <a:defRPr/>
                      </a:pPr>
                      <a:r>
                        <a:rPr lang="en-US" sz="1920">
                          <a:solidFill>
                            <a:srgbClr val="1A1A1A"/>
                          </a:solidFill>
                          <a:latin typeface="프리텐다드"/>
                          <a:ea typeface="프리텐다드"/>
                          <a:cs typeface="프리텐다드"/>
                          <a:sym typeface="프리텐다드"/>
                        </a:rPr>
                        <a:t>확신도 0.9 이상</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16.5%</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87.5%</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dirty="0">
                          <a:solidFill>
                            <a:srgbClr val="1A1A1A"/>
                          </a:solidFill>
                          <a:latin typeface="프리텐다드"/>
                          <a:ea typeface="프리텐다드"/>
                          <a:cs typeface="프리텐다드"/>
                          <a:sym typeface="프리텐다드"/>
                        </a:rPr>
                        <a:t>2.1%</a:t>
                      </a:r>
                      <a:endParaRPr lang="en-US" sz="1100" dirty="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pSp>
        <p:nvGrpSpPr>
          <p:cNvPr id="23" name="Group 22">
            <a:extLst>
              <a:ext uri="{FF2B5EF4-FFF2-40B4-BE49-F238E27FC236}">
                <a16:creationId xmlns:a16="http://schemas.microsoft.com/office/drawing/2014/main" id="{06427C52-EDF6-4790-2BCF-99949C5618FA}"/>
              </a:ext>
            </a:extLst>
          </p:cNvPr>
          <p:cNvGrpSpPr/>
          <p:nvPr/>
        </p:nvGrpSpPr>
        <p:grpSpPr>
          <a:xfrm>
            <a:off x="535943" y="9196196"/>
            <a:ext cx="17216123" cy="793499"/>
            <a:chOff x="535943" y="8674098"/>
            <a:chExt cx="17216123" cy="793499"/>
          </a:xfrm>
        </p:grpSpPr>
        <p:grpSp>
          <p:nvGrpSpPr>
            <p:cNvPr id="18" name="Group 18"/>
            <p:cNvGrpSpPr/>
            <p:nvPr/>
          </p:nvGrpSpPr>
          <p:grpSpPr>
            <a:xfrm>
              <a:off x="535943" y="8674098"/>
              <a:ext cx="17216123" cy="793499"/>
              <a:chOff x="0" y="0"/>
              <a:chExt cx="22954831" cy="1057999"/>
            </a:xfrm>
          </p:grpSpPr>
          <p:sp>
            <p:nvSpPr>
              <p:cNvPr id="19" name="Freeform 19"/>
              <p:cNvSpPr/>
              <p:nvPr/>
            </p:nvSpPr>
            <p:spPr>
              <a:xfrm>
                <a:off x="0" y="0"/>
                <a:ext cx="22954869" cy="1058037"/>
              </a:xfrm>
              <a:custGeom>
                <a:avLst/>
                <a:gdLst/>
                <a:ahLst/>
                <a:cxnLst/>
                <a:rect l="l" t="t" r="r" b="b"/>
                <a:pathLst>
                  <a:path w="22954869" h="1058037">
                    <a:moveTo>
                      <a:pt x="0" y="201549"/>
                    </a:moveTo>
                    <a:cubicBezTo>
                      <a:pt x="0" y="90170"/>
                      <a:pt x="90170" y="0"/>
                      <a:pt x="201549" y="0"/>
                    </a:cubicBezTo>
                    <a:lnTo>
                      <a:pt x="22753320" y="0"/>
                    </a:lnTo>
                    <a:cubicBezTo>
                      <a:pt x="22864572" y="0"/>
                      <a:pt x="22954869" y="90170"/>
                      <a:pt x="22954869" y="201549"/>
                    </a:cubicBezTo>
                    <a:lnTo>
                      <a:pt x="22954869" y="856488"/>
                    </a:lnTo>
                    <a:cubicBezTo>
                      <a:pt x="22954869" y="967740"/>
                      <a:pt x="22864699" y="1058037"/>
                      <a:pt x="22753320" y="1058037"/>
                    </a:cubicBezTo>
                    <a:lnTo>
                      <a:pt x="201549" y="1058037"/>
                    </a:lnTo>
                    <a:cubicBezTo>
                      <a:pt x="90170" y="1058037"/>
                      <a:pt x="0" y="967740"/>
                      <a:pt x="0" y="856488"/>
                    </a:cubicBezTo>
                    <a:close/>
                  </a:path>
                </a:pathLst>
              </a:custGeom>
              <a:solidFill>
                <a:srgbClr val="F2F2F2"/>
              </a:solidFill>
              <a:ln w="25400" cap="sq">
                <a:solidFill>
                  <a:srgbClr val="F2F2F2"/>
                </a:solidFill>
                <a:prstDash val="solid"/>
                <a:miter/>
              </a:ln>
            </p:spPr>
            <p:txBody>
              <a:bodyPr/>
              <a:lstStyle/>
              <a:p>
                <a:endParaRPr lang="ko-KR" altLang="en-US"/>
              </a:p>
            </p:txBody>
          </p:sp>
        </p:grpSp>
        <p:sp>
          <p:nvSpPr>
            <p:cNvPr id="21" name="Freeform 21"/>
            <p:cNvSpPr/>
            <p:nvPr/>
          </p:nvSpPr>
          <p:spPr>
            <a:xfrm>
              <a:off x="822960" y="8686800"/>
              <a:ext cx="16642079" cy="768096"/>
            </a:xfrm>
            <a:custGeom>
              <a:avLst/>
              <a:gdLst/>
              <a:ahLst/>
              <a:cxnLst/>
              <a:rect l="l" t="t" r="r" b="b"/>
              <a:pathLst>
                <a:path w="22189439" h="1024128">
                  <a:moveTo>
                    <a:pt x="0" y="0"/>
                  </a:moveTo>
                  <a:lnTo>
                    <a:pt x="22189439" y="0"/>
                  </a:lnTo>
                  <a:lnTo>
                    <a:pt x="22189439" y="1024128"/>
                  </a:lnTo>
                  <a:lnTo>
                    <a:pt x="0" y="1024128"/>
                  </a:lnTo>
                  <a:close/>
                </a:path>
              </a:pathLst>
            </a:custGeom>
            <a:blipFill>
              <a:blip r:embed="rId3">
                <a:alphaModFix amt="0"/>
              </a:blip>
              <a:stretch>
                <a:fillRect t="-372175" b="-372175"/>
              </a:stretch>
            </a:blipFill>
          </p:spPr>
          <p:txBody>
            <a:bodyPr/>
            <a:lstStyle/>
            <a:p>
              <a:endParaRPr lang="ko-KR" altLang="en-US"/>
            </a:p>
          </p:txBody>
        </p:sp>
        <p:sp>
          <p:nvSpPr>
            <p:cNvPr id="22" name="TextBox 22"/>
            <p:cNvSpPr txBox="1"/>
            <p:nvPr/>
          </p:nvSpPr>
          <p:spPr>
            <a:xfrm>
              <a:off x="822960" y="8686795"/>
              <a:ext cx="16642080" cy="768096"/>
            </a:xfrm>
            <a:prstGeom prst="rect">
              <a:avLst/>
            </a:prstGeom>
          </p:spPr>
          <p:txBody>
            <a:bodyPr lIns="0" tIns="0" rIns="0" bIns="0" rtlCol="0" anchor="ctr"/>
            <a:lstStyle/>
            <a:p>
              <a:pPr algn="ctr">
                <a:lnSpc>
                  <a:spcPts val="2999"/>
                </a:lnSpc>
              </a:pPr>
              <a:r>
                <a:rPr lang="en-US" sz="2499" dirty="0">
                  <a:solidFill>
                    <a:srgbClr val="1A1A1A"/>
                  </a:solidFill>
                  <a:latin typeface="프리텐다드"/>
                  <a:ea typeface="프리텐다드"/>
                  <a:cs typeface="프리텐다드"/>
                  <a:sym typeface="프리텐다드"/>
                </a:rPr>
                <a:t>OCR 이 </a:t>
              </a:r>
              <a:r>
                <a:rPr lang="en-US" sz="2499" dirty="0" err="1">
                  <a:solidFill>
                    <a:srgbClr val="1A1A1A"/>
                  </a:solidFill>
                  <a:latin typeface="프리텐다드"/>
                  <a:ea typeface="프리텐다드"/>
                  <a:cs typeface="프리텐다드"/>
                  <a:sym typeface="프리텐다드"/>
                </a:rPr>
                <a:t>있어야</a:t>
              </a:r>
              <a:r>
                <a:rPr lang="en-US" sz="2499" dirty="0">
                  <a:solidFill>
                    <a:srgbClr val="1A1A1A"/>
                  </a:solidFill>
                  <a:latin typeface="프리텐다드"/>
                  <a:ea typeface="프리텐다드"/>
                  <a:cs typeface="프리텐다드"/>
                  <a:sym typeface="프리텐다드"/>
                </a:rPr>
                <a:t> </a:t>
              </a:r>
              <a:r>
                <a:rPr lang="ko-KR" altLang="en-US" sz="2499" dirty="0">
                  <a:solidFill>
                    <a:srgbClr val="1A1A1A"/>
                  </a:solidFill>
                  <a:latin typeface="프리텐다드"/>
                  <a:ea typeface="프리텐다드"/>
                  <a:cs typeface="프리텐다드"/>
                  <a:sym typeface="프리텐다드"/>
                </a:rPr>
                <a:t>하는</a:t>
              </a:r>
              <a:r>
                <a:rPr lang="en-US" sz="2499" dirty="0">
                  <a:solidFill>
                    <a:srgbClr val="1A1A1A"/>
                  </a:solidFill>
                  <a:latin typeface="프리텐다드"/>
                  <a:ea typeface="프리텐다드"/>
                  <a:cs typeface="프리텐다드"/>
                  <a:sym typeface="프리텐다드"/>
                </a:rPr>
                <a:t> 것 : </a:t>
              </a:r>
              <a:r>
                <a:rPr lang="en-US" sz="2499" b="1" dirty="0" err="1">
                  <a:solidFill>
                    <a:srgbClr val="8B0000"/>
                  </a:solidFill>
                  <a:latin typeface="프리텐다드 Bold"/>
                  <a:ea typeface="프리텐다드 Bold"/>
                  <a:cs typeface="프리텐다드 Bold"/>
                  <a:sym typeface="프리텐다드 Bold"/>
                </a:rPr>
                <a:t>입력값과</a:t>
              </a:r>
              <a:r>
                <a:rPr lang="en-US" sz="2499" b="1" dirty="0">
                  <a:solidFill>
                    <a:srgbClr val="8B0000"/>
                  </a:solidFill>
                  <a:latin typeface="프리텐다드 Bold"/>
                  <a:ea typeface="프리텐다드 Bold"/>
                  <a:cs typeface="프리텐다드 Bold"/>
                  <a:sym typeface="프리텐다드 Bold"/>
                </a:rPr>
                <a:t> </a:t>
              </a:r>
              <a:r>
                <a:rPr lang="en-US" sz="2499" b="1" dirty="0" err="1">
                  <a:solidFill>
                    <a:srgbClr val="8B0000"/>
                  </a:solidFill>
                  <a:latin typeface="프리텐다드 Bold"/>
                  <a:ea typeface="프리텐다드 Bold"/>
                  <a:cs typeface="프리텐다드 Bold"/>
                  <a:sym typeface="프리텐다드 Bold"/>
                </a:rPr>
                <a:t>사진의</a:t>
              </a:r>
              <a:r>
                <a:rPr lang="en-US" sz="2499" b="1" dirty="0">
                  <a:solidFill>
                    <a:srgbClr val="8B0000"/>
                  </a:solidFill>
                  <a:latin typeface="프리텐다드 Bold"/>
                  <a:ea typeface="프리텐다드 Bold"/>
                  <a:cs typeface="프리텐다드 Bold"/>
                  <a:sym typeface="프리텐다드 Bold"/>
                </a:rPr>
                <a:t> </a:t>
              </a:r>
              <a:r>
                <a:rPr lang="en-US" sz="2499" b="1" dirty="0" err="1">
                  <a:solidFill>
                    <a:srgbClr val="8B0000"/>
                  </a:solidFill>
                  <a:latin typeface="프리텐다드 Bold"/>
                  <a:ea typeface="프리텐다드 Bold"/>
                  <a:cs typeface="프리텐다드 Bold"/>
                  <a:sym typeface="프리텐다드 Bold"/>
                </a:rPr>
                <a:t>대조</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날짜면이</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찍혔는지</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확인</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자동</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입력과</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수정값</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축적</a:t>
              </a:r>
              <a:endParaRPr lang="en-US" sz="2499" dirty="0">
                <a:solidFill>
                  <a:srgbClr val="1A1A1A"/>
                </a:solidFill>
                <a:latin typeface="프리텐다드"/>
                <a:ea typeface="프리텐다드"/>
                <a:cs typeface="프리텐다드"/>
                <a:sym typeface="프리텐다드"/>
              </a:endParaRPr>
            </a:p>
          </p:txBody>
        </p:sp>
      </p:grpSp>
      <p:sp>
        <p:nvSpPr>
          <p:cNvPr id="25" name="TextBox 24">
            <a:extLst>
              <a:ext uri="{FF2B5EF4-FFF2-40B4-BE49-F238E27FC236}">
                <a16:creationId xmlns:a16="http://schemas.microsoft.com/office/drawing/2014/main" id="{996E431B-2ACA-3D14-9326-4A6BFE6FFA4A}"/>
              </a:ext>
            </a:extLst>
          </p:cNvPr>
          <p:cNvSpPr txBox="1"/>
          <p:nvPr/>
        </p:nvSpPr>
        <p:spPr>
          <a:xfrm>
            <a:off x="6324600" y="5745291"/>
            <a:ext cx="9144000" cy="353943"/>
          </a:xfrm>
          <a:prstGeom prst="rect">
            <a:avLst/>
          </a:prstGeom>
          <a:noFill/>
        </p:spPr>
        <p:txBody>
          <a:bodyPr wrap="square">
            <a:spAutoFit/>
          </a:bodyPr>
          <a:lstStyle/>
          <a:p>
            <a:r>
              <a:rPr lang="en-US" sz="1700" dirty="0">
                <a:solidFill>
                  <a:srgbClr val="6B6B6B"/>
                </a:solidFill>
                <a:latin typeface="프리텐다드"/>
                <a:ea typeface="프리텐다드"/>
                <a:cs typeface="프리텐다드"/>
                <a:sym typeface="프리텐다드"/>
              </a:rPr>
              <a:t>※</a:t>
            </a:r>
            <a:r>
              <a:rPr lang="ko-KR" altLang="en-US" sz="1700" dirty="0">
                <a:solidFill>
                  <a:srgbClr val="6B6B6B"/>
                </a:solidFill>
                <a:latin typeface="프리텐다드"/>
                <a:ea typeface="프리텐다드"/>
                <a:cs typeface="프리텐다드"/>
                <a:sym typeface="프리텐다드"/>
              </a:rPr>
              <a:t> </a:t>
            </a:r>
            <a:r>
              <a:rPr lang="en-US" altLang="ko-KR" sz="1700" dirty="0">
                <a:solidFill>
                  <a:srgbClr val="6B6B6B"/>
                </a:solidFill>
                <a:latin typeface="프리텐다드"/>
                <a:ea typeface="프리텐다드"/>
                <a:cs typeface="프리텐다드"/>
                <a:sym typeface="프리텐다드"/>
              </a:rPr>
              <a:t>389</a:t>
            </a:r>
            <a:r>
              <a:rPr lang="ko-KR" altLang="en-US" sz="1700" dirty="0">
                <a:solidFill>
                  <a:srgbClr val="6B6B6B"/>
                </a:solidFill>
                <a:latin typeface="프리텐다드"/>
                <a:ea typeface="프리텐다드"/>
                <a:cs typeface="프리텐다드"/>
                <a:sym typeface="프리텐다드"/>
              </a:rPr>
              <a:t>장은 어려운 유형 위주라 </a:t>
            </a:r>
            <a:r>
              <a:rPr lang="ko-KR" altLang="en-US" sz="1700" b="1" dirty="0">
                <a:solidFill>
                  <a:srgbClr val="6B6B6B"/>
                </a:solidFill>
                <a:latin typeface="프리텐다드"/>
                <a:ea typeface="프리텐다드"/>
                <a:cs typeface="프리텐다드"/>
                <a:sym typeface="프리텐다드"/>
              </a:rPr>
              <a:t>보수적 추정치임 </a:t>
            </a:r>
            <a:endParaRPr lang="en-KR"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5943" y="535943"/>
            <a:ext cx="153419" cy="756923"/>
            <a:chOff x="0" y="0"/>
            <a:chExt cx="204559" cy="1009231"/>
          </a:xfrm>
        </p:grpSpPr>
        <p:sp>
          <p:nvSpPr>
            <p:cNvPr id="3" name="Freeform 3"/>
            <p:cNvSpPr/>
            <p:nvPr/>
          </p:nvSpPr>
          <p:spPr>
            <a:xfrm>
              <a:off x="0" y="0"/>
              <a:ext cx="204597" cy="1009269"/>
            </a:xfrm>
            <a:custGeom>
              <a:avLst/>
              <a:gdLst/>
              <a:ahLst/>
              <a:cxnLst/>
              <a:rect l="l" t="t" r="r" b="b"/>
              <a:pathLst>
                <a:path w="204597" h="1009269">
                  <a:moveTo>
                    <a:pt x="0" y="0"/>
                  </a:moveTo>
                  <a:lnTo>
                    <a:pt x="204597" y="0"/>
                  </a:lnTo>
                  <a:lnTo>
                    <a:pt x="204597" y="1009269"/>
                  </a:lnTo>
                  <a:lnTo>
                    <a:pt x="0" y="1009269"/>
                  </a:ln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4" name="Group 4"/>
          <p:cNvGrpSpPr/>
          <p:nvPr/>
        </p:nvGrpSpPr>
        <p:grpSpPr>
          <a:xfrm>
            <a:off x="822960" y="457200"/>
            <a:ext cx="15910560" cy="914400"/>
            <a:chOff x="0" y="0"/>
            <a:chExt cx="21214080" cy="1219200"/>
          </a:xfrm>
        </p:grpSpPr>
        <p:sp>
          <p:nvSpPr>
            <p:cNvPr id="5" name="Freeform 5"/>
            <p:cNvSpPr/>
            <p:nvPr/>
          </p:nvSpPr>
          <p:spPr>
            <a:xfrm>
              <a:off x="0" y="0"/>
              <a:ext cx="21214080" cy="1219200"/>
            </a:xfrm>
            <a:custGeom>
              <a:avLst/>
              <a:gdLst/>
              <a:ahLst/>
              <a:cxnLst/>
              <a:rect l="l" t="t" r="r" b="b"/>
              <a:pathLst>
                <a:path w="21214080" h="1219200">
                  <a:moveTo>
                    <a:pt x="0" y="0"/>
                  </a:moveTo>
                  <a:lnTo>
                    <a:pt x="21214080" y="0"/>
                  </a:lnTo>
                  <a:lnTo>
                    <a:pt x="21214080" y="1219200"/>
                  </a:lnTo>
                  <a:lnTo>
                    <a:pt x="0" y="1219200"/>
                  </a:lnTo>
                  <a:close/>
                </a:path>
              </a:pathLst>
            </a:custGeom>
            <a:blipFill>
              <a:blip r:embed="rId3">
                <a:alphaModFix amt="0"/>
              </a:blip>
              <a:stretch>
                <a:fillRect t="-289039" b="-289039"/>
              </a:stretch>
            </a:blipFill>
          </p:spPr>
          <p:txBody>
            <a:bodyPr/>
            <a:lstStyle/>
            <a:p>
              <a:endParaRPr lang="ko-KR" altLang="en-US"/>
            </a:p>
          </p:txBody>
        </p:sp>
        <p:sp>
          <p:nvSpPr>
            <p:cNvPr id="6" name="TextBox 6"/>
            <p:cNvSpPr txBox="1"/>
            <p:nvPr/>
          </p:nvSpPr>
          <p:spPr>
            <a:xfrm>
              <a:off x="0" y="0"/>
              <a:ext cx="21214080" cy="1219200"/>
            </a:xfrm>
            <a:prstGeom prst="rect">
              <a:avLst/>
            </a:prstGeom>
          </p:spPr>
          <p:txBody>
            <a:bodyPr lIns="0" tIns="0" rIns="0" bIns="0" rtlCol="0" anchor="ctr"/>
            <a:lstStyle/>
            <a:p>
              <a:pPr algn="l">
                <a:lnSpc>
                  <a:spcPts val="4560"/>
                </a:lnSpc>
              </a:pPr>
              <a:r>
                <a:rPr lang="en-US" sz="3800" b="1">
                  <a:solidFill>
                    <a:srgbClr val="1A1A1A"/>
                  </a:solidFill>
                  <a:latin typeface="프리텐다드 Bold"/>
                  <a:ea typeface="프리텐다드 Bold"/>
                  <a:cs typeface="프리텐다드 Bold"/>
                  <a:sym typeface="프리텐다드 Bold"/>
                </a:rPr>
                <a:t>운영 아키텍처 : </a:t>
              </a:r>
              <a:r>
                <a:rPr lang="en-US" sz="3800" b="1">
                  <a:solidFill>
                    <a:srgbClr val="8B0000"/>
                  </a:solidFill>
                  <a:latin typeface="프리텐다드 Bold"/>
                  <a:ea typeface="프리텐다드 Bold"/>
                  <a:cs typeface="프리텐다드 Bold"/>
                  <a:sym typeface="프리텐다드 Bold"/>
                </a:rPr>
                <a:t>서버는 지금, 온디바이스는 다음 단계</a:t>
              </a:r>
            </a:p>
          </p:txBody>
        </p:sp>
      </p:grpSp>
      <p:sp>
        <p:nvSpPr>
          <p:cNvPr id="7" name="AutoShape 7"/>
          <p:cNvSpPr/>
          <p:nvPr/>
        </p:nvSpPr>
        <p:spPr>
          <a:xfrm rot="3780">
            <a:off x="539105" y="1494854"/>
            <a:ext cx="17209780" cy="0"/>
          </a:xfrm>
          <a:prstGeom prst="line">
            <a:avLst/>
          </a:prstGeom>
          <a:ln w="9525" cap="rnd">
            <a:solidFill>
              <a:srgbClr val="BFBFBF"/>
            </a:solidFill>
            <a:prstDash val="solid"/>
            <a:headEnd type="none" w="sm" len="sm"/>
            <a:tailEnd type="none" w="sm" len="sm"/>
          </a:ln>
        </p:spPr>
        <p:txBody>
          <a:bodyPr/>
          <a:lstStyle/>
          <a:p>
            <a:endParaRPr lang="ko-KR" altLang="en-US"/>
          </a:p>
        </p:txBody>
      </p:sp>
      <p:grpSp>
        <p:nvGrpSpPr>
          <p:cNvPr id="8" name="Group 8"/>
          <p:cNvGrpSpPr/>
          <p:nvPr/>
        </p:nvGrpSpPr>
        <p:grpSpPr>
          <a:xfrm>
            <a:off x="17007840" y="219456"/>
            <a:ext cx="914400" cy="457200"/>
            <a:chOff x="0" y="0"/>
            <a:chExt cx="1219200" cy="609600"/>
          </a:xfrm>
        </p:grpSpPr>
        <p:sp>
          <p:nvSpPr>
            <p:cNvPr id="9" name="Freeform 9"/>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10" name="TextBox 10"/>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1A1A1A"/>
                  </a:solidFill>
                  <a:latin typeface="프리텐다드"/>
                  <a:ea typeface="프리텐다드"/>
                  <a:cs typeface="프리텐다드"/>
                  <a:sym typeface="프리텐다드"/>
                </a:rPr>
                <a:t>18</a:t>
              </a:r>
            </a:p>
          </p:txBody>
        </p:sp>
      </p:grpSp>
      <p:grpSp>
        <p:nvGrpSpPr>
          <p:cNvPr id="11" name="Group 11"/>
          <p:cNvGrpSpPr/>
          <p:nvPr/>
        </p:nvGrpSpPr>
        <p:grpSpPr>
          <a:xfrm>
            <a:off x="535943" y="2847917"/>
            <a:ext cx="8437883" cy="4591166"/>
            <a:chOff x="0" y="0"/>
            <a:chExt cx="11250511" cy="6121555"/>
          </a:xfrm>
        </p:grpSpPr>
        <p:grpSp>
          <p:nvGrpSpPr>
            <p:cNvPr id="12" name="Group 12"/>
            <p:cNvGrpSpPr/>
            <p:nvPr/>
          </p:nvGrpSpPr>
          <p:grpSpPr>
            <a:xfrm>
              <a:off x="0" y="0"/>
              <a:ext cx="11250511" cy="6121555"/>
              <a:chOff x="0" y="0"/>
              <a:chExt cx="11250511" cy="6121555"/>
            </a:xfrm>
          </p:grpSpPr>
          <p:sp>
            <p:nvSpPr>
              <p:cNvPr id="13" name="Freeform 13"/>
              <p:cNvSpPr/>
              <p:nvPr/>
            </p:nvSpPr>
            <p:spPr>
              <a:xfrm>
                <a:off x="0" y="0"/>
                <a:ext cx="11250422" cy="6121488"/>
              </a:xfrm>
              <a:custGeom>
                <a:avLst/>
                <a:gdLst/>
                <a:ahLst/>
                <a:cxnLst/>
                <a:rect l="l" t="t" r="r" b="b"/>
                <a:pathLst>
                  <a:path w="11250422" h="6121488">
                    <a:moveTo>
                      <a:pt x="0" y="146151"/>
                    </a:moveTo>
                    <a:cubicBezTo>
                      <a:pt x="0" y="65493"/>
                      <a:pt x="87757" y="0"/>
                      <a:pt x="195834" y="0"/>
                    </a:cubicBezTo>
                    <a:lnTo>
                      <a:pt x="11054588" y="0"/>
                    </a:lnTo>
                    <a:cubicBezTo>
                      <a:pt x="11162792" y="0"/>
                      <a:pt x="11250422" y="65493"/>
                      <a:pt x="11250422" y="146151"/>
                    </a:cubicBezTo>
                    <a:lnTo>
                      <a:pt x="11250422" y="5975337"/>
                    </a:lnTo>
                    <a:cubicBezTo>
                      <a:pt x="11250422" y="6056090"/>
                      <a:pt x="11162665" y="6121488"/>
                      <a:pt x="11054588" y="6121488"/>
                    </a:cubicBezTo>
                    <a:lnTo>
                      <a:pt x="195834" y="6121488"/>
                    </a:lnTo>
                    <a:cubicBezTo>
                      <a:pt x="87757" y="6121593"/>
                      <a:pt x="0" y="6056090"/>
                      <a:pt x="0" y="5975337"/>
                    </a:cubicBezTo>
                    <a:close/>
                  </a:path>
                </a:pathLst>
              </a:custGeom>
              <a:solidFill>
                <a:srgbClr val="F2F2F2"/>
              </a:solidFill>
              <a:ln w="25400" cap="sq">
                <a:solidFill>
                  <a:srgbClr val="F2F2F2"/>
                </a:solidFill>
                <a:prstDash val="solid"/>
                <a:miter/>
              </a:ln>
            </p:spPr>
            <p:txBody>
              <a:bodyPr/>
              <a:lstStyle/>
              <a:p>
                <a:endParaRPr lang="ko-KR" altLang="en-US"/>
              </a:p>
            </p:txBody>
          </p:sp>
        </p:grpSp>
        <p:sp>
          <p:nvSpPr>
            <p:cNvPr id="14" name="TextBox 14"/>
            <p:cNvSpPr txBox="1"/>
            <p:nvPr/>
          </p:nvSpPr>
          <p:spPr>
            <a:xfrm>
              <a:off x="382689" y="251244"/>
              <a:ext cx="10485120" cy="530225"/>
            </a:xfrm>
            <a:prstGeom prst="rect">
              <a:avLst/>
            </a:prstGeom>
          </p:spPr>
          <p:txBody>
            <a:bodyPr lIns="0" tIns="0" rIns="0" bIns="0" rtlCol="0" anchor="t">
              <a:spAutoFit/>
            </a:bodyPr>
            <a:lstStyle/>
            <a:p>
              <a:pPr algn="l">
                <a:lnSpc>
                  <a:spcPts val="3120"/>
                </a:lnSpc>
              </a:pPr>
              <a:r>
                <a:rPr lang="ko-KR" altLang="en-US" sz="2600" b="1" dirty="0">
                  <a:solidFill>
                    <a:srgbClr val="8B0000"/>
                  </a:solidFill>
                  <a:latin typeface="프리텐다드 Bold"/>
                  <a:ea typeface="프리텐다드 Bold"/>
                  <a:cs typeface="프리텐다드 Bold"/>
                  <a:sym typeface="프리텐다드 Bold"/>
                </a:rPr>
                <a:t>현재</a:t>
              </a:r>
              <a:r>
                <a:rPr lang="en-US" sz="2600" b="1" dirty="0">
                  <a:solidFill>
                    <a:srgbClr val="8B0000"/>
                  </a:solidFill>
                  <a:latin typeface="프리텐다드 Bold"/>
                  <a:ea typeface="프리텐다드 Bold"/>
                  <a:cs typeface="프리텐다드 Bold"/>
                  <a:sym typeface="프리텐다드 Bold"/>
                </a:rPr>
                <a:t> — </a:t>
              </a:r>
              <a:r>
                <a:rPr lang="en-US" sz="2600" b="1" dirty="0" err="1">
                  <a:solidFill>
                    <a:srgbClr val="8B0000"/>
                  </a:solidFill>
                  <a:latin typeface="프리텐다드 Bold"/>
                  <a:ea typeface="프리텐다드 Bold"/>
                  <a:cs typeface="프리텐다드 Bold"/>
                  <a:sym typeface="프리텐다드 Bold"/>
                </a:rPr>
                <a:t>서버</a:t>
              </a:r>
              <a:r>
                <a:rPr lang="en-US" sz="2600" b="1" dirty="0">
                  <a:solidFill>
                    <a:srgbClr val="8B0000"/>
                  </a:solidFill>
                  <a:latin typeface="프리텐다드 Bold"/>
                  <a:ea typeface="프리텐다드 Bold"/>
                  <a:cs typeface="프리텐다드 Bold"/>
                  <a:sym typeface="프리텐다드 Bold"/>
                </a:rPr>
                <a:t> </a:t>
              </a:r>
              <a:r>
                <a:rPr lang="en-US" sz="2600" b="1" dirty="0" err="1">
                  <a:solidFill>
                    <a:srgbClr val="8B0000"/>
                  </a:solidFill>
                  <a:latin typeface="프리텐다드 Bold"/>
                  <a:ea typeface="프리텐다드 Bold"/>
                  <a:cs typeface="프리텐다드 Bold"/>
                  <a:sym typeface="프리텐다드 Bold"/>
                </a:rPr>
                <a:t>추론</a:t>
              </a:r>
              <a:endParaRPr lang="en-US" sz="2600" b="1" dirty="0">
                <a:solidFill>
                  <a:srgbClr val="8B0000"/>
                </a:solidFill>
                <a:latin typeface="프리텐다드 Bold"/>
                <a:ea typeface="프리텐다드 Bold"/>
                <a:cs typeface="프리텐다드 Bold"/>
                <a:sym typeface="프리텐다드 Bold"/>
              </a:endParaRPr>
            </a:p>
          </p:txBody>
        </p:sp>
        <p:sp>
          <p:nvSpPr>
            <p:cNvPr id="15" name="TextBox 15"/>
            <p:cNvSpPr txBox="1"/>
            <p:nvPr/>
          </p:nvSpPr>
          <p:spPr>
            <a:xfrm>
              <a:off x="382689" y="1043343"/>
              <a:ext cx="10485120" cy="4720354"/>
            </a:xfrm>
            <a:prstGeom prst="rect">
              <a:avLst/>
            </a:prstGeom>
          </p:spPr>
          <p:txBody>
            <a:bodyPr lIns="0" tIns="0" rIns="0" bIns="0" rtlCol="0" anchor="t">
              <a:spAutoFit/>
            </a:bodyPr>
            <a:lstStyle/>
            <a:p>
              <a:pPr marL="603249" lvl="1" indent="-301625" algn="l">
                <a:lnSpc>
                  <a:spcPts val="3999"/>
                </a:lnSpc>
                <a:buFont typeface="Arial"/>
                <a:buChar char="•"/>
              </a:pPr>
              <a:r>
                <a:rPr lang="en-US" sz="2499" dirty="0" err="1">
                  <a:solidFill>
                    <a:srgbClr val="1A1A1A"/>
                  </a:solidFill>
                  <a:latin typeface="프리텐다드"/>
                  <a:ea typeface="프리텐다드"/>
                  <a:cs typeface="프리텐다드"/>
                  <a:sym typeface="프리텐다드"/>
                </a:rPr>
                <a:t>판매자가</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제목·가격을</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쓰는</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동안</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서버가</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사진을</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읽습니다</a:t>
              </a:r>
              <a:r>
                <a:rPr lang="en-US" sz="2499" dirty="0">
                  <a:solidFill>
                    <a:srgbClr val="1A1A1A"/>
                  </a:solidFill>
                  <a:latin typeface="프리텐다드"/>
                  <a:ea typeface="프리텐다드"/>
                  <a:cs typeface="프리텐다드"/>
                  <a:sym typeface="프리텐다드"/>
                </a:rPr>
                <a:t>.</a:t>
              </a:r>
            </a:p>
            <a:p>
              <a:pPr marL="603249" lvl="1" indent="-301625" algn="l">
                <a:lnSpc>
                  <a:spcPts val="3999"/>
                </a:lnSpc>
                <a:buFont typeface="Arial"/>
                <a:buChar char="•"/>
              </a:pPr>
              <a:r>
                <a:rPr lang="en-US" sz="2499" dirty="0" err="1">
                  <a:solidFill>
                    <a:srgbClr val="1A1A1A"/>
                  </a:solidFill>
                  <a:latin typeface="프리텐다드"/>
                  <a:ea typeface="프리텐다드"/>
                  <a:cs typeface="프리텐다드"/>
                  <a:sym typeface="프리텐다드"/>
                </a:rPr>
                <a:t>확신도</a:t>
              </a:r>
              <a:r>
                <a:rPr lang="ko-KR" altLang="en-US" sz="2499" dirty="0">
                  <a:solidFill>
                    <a:srgbClr val="1A1A1A"/>
                  </a:solidFill>
                  <a:latin typeface="프리텐다드"/>
                  <a:ea typeface="프리텐다드"/>
                  <a:cs typeface="프리텐다드"/>
                  <a:sym typeface="프리텐다드"/>
                </a:rPr>
                <a:t>가 </a:t>
              </a:r>
              <a:r>
                <a:rPr lang="en-US" sz="2499" dirty="0">
                  <a:solidFill>
                    <a:srgbClr val="1A1A1A"/>
                  </a:solidFill>
                  <a:latin typeface="프리텐다드"/>
                  <a:ea typeface="프리텐다드"/>
                  <a:cs typeface="프리텐다드"/>
                  <a:sym typeface="프리텐다드"/>
                </a:rPr>
                <a:t>0.7 </a:t>
              </a:r>
              <a:r>
                <a:rPr lang="en-US" sz="2499" dirty="0" err="1">
                  <a:solidFill>
                    <a:srgbClr val="1A1A1A"/>
                  </a:solidFill>
                  <a:latin typeface="프리텐다드"/>
                  <a:ea typeface="프리텐다드"/>
                  <a:cs typeface="프리텐다드"/>
                  <a:sym typeface="프리텐다드"/>
                </a:rPr>
                <a:t>이상</a:t>
              </a:r>
              <a:r>
                <a:rPr lang="ko-KR" altLang="en-US" sz="2499" dirty="0">
                  <a:solidFill>
                    <a:srgbClr val="1A1A1A"/>
                  </a:solidFill>
                  <a:latin typeface="프리텐다드"/>
                  <a:ea typeface="프리텐다드"/>
                  <a:cs typeface="프리텐다드"/>
                  <a:sym typeface="프리텐다드"/>
                </a:rPr>
                <a:t>이며</a:t>
              </a:r>
              <a:r>
                <a:rPr lang="en-US" sz="2499" dirty="0">
                  <a:solidFill>
                    <a:srgbClr val="1A1A1A"/>
                  </a:solidFill>
                  <a:latin typeface="프리텐다드"/>
                  <a:ea typeface="프리텐다드"/>
                  <a:cs typeface="프리텐다드"/>
                  <a:sym typeface="프리텐다드"/>
                </a:rPr>
                <a:t> 10초 </a:t>
              </a:r>
              <a:r>
                <a:rPr lang="en-US" sz="2499" dirty="0" err="1">
                  <a:solidFill>
                    <a:srgbClr val="1A1A1A"/>
                  </a:solidFill>
                  <a:latin typeface="프리텐다드"/>
                  <a:ea typeface="프리텐다드"/>
                  <a:cs typeface="프리텐다드"/>
                  <a:sym typeface="프리텐다드"/>
                </a:rPr>
                <a:t>안에</a:t>
              </a:r>
              <a:r>
                <a:rPr lang="en-US" sz="2499" dirty="0">
                  <a:solidFill>
                    <a:srgbClr val="1A1A1A"/>
                  </a:solidFill>
                  <a:latin typeface="프리텐다드"/>
                  <a:ea typeface="프리텐다드"/>
                  <a:cs typeface="프리텐다드"/>
                  <a:sym typeface="프리텐다드"/>
                </a:rPr>
                <a:t> 읽</a:t>
              </a:r>
              <a:r>
                <a:rPr lang="ko-KR" altLang="en-US" sz="2499" dirty="0" err="1">
                  <a:solidFill>
                    <a:srgbClr val="1A1A1A"/>
                  </a:solidFill>
                  <a:latin typeface="프리텐다드"/>
                  <a:ea typeface="프리텐다드"/>
                  <a:cs typeface="프리텐다드"/>
                  <a:sym typeface="프리텐다드"/>
                </a:rPr>
                <a:t>히면</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칸을</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채웁니다</a:t>
              </a:r>
              <a:r>
                <a:rPr lang="en-US" sz="2499" dirty="0">
                  <a:solidFill>
                    <a:srgbClr val="1A1A1A"/>
                  </a:solidFill>
                  <a:latin typeface="프리텐다드"/>
                  <a:ea typeface="프리텐다드"/>
                  <a:cs typeface="프리텐다드"/>
                  <a:sym typeface="프리텐다드"/>
                </a:rPr>
                <a:t>. </a:t>
              </a:r>
              <a:r>
                <a:rPr lang="ko-KR" altLang="en-US" sz="2499" dirty="0">
                  <a:solidFill>
                    <a:srgbClr val="1A1A1A"/>
                  </a:solidFill>
                  <a:latin typeface="프리텐다드"/>
                  <a:ea typeface="프리텐다드"/>
                  <a:cs typeface="프리텐다드"/>
                  <a:sym typeface="프리텐다드"/>
                </a:rPr>
                <a:t>그게 아니라면 빈칸으로 남겨 둡니다</a:t>
              </a:r>
              <a:r>
                <a:rPr lang="en-US" altLang="ko-KR" sz="2499" dirty="0">
                  <a:solidFill>
                    <a:srgbClr val="1A1A1A"/>
                  </a:solidFill>
                  <a:latin typeface="프리텐다드"/>
                  <a:ea typeface="프리텐다드"/>
                  <a:cs typeface="프리텐다드"/>
                  <a:sym typeface="프리텐다드"/>
                </a:rPr>
                <a:t>.</a:t>
              </a:r>
              <a:endParaRPr lang="en-US" sz="2499" dirty="0">
                <a:solidFill>
                  <a:srgbClr val="1A1A1A"/>
                </a:solidFill>
                <a:latin typeface="프리텐다드"/>
                <a:ea typeface="프리텐다드"/>
                <a:cs typeface="프리텐다드"/>
                <a:sym typeface="프리텐다드"/>
              </a:endParaRPr>
            </a:p>
            <a:p>
              <a:pPr marL="603249" lvl="1" indent="-301625" algn="l">
                <a:lnSpc>
                  <a:spcPts val="3999"/>
                </a:lnSpc>
                <a:buFont typeface="Arial"/>
                <a:buChar char="•"/>
              </a:pPr>
              <a:r>
                <a:rPr lang="en-US" sz="2499" dirty="0" err="1">
                  <a:solidFill>
                    <a:srgbClr val="1A1A1A"/>
                  </a:solidFill>
                  <a:latin typeface="프리텐다드"/>
                  <a:ea typeface="프리텐다드"/>
                  <a:cs typeface="프리텐다드"/>
                  <a:sym typeface="프리텐다드"/>
                </a:rPr>
                <a:t>모델이</a:t>
              </a:r>
              <a:r>
                <a:rPr lang="en-US" sz="2499" dirty="0">
                  <a:solidFill>
                    <a:srgbClr val="1A1A1A"/>
                  </a:solidFill>
                  <a:latin typeface="프리텐다드"/>
                  <a:ea typeface="프리텐다드"/>
                  <a:cs typeface="프리텐다드"/>
                  <a:sym typeface="프리텐다드"/>
                </a:rPr>
                <a:t> 21MB라 </a:t>
              </a:r>
              <a:r>
                <a:rPr lang="en-US" sz="2499" dirty="0" err="1">
                  <a:solidFill>
                    <a:srgbClr val="1A1A1A"/>
                  </a:solidFill>
                  <a:latin typeface="프리텐다드"/>
                  <a:ea typeface="프리텐다드"/>
                  <a:cs typeface="프리텐다드"/>
                  <a:sym typeface="프리텐다드"/>
                </a:rPr>
                <a:t>가볍습니다</a:t>
              </a:r>
              <a:r>
                <a:rPr lang="en-US" sz="2499" dirty="0">
                  <a:solidFill>
                    <a:srgbClr val="1A1A1A"/>
                  </a:solidFill>
                  <a:latin typeface="프리텐다드"/>
                  <a:ea typeface="프리텐다드"/>
                  <a:cs typeface="프리텐다드"/>
                  <a:sym typeface="프리텐다드"/>
                </a:rPr>
                <a:t>. GPU</a:t>
              </a:r>
              <a:r>
                <a:rPr lang="ko-KR" altLang="en-US" sz="2499" dirty="0">
                  <a:solidFill>
                    <a:srgbClr val="1A1A1A"/>
                  </a:solidFill>
                  <a:latin typeface="프리텐다드"/>
                  <a:ea typeface="프리텐다드"/>
                  <a:cs typeface="프리텐다드"/>
                  <a:sym typeface="프리텐다드"/>
                </a:rPr>
                <a:t>나</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외부</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API도</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필요</a:t>
              </a:r>
              <a:r>
                <a:rPr lang="en-US" sz="2499" dirty="0">
                  <a:solidFill>
                    <a:srgbClr val="1A1A1A"/>
                  </a:solidFill>
                  <a:latin typeface="프리텐다드"/>
                  <a:ea typeface="프리텐다드"/>
                  <a:cs typeface="프리텐다드"/>
                  <a:sym typeface="프리텐다드"/>
                </a:rPr>
                <a:t> 없</a:t>
              </a:r>
              <a:r>
                <a:rPr lang="ko-KR" altLang="en-US" sz="2499" dirty="0" err="1">
                  <a:solidFill>
                    <a:srgbClr val="1A1A1A"/>
                  </a:solidFill>
                  <a:latin typeface="프리텐다드"/>
                  <a:ea typeface="프리텐다드"/>
                  <a:cs typeface="프리텐다드"/>
                  <a:sym typeface="프리텐다드"/>
                </a:rPr>
                <a:t>으며</a:t>
              </a:r>
              <a:r>
                <a:rPr lang="en-US" altLang="ko-KR"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사진은</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서버</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밖으로</a:t>
              </a:r>
              <a:r>
                <a:rPr lang="en-US" sz="2499" dirty="0">
                  <a:solidFill>
                    <a:srgbClr val="1A1A1A"/>
                  </a:solidFill>
                  <a:latin typeface="프리텐다드"/>
                  <a:ea typeface="프리텐다드"/>
                  <a:cs typeface="프리텐다드"/>
                  <a:sym typeface="프리텐다드"/>
                </a:rPr>
                <a:t> </a:t>
              </a:r>
              <a:r>
                <a:rPr lang="ko-KR" altLang="en-US" sz="2499" dirty="0">
                  <a:solidFill>
                    <a:srgbClr val="1A1A1A"/>
                  </a:solidFill>
                  <a:latin typeface="프리텐다드"/>
                  <a:ea typeface="프리텐다드"/>
                  <a:cs typeface="프리텐다드"/>
                  <a:sym typeface="프리텐다드"/>
                </a:rPr>
                <a:t>나가지 않습니다</a:t>
              </a:r>
              <a:r>
                <a:rPr lang="en-US" altLang="ko-KR" sz="2499" dirty="0">
                  <a:solidFill>
                    <a:srgbClr val="1A1A1A"/>
                  </a:solidFill>
                  <a:latin typeface="프리텐다드"/>
                  <a:ea typeface="프리텐다드"/>
                  <a:cs typeface="프리텐다드"/>
                  <a:sym typeface="프리텐다드"/>
                </a:rPr>
                <a:t>.</a:t>
              </a:r>
              <a:endParaRPr lang="en-US" sz="2499" dirty="0">
                <a:solidFill>
                  <a:srgbClr val="1A1A1A"/>
                </a:solidFill>
                <a:latin typeface="프리텐다드"/>
                <a:ea typeface="프리텐다드"/>
                <a:cs typeface="프리텐다드"/>
                <a:sym typeface="프리텐다드"/>
              </a:endParaRPr>
            </a:p>
            <a:p>
              <a:pPr marL="603249" lvl="1" indent="-301625" algn="l">
                <a:lnSpc>
                  <a:spcPts val="3999"/>
                </a:lnSpc>
                <a:buFont typeface="Arial"/>
                <a:buChar char="•"/>
              </a:pPr>
              <a:r>
                <a:rPr lang="en-US" sz="2499" dirty="0" err="1">
                  <a:solidFill>
                    <a:srgbClr val="1A1A1A"/>
                  </a:solidFill>
                  <a:latin typeface="프리텐다드"/>
                  <a:ea typeface="프리텐다드"/>
                  <a:cs typeface="프리텐다드"/>
                  <a:sym typeface="프리텐다드"/>
                </a:rPr>
                <a:t>서버</a:t>
              </a:r>
              <a:r>
                <a:rPr lang="en-US" sz="2499" dirty="0">
                  <a:solidFill>
                    <a:srgbClr val="1A1A1A"/>
                  </a:solidFill>
                  <a:latin typeface="프리텐다드"/>
                  <a:ea typeface="프리텐다드"/>
                  <a:cs typeface="프리텐다드"/>
                  <a:sym typeface="프리텐다드"/>
                </a:rPr>
                <a:t> 한 </a:t>
              </a:r>
              <a:r>
                <a:rPr lang="en-US" sz="2499" dirty="0" err="1">
                  <a:solidFill>
                    <a:srgbClr val="1A1A1A"/>
                  </a:solidFill>
                  <a:latin typeface="프리텐다드"/>
                  <a:ea typeface="프리텐다드"/>
                  <a:cs typeface="프리텐다드"/>
                  <a:sym typeface="프리텐다드"/>
                </a:rPr>
                <a:t>대로</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충분합니다</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지금</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쓰는</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양은</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그중</a:t>
              </a:r>
              <a:r>
                <a:rPr lang="en-US" sz="2499" dirty="0">
                  <a:solidFill>
                    <a:srgbClr val="1A1A1A"/>
                  </a:solidFill>
                  <a:latin typeface="프리텐다드"/>
                  <a:ea typeface="프리텐다드"/>
                  <a:cs typeface="프리텐다드"/>
                  <a:sym typeface="프리텐다드"/>
                </a:rPr>
                <a:t> 4 ~ 10%뿐입니다.</a:t>
              </a:r>
            </a:p>
          </p:txBody>
        </p:sp>
      </p:grpSp>
      <p:grpSp>
        <p:nvGrpSpPr>
          <p:cNvPr id="16" name="Group 16"/>
          <p:cNvGrpSpPr/>
          <p:nvPr/>
        </p:nvGrpSpPr>
        <p:grpSpPr>
          <a:xfrm>
            <a:off x="9314183" y="2847917"/>
            <a:ext cx="8437883" cy="4591166"/>
            <a:chOff x="0" y="0"/>
            <a:chExt cx="11250511" cy="6121555"/>
          </a:xfrm>
        </p:grpSpPr>
        <p:grpSp>
          <p:nvGrpSpPr>
            <p:cNvPr id="17" name="Group 17"/>
            <p:cNvGrpSpPr/>
            <p:nvPr/>
          </p:nvGrpSpPr>
          <p:grpSpPr>
            <a:xfrm>
              <a:off x="0" y="0"/>
              <a:ext cx="11250511" cy="6121555"/>
              <a:chOff x="0" y="0"/>
              <a:chExt cx="11250511" cy="6121555"/>
            </a:xfrm>
          </p:grpSpPr>
          <p:sp>
            <p:nvSpPr>
              <p:cNvPr id="18" name="Freeform 18"/>
              <p:cNvSpPr/>
              <p:nvPr/>
            </p:nvSpPr>
            <p:spPr>
              <a:xfrm>
                <a:off x="0" y="0"/>
                <a:ext cx="11250422" cy="6121488"/>
              </a:xfrm>
              <a:custGeom>
                <a:avLst/>
                <a:gdLst/>
                <a:ahLst/>
                <a:cxnLst/>
                <a:rect l="l" t="t" r="r" b="b"/>
                <a:pathLst>
                  <a:path w="11250422" h="6121488">
                    <a:moveTo>
                      <a:pt x="0" y="146151"/>
                    </a:moveTo>
                    <a:cubicBezTo>
                      <a:pt x="0" y="65493"/>
                      <a:pt x="87757" y="0"/>
                      <a:pt x="195834" y="0"/>
                    </a:cubicBezTo>
                    <a:lnTo>
                      <a:pt x="11054588" y="0"/>
                    </a:lnTo>
                    <a:cubicBezTo>
                      <a:pt x="11162792" y="0"/>
                      <a:pt x="11250422" y="65493"/>
                      <a:pt x="11250422" y="146151"/>
                    </a:cubicBezTo>
                    <a:lnTo>
                      <a:pt x="11250422" y="5975337"/>
                    </a:lnTo>
                    <a:cubicBezTo>
                      <a:pt x="11250422" y="6056090"/>
                      <a:pt x="11162665" y="6121488"/>
                      <a:pt x="11054588" y="6121488"/>
                    </a:cubicBezTo>
                    <a:lnTo>
                      <a:pt x="195834" y="6121488"/>
                    </a:lnTo>
                    <a:cubicBezTo>
                      <a:pt x="87757" y="6121593"/>
                      <a:pt x="0" y="6056090"/>
                      <a:pt x="0" y="5975337"/>
                    </a:cubicBezTo>
                    <a:close/>
                  </a:path>
                </a:pathLst>
              </a:custGeom>
              <a:solidFill>
                <a:srgbClr val="F6E3E3"/>
              </a:solidFill>
              <a:ln w="25400" cap="sq">
                <a:solidFill>
                  <a:srgbClr val="F6E3E3"/>
                </a:solidFill>
                <a:prstDash val="solid"/>
                <a:miter/>
              </a:ln>
            </p:spPr>
            <p:txBody>
              <a:bodyPr/>
              <a:lstStyle/>
              <a:p>
                <a:endParaRPr lang="ko-KR" altLang="en-US"/>
              </a:p>
            </p:txBody>
          </p:sp>
        </p:grpSp>
        <p:sp>
          <p:nvSpPr>
            <p:cNvPr id="19" name="TextBox 19"/>
            <p:cNvSpPr txBox="1"/>
            <p:nvPr/>
          </p:nvSpPr>
          <p:spPr>
            <a:xfrm>
              <a:off x="382689" y="251244"/>
              <a:ext cx="10485120" cy="530225"/>
            </a:xfrm>
            <a:prstGeom prst="rect">
              <a:avLst/>
            </a:prstGeom>
          </p:spPr>
          <p:txBody>
            <a:bodyPr lIns="0" tIns="0" rIns="0" bIns="0" rtlCol="0" anchor="t">
              <a:spAutoFit/>
            </a:bodyPr>
            <a:lstStyle/>
            <a:p>
              <a:pPr algn="l">
                <a:lnSpc>
                  <a:spcPts val="3120"/>
                </a:lnSpc>
              </a:pPr>
              <a:r>
                <a:rPr lang="en-US" sz="2600" b="1">
                  <a:solidFill>
                    <a:srgbClr val="8B0000"/>
                  </a:solidFill>
                  <a:latin typeface="프리텐다드 Bold"/>
                  <a:ea typeface="프리텐다드 Bold"/>
                  <a:cs typeface="프리텐다드 Bold"/>
                  <a:sym typeface="프리텐다드 Bold"/>
                </a:rPr>
                <a:t>다음 — 온디바이스 (폰 자체 추론)</a:t>
              </a:r>
            </a:p>
          </p:txBody>
        </p:sp>
        <p:sp>
          <p:nvSpPr>
            <p:cNvPr id="20" name="TextBox 20"/>
            <p:cNvSpPr txBox="1"/>
            <p:nvPr/>
          </p:nvSpPr>
          <p:spPr>
            <a:xfrm>
              <a:off x="382689" y="1043343"/>
              <a:ext cx="10485120" cy="4720354"/>
            </a:xfrm>
            <a:prstGeom prst="rect">
              <a:avLst/>
            </a:prstGeom>
          </p:spPr>
          <p:txBody>
            <a:bodyPr lIns="0" tIns="0" rIns="0" bIns="0" rtlCol="0" anchor="t">
              <a:spAutoFit/>
            </a:bodyPr>
            <a:lstStyle/>
            <a:p>
              <a:pPr marL="603249" lvl="1" indent="-301625" algn="l">
                <a:lnSpc>
                  <a:spcPts val="3999"/>
                </a:lnSpc>
                <a:buFont typeface="Arial"/>
                <a:buChar char="•"/>
              </a:pPr>
              <a:r>
                <a:rPr lang="en-US" sz="2499" dirty="0">
                  <a:solidFill>
                    <a:srgbClr val="1A1A1A"/>
                  </a:solidFill>
                  <a:latin typeface="프리텐다드"/>
                  <a:ea typeface="프리텐다드"/>
                  <a:cs typeface="프리텐다드"/>
                  <a:sym typeface="프리텐다드"/>
                </a:rPr>
                <a:t>폰 </a:t>
              </a:r>
              <a:r>
                <a:rPr lang="en-US" sz="2499" dirty="0" err="1">
                  <a:solidFill>
                    <a:srgbClr val="1A1A1A"/>
                  </a:solidFill>
                  <a:latin typeface="프리텐다드"/>
                  <a:ea typeface="프리텐다드"/>
                  <a:cs typeface="프리텐다드"/>
                  <a:sym typeface="프리텐다드"/>
                </a:rPr>
                <a:t>안에서</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직접</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돌리는</a:t>
              </a:r>
              <a:r>
                <a:rPr lang="en-US" sz="2499" dirty="0">
                  <a:solidFill>
                    <a:srgbClr val="1A1A1A"/>
                  </a:solidFill>
                  <a:latin typeface="프리텐다드"/>
                  <a:ea typeface="프리텐다드"/>
                  <a:cs typeface="프리텐다드"/>
                  <a:sym typeface="프리텐다드"/>
                </a:rPr>
                <a:t> 건 </a:t>
              </a:r>
              <a:r>
                <a:rPr lang="en-US" sz="2499" dirty="0" err="1">
                  <a:solidFill>
                    <a:srgbClr val="1A1A1A"/>
                  </a:solidFill>
                  <a:latin typeface="프리텐다드"/>
                  <a:ea typeface="프리텐다드"/>
                  <a:cs typeface="프리텐다드"/>
                  <a:sym typeface="프리텐다드"/>
                </a:rPr>
                <a:t>아직</a:t>
              </a:r>
              <a:r>
                <a:rPr lang="en-US" sz="2499" dirty="0">
                  <a:solidFill>
                    <a:srgbClr val="1A1A1A"/>
                  </a:solidFill>
                  <a:latin typeface="프리텐다드"/>
                  <a:ea typeface="프리텐다드"/>
                  <a:cs typeface="프리텐다드"/>
                  <a:sym typeface="프리텐다드"/>
                </a:rPr>
                <a:t> 해 </a:t>
              </a:r>
              <a:r>
                <a:rPr lang="en-US" sz="2499" dirty="0" err="1">
                  <a:solidFill>
                    <a:srgbClr val="1A1A1A"/>
                  </a:solidFill>
                  <a:latin typeface="프리텐다드"/>
                  <a:ea typeface="프리텐다드"/>
                  <a:cs typeface="프리텐다드"/>
                  <a:sym typeface="프리텐다드"/>
                </a:rPr>
                <a:t>보지</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않았습니다</a:t>
              </a:r>
              <a:r>
                <a:rPr lang="en-US" sz="2499" dirty="0">
                  <a:solidFill>
                    <a:srgbClr val="1A1A1A"/>
                  </a:solidFill>
                  <a:latin typeface="프리텐다드"/>
                  <a:ea typeface="프리텐다드"/>
                  <a:cs typeface="프리텐다드"/>
                  <a:sym typeface="프리텐다드"/>
                </a:rPr>
                <a:t>.</a:t>
              </a:r>
            </a:p>
            <a:p>
              <a:pPr marL="603249" lvl="1" indent="-301625" algn="l">
                <a:lnSpc>
                  <a:spcPts val="3999"/>
                </a:lnSpc>
                <a:buFont typeface="Arial"/>
                <a:buChar char="•"/>
              </a:pPr>
              <a:r>
                <a:rPr lang="ko-KR" altLang="en-US" sz="2499" dirty="0">
                  <a:solidFill>
                    <a:srgbClr val="1A1A1A"/>
                  </a:solidFill>
                  <a:latin typeface="프리텐다드"/>
                  <a:ea typeface="프리텐다드"/>
                  <a:cs typeface="프리텐다드"/>
                  <a:sym typeface="프리텐다드"/>
                </a:rPr>
                <a:t>모델 크기 상 구동은 가능할 것으로 보이나</a:t>
              </a:r>
              <a:r>
                <a:rPr lang="en-US" altLang="ko-KR" sz="2499" dirty="0">
                  <a:solidFill>
                    <a:srgbClr val="1A1A1A"/>
                  </a:solidFill>
                  <a:latin typeface="프리텐다드"/>
                  <a:ea typeface="프리텐다드"/>
                  <a:cs typeface="프리텐다드"/>
                  <a:sym typeface="프리텐다드"/>
                </a:rPr>
                <a:t>, </a:t>
              </a:r>
              <a:r>
                <a:rPr lang="ko-KR" altLang="en-US" sz="2499" dirty="0">
                  <a:solidFill>
                    <a:srgbClr val="1A1A1A"/>
                  </a:solidFill>
                  <a:latin typeface="프리텐다드"/>
                  <a:ea typeface="프리텐다드"/>
                  <a:cs typeface="프리텐다드"/>
                  <a:sym typeface="프리텐다드"/>
                </a:rPr>
                <a:t>실측 전이므로 이는 추정에 그칩니다</a:t>
              </a:r>
              <a:r>
                <a:rPr lang="en-US" altLang="ko-KR" sz="2499" dirty="0">
                  <a:solidFill>
                    <a:srgbClr val="1A1A1A"/>
                  </a:solidFill>
                  <a:latin typeface="프리텐다드"/>
                  <a:ea typeface="프리텐다드"/>
                  <a:cs typeface="프리텐다드"/>
                  <a:sym typeface="프리텐다드"/>
                </a:rPr>
                <a:t>.</a:t>
              </a:r>
            </a:p>
            <a:p>
              <a:pPr marL="603249" lvl="1" indent="-301625" algn="l">
                <a:lnSpc>
                  <a:spcPts val="3999"/>
                </a:lnSpc>
                <a:buFont typeface="Arial"/>
                <a:buChar char="•"/>
              </a:pPr>
              <a:r>
                <a:rPr lang="en-US" sz="2499" dirty="0" err="1">
                  <a:solidFill>
                    <a:srgbClr val="1A1A1A"/>
                  </a:solidFill>
                  <a:latin typeface="프리텐다드"/>
                  <a:ea typeface="프리텐다드"/>
                  <a:cs typeface="프리텐다드"/>
                  <a:sym typeface="프리텐다드"/>
                </a:rPr>
                <a:t>폰에서</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장당</a:t>
              </a:r>
              <a:r>
                <a:rPr lang="en-US" sz="2499" dirty="0">
                  <a:solidFill>
                    <a:srgbClr val="1A1A1A"/>
                  </a:solidFill>
                  <a:latin typeface="프리텐다드"/>
                  <a:ea typeface="프리텐다드"/>
                  <a:cs typeface="프리텐다드"/>
                  <a:sym typeface="프리텐다드"/>
                </a:rPr>
                <a:t> 몇 </a:t>
              </a:r>
              <a:r>
                <a:rPr lang="en-US" sz="2499" dirty="0" err="1">
                  <a:solidFill>
                    <a:srgbClr val="1A1A1A"/>
                  </a:solidFill>
                  <a:latin typeface="프리텐다드"/>
                  <a:ea typeface="프리텐다드"/>
                  <a:cs typeface="프리텐다드"/>
                  <a:sym typeface="프리텐다드"/>
                </a:rPr>
                <a:t>초가</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걸리는지</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배터리는</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얼마나</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쓰는지부터</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재야</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합니다</a:t>
              </a:r>
              <a:r>
                <a:rPr lang="en-US" sz="2499" dirty="0">
                  <a:solidFill>
                    <a:srgbClr val="1A1A1A"/>
                  </a:solidFill>
                  <a:latin typeface="프리텐다드"/>
                  <a:ea typeface="프리텐다드"/>
                  <a:cs typeface="프리텐다드"/>
                  <a:sym typeface="프리텐다드"/>
                </a:rPr>
                <a:t>.</a:t>
              </a:r>
            </a:p>
            <a:p>
              <a:pPr marL="603249" lvl="1" indent="-301625" algn="l">
                <a:lnSpc>
                  <a:spcPts val="3999"/>
                </a:lnSpc>
                <a:buFont typeface="Arial"/>
                <a:buChar char="•"/>
              </a:pPr>
              <a:r>
                <a:rPr lang="ko-KR" altLang="en-US" sz="2499" dirty="0">
                  <a:solidFill>
                    <a:srgbClr val="1A1A1A"/>
                  </a:solidFill>
                  <a:latin typeface="프리텐다드"/>
                  <a:ea typeface="프리텐다드"/>
                  <a:cs typeface="프리텐다드"/>
                  <a:sym typeface="프리텐다드"/>
                </a:rPr>
                <a:t>실현 </a:t>
              </a:r>
              <a:r>
                <a:rPr lang="ko-KR" altLang="en-US" sz="2499" dirty="0" err="1">
                  <a:solidFill>
                    <a:srgbClr val="1A1A1A"/>
                  </a:solidFill>
                  <a:latin typeface="프리텐다드"/>
                  <a:ea typeface="프리텐다드"/>
                  <a:cs typeface="프리텐다드"/>
                  <a:sym typeface="프리텐다드"/>
                </a:rPr>
                <a:t>가능해진다면</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서버</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비용이</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거의</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사라지고</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사진도</a:t>
              </a:r>
              <a:r>
                <a:rPr lang="en-US" sz="2499" dirty="0">
                  <a:solidFill>
                    <a:srgbClr val="1A1A1A"/>
                  </a:solidFill>
                  <a:latin typeface="프리텐다드"/>
                  <a:ea typeface="프리텐다드"/>
                  <a:cs typeface="프리텐다드"/>
                  <a:sym typeface="프리텐다드"/>
                </a:rPr>
                <a:t> 폰 </a:t>
              </a:r>
              <a:r>
                <a:rPr lang="en-US" sz="2499" dirty="0" err="1">
                  <a:solidFill>
                    <a:srgbClr val="1A1A1A"/>
                  </a:solidFill>
                  <a:latin typeface="프리텐다드"/>
                  <a:ea typeface="프리텐다드"/>
                  <a:cs typeface="프리텐다드"/>
                  <a:sym typeface="프리텐다드"/>
                </a:rPr>
                <a:t>밖으로</a:t>
              </a:r>
              <a:r>
                <a:rPr lang="en-US" sz="2499" dirty="0">
                  <a:solidFill>
                    <a:srgbClr val="1A1A1A"/>
                  </a:solidFill>
                  <a:latin typeface="프리텐다드"/>
                  <a:ea typeface="프리텐다드"/>
                  <a:cs typeface="프리텐다드"/>
                  <a:sym typeface="프리텐다드"/>
                </a:rPr>
                <a:t> </a:t>
              </a:r>
              <a:r>
                <a:rPr lang="ko-KR" altLang="en-US" sz="2499" dirty="0">
                  <a:solidFill>
                    <a:srgbClr val="1A1A1A"/>
                  </a:solidFill>
                  <a:latin typeface="프리텐다드"/>
                  <a:ea typeface="프리텐다드"/>
                  <a:cs typeface="프리텐다드"/>
                  <a:sym typeface="프리텐다드"/>
                </a:rPr>
                <a:t>나갈 필요가 없어집니다</a:t>
              </a:r>
              <a:r>
                <a:rPr lang="en-US" altLang="ko-KR" sz="2499" dirty="0">
                  <a:solidFill>
                    <a:srgbClr val="1A1A1A"/>
                  </a:solidFill>
                  <a:latin typeface="프리텐다드"/>
                  <a:ea typeface="프리텐다드"/>
                  <a:cs typeface="프리텐다드"/>
                  <a:sym typeface="프리텐다드"/>
                </a:rPr>
                <a:t>.</a:t>
              </a:r>
              <a:endParaRPr lang="en-US" sz="2499" dirty="0">
                <a:solidFill>
                  <a:srgbClr val="1A1A1A"/>
                </a:solidFill>
                <a:latin typeface="프리텐다드"/>
                <a:ea typeface="프리텐다드"/>
                <a:cs typeface="프리텐다드"/>
                <a:sym typeface="프리텐다드"/>
              </a:endParaRPr>
            </a:p>
          </p:txBody>
        </p:sp>
      </p:grpSp>
      <p:grpSp>
        <p:nvGrpSpPr>
          <p:cNvPr id="21" name="Group 21"/>
          <p:cNvGrpSpPr/>
          <p:nvPr/>
        </p:nvGrpSpPr>
        <p:grpSpPr>
          <a:xfrm>
            <a:off x="535943" y="8308343"/>
            <a:ext cx="17216123" cy="793499"/>
            <a:chOff x="0" y="0"/>
            <a:chExt cx="22954831" cy="1057999"/>
          </a:xfrm>
        </p:grpSpPr>
        <p:grpSp>
          <p:nvGrpSpPr>
            <p:cNvPr id="22" name="Group 22"/>
            <p:cNvGrpSpPr/>
            <p:nvPr/>
          </p:nvGrpSpPr>
          <p:grpSpPr>
            <a:xfrm>
              <a:off x="0" y="0"/>
              <a:ext cx="22954831" cy="1057999"/>
              <a:chOff x="0" y="0"/>
              <a:chExt cx="22954831" cy="1057999"/>
            </a:xfrm>
          </p:grpSpPr>
          <p:sp>
            <p:nvSpPr>
              <p:cNvPr id="23" name="Freeform 23"/>
              <p:cNvSpPr/>
              <p:nvPr/>
            </p:nvSpPr>
            <p:spPr>
              <a:xfrm>
                <a:off x="0" y="0"/>
                <a:ext cx="22954869" cy="1058037"/>
              </a:xfrm>
              <a:custGeom>
                <a:avLst/>
                <a:gdLst/>
                <a:ahLst/>
                <a:cxnLst/>
                <a:rect l="l" t="t" r="r" b="b"/>
                <a:pathLst>
                  <a:path w="22954869" h="1058037">
                    <a:moveTo>
                      <a:pt x="0" y="201549"/>
                    </a:moveTo>
                    <a:cubicBezTo>
                      <a:pt x="0" y="90170"/>
                      <a:pt x="90170" y="0"/>
                      <a:pt x="201549" y="0"/>
                    </a:cubicBezTo>
                    <a:lnTo>
                      <a:pt x="22753320" y="0"/>
                    </a:lnTo>
                    <a:cubicBezTo>
                      <a:pt x="22864572" y="0"/>
                      <a:pt x="22954869" y="90170"/>
                      <a:pt x="22954869" y="201549"/>
                    </a:cubicBezTo>
                    <a:lnTo>
                      <a:pt x="22954869" y="856488"/>
                    </a:lnTo>
                    <a:cubicBezTo>
                      <a:pt x="22954869" y="967740"/>
                      <a:pt x="22864699" y="1058037"/>
                      <a:pt x="22753320" y="1058037"/>
                    </a:cubicBezTo>
                    <a:lnTo>
                      <a:pt x="201549" y="1058037"/>
                    </a:lnTo>
                    <a:cubicBezTo>
                      <a:pt x="90170" y="1058037"/>
                      <a:pt x="0" y="967740"/>
                      <a:pt x="0" y="856488"/>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24" name="Group 24"/>
            <p:cNvGrpSpPr/>
            <p:nvPr/>
          </p:nvGrpSpPr>
          <p:grpSpPr>
            <a:xfrm>
              <a:off x="382689" y="16929"/>
              <a:ext cx="22189440" cy="1024128"/>
              <a:chOff x="0" y="0"/>
              <a:chExt cx="22189440" cy="1024128"/>
            </a:xfrm>
          </p:grpSpPr>
          <p:sp>
            <p:nvSpPr>
              <p:cNvPr id="25" name="Freeform 25"/>
              <p:cNvSpPr/>
              <p:nvPr/>
            </p:nvSpPr>
            <p:spPr>
              <a:xfrm>
                <a:off x="0" y="0"/>
                <a:ext cx="22189439" cy="1024128"/>
              </a:xfrm>
              <a:custGeom>
                <a:avLst/>
                <a:gdLst/>
                <a:ahLst/>
                <a:cxnLst/>
                <a:rect l="l" t="t" r="r" b="b"/>
                <a:pathLst>
                  <a:path w="22189439" h="1024128">
                    <a:moveTo>
                      <a:pt x="0" y="0"/>
                    </a:moveTo>
                    <a:lnTo>
                      <a:pt x="22189439" y="0"/>
                    </a:lnTo>
                    <a:lnTo>
                      <a:pt x="22189439" y="1024128"/>
                    </a:lnTo>
                    <a:lnTo>
                      <a:pt x="0" y="1024128"/>
                    </a:lnTo>
                    <a:close/>
                  </a:path>
                </a:pathLst>
              </a:custGeom>
              <a:blipFill>
                <a:blip r:embed="rId3">
                  <a:alphaModFix amt="0"/>
                </a:blip>
                <a:stretch>
                  <a:fillRect t="-372175" b="-372175"/>
                </a:stretch>
              </a:blipFill>
            </p:spPr>
            <p:txBody>
              <a:bodyPr/>
              <a:lstStyle/>
              <a:p>
                <a:endParaRPr lang="ko-KR" altLang="en-US"/>
              </a:p>
            </p:txBody>
          </p:sp>
          <p:sp>
            <p:nvSpPr>
              <p:cNvPr id="26" name="TextBox 26"/>
              <p:cNvSpPr txBox="1"/>
              <p:nvPr/>
            </p:nvSpPr>
            <p:spPr>
              <a:xfrm>
                <a:off x="0" y="0"/>
                <a:ext cx="22189440" cy="1024128"/>
              </a:xfrm>
              <a:prstGeom prst="rect">
                <a:avLst/>
              </a:prstGeom>
            </p:spPr>
            <p:txBody>
              <a:bodyPr lIns="0" tIns="0" rIns="0" bIns="0" rtlCol="0" anchor="ctr"/>
              <a:lstStyle/>
              <a:p>
                <a:pPr algn="ctr">
                  <a:lnSpc>
                    <a:spcPts val="2999"/>
                  </a:lnSpc>
                </a:pPr>
                <a:r>
                  <a:rPr lang="en-US" sz="2499">
                    <a:solidFill>
                      <a:srgbClr val="1A1A1A"/>
                    </a:solidFill>
                    <a:latin typeface="프리텐다드"/>
                    <a:ea typeface="프리텐다드"/>
                    <a:cs typeface="프리텐다드"/>
                    <a:sym typeface="프리텐다드"/>
                  </a:rPr>
                  <a:t>지금 돌아가는 건 서버 추론 하나뿐입니다. </a:t>
                </a:r>
                <a:r>
                  <a:rPr lang="en-US" sz="2499">
                    <a:solidFill>
                      <a:srgbClr val="8B0000"/>
                    </a:solidFill>
                    <a:latin typeface="프리텐다드"/>
                    <a:ea typeface="프리텐다드"/>
                    <a:cs typeface="프리텐다드"/>
                    <a:sym typeface="프리텐다드"/>
                  </a:rPr>
                  <a:t>온디바이스는 </a:t>
                </a:r>
                <a:r>
                  <a:rPr lang="en-US" sz="2499" b="1">
                    <a:solidFill>
                      <a:srgbClr val="8B0000"/>
                    </a:solidFill>
                    <a:latin typeface="프리텐다드 Bold"/>
                    <a:ea typeface="프리텐다드 Bold"/>
                    <a:cs typeface="프리텐다드 Bold"/>
                    <a:sym typeface="프리텐다드 Bold"/>
                  </a:rPr>
                  <a:t>가능성</a:t>
                </a:r>
                <a:r>
                  <a:rPr lang="en-US" sz="2499">
                    <a:solidFill>
                      <a:srgbClr val="8B0000"/>
                    </a:solidFill>
                    <a:latin typeface="프리텐다드"/>
                    <a:ea typeface="프리텐다드"/>
                    <a:cs typeface="프리텐다드"/>
                    <a:sym typeface="프리텐다드"/>
                  </a:rPr>
                  <a:t>의 영역입니다.</a:t>
                </a:r>
              </a:p>
            </p:txBody>
          </p:sp>
        </p:gr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5943" y="535943"/>
            <a:ext cx="153419" cy="756923"/>
            <a:chOff x="0" y="0"/>
            <a:chExt cx="204559" cy="1009231"/>
          </a:xfrm>
        </p:grpSpPr>
        <p:sp>
          <p:nvSpPr>
            <p:cNvPr id="3" name="Freeform 3"/>
            <p:cNvSpPr/>
            <p:nvPr/>
          </p:nvSpPr>
          <p:spPr>
            <a:xfrm>
              <a:off x="0" y="0"/>
              <a:ext cx="204597" cy="1009269"/>
            </a:xfrm>
            <a:custGeom>
              <a:avLst/>
              <a:gdLst/>
              <a:ahLst/>
              <a:cxnLst/>
              <a:rect l="l" t="t" r="r" b="b"/>
              <a:pathLst>
                <a:path w="204597" h="1009269">
                  <a:moveTo>
                    <a:pt x="0" y="0"/>
                  </a:moveTo>
                  <a:lnTo>
                    <a:pt x="204597" y="0"/>
                  </a:lnTo>
                  <a:lnTo>
                    <a:pt x="204597" y="1009269"/>
                  </a:lnTo>
                  <a:lnTo>
                    <a:pt x="0" y="1009269"/>
                  </a:ln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4" name="Group 4"/>
          <p:cNvGrpSpPr/>
          <p:nvPr/>
        </p:nvGrpSpPr>
        <p:grpSpPr>
          <a:xfrm>
            <a:off x="822960" y="457200"/>
            <a:ext cx="15910560" cy="914400"/>
            <a:chOff x="0" y="0"/>
            <a:chExt cx="21214080" cy="1219200"/>
          </a:xfrm>
        </p:grpSpPr>
        <p:sp>
          <p:nvSpPr>
            <p:cNvPr id="5" name="Freeform 5"/>
            <p:cNvSpPr/>
            <p:nvPr/>
          </p:nvSpPr>
          <p:spPr>
            <a:xfrm>
              <a:off x="0" y="0"/>
              <a:ext cx="21214080" cy="1219200"/>
            </a:xfrm>
            <a:custGeom>
              <a:avLst/>
              <a:gdLst/>
              <a:ahLst/>
              <a:cxnLst/>
              <a:rect l="l" t="t" r="r" b="b"/>
              <a:pathLst>
                <a:path w="21214080" h="1219200">
                  <a:moveTo>
                    <a:pt x="0" y="0"/>
                  </a:moveTo>
                  <a:lnTo>
                    <a:pt x="21214080" y="0"/>
                  </a:lnTo>
                  <a:lnTo>
                    <a:pt x="21214080" y="1219200"/>
                  </a:lnTo>
                  <a:lnTo>
                    <a:pt x="0" y="1219200"/>
                  </a:lnTo>
                  <a:close/>
                </a:path>
              </a:pathLst>
            </a:custGeom>
            <a:blipFill>
              <a:blip r:embed="rId3">
                <a:alphaModFix amt="0"/>
              </a:blip>
              <a:stretch>
                <a:fillRect t="-289039" b="-289039"/>
              </a:stretch>
            </a:blipFill>
          </p:spPr>
          <p:txBody>
            <a:bodyPr/>
            <a:lstStyle/>
            <a:p>
              <a:endParaRPr lang="ko-KR" altLang="en-US"/>
            </a:p>
          </p:txBody>
        </p:sp>
        <p:sp>
          <p:nvSpPr>
            <p:cNvPr id="6" name="TextBox 6"/>
            <p:cNvSpPr txBox="1"/>
            <p:nvPr/>
          </p:nvSpPr>
          <p:spPr>
            <a:xfrm>
              <a:off x="0" y="0"/>
              <a:ext cx="21214080" cy="1219200"/>
            </a:xfrm>
            <a:prstGeom prst="rect">
              <a:avLst/>
            </a:prstGeom>
          </p:spPr>
          <p:txBody>
            <a:bodyPr lIns="0" tIns="0" rIns="0" bIns="0" rtlCol="0" anchor="ctr"/>
            <a:lstStyle/>
            <a:p>
              <a:pPr algn="l">
                <a:lnSpc>
                  <a:spcPts val="4560"/>
                </a:lnSpc>
              </a:pPr>
              <a:r>
                <a:rPr lang="en-US" sz="3800" b="1" dirty="0" err="1">
                  <a:solidFill>
                    <a:srgbClr val="1A1A1A"/>
                  </a:solidFill>
                  <a:latin typeface="프리텐다드 Bold"/>
                  <a:ea typeface="프리텐다드 Bold"/>
                  <a:cs typeface="프리텐다드 Bold"/>
                  <a:sym typeface="프리텐다드 Bold"/>
                </a:rPr>
                <a:t>손실</a:t>
              </a:r>
              <a:r>
                <a:rPr lang="en-US" sz="3800" b="1" dirty="0">
                  <a:solidFill>
                    <a:srgbClr val="1A1A1A"/>
                  </a:solidFill>
                  <a:latin typeface="프리텐다드 Bold"/>
                  <a:ea typeface="프리텐다드 Bold"/>
                  <a:cs typeface="프리텐다드 Bold"/>
                  <a:sym typeface="프리텐다드 Bold"/>
                </a:rPr>
                <a:t> </a:t>
              </a:r>
              <a:r>
                <a:rPr lang="en-US" sz="3800" b="1" dirty="0" err="1">
                  <a:solidFill>
                    <a:srgbClr val="1A1A1A"/>
                  </a:solidFill>
                  <a:latin typeface="프리텐다드 Bold"/>
                  <a:ea typeface="프리텐다드 Bold"/>
                  <a:cs typeface="프리텐다드 Bold"/>
                  <a:sym typeface="프리텐다드 Bold"/>
                </a:rPr>
                <a:t>절감과</a:t>
              </a:r>
              <a:r>
                <a:rPr lang="en-US" sz="3800" b="1" dirty="0">
                  <a:solidFill>
                    <a:srgbClr val="1A1A1A"/>
                  </a:solidFill>
                  <a:latin typeface="프리텐다드 Bold"/>
                  <a:ea typeface="프리텐다드 Bold"/>
                  <a:cs typeface="프리텐다드 Bold"/>
                  <a:sym typeface="프리텐다드 Bold"/>
                </a:rPr>
                <a:t> ROI : </a:t>
              </a:r>
              <a:r>
                <a:rPr lang="en-US" sz="3800" b="1" dirty="0" err="1">
                  <a:solidFill>
                    <a:srgbClr val="8B0000"/>
                  </a:solidFill>
                  <a:latin typeface="프리텐다드 Bold"/>
                  <a:ea typeface="프리텐다드 Bold"/>
                  <a:cs typeface="프리텐다드 Bold"/>
                  <a:sym typeface="프리텐다드 Bold"/>
                </a:rPr>
                <a:t>비용</a:t>
              </a:r>
              <a:r>
                <a:rPr lang="en-US" sz="3800" b="1" dirty="0">
                  <a:solidFill>
                    <a:srgbClr val="8B0000"/>
                  </a:solidFill>
                  <a:latin typeface="프리텐다드 Bold"/>
                  <a:ea typeface="프리텐다드 Bold"/>
                  <a:cs typeface="프리텐다드 Bold"/>
                  <a:sym typeface="프리텐다드 Bold"/>
                </a:rPr>
                <a:t> </a:t>
              </a:r>
              <a:r>
                <a:rPr lang="en-US" sz="3800" b="1" dirty="0" err="1">
                  <a:solidFill>
                    <a:srgbClr val="8B0000"/>
                  </a:solidFill>
                  <a:latin typeface="프리텐다드 Bold"/>
                  <a:ea typeface="프리텐다드 Bold"/>
                  <a:cs typeface="프리텐다드 Bold"/>
                  <a:sym typeface="프리텐다드 Bold"/>
                </a:rPr>
                <a:t>절감으로는</a:t>
              </a:r>
              <a:r>
                <a:rPr lang="en-US" sz="3800" b="1" dirty="0">
                  <a:solidFill>
                    <a:srgbClr val="8B0000"/>
                  </a:solidFill>
                  <a:latin typeface="프리텐다드 Bold"/>
                  <a:ea typeface="프리텐다드 Bold"/>
                  <a:cs typeface="프리텐다드 Bold"/>
                  <a:sym typeface="프리텐다드 Bold"/>
                </a:rPr>
                <a:t> </a:t>
              </a:r>
              <a:r>
                <a:rPr lang="ko-KR" altLang="en-US" sz="3800" b="1" dirty="0">
                  <a:solidFill>
                    <a:srgbClr val="8B0000"/>
                  </a:solidFill>
                  <a:latin typeface="프리텐다드 Bold"/>
                  <a:ea typeface="프리텐다드 Bold"/>
                  <a:cs typeface="프리텐다드 Bold"/>
                  <a:sym typeface="프리텐다드 Bold"/>
                </a:rPr>
                <a:t>손익분기에 못 미칩니다</a:t>
              </a:r>
              <a:endParaRPr lang="en-US" sz="3800" b="1" dirty="0">
                <a:solidFill>
                  <a:srgbClr val="8B0000"/>
                </a:solidFill>
                <a:latin typeface="프리텐다드 Bold"/>
                <a:ea typeface="프리텐다드 Bold"/>
                <a:cs typeface="프리텐다드 Bold"/>
                <a:sym typeface="프리텐다드 Bold"/>
              </a:endParaRPr>
            </a:p>
          </p:txBody>
        </p:sp>
      </p:grpSp>
      <p:sp>
        <p:nvSpPr>
          <p:cNvPr id="7" name="AutoShape 7"/>
          <p:cNvSpPr/>
          <p:nvPr/>
        </p:nvSpPr>
        <p:spPr>
          <a:xfrm rot="3780">
            <a:off x="539105" y="1494854"/>
            <a:ext cx="17209780" cy="0"/>
          </a:xfrm>
          <a:prstGeom prst="line">
            <a:avLst/>
          </a:prstGeom>
          <a:ln w="9525" cap="rnd">
            <a:solidFill>
              <a:srgbClr val="BFBFBF"/>
            </a:solidFill>
            <a:prstDash val="solid"/>
            <a:headEnd type="none" w="sm" len="sm"/>
            <a:tailEnd type="none" w="sm" len="sm"/>
          </a:ln>
        </p:spPr>
        <p:txBody>
          <a:bodyPr/>
          <a:lstStyle/>
          <a:p>
            <a:endParaRPr lang="ko-KR" altLang="en-US"/>
          </a:p>
        </p:txBody>
      </p:sp>
      <p:grpSp>
        <p:nvGrpSpPr>
          <p:cNvPr id="8" name="Group 8"/>
          <p:cNvGrpSpPr/>
          <p:nvPr/>
        </p:nvGrpSpPr>
        <p:grpSpPr>
          <a:xfrm>
            <a:off x="17007840" y="219456"/>
            <a:ext cx="914400" cy="457200"/>
            <a:chOff x="0" y="0"/>
            <a:chExt cx="1219200" cy="609600"/>
          </a:xfrm>
        </p:grpSpPr>
        <p:sp>
          <p:nvSpPr>
            <p:cNvPr id="9" name="Freeform 9"/>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10" name="TextBox 10"/>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1A1A1A"/>
                  </a:solidFill>
                  <a:latin typeface="프리텐다드"/>
                  <a:ea typeface="프리텐다드"/>
                  <a:cs typeface="프리텐다드"/>
                  <a:sym typeface="프리텐다드"/>
                </a:rPr>
                <a:t>19</a:t>
              </a:r>
            </a:p>
          </p:txBody>
        </p:sp>
      </p:grpSp>
      <p:sp>
        <p:nvSpPr>
          <p:cNvPr id="11" name="TextBox 11"/>
          <p:cNvSpPr txBox="1"/>
          <p:nvPr/>
        </p:nvSpPr>
        <p:spPr>
          <a:xfrm>
            <a:off x="548640" y="1819275"/>
            <a:ext cx="17190720" cy="353623"/>
          </a:xfrm>
          <a:prstGeom prst="rect">
            <a:avLst/>
          </a:prstGeom>
        </p:spPr>
        <p:txBody>
          <a:bodyPr lIns="0" tIns="0" rIns="0" bIns="0" rtlCol="0" anchor="t">
            <a:spAutoFit/>
          </a:bodyPr>
          <a:lstStyle/>
          <a:p>
            <a:pPr algn="l">
              <a:lnSpc>
                <a:spcPts val="2879"/>
              </a:lnSpc>
            </a:pPr>
            <a:r>
              <a:rPr lang="en-US" sz="2400" b="1" dirty="0" err="1">
                <a:solidFill>
                  <a:srgbClr val="1A1A1A"/>
                </a:solidFill>
                <a:latin typeface="프리텐다드 Bold"/>
                <a:ea typeface="프리텐다드 Bold"/>
                <a:cs typeface="프리텐다드 Bold"/>
                <a:sym typeface="프리텐다드 Bold"/>
              </a:rPr>
              <a:t>OCR이</a:t>
            </a:r>
            <a:r>
              <a:rPr lang="en-US" sz="2400" b="1" dirty="0">
                <a:solidFill>
                  <a:srgbClr val="1A1A1A"/>
                </a:solidFill>
                <a:latin typeface="프리텐다드 Bold"/>
                <a:ea typeface="프리텐다드 Bold"/>
                <a:cs typeface="프리텐다드 Bold"/>
                <a:sym typeface="프리텐다드 Bold"/>
              </a:rPr>
              <a:t> </a:t>
            </a:r>
            <a:r>
              <a:rPr lang="en-US" sz="2400" b="1" dirty="0" err="1">
                <a:solidFill>
                  <a:srgbClr val="1A1A1A"/>
                </a:solidFill>
                <a:latin typeface="프리텐다드 Bold"/>
                <a:ea typeface="프리텐다드 Bold"/>
                <a:cs typeface="프리텐다드 Bold"/>
                <a:sym typeface="프리텐다드 Bold"/>
              </a:rPr>
              <a:t>있어야</a:t>
            </a:r>
            <a:r>
              <a:rPr lang="en-US" sz="2400" b="1" dirty="0">
                <a:solidFill>
                  <a:srgbClr val="1A1A1A"/>
                </a:solidFill>
                <a:latin typeface="프리텐다드 Bold"/>
                <a:ea typeface="프리텐다드 Bold"/>
                <a:cs typeface="프리텐다드 Bold"/>
                <a:sym typeface="프리텐다드 Bold"/>
              </a:rPr>
              <a:t> </a:t>
            </a:r>
            <a:r>
              <a:rPr lang="ko-KR" altLang="en-US" sz="2400" b="1" dirty="0">
                <a:solidFill>
                  <a:srgbClr val="1A1A1A"/>
                </a:solidFill>
                <a:latin typeface="프리텐다드 Bold"/>
                <a:ea typeface="프리텐다드 Bold"/>
                <a:cs typeface="프리텐다드 Bold"/>
                <a:sym typeface="프리텐다드 Bold"/>
              </a:rPr>
              <a:t>하는</a:t>
            </a:r>
            <a:r>
              <a:rPr lang="en-US" sz="2400" b="1" dirty="0">
                <a:solidFill>
                  <a:srgbClr val="1A1A1A"/>
                </a:solidFill>
                <a:latin typeface="프리텐다드 Bold"/>
                <a:ea typeface="프리텐다드 Bold"/>
                <a:cs typeface="프리텐다드 Bold"/>
                <a:sym typeface="프리텐다드 Bold"/>
              </a:rPr>
              <a:t> 것 / </a:t>
            </a:r>
            <a:r>
              <a:rPr lang="en-US" sz="2400" b="1" dirty="0" err="1">
                <a:solidFill>
                  <a:srgbClr val="1A1A1A"/>
                </a:solidFill>
                <a:latin typeface="프리텐다드 Bold"/>
                <a:ea typeface="프리텐다드 Bold"/>
                <a:cs typeface="프리텐다드 Bold"/>
                <a:sym typeface="프리텐다드 Bold"/>
              </a:rPr>
              <a:t>날짜</a:t>
            </a:r>
            <a:r>
              <a:rPr lang="en-US" sz="2400" b="1" dirty="0">
                <a:solidFill>
                  <a:srgbClr val="1A1A1A"/>
                </a:solidFill>
                <a:latin typeface="프리텐다드 Bold"/>
                <a:ea typeface="프리텐다드 Bold"/>
                <a:cs typeface="프리텐다드 Bold"/>
                <a:sym typeface="프리텐다드 Bold"/>
              </a:rPr>
              <a:t> </a:t>
            </a:r>
            <a:r>
              <a:rPr lang="en-US" sz="2400" b="1" dirty="0" err="1">
                <a:solidFill>
                  <a:srgbClr val="1A1A1A"/>
                </a:solidFill>
                <a:latin typeface="프리텐다드 Bold"/>
                <a:ea typeface="프리텐다드 Bold"/>
                <a:cs typeface="프리텐다드 Bold"/>
                <a:sym typeface="프리텐다드 Bold"/>
              </a:rPr>
              <a:t>칸만</a:t>
            </a:r>
            <a:r>
              <a:rPr lang="en-US" sz="2400" b="1" dirty="0">
                <a:solidFill>
                  <a:srgbClr val="1A1A1A"/>
                </a:solidFill>
                <a:latin typeface="프리텐다드 Bold"/>
                <a:ea typeface="프리텐다드 Bold"/>
                <a:cs typeface="프리텐다드 Bold"/>
                <a:sym typeface="프리텐다드 Bold"/>
              </a:rPr>
              <a:t> </a:t>
            </a:r>
            <a:r>
              <a:rPr lang="en-US" sz="2400" b="1" dirty="0" err="1">
                <a:solidFill>
                  <a:srgbClr val="1A1A1A"/>
                </a:solidFill>
                <a:latin typeface="프리텐다드 Bold"/>
                <a:ea typeface="프리텐다드 Bold"/>
                <a:cs typeface="프리텐다드 Bold"/>
                <a:sym typeface="프리텐다드 Bold"/>
              </a:rPr>
              <a:t>있으면</a:t>
            </a:r>
            <a:r>
              <a:rPr lang="en-US" sz="2400" b="1" dirty="0">
                <a:solidFill>
                  <a:srgbClr val="1A1A1A"/>
                </a:solidFill>
                <a:latin typeface="프리텐다드 Bold"/>
                <a:ea typeface="프리텐다드 Bold"/>
                <a:cs typeface="프리텐다드 Bold"/>
                <a:sym typeface="프리텐다드 Bold"/>
              </a:rPr>
              <a:t> </a:t>
            </a:r>
            <a:r>
              <a:rPr lang="en-US" sz="2400" b="1" dirty="0" err="1">
                <a:solidFill>
                  <a:srgbClr val="1A1A1A"/>
                </a:solidFill>
                <a:latin typeface="프리텐다드 Bold"/>
                <a:ea typeface="프리텐다드 Bold"/>
                <a:cs typeface="프리텐다드 Bold"/>
                <a:sym typeface="프리텐다드 Bold"/>
              </a:rPr>
              <a:t>되는</a:t>
            </a:r>
            <a:r>
              <a:rPr lang="en-US" sz="2400" b="1" dirty="0">
                <a:solidFill>
                  <a:srgbClr val="1A1A1A"/>
                </a:solidFill>
                <a:latin typeface="프리텐다드 Bold"/>
                <a:ea typeface="프리텐다드 Bold"/>
                <a:cs typeface="프리텐다드 Bold"/>
                <a:sym typeface="프리텐다드 Bold"/>
              </a:rPr>
              <a:t> 것</a:t>
            </a:r>
          </a:p>
        </p:txBody>
      </p:sp>
      <p:graphicFrame>
        <p:nvGraphicFramePr>
          <p:cNvPr id="12" name="Table 12"/>
          <p:cNvGraphicFramePr>
            <a:graphicFrameLocks noGrp="1"/>
          </p:cNvGraphicFramePr>
          <p:nvPr>
            <p:extLst>
              <p:ext uri="{D42A27DB-BD31-4B8C-83A1-F6EECF244321}">
                <p14:modId xmlns:p14="http://schemas.microsoft.com/office/powerpoint/2010/main" val="3469778038"/>
              </p:ext>
            </p:extLst>
          </p:nvPr>
        </p:nvGraphicFramePr>
        <p:xfrm>
          <a:off x="548640" y="2377440"/>
          <a:ext cx="17145000" cy="3175000"/>
        </p:xfrm>
        <a:graphic>
          <a:graphicData uri="http://schemas.openxmlformats.org/drawingml/2006/table">
            <a:tbl>
              <a:tblPr/>
              <a:tblGrid>
                <a:gridCol w="4920877">
                  <a:extLst>
                    <a:ext uri="{9D8B030D-6E8A-4147-A177-3AD203B41FA5}">
                      <a16:colId xmlns:a16="http://schemas.microsoft.com/office/drawing/2014/main" val="20000"/>
                    </a:ext>
                  </a:extLst>
                </a:gridCol>
                <a:gridCol w="3107657">
                  <a:extLst>
                    <a:ext uri="{9D8B030D-6E8A-4147-A177-3AD203B41FA5}">
                      <a16:colId xmlns:a16="http://schemas.microsoft.com/office/drawing/2014/main" val="20001"/>
                    </a:ext>
                  </a:extLst>
                </a:gridCol>
                <a:gridCol w="2019725">
                  <a:extLst>
                    <a:ext uri="{9D8B030D-6E8A-4147-A177-3AD203B41FA5}">
                      <a16:colId xmlns:a16="http://schemas.microsoft.com/office/drawing/2014/main" val="20002"/>
                    </a:ext>
                  </a:extLst>
                </a:gridCol>
                <a:gridCol w="7096741">
                  <a:extLst>
                    <a:ext uri="{9D8B030D-6E8A-4147-A177-3AD203B41FA5}">
                      <a16:colId xmlns:a16="http://schemas.microsoft.com/office/drawing/2014/main" val="20003"/>
                    </a:ext>
                  </a:extLst>
                </a:gridCol>
              </a:tblGrid>
              <a:tr h="609600">
                <a:tc>
                  <a:txBody>
                    <a:bodyPr/>
                    <a:lstStyle/>
                    <a:p>
                      <a:pPr algn="l">
                        <a:lnSpc>
                          <a:spcPts val="2304"/>
                        </a:lnSpc>
                        <a:defRPr/>
                      </a:pPr>
                      <a:r>
                        <a:rPr lang="en-US" sz="1920">
                          <a:solidFill>
                            <a:srgbClr val="FFFFFF"/>
                          </a:solidFill>
                          <a:latin typeface="프리텐다드"/>
                          <a:ea typeface="프리텐다드"/>
                          <a:cs typeface="프리텐다드"/>
                          <a:sym typeface="프리텐다드"/>
                        </a:rPr>
                        <a:t>편익</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304"/>
                        </a:lnSpc>
                        <a:defRPr/>
                      </a:pPr>
                      <a:r>
                        <a:rPr lang="en-US" sz="1920">
                          <a:solidFill>
                            <a:srgbClr val="FFFFFF"/>
                          </a:solidFill>
                          <a:latin typeface="프리텐다드"/>
                          <a:ea typeface="프리텐다드"/>
                          <a:cs typeface="프리텐다드"/>
                          <a:sym typeface="프리텐다드"/>
                        </a:rPr>
                        <a:t>누구에게</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304"/>
                        </a:lnSpc>
                        <a:defRPr/>
                      </a:pPr>
                      <a:r>
                        <a:rPr lang="en-US" sz="1920">
                          <a:solidFill>
                            <a:srgbClr val="FFFFFF"/>
                          </a:solidFill>
                          <a:latin typeface="프리텐다드"/>
                          <a:ea typeface="프리텐다드"/>
                          <a:cs typeface="프리텐다드"/>
                          <a:sym typeface="프리텐다드"/>
                        </a:rPr>
                        <a:t>OCR 필요?</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304"/>
                        </a:lnSpc>
                        <a:defRPr/>
                      </a:pPr>
                      <a:r>
                        <a:rPr lang="en-US" sz="1920">
                          <a:solidFill>
                            <a:srgbClr val="FFFFFF"/>
                          </a:solidFill>
                          <a:latin typeface="프리텐다드"/>
                          <a:ea typeface="프리텐다드"/>
                          <a:cs typeface="프리텐다드"/>
                          <a:sym typeface="프리텐다드"/>
                        </a:rPr>
                        <a:t>근거</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extLst>
                  <a:ext uri="{0D108BD9-81ED-4DB2-BD59-A6C34878D82A}">
                    <a16:rowId xmlns:a16="http://schemas.microsoft.com/office/drawing/2014/main" val="10000"/>
                  </a:ext>
                </a:extLst>
              </a:tr>
              <a:tr h="609600">
                <a:tc>
                  <a:txBody>
                    <a:bodyPr/>
                    <a:lstStyle/>
                    <a:p>
                      <a:pPr algn="l">
                        <a:lnSpc>
                          <a:spcPts val="2304"/>
                        </a:lnSpc>
                        <a:defRPr/>
                      </a:pPr>
                      <a:r>
                        <a:rPr lang="en-US" sz="1920">
                          <a:solidFill>
                            <a:srgbClr val="1A1A1A"/>
                          </a:solidFill>
                          <a:latin typeface="프리텐다드"/>
                          <a:ea typeface="프리텐다드"/>
                          <a:cs typeface="프리텐다드"/>
                          <a:sym typeface="프리텐다드"/>
                        </a:rPr>
                        <a:t>입력값과 사진의 대조</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구매자 · 플랫폼</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8B0000"/>
                          </a:solidFill>
                          <a:latin typeface="프리텐다드"/>
                          <a:ea typeface="프리텐다드"/>
                          <a:cs typeface="프리텐다드"/>
                          <a:sym typeface="프리텐다드"/>
                        </a:rPr>
                        <a:t>예</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ko-KR" altLang="en-US" sz="1920" dirty="0">
                          <a:solidFill>
                            <a:srgbClr val="1A1A1A"/>
                          </a:solidFill>
                          <a:latin typeface="프리텐다드"/>
                          <a:ea typeface="프리텐다드"/>
                          <a:cs typeface="프리텐다드"/>
                          <a:sym typeface="프리텐다드"/>
                        </a:rPr>
                        <a:t>판매자가 </a:t>
                      </a:r>
                      <a:r>
                        <a:rPr lang="en-US" altLang="ko-KR" sz="1920" dirty="0">
                          <a:solidFill>
                            <a:srgbClr val="1A1A1A"/>
                          </a:solidFill>
                          <a:latin typeface="프리텐다드"/>
                          <a:ea typeface="프리텐다드"/>
                          <a:cs typeface="프리텐다드"/>
                          <a:sym typeface="프리텐다드"/>
                        </a:rPr>
                        <a:t>(</a:t>
                      </a:r>
                      <a:r>
                        <a:rPr lang="ko-KR" altLang="en-US" sz="1920" dirty="0">
                          <a:solidFill>
                            <a:srgbClr val="1A1A1A"/>
                          </a:solidFill>
                          <a:latin typeface="프리텐다드"/>
                          <a:ea typeface="프리텐다드"/>
                          <a:cs typeface="프리텐다드"/>
                          <a:sym typeface="프리텐다드"/>
                        </a:rPr>
                        <a:t>모델 답을 보지 않고</a:t>
                      </a:r>
                      <a:r>
                        <a:rPr lang="en-US" altLang="ko-KR" sz="1920" dirty="0">
                          <a:solidFill>
                            <a:srgbClr val="1A1A1A"/>
                          </a:solidFill>
                          <a:latin typeface="프리텐다드"/>
                          <a:ea typeface="프리텐다드"/>
                          <a:cs typeface="프리텐다드"/>
                          <a:sym typeface="프리텐다드"/>
                        </a:rPr>
                        <a:t>)</a:t>
                      </a:r>
                      <a:r>
                        <a:rPr lang="ko-KR" altLang="en-US" sz="1920" dirty="0">
                          <a:solidFill>
                            <a:srgbClr val="1A1A1A"/>
                          </a:solidFill>
                          <a:latin typeface="프리텐다드"/>
                          <a:ea typeface="프리텐다드"/>
                          <a:cs typeface="프리텐다드"/>
                          <a:sym typeface="프리텐다드"/>
                        </a:rPr>
                        <a:t> 직접 입력한 값이</a:t>
                      </a:r>
                      <a:r>
                        <a:rPr lang="en-US" altLang="ko-KR" sz="1920" dirty="0">
                          <a:solidFill>
                            <a:srgbClr val="1A1A1A"/>
                          </a:solidFill>
                          <a:latin typeface="프리텐다드"/>
                          <a:ea typeface="프리텐다드"/>
                          <a:cs typeface="프리텐다드"/>
                          <a:sym typeface="프리텐다드"/>
                        </a:rPr>
                        <a:t>,</a:t>
                      </a:r>
                      <a:r>
                        <a:rPr lang="ko-KR" altLang="en-US" sz="1920" dirty="0">
                          <a:solidFill>
                            <a:srgbClr val="1A1A1A"/>
                          </a:solidFill>
                          <a:latin typeface="프리텐다드"/>
                          <a:ea typeface="프리텐다드"/>
                          <a:cs typeface="프리텐다드"/>
                          <a:sym typeface="프리텐다드"/>
                        </a:rPr>
                        <a:t> 모델이 숨겨둔 </a:t>
                      </a:r>
                      <a:r>
                        <a:rPr lang="ko-KR" altLang="en-US" sz="1920" dirty="0" err="1">
                          <a:solidFill>
                            <a:srgbClr val="1A1A1A"/>
                          </a:solidFill>
                          <a:latin typeface="프리텐다드"/>
                          <a:ea typeface="프리텐다드"/>
                          <a:cs typeface="프리텐다드"/>
                          <a:sym typeface="프리텐다드"/>
                        </a:rPr>
                        <a:t>판독값과</a:t>
                      </a:r>
                      <a:r>
                        <a:rPr lang="ko-KR" altLang="en-US" sz="1920" dirty="0">
                          <a:solidFill>
                            <a:srgbClr val="1A1A1A"/>
                          </a:solidFill>
                          <a:latin typeface="프리텐다드"/>
                          <a:ea typeface="프리텐다드"/>
                          <a:cs typeface="프리텐다드"/>
                          <a:sym typeface="프리텐다드"/>
                        </a:rPr>
                        <a:t> </a:t>
                      </a:r>
                      <a:r>
                        <a:rPr lang="en-US" sz="1920" dirty="0" err="1">
                          <a:solidFill>
                            <a:srgbClr val="1A1A1A"/>
                          </a:solidFill>
                          <a:latin typeface="프리텐다드"/>
                          <a:ea typeface="프리텐다드"/>
                          <a:cs typeface="프리텐다드"/>
                          <a:sym typeface="프리텐다드"/>
                        </a:rPr>
                        <a:t>우연히</a:t>
                      </a:r>
                      <a:r>
                        <a:rPr lang="en-US" sz="1920" dirty="0">
                          <a:solidFill>
                            <a:srgbClr val="1A1A1A"/>
                          </a:solidFill>
                          <a:latin typeface="프리텐다드"/>
                          <a:ea typeface="프리텐다드"/>
                          <a:cs typeface="프리텐다드"/>
                          <a:sym typeface="프리텐다드"/>
                        </a:rPr>
                        <a:t> </a:t>
                      </a:r>
                      <a:r>
                        <a:rPr lang="en-US" sz="1920" dirty="0" err="1">
                          <a:solidFill>
                            <a:srgbClr val="1A1A1A"/>
                          </a:solidFill>
                          <a:latin typeface="프리텐다드"/>
                          <a:ea typeface="프리텐다드"/>
                          <a:cs typeface="프리텐다드"/>
                          <a:sym typeface="프리텐다드"/>
                        </a:rPr>
                        <a:t>같아</a:t>
                      </a:r>
                      <a:r>
                        <a:rPr lang="en-US" sz="1920" dirty="0">
                          <a:solidFill>
                            <a:srgbClr val="1A1A1A"/>
                          </a:solidFill>
                          <a:latin typeface="프리텐다드"/>
                          <a:ea typeface="프리텐다드"/>
                          <a:cs typeface="프리텐다드"/>
                          <a:sym typeface="프리텐다드"/>
                        </a:rPr>
                        <a:t> </a:t>
                      </a:r>
                      <a:r>
                        <a:rPr lang="en-US" sz="1920" dirty="0" err="1">
                          <a:solidFill>
                            <a:srgbClr val="1A1A1A"/>
                          </a:solidFill>
                          <a:latin typeface="프리텐다드"/>
                          <a:ea typeface="프리텐다드"/>
                          <a:cs typeface="프리텐다드"/>
                          <a:sym typeface="프리텐다드"/>
                        </a:rPr>
                        <a:t>지나갈</a:t>
                      </a:r>
                      <a:r>
                        <a:rPr lang="en-US" sz="1920" dirty="0">
                          <a:solidFill>
                            <a:srgbClr val="1A1A1A"/>
                          </a:solidFill>
                          <a:latin typeface="프리텐다드"/>
                          <a:ea typeface="프리텐다드"/>
                          <a:cs typeface="프리텐다드"/>
                          <a:sym typeface="프리텐다드"/>
                        </a:rPr>
                        <a:t> </a:t>
                      </a:r>
                      <a:r>
                        <a:rPr lang="en-US" sz="1920" dirty="0" err="1">
                          <a:solidFill>
                            <a:srgbClr val="1A1A1A"/>
                          </a:solidFill>
                          <a:latin typeface="프리텐다드"/>
                          <a:ea typeface="프리텐다드"/>
                          <a:cs typeface="프리텐다드"/>
                          <a:sym typeface="프리텐다드"/>
                        </a:rPr>
                        <a:t>확률</a:t>
                      </a:r>
                      <a:r>
                        <a:rPr lang="en-US" sz="1920" dirty="0">
                          <a:solidFill>
                            <a:srgbClr val="1A1A1A"/>
                          </a:solidFill>
                          <a:latin typeface="프리텐다드"/>
                          <a:ea typeface="프리텐다드"/>
                          <a:cs typeface="프리텐다드"/>
                          <a:sym typeface="프리텐다드"/>
                        </a:rPr>
                        <a:t> 0.2 ~ 0.4%</a:t>
                      </a:r>
                      <a:endParaRPr lang="en-US" sz="1100" dirty="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9600">
                <a:tc>
                  <a:txBody>
                    <a:bodyPr/>
                    <a:lstStyle/>
                    <a:p>
                      <a:pPr algn="l">
                        <a:lnSpc>
                          <a:spcPts val="2304"/>
                        </a:lnSpc>
                        <a:defRPr/>
                      </a:pPr>
                      <a:r>
                        <a:rPr lang="en-US" sz="1920">
                          <a:solidFill>
                            <a:srgbClr val="1A1A1A"/>
                          </a:solidFill>
                          <a:latin typeface="프리텐다드"/>
                          <a:ea typeface="프리텐다드"/>
                          <a:cs typeface="프리텐다드"/>
                          <a:sym typeface="프리텐다드"/>
                        </a:rPr>
                        <a:t>날짜면이 찍혔는지 확인</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구매자</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8B0000"/>
                          </a:solidFill>
                          <a:latin typeface="프리텐다드"/>
                          <a:ea typeface="프리텐다드"/>
                          <a:cs typeface="프리텐다드"/>
                          <a:sym typeface="프리텐다드"/>
                        </a:rPr>
                        <a:t>예</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dirty="0" err="1">
                          <a:solidFill>
                            <a:srgbClr val="1A1A1A"/>
                          </a:solidFill>
                          <a:latin typeface="프리텐다드"/>
                          <a:ea typeface="프리텐다드"/>
                          <a:cs typeface="프리텐다드"/>
                          <a:sym typeface="프리텐다드"/>
                        </a:rPr>
                        <a:t>메루카리는</a:t>
                      </a:r>
                      <a:r>
                        <a:rPr lang="en-US" sz="1920" dirty="0">
                          <a:solidFill>
                            <a:srgbClr val="1A1A1A"/>
                          </a:solidFill>
                          <a:latin typeface="프리텐다드"/>
                          <a:ea typeface="프리텐다드"/>
                          <a:cs typeface="프리텐다드"/>
                          <a:sym typeface="프리텐다드"/>
                        </a:rPr>
                        <a:t> </a:t>
                      </a:r>
                      <a:r>
                        <a:rPr lang="ko-KR" altLang="en-US" sz="1920" dirty="0">
                          <a:solidFill>
                            <a:srgbClr val="1A1A1A"/>
                          </a:solidFill>
                          <a:latin typeface="프리텐다드"/>
                          <a:ea typeface="프리텐다드"/>
                          <a:cs typeface="프리텐다드"/>
                          <a:sym typeface="프리텐다드"/>
                        </a:rPr>
                        <a:t>소비기한 인쇄 사진을 필수로 요구합니다</a:t>
                      </a:r>
                      <a:endParaRPr lang="en-US" sz="1100" dirty="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09600">
                <a:tc>
                  <a:txBody>
                    <a:bodyPr/>
                    <a:lstStyle/>
                    <a:p>
                      <a:pPr algn="l">
                        <a:lnSpc>
                          <a:spcPts val="2304"/>
                        </a:lnSpc>
                        <a:defRPr/>
                      </a:pPr>
                      <a:r>
                        <a:rPr lang="en-US" sz="1920">
                          <a:solidFill>
                            <a:srgbClr val="1A1A1A"/>
                          </a:solidFill>
                          <a:latin typeface="프리텐다드"/>
                          <a:ea typeface="프리텐다드"/>
                          <a:cs typeface="프리텐다드"/>
                          <a:sym typeface="프리텐다드"/>
                        </a:rPr>
                        <a:t>입력 편의 · 판매자 수정값 축적</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판매자 · 플랫폼</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8B0000"/>
                          </a:solidFill>
                          <a:latin typeface="프리텐다드"/>
                          <a:ea typeface="프리텐다드"/>
                          <a:cs typeface="프리텐다드"/>
                          <a:sym typeface="프리텐다드"/>
                        </a:rPr>
                        <a:t>예</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폰 사진 기준 자동 입력 41 ~ 45%</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9600">
                <a:tc>
                  <a:txBody>
                    <a:bodyPr/>
                    <a:lstStyle/>
                    <a:p>
                      <a:pPr algn="l">
                        <a:lnSpc>
                          <a:spcPts val="2304"/>
                        </a:lnSpc>
                        <a:defRPr/>
                      </a:pPr>
                      <a:r>
                        <a:rPr lang="en-US" sz="1920">
                          <a:solidFill>
                            <a:srgbClr val="1A1A1A"/>
                          </a:solidFill>
                          <a:latin typeface="프리텐다드"/>
                          <a:ea typeface="프리텐다드"/>
                          <a:cs typeface="프리텐다드"/>
                          <a:sym typeface="프리텐다드"/>
                        </a:rPr>
                        <a:t>남은 일수 표시 · 기한 지난 글 자동 숨김</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구매자 · 플랫폼</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아니오</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dirty="0" err="1">
                          <a:solidFill>
                            <a:srgbClr val="1A1A1A"/>
                          </a:solidFill>
                          <a:latin typeface="프리텐다드"/>
                          <a:ea typeface="프리텐다드"/>
                          <a:cs typeface="프리텐다드"/>
                          <a:sym typeface="프리텐다드"/>
                        </a:rPr>
                        <a:t>날짜</a:t>
                      </a:r>
                      <a:r>
                        <a:rPr lang="en-US" sz="1920" dirty="0">
                          <a:solidFill>
                            <a:srgbClr val="1A1A1A"/>
                          </a:solidFill>
                          <a:latin typeface="프리텐다드"/>
                          <a:ea typeface="프리텐다드"/>
                          <a:cs typeface="프리텐다드"/>
                          <a:sym typeface="프리텐다드"/>
                        </a:rPr>
                        <a:t> </a:t>
                      </a:r>
                      <a:r>
                        <a:rPr lang="en-US" sz="1920" dirty="0" err="1">
                          <a:solidFill>
                            <a:srgbClr val="1A1A1A"/>
                          </a:solidFill>
                          <a:latin typeface="프리텐다드"/>
                          <a:ea typeface="프리텐다드"/>
                          <a:cs typeface="프리텐다드"/>
                          <a:sym typeface="프리텐다드"/>
                        </a:rPr>
                        <a:t>칸만</a:t>
                      </a:r>
                      <a:r>
                        <a:rPr lang="en-US" sz="1920" dirty="0">
                          <a:solidFill>
                            <a:srgbClr val="1A1A1A"/>
                          </a:solidFill>
                          <a:latin typeface="프리텐다드"/>
                          <a:ea typeface="프리텐다드"/>
                          <a:cs typeface="프리텐다드"/>
                          <a:sym typeface="프리텐다드"/>
                        </a:rPr>
                        <a:t> </a:t>
                      </a:r>
                      <a:r>
                        <a:rPr lang="en-US" sz="1920" dirty="0" err="1">
                          <a:solidFill>
                            <a:srgbClr val="1A1A1A"/>
                          </a:solidFill>
                          <a:latin typeface="프리텐다드"/>
                          <a:ea typeface="프리텐다드"/>
                          <a:cs typeface="프리텐다드"/>
                          <a:sym typeface="프리텐다드"/>
                        </a:rPr>
                        <a:t>있으면</a:t>
                      </a:r>
                      <a:r>
                        <a:rPr lang="en-US" sz="1920" dirty="0">
                          <a:solidFill>
                            <a:srgbClr val="1A1A1A"/>
                          </a:solidFill>
                          <a:latin typeface="프리텐다드"/>
                          <a:ea typeface="프리텐다드"/>
                          <a:cs typeface="프리텐다드"/>
                          <a:sym typeface="프리텐다드"/>
                        </a:rPr>
                        <a:t> 됨 — OCR </a:t>
                      </a:r>
                      <a:r>
                        <a:rPr lang="en-US" sz="1920" dirty="0" err="1">
                          <a:solidFill>
                            <a:srgbClr val="1A1A1A"/>
                          </a:solidFill>
                          <a:latin typeface="프리텐다드"/>
                          <a:ea typeface="프리텐다드"/>
                          <a:cs typeface="프리텐다드"/>
                          <a:sym typeface="프리텐다드"/>
                        </a:rPr>
                        <a:t>편익으로</a:t>
                      </a:r>
                      <a:r>
                        <a:rPr lang="en-US" sz="1920" dirty="0">
                          <a:solidFill>
                            <a:srgbClr val="1A1A1A"/>
                          </a:solidFill>
                          <a:latin typeface="프리텐다드"/>
                          <a:ea typeface="프리텐다드"/>
                          <a:cs typeface="프리텐다드"/>
                          <a:sym typeface="프리텐다드"/>
                        </a:rPr>
                        <a:t> </a:t>
                      </a:r>
                      <a:r>
                        <a:rPr lang="en-US" sz="1920" dirty="0" err="1">
                          <a:solidFill>
                            <a:srgbClr val="1A1A1A"/>
                          </a:solidFill>
                          <a:latin typeface="프리텐다드"/>
                          <a:ea typeface="프리텐다드"/>
                          <a:cs typeface="프리텐다드"/>
                          <a:sym typeface="프리텐다드"/>
                        </a:rPr>
                        <a:t>세지</a:t>
                      </a:r>
                      <a:r>
                        <a:rPr lang="en-US" sz="1920" dirty="0">
                          <a:solidFill>
                            <a:srgbClr val="1A1A1A"/>
                          </a:solidFill>
                          <a:latin typeface="프리텐다드"/>
                          <a:ea typeface="프리텐다드"/>
                          <a:cs typeface="프리텐다드"/>
                          <a:sym typeface="프리텐다드"/>
                        </a:rPr>
                        <a:t> </a:t>
                      </a:r>
                      <a:r>
                        <a:rPr lang="en-US" sz="1920" dirty="0" err="1">
                          <a:solidFill>
                            <a:srgbClr val="1A1A1A"/>
                          </a:solidFill>
                          <a:latin typeface="프리텐다드"/>
                          <a:ea typeface="프리텐다드"/>
                          <a:cs typeface="프리텐다드"/>
                          <a:sym typeface="프리텐다드"/>
                        </a:rPr>
                        <a:t>않음</a:t>
                      </a:r>
                      <a:endParaRPr lang="en-US" sz="1100" dirty="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3" name="TextBox 13"/>
          <p:cNvSpPr txBox="1"/>
          <p:nvPr/>
        </p:nvSpPr>
        <p:spPr>
          <a:xfrm>
            <a:off x="548640" y="5659755"/>
            <a:ext cx="17190720" cy="353623"/>
          </a:xfrm>
          <a:prstGeom prst="rect">
            <a:avLst/>
          </a:prstGeom>
        </p:spPr>
        <p:txBody>
          <a:bodyPr lIns="0" tIns="0" rIns="0" bIns="0" rtlCol="0" anchor="t">
            <a:spAutoFit/>
          </a:bodyPr>
          <a:lstStyle/>
          <a:p>
            <a:pPr algn="l">
              <a:lnSpc>
                <a:spcPts val="2879"/>
              </a:lnSpc>
            </a:pPr>
            <a:r>
              <a:rPr lang="en-US" sz="2400" b="1" dirty="0" err="1">
                <a:solidFill>
                  <a:srgbClr val="1A1A1A"/>
                </a:solidFill>
                <a:latin typeface="프리텐다드 Bold"/>
                <a:ea typeface="프리텐다드 Bold"/>
                <a:cs typeface="프리텐다드 Bold"/>
                <a:sym typeface="프리텐다드 Bold"/>
              </a:rPr>
              <a:t>손익분기</a:t>
            </a:r>
            <a:r>
              <a:rPr lang="en-US" sz="2400" b="1" dirty="0">
                <a:solidFill>
                  <a:srgbClr val="1A1A1A"/>
                </a:solidFill>
                <a:latin typeface="프리텐다드 Bold"/>
                <a:ea typeface="프리텐다드 Bold"/>
                <a:cs typeface="프리텐다드 Bold"/>
                <a:sym typeface="프리텐다드 Bold"/>
              </a:rPr>
              <a:t> : </a:t>
            </a:r>
            <a:r>
              <a:rPr lang="en-US" sz="2400" b="1" dirty="0" err="1">
                <a:solidFill>
                  <a:srgbClr val="1A1A1A"/>
                </a:solidFill>
                <a:latin typeface="프리텐다드 Bold"/>
                <a:ea typeface="프리텐다드 Bold"/>
                <a:cs typeface="프리텐다드 Bold"/>
                <a:sym typeface="프리텐다드 Bold"/>
              </a:rPr>
              <a:t>위반</a:t>
            </a:r>
            <a:r>
              <a:rPr lang="en-US" sz="2400" b="1" dirty="0">
                <a:solidFill>
                  <a:srgbClr val="1A1A1A"/>
                </a:solidFill>
                <a:latin typeface="프리텐다드 Bold"/>
                <a:ea typeface="프리텐다드 Bold"/>
                <a:cs typeface="프리텐다드 Bold"/>
                <a:sym typeface="프리텐다드 Bold"/>
              </a:rPr>
              <a:t> </a:t>
            </a:r>
            <a:r>
              <a:rPr lang="en-US" sz="2400" b="1" dirty="0" err="1">
                <a:solidFill>
                  <a:srgbClr val="1A1A1A"/>
                </a:solidFill>
                <a:latin typeface="프리텐다드 Bold"/>
                <a:ea typeface="프리텐다드 Bold"/>
                <a:cs typeface="프리텐다드 Bold"/>
                <a:sym typeface="프리텐다드 Bold"/>
              </a:rPr>
              <a:t>처리비</a:t>
            </a:r>
            <a:r>
              <a:rPr lang="en-US" sz="2400" b="1" dirty="0">
                <a:solidFill>
                  <a:srgbClr val="1A1A1A"/>
                </a:solidFill>
                <a:latin typeface="프리텐다드 Bold"/>
                <a:ea typeface="프리텐다드 Bold"/>
                <a:cs typeface="프리텐다드 Bold"/>
                <a:sym typeface="프리텐다드 Bold"/>
              </a:rPr>
              <a:t> </a:t>
            </a:r>
            <a:r>
              <a:rPr lang="en-US" sz="2400" b="1" dirty="0" err="1">
                <a:solidFill>
                  <a:srgbClr val="1A1A1A"/>
                </a:solidFill>
                <a:latin typeface="프리텐다드 Bold"/>
                <a:ea typeface="프리텐다드 Bold"/>
                <a:cs typeface="프리텐다드 Bold"/>
                <a:sym typeface="프리텐다드 Bold"/>
              </a:rPr>
              <a:t>절감만으로는</a:t>
            </a:r>
            <a:r>
              <a:rPr lang="en-US" sz="2400" b="1" dirty="0">
                <a:solidFill>
                  <a:srgbClr val="1A1A1A"/>
                </a:solidFill>
                <a:latin typeface="프리텐다드 Bold"/>
                <a:ea typeface="프리텐다드 Bold"/>
                <a:cs typeface="프리텐다드 Bold"/>
                <a:sym typeface="프리텐다드 Bold"/>
              </a:rPr>
              <a:t> </a:t>
            </a:r>
            <a:r>
              <a:rPr lang="ko-KR" altLang="en-US" sz="2400" b="1" dirty="0">
                <a:solidFill>
                  <a:srgbClr val="1A1A1A"/>
                </a:solidFill>
                <a:latin typeface="프리텐다드 Bold"/>
                <a:ea typeface="프리텐다드 Bold"/>
                <a:cs typeface="프리텐다드 Bold"/>
                <a:sym typeface="프리텐다드 Bold"/>
              </a:rPr>
              <a:t>손익분기에 못 미칩니다</a:t>
            </a:r>
            <a:endParaRPr lang="en-US" sz="2400" b="1" dirty="0">
              <a:solidFill>
                <a:srgbClr val="1A1A1A"/>
              </a:solidFill>
              <a:latin typeface="프리텐다드 Bold"/>
              <a:ea typeface="프리텐다드 Bold"/>
              <a:cs typeface="프리텐다드 Bold"/>
              <a:sym typeface="프리텐다드 Bold"/>
            </a:endParaRPr>
          </a:p>
        </p:txBody>
      </p:sp>
      <p:graphicFrame>
        <p:nvGraphicFramePr>
          <p:cNvPr id="14" name="Table 14"/>
          <p:cNvGraphicFramePr>
            <a:graphicFrameLocks noGrp="1"/>
          </p:cNvGraphicFramePr>
          <p:nvPr>
            <p:extLst>
              <p:ext uri="{D42A27DB-BD31-4B8C-83A1-F6EECF244321}">
                <p14:modId xmlns:p14="http://schemas.microsoft.com/office/powerpoint/2010/main" val="1454253534"/>
              </p:ext>
            </p:extLst>
          </p:nvPr>
        </p:nvGraphicFramePr>
        <p:xfrm>
          <a:off x="548640" y="6181344"/>
          <a:ext cx="17170400" cy="2216148"/>
        </p:xfrm>
        <a:graphic>
          <a:graphicData uri="http://schemas.openxmlformats.org/drawingml/2006/table">
            <a:tbl>
              <a:tblPr/>
              <a:tblGrid>
                <a:gridCol w="5472939">
                  <a:extLst>
                    <a:ext uri="{9D8B030D-6E8A-4147-A177-3AD203B41FA5}">
                      <a16:colId xmlns:a16="http://schemas.microsoft.com/office/drawing/2014/main" val="20000"/>
                    </a:ext>
                  </a:extLst>
                </a:gridCol>
                <a:gridCol w="4020214">
                  <a:extLst>
                    <a:ext uri="{9D8B030D-6E8A-4147-A177-3AD203B41FA5}">
                      <a16:colId xmlns:a16="http://schemas.microsoft.com/office/drawing/2014/main" val="20001"/>
                    </a:ext>
                  </a:extLst>
                </a:gridCol>
                <a:gridCol w="3657033">
                  <a:extLst>
                    <a:ext uri="{9D8B030D-6E8A-4147-A177-3AD203B41FA5}">
                      <a16:colId xmlns:a16="http://schemas.microsoft.com/office/drawing/2014/main" val="20002"/>
                    </a:ext>
                  </a:extLst>
                </a:gridCol>
                <a:gridCol w="4020214">
                  <a:extLst>
                    <a:ext uri="{9D8B030D-6E8A-4147-A177-3AD203B41FA5}">
                      <a16:colId xmlns:a16="http://schemas.microsoft.com/office/drawing/2014/main" val="20003"/>
                    </a:ext>
                  </a:extLst>
                </a:gridCol>
              </a:tblGrid>
              <a:tr h="554037">
                <a:tc>
                  <a:txBody>
                    <a:bodyPr/>
                    <a:lstStyle/>
                    <a:p>
                      <a:pPr algn="l">
                        <a:lnSpc>
                          <a:spcPts val="2304"/>
                        </a:lnSpc>
                        <a:defRPr/>
                      </a:pPr>
                      <a:r>
                        <a:rPr lang="en-US" sz="1920" dirty="0" err="1">
                          <a:solidFill>
                            <a:srgbClr val="FFFFFF"/>
                          </a:solidFill>
                          <a:latin typeface="프리텐다드"/>
                          <a:ea typeface="프리텐다드"/>
                          <a:cs typeface="프리텐다드"/>
                          <a:sym typeface="프리텐다드"/>
                        </a:rPr>
                        <a:t>조건</a:t>
                      </a:r>
                      <a:endParaRPr lang="en-US" sz="1100" dirty="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304"/>
                        </a:lnSpc>
                        <a:defRPr/>
                      </a:pPr>
                      <a:r>
                        <a:rPr lang="en-US" sz="1920" dirty="0" err="1">
                          <a:solidFill>
                            <a:srgbClr val="FFFFFF"/>
                          </a:solidFill>
                          <a:latin typeface="프리텐다드"/>
                          <a:ea typeface="프리텐다드"/>
                          <a:cs typeface="프리텐다드"/>
                          <a:sym typeface="프리텐다드"/>
                        </a:rPr>
                        <a:t>연간</a:t>
                      </a:r>
                      <a:r>
                        <a:rPr lang="en-US" sz="1920" dirty="0">
                          <a:solidFill>
                            <a:srgbClr val="FFFFFF"/>
                          </a:solidFill>
                          <a:latin typeface="프리텐다드"/>
                          <a:ea typeface="프리텐다드"/>
                          <a:cs typeface="프리텐다드"/>
                          <a:sym typeface="프리텐다드"/>
                        </a:rPr>
                        <a:t> </a:t>
                      </a:r>
                      <a:r>
                        <a:rPr lang="en-US" sz="1920" dirty="0" err="1">
                          <a:solidFill>
                            <a:srgbClr val="FFFFFF"/>
                          </a:solidFill>
                          <a:latin typeface="프리텐다드"/>
                          <a:ea typeface="프리텐다드"/>
                          <a:cs typeface="프리텐다드"/>
                          <a:sym typeface="프리텐다드"/>
                        </a:rPr>
                        <a:t>위반</a:t>
                      </a:r>
                      <a:r>
                        <a:rPr lang="en-US" sz="1920" dirty="0">
                          <a:solidFill>
                            <a:srgbClr val="FFFFFF"/>
                          </a:solidFill>
                          <a:latin typeface="프리텐다드"/>
                          <a:ea typeface="프리텐다드"/>
                          <a:cs typeface="프리텐다드"/>
                          <a:sym typeface="프리텐다드"/>
                        </a:rPr>
                        <a:t>(</a:t>
                      </a:r>
                      <a:r>
                        <a:rPr lang="en-US" sz="1920" dirty="0" err="1">
                          <a:solidFill>
                            <a:srgbClr val="FFFFFF"/>
                          </a:solidFill>
                          <a:latin typeface="프리텐다드"/>
                          <a:ea typeface="프리텐다드"/>
                          <a:cs typeface="프리텐다드"/>
                          <a:sym typeface="프리텐다드"/>
                        </a:rPr>
                        <a:t>가정</a:t>
                      </a:r>
                      <a:r>
                        <a:rPr lang="en-US" sz="1920" dirty="0">
                          <a:solidFill>
                            <a:srgbClr val="FFFFFF"/>
                          </a:solidFill>
                          <a:latin typeface="프리텐다드"/>
                          <a:ea typeface="프리텐다드"/>
                          <a:cs typeface="프리텐다드"/>
                          <a:sym typeface="프리텐다드"/>
                        </a:rPr>
                        <a:t> 50% </a:t>
                      </a:r>
                      <a:r>
                        <a:rPr lang="en-US" sz="1920" dirty="0" err="1">
                          <a:solidFill>
                            <a:srgbClr val="FFFFFF"/>
                          </a:solidFill>
                          <a:latin typeface="프리텐다드"/>
                          <a:ea typeface="프리텐다드"/>
                          <a:cs typeface="프리텐다드"/>
                          <a:sym typeface="프리텐다드"/>
                        </a:rPr>
                        <a:t>포착</a:t>
                      </a:r>
                      <a:r>
                        <a:rPr lang="en-US" sz="1920" dirty="0">
                          <a:solidFill>
                            <a:srgbClr val="FFFFFF"/>
                          </a:solidFill>
                          <a:latin typeface="프리텐다드"/>
                          <a:ea typeface="프리텐다드"/>
                          <a:cs typeface="프리텐다드"/>
                          <a:sym typeface="프리텐다드"/>
                        </a:rPr>
                        <a:t>)</a:t>
                      </a:r>
                      <a:endParaRPr lang="en-US" sz="1100" dirty="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304"/>
                        </a:lnSpc>
                        <a:defRPr/>
                      </a:pPr>
                      <a:r>
                        <a:rPr lang="en-US" sz="1920">
                          <a:solidFill>
                            <a:srgbClr val="FFFFFF"/>
                          </a:solidFill>
                          <a:latin typeface="프리텐다드"/>
                          <a:ea typeface="프리텐다드"/>
                          <a:cs typeface="프리텐다드"/>
                          <a:sym typeface="프리텐다드"/>
                        </a:rPr>
                        <a:t>연간 서버비</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304"/>
                        </a:lnSpc>
                        <a:defRPr/>
                      </a:pPr>
                      <a:r>
                        <a:rPr lang="en-US" sz="1920">
                          <a:solidFill>
                            <a:srgbClr val="FFFFFF"/>
                          </a:solidFill>
                          <a:latin typeface="프리텐다드"/>
                          <a:ea typeface="프리텐다드"/>
                          <a:cs typeface="프리텐다드"/>
                          <a:sym typeface="프리텐다드"/>
                        </a:rPr>
                        <a:t>손익분기 1건당 처리비</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extLst>
                  <a:ext uri="{0D108BD9-81ED-4DB2-BD59-A6C34878D82A}">
                    <a16:rowId xmlns:a16="http://schemas.microsoft.com/office/drawing/2014/main" val="10000"/>
                  </a:ext>
                </a:extLst>
              </a:tr>
              <a:tr h="554037">
                <a:tc>
                  <a:txBody>
                    <a:bodyPr/>
                    <a:lstStyle/>
                    <a:p>
                      <a:pPr algn="l">
                        <a:lnSpc>
                          <a:spcPts val="2304"/>
                        </a:lnSpc>
                        <a:defRPr/>
                      </a:pPr>
                      <a:r>
                        <a:rPr lang="en-US" sz="1920">
                          <a:solidFill>
                            <a:srgbClr val="1A1A1A"/>
                          </a:solidFill>
                          <a:latin typeface="프리텐다드"/>
                          <a:ea typeface="프리텐다드"/>
                          <a:cs typeface="프리텐다드"/>
                          <a:sym typeface="프리텐다드"/>
                        </a:rPr>
                        <a:t>20개월 평균, 기존 서버 여유분</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435건</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17만원</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약 780원</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4037">
                <a:tc>
                  <a:txBody>
                    <a:bodyPr/>
                    <a:lstStyle/>
                    <a:p>
                      <a:pPr algn="l">
                        <a:lnSpc>
                          <a:spcPts val="2304"/>
                        </a:lnSpc>
                        <a:defRPr/>
                      </a:pPr>
                      <a:r>
                        <a:rPr lang="en-US" sz="1920" dirty="0" err="1">
                          <a:solidFill>
                            <a:srgbClr val="1A1A1A"/>
                          </a:solidFill>
                          <a:latin typeface="프리텐다드"/>
                          <a:ea typeface="프리텐다드"/>
                          <a:cs typeface="프리텐다드"/>
                          <a:sym typeface="프리텐다드"/>
                        </a:rPr>
                        <a:t>거래조건</a:t>
                      </a:r>
                      <a:r>
                        <a:rPr lang="en-US" sz="1920" dirty="0">
                          <a:solidFill>
                            <a:srgbClr val="1A1A1A"/>
                          </a:solidFill>
                          <a:latin typeface="프리텐다드"/>
                          <a:ea typeface="프리텐다드"/>
                          <a:cs typeface="프리텐다드"/>
                          <a:sym typeface="프리텐다드"/>
                        </a:rPr>
                        <a:t> </a:t>
                      </a:r>
                      <a:r>
                        <a:rPr lang="ko-KR" altLang="en-US" sz="1920" dirty="0">
                          <a:solidFill>
                            <a:srgbClr val="1A1A1A"/>
                          </a:solidFill>
                          <a:latin typeface="프리텐다드"/>
                          <a:ea typeface="프리텐다드"/>
                          <a:cs typeface="프리텐다드"/>
                          <a:sym typeface="프리텐다드"/>
                        </a:rPr>
                        <a:t>완화</a:t>
                      </a:r>
                      <a:r>
                        <a:rPr lang="en-US" sz="1920" dirty="0">
                          <a:solidFill>
                            <a:srgbClr val="1A1A1A"/>
                          </a:solidFill>
                          <a:latin typeface="프리텐다드"/>
                          <a:ea typeface="프리텐다드"/>
                          <a:cs typeface="프리텐다드"/>
                          <a:sym typeface="프리텐다드"/>
                        </a:rPr>
                        <a:t> 뒤 </a:t>
                      </a:r>
                      <a:r>
                        <a:rPr lang="en-US" sz="1920" dirty="0" err="1">
                          <a:solidFill>
                            <a:srgbClr val="1A1A1A"/>
                          </a:solidFill>
                          <a:latin typeface="프리텐다드"/>
                          <a:ea typeface="프리텐다드"/>
                          <a:cs typeface="프리텐다드"/>
                          <a:sym typeface="프리텐다드"/>
                        </a:rPr>
                        <a:t>추정</a:t>
                      </a:r>
                      <a:r>
                        <a:rPr lang="en-US" sz="1920" dirty="0">
                          <a:solidFill>
                            <a:srgbClr val="1A1A1A"/>
                          </a:solidFill>
                          <a:latin typeface="프리텐다드"/>
                          <a:ea typeface="프리텐다드"/>
                          <a:cs typeface="프리텐다드"/>
                          <a:sym typeface="프리텐다드"/>
                        </a:rPr>
                        <a:t>, </a:t>
                      </a:r>
                      <a:r>
                        <a:rPr lang="en-US" sz="1920" dirty="0" err="1">
                          <a:solidFill>
                            <a:srgbClr val="1A1A1A"/>
                          </a:solidFill>
                          <a:latin typeface="프리텐다드"/>
                          <a:ea typeface="프리텐다드"/>
                          <a:cs typeface="프리텐다드"/>
                          <a:sym typeface="프리텐다드"/>
                        </a:rPr>
                        <a:t>기존</a:t>
                      </a:r>
                      <a:r>
                        <a:rPr lang="en-US" sz="1920" dirty="0">
                          <a:solidFill>
                            <a:srgbClr val="1A1A1A"/>
                          </a:solidFill>
                          <a:latin typeface="프리텐다드"/>
                          <a:ea typeface="프리텐다드"/>
                          <a:cs typeface="프리텐다드"/>
                          <a:sym typeface="프리텐다드"/>
                        </a:rPr>
                        <a:t> </a:t>
                      </a:r>
                      <a:r>
                        <a:rPr lang="en-US" sz="1920" dirty="0" err="1">
                          <a:solidFill>
                            <a:srgbClr val="1A1A1A"/>
                          </a:solidFill>
                          <a:latin typeface="프리텐다드"/>
                          <a:ea typeface="프리텐다드"/>
                          <a:cs typeface="프리텐다드"/>
                          <a:sym typeface="프리텐다드"/>
                        </a:rPr>
                        <a:t>서버</a:t>
                      </a:r>
                      <a:r>
                        <a:rPr lang="en-US" sz="1920" dirty="0">
                          <a:solidFill>
                            <a:srgbClr val="1A1A1A"/>
                          </a:solidFill>
                          <a:latin typeface="프리텐다드"/>
                          <a:ea typeface="프리텐다드"/>
                          <a:cs typeface="프리텐다드"/>
                          <a:sym typeface="프리텐다드"/>
                        </a:rPr>
                        <a:t> </a:t>
                      </a:r>
                      <a:r>
                        <a:rPr lang="en-US" sz="1920" dirty="0" err="1">
                          <a:solidFill>
                            <a:srgbClr val="1A1A1A"/>
                          </a:solidFill>
                          <a:latin typeface="프리텐다드"/>
                          <a:ea typeface="프리텐다드"/>
                          <a:cs typeface="프리텐다드"/>
                          <a:sym typeface="프리텐다드"/>
                        </a:rPr>
                        <a:t>여유분</a:t>
                      </a:r>
                      <a:endParaRPr lang="en-US" sz="1100" dirty="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180건</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17만원</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약 1,900원</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4037">
                <a:tc>
                  <a:txBody>
                    <a:bodyPr/>
                    <a:lstStyle/>
                    <a:p>
                      <a:pPr algn="l">
                        <a:lnSpc>
                          <a:spcPts val="2304"/>
                        </a:lnSpc>
                        <a:defRPr/>
                      </a:pPr>
                      <a:r>
                        <a:rPr lang="en-US" sz="1920" dirty="0" err="1">
                          <a:solidFill>
                            <a:srgbClr val="1A1A1A"/>
                          </a:solidFill>
                          <a:latin typeface="프리텐다드"/>
                          <a:ea typeface="프리텐다드"/>
                          <a:cs typeface="프리텐다드"/>
                          <a:sym typeface="프리텐다드"/>
                        </a:rPr>
                        <a:t>거래조건</a:t>
                      </a:r>
                      <a:r>
                        <a:rPr lang="en-US" sz="1920" dirty="0">
                          <a:solidFill>
                            <a:srgbClr val="1A1A1A"/>
                          </a:solidFill>
                          <a:latin typeface="프리텐다드"/>
                          <a:ea typeface="프리텐다드"/>
                          <a:cs typeface="프리텐다드"/>
                          <a:sym typeface="프리텐다드"/>
                        </a:rPr>
                        <a:t> </a:t>
                      </a:r>
                      <a:r>
                        <a:rPr lang="ko-KR" altLang="en-US" sz="1920" dirty="0">
                          <a:solidFill>
                            <a:srgbClr val="1A1A1A"/>
                          </a:solidFill>
                          <a:latin typeface="프리텐다드"/>
                          <a:ea typeface="프리텐다드"/>
                          <a:cs typeface="프리텐다드"/>
                          <a:sym typeface="프리텐다드"/>
                        </a:rPr>
                        <a:t>완화</a:t>
                      </a:r>
                      <a:r>
                        <a:rPr lang="en-US" sz="1920" dirty="0">
                          <a:solidFill>
                            <a:srgbClr val="1A1A1A"/>
                          </a:solidFill>
                          <a:latin typeface="프리텐다드"/>
                          <a:ea typeface="프리텐다드"/>
                          <a:cs typeface="프리텐다드"/>
                          <a:sym typeface="프리텐다드"/>
                        </a:rPr>
                        <a:t> 뒤 </a:t>
                      </a:r>
                      <a:r>
                        <a:rPr lang="en-US" sz="1920" dirty="0" err="1">
                          <a:solidFill>
                            <a:srgbClr val="1A1A1A"/>
                          </a:solidFill>
                          <a:latin typeface="프리텐다드"/>
                          <a:ea typeface="프리텐다드"/>
                          <a:cs typeface="프리텐다드"/>
                          <a:sym typeface="프리텐다드"/>
                        </a:rPr>
                        <a:t>추정</a:t>
                      </a:r>
                      <a:r>
                        <a:rPr lang="en-US" sz="1920" dirty="0">
                          <a:solidFill>
                            <a:srgbClr val="1A1A1A"/>
                          </a:solidFill>
                          <a:latin typeface="프리텐다드"/>
                          <a:ea typeface="프리텐다드"/>
                          <a:cs typeface="프리텐다드"/>
                          <a:sym typeface="프리텐다드"/>
                        </a:rPr>
                        <a:t>, </a:t>
                      </a:r>
                      <a:r>
                        <a:rPr lang="en-US" sz="1920" dirty="0" err="1">
                          <a:solidFill>
                            <a:srgbClr val="1A1A1A"/>
                          </a:solidFill>
                          <a:latin typeface="프리텐다드"/>
                          <a:ea typeface="프리텐다드"/>
                          <a:cs typeface="프리텐다드"/>
                          <a:sym typeface="프리텐다드"/>
                        </a:rPr>
                        <a:t>전용</a:t>
                      </a:r>
                      <a:r>
                        <a:rPr lang="en-US" sz="1920" dirty="0">
                          <a:solidFill>
                            <a:srgbClr val="1A1A1A"/>
                          </a:solidFill>
                          <a:latin typeface="프리텐다드"/>
                          <a:ea typeface="프리텐다드"/>
                          <a:cs typeface="프리텐다드"/>
                          <a:sym typeface="프리텐다드"/>
                        </a:rPr>
                        <a:t> </a:t>
                      </a:r>
                      <a:r>
                        <a:rPr lang="en-US" sz="1920" dirty="0" err="1">
                          <a:solidFill>
                            <a:srgbClr val="1A1A1A"/>
                          </a:solidFill>
                          <a:latin typeface="프리텐다드"/>
                          <a:ea typeface="프리텐다드"/>
                          <a:cs typeface="프리텐다드"/>
                          <a:sym typeface="프리텐다드"/>
                        </a:rPr>
                        <a:t>서버</a:t>
                      </a:r>
                      <a:endParaRPr lang="en-US" sz="1100" dirty="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6E3E3"/>
                    </a:solidFill>
                  </a:tcPr>
                </a:tc>
                <a:tc>
                  <a:txBody>
                    <a:bodyPr/>
                    <a:lstStyle/>
                    <a:p>
                      <a:pPr algn="l">
                        <a:lnSpc>
                          <a:spcPts val="2304"/>
                        </a:lnSpc>
                        <a:defRPr/>
                      </a:pPr>
                      <a:r>
                        <a:rPr lang="en-US" sz="1920" dirty="0">
                          <a:solidFill>
                            <a:srgbClr val="1A1A1A"/>
                          </a:solidFill>
                          <a:latin typeface="프리텐다드"/>
                          <a:ea typeface="프리텐다드"/>
                          <a:cs typeface="프리텐다드"/>
                          <a:sym typeface="프리텐다드"/>
                        </a:rPr>
                        <a:t>180건</a:t>
                      </a:r>
                      <a:endParaRPr lang="en-US" sz="1100" dirty="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6E3E3"/>
                    </a:solidFill>
                  </a:tcPr>
                </a:tc>
                <a:tc>
                  <a:txBody>
                    <a:bodyPr/>
                    <a:lstStyle/>
                    <a:p>
                      <a:pPr algn="l">
                        <a:lnSpc>
                          <a:spcPts val="2304"/>
                        </a:lnSpc>
                        <a:defRPr/>
                      </a:pPr>
                      <a:r>
                        <a:rPr lang="en-US" sz="1920">
                          <a:solidFill>
                            <a:srgbClr val="1A1A1A"/>
                          </a:solidFill>
                          <a:latin typeface="프리텐다드"/>
                          <a:ea typeface="프리텐다드"/>
                          <a:cs typeface="프리텐다드"/>
                          <a:sym typeface="프리텐다드"/>
                        </a:rPr>
                        <a:t>169만원</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6E3E3"/>
                    </a:solidFill>
                  </a:tcPr>
                </a:tc>
                <a:tc>
                  <a:txBody>
                    <a:bodyPr/>
                    <a:lstStyle/>
                    <a:p>
                      <a:pPr algn="l">
                        <a:lnSpc>
                          <a:spcPts val="2304"/>
                        </a:lnSpc>
                        <a:defRPr/>
                      </a:pPr>
                      <a:r>
                        <a:rPr lang="en-US" sz="1920" dirty="0">
                          <a:solidFill>
                            <a:srgbClr val="8B0000"/>
                          </a:solidFill>
                          <a:latin typeface="프리텐다드"/>
                          <a:ea typeface="프리텐다드"/>
                          <a:cs typeface="프리텐다드"/>
                          <a:sym typeface="프리텐다드"/>
                        </a:rPr>
                        <a:t>약 1만 9천원</a:t>
                      </a:r>
                      <a:endParaRPr lang="en-US" sz="1100" dirty="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6E3E3"/>
                    </a:solidFill>
                  </a:tcPr>
                </a:tc>
                <a:extLst>
                  <a:ext uri="{0D108BD9-81ED-4DB2-BD59-A6C34878D82A}">
                    <a16:rowId xmlns:a16="http://schemas.microsoft.com/office/drawing/2014/main" val="10003"/>
                  </a:ext>
                </a:extLst>
              </a:tr>
            </a:tbl>
          </a:graphicData>
        </a:graphic>
      </p:graphicFrame>
      <p:grpSp>
        <p:nvGrpSpPr>
          <p:cNvPr id="15" name="Group 15"/>
          <p:cNvGrpSpPr/>
          <p:nvPr/>
        </p:nvGrpSpPr>
        <p:grpSpPr>
          <a:xfrm>
            <a:off x="535943" y="8674103"/>
            <a:ext cx="17216123" cy="793499"/>
            <a:chOff x="0" y="0"/>
            <a:chExt cx="22954831" cy="1057999"/>
          </a:xfrm>
        </p:grpSpPr>
        <p:sp>
          <p:nvSpPr>
            <p:cNvPr id="16" name="Freeform 16"/>
            <p:cNvSpPr/>
            <p:nvPr/>
          </p:nvSpPr>
          <p:spPr>
            <a:xfrm>
              <a:off x="0" y="0"/>
              <a:ext cx="22954869" cy="1058037"/>
            </a:xfrm>
            <a:custGeom>
              <a:avLst/>
              <a:gdLst/>
              <a:ahLst/>
              <a:cxnLst/>
              <a:rect l="l" t="t" r="r" b="b"/>
              <a:pathLst>
                <a:path w="22954869" h="1058037">
                  <a:moveTo>
                    <a:pt x="0" y="201549"/>
                  </a:moveTo>
                  <a:cubicBezTo>
                    <a:pt x="0" y="90170"/>
                    <a:pt x="90170" y="0"/>
                    <a:pt x="201549" y="0"/>
                  </a:cubicBezTo>
                  <a:lnTo>
                    <a:pt x="22753320" y="0"/>
                  </a:lnTo>
                  <a:cubicBezTo>
                    <a:pt x="22864572" y="0"/>
                    <a:pt x="22954869" y="90170"/>
                    <a:pt x="22954869" y="201549"/>
                  </a:cubicBezTo>
                  <a:lnTo>
                    <a:pt x="22954869" y="856488"/>
                  </a:lnTo>
                  <a:cubicBezTo>
                    <a:pt x="22954869" y="967740"/>
                    <a:pt x="22864699" y="1058037"/>
                    <a:pt x="22753320" y="1058037"/>
                  </a:cubicBezTo>
                  <a:lnTo>
                    <a:pt x="201549" y="1058037"/>
                  </a:lnTo>
                  <a:cubicBezTo>
                    <a:pt x="90170" y="1058037"/>
                    <a:pt x="0" y="967740"/>
                    <a:pt x="0" y="856488"/>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17" name="Group 17"/>
          <p:cNvGrpSpPr/>
          <p:nvPr/>
        </p:nvGrpSpPr>
        <p:grpSpPr>
          <a:xfrm>
            <a:off x="822960" y="8686800"/>
            <a:ext cx="16642080" cy="768096"/>
            <a:chOff x="0" y="0"/>
            <a:chExt cx="22189440" cy="1024128"/>
          </a:xfrm>
        </p:grpSpPr>
        <p:sp>
          <p:nvSpPr>
            <p:cNvPr id="18" name="Freeform 18"/>
            <p:cNvSpPr/>
            <p:nvPr/>
          </p:nvSpPr>
          <p:spPr>
            <a:xfrm>
              <a:off x="0" y="0"/>
              <a:ext cx="22189439" cy="1024128"/>
            </a:xfrm>
            <a:custGeom>
              <a:avLst/>
              <a:gdLst/>
              <a:ahLst/>
              <a:cxnLst/>
              <a:rect l="l" t="t" r="r" b="b"/>
              <a:pathLst>
                <a:path w="22189439" h="1024128">
                  <a:moveTo>
                    <a:pt x="0" y="0"/>
                  </a:moveTo>
                  <a:lnTo>
                    <a:pt x="22189439" y="0"/>
                  </a:lnTo>
                  <a:lnTo>
                    <a:pt x="22189439" y="1024128"/>
                  </a:lnTo>
                  <a:lnTo>
                    <a:pt x="0" y="1024128"/>
                  </a:lnTo>
                  <a:close/>
                </a:path>
              </a:pathLst>
            </a:custGeom>
            <a:blipFill>
              <a:blip r:embed="rId3">
                <a:alphaModFix amt="0"/>
              </a:blip>
              <a:stretch>
                <a:fillRect t="-372175" b="-372175"/>
              </a:stretch>
            </a:blipFill>
          </p:spPr>
          <p:txBody>
            <a:bodyPr/>
            <a:lstStyle/>
            <a:p>
              <a:endParaRPr lang="ko-KR" altLang="en-US"/>
            </a:p>
          </p:txBody>
        </p:sp>
        <p:sp>
          <p:nvSpPr>
            <p:cNvPr id="19" name="TextBox 19"/>
            <p:cNvSpPr txBox="1"/>
            <p:nvPr/>
          </p:nvSpPr>
          <p:spPr>
            <a:xfrm>
              <a:off x="0" y="0"/>
              <a:ext cx="22189440" cy="1024128"/>
            </a:xfrm>
            <a:prstGeom prst="rect">
              <a:avLst/>
            </a:prstGeom>
          </p:spPr>
          <p:txBody>
            <a:bodyPr lIns="0" tIns="0" rIns="0" bIns="0" rtlCol="0" anchor="ctr"/>
            <a:lstStyle/>
            <a:p>
              <a:pPr algn="ctr">
                <a:lnSpc>
                  <a:spcPts val="2999"/>
                </a:lnSpc>
              </a:pPr>
              <a:r>
                <a:rPr lang="en-US" sz="2499" dirty="0" err="1">
                  <a:solidFill>
                    <a:srgbClr val="1A1A1A"/>
                  </a:solidFill>
                  <a:latin typeface="프리텐다드"/>
                  <a:ea typeface="프리텐다드"/>
                  <a:cs typeface="프리텐다드"/>
                  <a:sym typeface="프리텐다드"/>
                </a:rPr>
                <a:t>사람이</a:t>
              </a:r>
              <a:r>
                <a:rPr lang="en-US" sz="2499" dirty="0">
                  <a:solidFill>
                    <a:srgbClr val="1A1A1A"/>
                  </a:solidFill>
                  <a:latin typeface="프리텐다드"/>
                  <a:ea typeface="프리텐다드"/>
                  <a:cs typeface="프리텐다드"/>
                  <a:sym typeface="프리텐다드"/>
                </a:rPr>
                <a:t> 30초 </a:t>
              </a:r>
              <a:r>
                <a:rPr lang="en-US" sz="2499" dirty="0" err="1">
                  <a:solidFill>
                    <a:srgbClr val="1A1A1A"/>
                  </a:solidFill>
                  <a:latin typeface="프리텐다드"/>
                  <a:ea typeface="프리텐다드"/>
                  <a:cs typeface="프리텐다드"/>
                  <a:sym typeface="프리텐다드"/>
                </a:rPr>
                <a:t>검토하면</a:t>
              </a:r>
              <a:r>
                <a:rPr lang="en-US" sz="2499" dirty="0">
                  <a:solidFill>
                    <a:srgbClr val="1A1A1A"/>
                  </a:solidFill>
                  <a:latin typeface="프리텐다드"/>
                  <a:ea typeface="프리텐다드"/>
                  <a:cs typeface="프리텐다드"/>
                  <a:sym typeface="프리텐다드"/>
                </a:rPr>
                <a:t> 약 86원. </a:t>
              </a:r>
              <a:r>
                <a:rPr lang="en-US" sz="2499" dirty="0" err="1">
                  <a:solidFill>
                    <a:srgbClr val="1A1A1A"/>
                  </a:solidFill>
                  <a:latin typeface="프리텐다드"/>
                  <a:ea typeface="프리텐다드"/>
                  <a:cs typeface="프리텐다드"/>
                  <a:sym typeface="프리텐다드"/>
                </a:rPr>
                <a:t>손익분기</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처리비는</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이보다</a:t>
              </a:r>
              <a:r>
                <a:rPr lang="en-US" sz="2499" dirty="0">
                  <a:solidFill>
                    <a:srgbClr val="1A1A1A"/>
                  </a:solidFill>
                  <a:latin typeface="프리텐다드"/>
                  <a:ea typeface="프리텐다드"/>
                  <a:cs typeface="프리텐다드"/>
                  <a:sym typeface="프리텐다드"/>
                </a:rPr>
                <a:t> </a:t>
              </a:r>
              <a:r>
                <a:rPr lang="en-US" sz="2499" b="1" dirty="0">
                  <a:solidFill>
                    <a:srgbClr val="8B0000"/>
                  </a:solidFill>
                  <a:latin typeface="프리텐다드 Bold"/>
                  <a:ea typeface="프리텐다드 Bold"/>
                  <a:cs typeface="프리텐다드 Bold"/>
                  <a:sym typeface="프리텐다드 Bold"/>
                </a:rPr>
                <a:t>9 ~ 220배 </a:t>
              </a:r>
              <a:r>
                <a:rPr lang="en-US" sz="2499" b="1" dirty="0" err="1">
                  <a:solidFill>
                    <a:srgbClr val="8B0000"/>
                  </a:solidFill>
                  <a:latin typeface="프리텐다드 Bold"/>
                  <a:ea typeface="프리텐다드 Bold"/>
                  <a:cs typeface="프리텐다드 Bold"/>
                  <a:sym typeface="프리텐다드 Bold"/>
                </a:rPr>
                <a:t>큽니다</a:t>
              </a:r>
              <a:r>
                <a:rPr lang="en-US" sz="2499" b="1" dirty="0">
                  <a:solidFill>
                    <a:srgbClr val="8B0000"/>
                  </a:solidFill>
                  <a:latin typeface="프리텐다드 Bold"/>
                  <a:ea typeface="프리텐다드 Bold"/>
                  <a:cs typeface="프리텐다드 Bold"/>
                  <a:sym typeface="프리텐다드 Bold"/>
                </a:rPr>
                <a:t>. </a:t>
              </a:r>
              <a:r>
                <a:rPr lang="en-US" sz="2499" dirty="0" err="1">
                  <a:solidFill>
                    <a:srgbClr val="1A1A1A"/>
                  </a:solidFill>
                  <a:latin typeface="프리텐다드"/>
                  <a:ea typeface="프리텐다드"/>
                  <a:cs typeface="프리텐다드"/>
                  <a:sym typeface="프리텐다드"/>
                </a:rPr>
                <a:t>도입</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이유는</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비용</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절감이</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아니라</a:t>
              </a:r>
              <a:r>
                <a:rPr lang="en-US" sz="2499" dirty="0">
                  <a:solidFill>
                    <a:srgbClr val="1A1A1A"/>
                  </a:solidFill>
                  <a:latin typeface="프리텐다드"/>
                  <a:ea typeface="프리텐다드"/>
                  <a:cs typeface="프리텐다드"/>
                  <a:sym typeface="프리텐다드"/>
                </a:rPr>
                <a:t> </a:t>
              </a:r>
              <a:r>
                <a:rPr lang="en-US" sz="2499" b="1" dirty="0" err="1">
                  <a:solidFill>
                    <a:srgbClr val="1A1A1A"/>
                  </a:solidFill>
                  <a:latin typeface="프리텐다드 Bold"/>
                  <a:ea typeface="프리텐다드 Bold"/>
                  <a:cs typeface="프리텐다드 Bold"/>
                  <a:sym typeface="프리텐다드 Bold"/>
                </a:rPr>
                <a:t>규제</a:t>
              </a:r>
              <a:r>
                <a:rPr lang="en-US" sz="2499" b="1" dirty="0">
                  <a:solidFill>
                    <a:srgbClr val="1A1A1A"/>
                  </a:solidFill>
                  <a:latin typeface="프리텐다드 Bold"/>
                  <a:ea typeface="프리텐다드 Bold"/>
                  <a:cs typeface="프리텐다드 Bold"/>
                  <a:sym typeface="프리텐다드 Bold"/>
                </a:rPr>
                <a:t> </a:t>
              </a:r>
              <a:r>
                <a:rPr lang="en-US" sz="2499" b="1" dirty="0" err="1">
                  <a:solidFill>
                    <a:srgbClr val="1A1A1A"/>
                  </a:solidFill>
                  <a:latin typeface="프리텐다드 Bold"/>
                  <a:ea typeface="프리텐다드 Bold"/>
                  <a:cs typeface="프리텐다드 Bold"/>
                  <a:sym typeface="프리텐다드 Bold"/>
                </a:rPr>
                <a:t>대응</a:t>
              </a:r>
              <a:r>
                <a:rPr lang="en-US" sz="2499" dirty="0" err="1">
                  <a:solidFill>
                    <a:srgbClr val="1A1A1A"/>
                  </a:solidFill>
                  <a:latin typeface="프리텐다드"/>
                  <a:ea typeface="프리텐다드"/>
                  <a:cs typeface="프리텐다드"/>
                  <a:sym typeface="프리텐다드"/>
                </a:rPr>
                <a:t>입니</a:t>
              </a:r>
              <a:r>
                <a:rPr lang="ko-KR" altLang="en-US" sz="2499" dirty="0">
                  <a:solidFill>
                    <a:srgbClr val="1A1A1A"/>
                  </a:solidFill>
                  <a:latin typeface="프리텐다드"/>
                  <a:ea typeface="프리텐다드"/>
                  <a:cs typeface="프리텐다드"/>
                  <a:sym typeface="프리텐다드"/>
                </a:rPr>
                <a:t>다</a:t>
              </a:r>
              <a:r>
                <a:rPr lang="en-US" altLang="ko-KR" sz="2499" dirty="0">
                  <a:solidFill>
                    <a:srgbClr val="1A1A1A"/>
                  </a:solidFill>
                  <a:latin typeface="프리텐다드"/>
                  <a:ea typeface="프리텐다드"/>
                  <a:cs typeface="프리텐다드"/>
                  <a:sym typeface="프리텐다드"/>
                </a:rPr>
                <a:t>.</a:t>
              </a:r>
              <a:endParaRPr lang="en-US" sz="2499" dirty="0">
                <a:solidFill>
                  <a:srgbClr val="1A1A1A"/>
                </a:solidFill>
                <a:latin typeface="프리텐다드"/>
                <a:ea typeface="프리텐다드"/>
                <a:cs typeface="프리텐다드"/>
                <a:sym typeface="프리텐다드"/>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5943" y="535943"/>
            <a:ext cx="153419" cy="756923"/>
            <a:chOff x="0" y="0"/>
            <a:chExt cx="204559" cy="1009231"/>
          </a:xfrm>
        </p:grpSpPr>
        <p:sp>
          <p:nvSpPr>
            <p:cNvPr id="3" name="Freeform 3"/>
            <p:cNvSpPr/>
            <p:nvPr/>
          </p:nvSpPr>
          <p:spPr>
            <a:xfrm>
              <a:off x="0" y="0"/>
              <a:ext cx="204597" cy="1009269"/>
            </a:xfrm>
            <a:custGeom>
              <a:avLst/>
              <a:gdLst/>
              <a:ahLst/>
              <a:cxnLst/>
              <a:rect l="l" t="t" r="r" b="b"/>
              <a:pathLst>
                <a:path w="204597" h="1009269">
                  <a:moveTo>
                    <a:pt x="0" y="0"/>
                  </a:moveTo>
                  <a:lnTo>
                    <a:pt x="204597" y="0"/>
                  </a:lnTo>
                  <a:lnTo>
                    <a:pt x="204597" y="1009269"/>
                  </a:lnTo>
                  <a:lnTo>
                    <a:pt x="0" y="1009269"/>
                  </a:ln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4" name="Group 4"/>
          <p:cNvGrpSpPr/>
          <p:nvPr/>
        </p:nvGrpSpPr>
        <p:grpSpPr>
          <a:xfrm>
            <a:off x="822960" y="457200"/>
            <a:ext cx="15910560" cy="914400"/>
            <a:chOff x="0" y="0"/>
            <a:chExt cx="21214080" cy="1219200"/>
          </a:xfrm>
        </p:grpSpPr>
        <p:sp>
          <p:nvSpPr>
            <p:cNvPr id="5" name="Freeform 5"/>
            <p:cNvSpPr/>
            <p:nvPr/>
          </p:nvSpPr>
          <p:spPr>
            <a:xfrm>
              <a:off x="0" y="0"/>
              <a:ext cx="21214080" cy="1219200"/>
            </a:xfrm>
            <a:custGeom>
              <a:avLst/>
              <a:gdLst/>
              <a:ahLst/>
              <a:cxnLst/>
              <a:rect l="l" t="t" r="r" b="b"/>
              <a:pathLst>
                <a:path w="21214080" h="1219200">
                  <a:moveTo>
                    <a:pt x="0" y="0"/>
                  </a:moveTo>
                  <a:lnTo>
                    <a:pt x="21214080" y="0"/>
                  </a:lnTo>
                  <a:lnTo>
                    <a:pt x="21214080" y="1219200"/>
                  </a:lnTo>
                  <a:lnTo>
                    <a:pt x="0" y="1219200"/>
                  </a:lnTo>
                  <a:close/>
                </a:path>
              </a:pathLst>
            </a:custGeom>
            <a:blipFill>
              <a:blip r:embed="rId3">
                <a:alphaModFix amt="0"/>
              </a:blip>
              <a:stretch>
                <a:fillRect t="-289039" b="-289039"/>
              </a:stretch>
            </a:blipFill>
          </p:spPr>
          <p:txBody>
            <a:bodyPr/>
            <a:lstStyle/>
            <a:p>
              <a:endParaRPr lang="ko-KR" altLang="en-US" dirty="0"/>
            </a:p>
          </p:txBody>
        </p:sp>
        <p:sp>
          <p:nvSpPr>
            <p:cNvPr id="6" name="TextBox 6"/>
            <p:cNvSpPr txBox="1"/>
            <p:nvPr/>
          </p:nvSpPr>
          <p:spPr>
            <a:xfrm>
              <a:off x="0" y="0"/>
              <a:ext cx="21214080" cy="1219200"/>
            </a:xfrm>
            <a:prstGeom prst="rect">
              <a:avLst/>
            </a:prstGeom>
          </p:spPr>
          <p:txBody>
            <a:bodyPr lIns="0" tIns="0" rIns="0" bIns="0" rtlCol="0" anchor="ctr"/>
            <a:lstStyle/>
            <a:p>
              <a:pPr algn="l">
                <a:lnSpc>
                  <a:spcPts val="4560"/>
                </a:lnSpc>
              </a:pPr>
              <a:r>
                <a:rPr lang="en-US" sz="3800" b="1" dirty="0" err="1">
                  <a:solidFill>
                    <a:srgbClr val="1A1A1A"/>
                  </a:solidFill>
                  <a:latin typeface="프리텐다드 Bold"/>
                  <a:ea typeface="프리텐다드 Bold"/>
                  <a:cs typeface="프리텐다드 Bold"/>
                  <a:sym typeface="프리텐다드 Bold"/>
                </a:rPr>
                <a:t>한계</a:t>
              </a:r>
              <a:r>
                <a:rPr lang="en-US" sz="3800" b="1" dirty="0">
                  <a:solidFill>
                    <a:srgbClr val="1A1A1A"/>
                  </a:solidFill>
                  <a:latin typeface="프리텐다드 Bold"/>
                  <a:ea typeface="프리텐다드 Bold"/>
                  <a:cs typeface="프리텐다드 Bold"/>
                  <a:sym typeface="프리텐다드 Bold"/>
                </a:rPr>
                <a:t> : </a:t>
              </a:r>
              <a:r>
                <a:rPr lang="ko-KR" altLang="en-US" sz="3800" b="1" dirty="0">
                  <a:solidFill>
                    <a:srgbClr val="8B0000"/>
                  </a:solidFill>
                  <a:latin typeface="프리텐다드 Bold"/>
                  <a:ea typeface="프리텐다드 Bold"/>
                  <a:cs typeface="프리텐다드 Bold"/>
                  <a:sym typeface="프리텐다드 Bold"/>
                </a:rPr>
                <a:t>어려운 유형 위주로 찍은 폰 사진에서는 다섯 장 중 한 장을 못 읽습니다</a:t>
              </a:r>
              <a:endParaRPr lang="en-US" sz="3800" b="1" dirty="0">
                <a:solidFill>
                  <a:srgbClr val="8B0000"/>
                </a:solidFill>
                <a:latin typeface="프리텐다드 Bold"/>
                <a:ea typeface="프리텐다드 Bold"/>
                <a:cs typeface="프리텐다드 Bold"/>
                <a:sym typeface="프리텐다드 Bold"/>
              </a:endParaRPr>
            </a:p>
          </p:txBody>
        </p:sp>
      </p:grpSp>
      <p:sp>
        <p:nvSpPr>
          <p:cNvPr id="7" name="AutoShape 7"/>
          <p:cNvSpPr/>
          <p:nvPr/>
        </p:nvSpPr>
        <p:spPr>
          <a:xfrm rot="3780">
            <a:off x="539105" y="1494854"/>
            <a:ext cx="17209780" cy="0"/>
          </a:xfrm>
          <a:prstGeom prst="line">
            <a:avLst/>
          </a:prstGeom>
          <a:ln w="9525" cap="rnd">
            <a:solidFill>
              <a:srgbClr val="BFBFBF"/>
            </a:solidFill>
            <a:prstDash val="solid"/>
            <a:headEnd type="none" w="sm" len="sm"/>
            <a:tailEnd type="none" w="sm" len="sm"/>
          </a:ln>
        </p:spPr>
        <p:txBody>
          <a:bodyPr/>
          <a:lstStyle/>
          <a:p>
            <a:endParaRPr lang="ko-KR" altLang="en-US"/>
          </a:p>
        </p:txBody>
      </p:sp>
      <p:grpSp>
        <p:nvGrpSpPr>
          <p:cNvPr id="8" name="Group 8"/>
          <p:cNvGrpSpPr/>
          <p:nvPr/>
        </p:nvGrpSpPr>
        <p:grpSpPr>
          <a:xfrm>
            <a:off x="17007840" y="219456"/>
            <a:ext cx="914400" cy="457200"/>
            <a:chOff x="0" y="0"/>
            <a:chExt cx="1219200" cy="609600"/>
          </a:xfrm>
        </p:grpSpPr>
        <p:sp>
          <p:nvSpPr>
            <p:cNvPr id="9" name="Freeform 9"/>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10" name="TextBox 10"/>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1A1A1A"/>
                  </a:solidFill>
                  <a:latin typeface="프리텐다드"/>
                  <a:ea typeface="프리텐다드"/>
                  <a:cs typeface="프리텐다드"/>
                  <a:sym typeface="프리텐다드"/>
                </a:rPr>
                <a:t>20</a:t>
              </a:r>
            </a:p>
          </p:txBody>
        </p:sp>
      </p:grpSp>
      <p:grpSp>
        <p:nvGrpSpPr>
          <p:cNvPr id="11" name="Group 11"/>
          <p:cNvGrpSpPr/>
          <p:nvPr/>
        </p:nvGrpSpPr>
        <p:grpSpPr>
          <a:xfrm>
            <a:off x="535943" y="1816103"/>
            <a:ext cx="8437883" cy="4048763"/>
            <a:chOff x="0" y="0"/>
            <a:chExt cx="11250511" cy="5398351"/>
          </a:xfrm>
        </p:grpSpPr>
        <p:sp>
          <p:nvSpPr>
            <p:cNvPr id="12" name="Freeform 12"/>
            <p:cNvSpPr/>
            <p:nvPr/>
          </p:nvSpPr>
          <p:spPr>
            <a:xfrm>
              <a:off x="0" y="0"/>
              <a:ext cx="11250549" cy="5398389"/>
            </a:xfrm>
            <a:custGeom>
              <a:avLst/>
              <a:gdLst/>
              <a:ahLst/>
              <a:cxnLst/>
              <a:rect l="l" t="t" r="r" b="b"/>
              <a:pathLst>
                <a:path w="11250549" h="5398389">
                  <a:moveTo>
                    <a:pt x="0" y="196342"/>
                  </a:moveTo>
                  <a:cubicBezTo>
                    <a:pt x="0" y="87884"/>
                    <a:pt x="87884" y="0"/>
                    <a:pt x="196342" y="0"/>
                  </a:cubicBezTo>
                  <a:lnTo>
                    <a:pt x="11054207" y="0"/>
                  </a:lnTo>
                  <a:cubicBezTo>
                    <a:pt x="11162664" y="0"/>
                    <a:pt x="11250549" y="87884"/>
                    <a:pt x="11250549" y="196342"/>
                  </a:cubicBezTo>
                  <a:lnTo>
                    <a:pt x="11250549" y="5202047"/>
                  </a:lnTo>
                  <a:cubicBezTo>
                    <a:pt x="11250549" y="5310505"/>
                    <a:pt x="11162664" y="5398389"/>
                    <a:pt x="11054207" y="5398389"/>
                  </a:cubicBezTo>
                  <a:lnTo>
                    <a:pt x="196342" y="5398389"/>
                  </a:lnTo>
                  <a:cubicBezTo>
                    <a:pt x="87884" y="5398389"/>
                    <a:pt x="0" y="5310505"/>
                    <a:pt x="0" y="5202047"/>
                  </a:cubicBezTo>
                  <a:close/>
                </a:path>
              </a:pathLst>
            </a:custGeom>
            <a:solidFill>
              <a:srgbClr val="F2F2F2"/>
            </a:solidFill>
            <a:ln w="25400" cap="sq">
              <a:solidFill>
                <a:srgbClr val="F2F2F2"/>
              </a:solidFill>
              <a:prstDash val="solid"/>
              <a:miter/>
            </a:ln>
          </p:spPr>
          <p:txBody>
            <a:bodyPr/>
            <a:lstStyle/>
            <a:p>
              <a:endParaRPr lang="ko-KR" altLang="en-US"/>
            </a:p>
          </p:txBody>
        </p:sp>
      </p:grpSp>
      <p:sp>
        <p:nvSpPr>
          <p:cNvPr id="13" name="TextBox 13"/>
          <p:cNvSpPr txBox="1"/>
          <p:nvPr/>
        </p:nvSpPr>
        <p:spPr>
          <a:xfrm>
            <a:off x="859541" y="2192664"/>
            <a:ext cx="7863840" cy="371475"/>
          </a:xfrm>
          <a:prstGeom prst="rect">
            <a:avLst/>
          </a:prstGeom>
        </p:spPr>
        <p:txBody>
          <a:bodyPr lIns="0" tIns="0" rIns="0" bIns="0" rtlCol="0" anchor="t">
            <a:spAutoFit/>
          </a:bodyPr>
          <a:lstStyle/>
          <a:p>
            <a:pPr algn="l">
              <a:lnSpc>
                <a:spcPts val="2879"/>
              </a:lnSpc>
            </a:pPr>
            <a:r>
              <a:rPr lang="en-US" sz="2400" b="1">
                <a:solidFill>
                  <a:srgbClr val="1A1A1A"/>
                </a:solidFill>
                <a:latin typeface="프리텐다드 Bold"/>
                <a:ea typeface="프리텐다드 Bold"/>
                <a:cs typeface="프리텐다드 Bold"/>
                <a:sym typeface="프리텐다드 Bold"/>
              </a:rPr>
              <a:t>틀리는 방향 (직접 찍은 폰 사진 389장)</a:t>
            </a:r>
          </a:p>
        </p:txBody>
      </p:sp>
      <p:pic>
        <p:nvPicPr>
          <p:cNvPr id="14" name="Picture 14"/>
          <p:cNvPicPr>
            <a:picLocks noChangeAspect="1"/>
          </p:cNvPicPr>
          <p:nvPr/>
        </p:nvPicPr>
        <p:blipFill>
          <a:blip r:embed="rId4"/>
          <a:stretch>
            <a:fillRect/>
          </a:stretch>
        </p:blipFill>
        <p:spPr>
          <a:xfrm>
            <a:off x="381000" y="1954715"/>
            <a:ext cx="9386750" cy="4492224"/>
          </a:xfrm>
          <a:prstGeom prst="rect">
            <a:avLst/>
          </a:prstGeom>
        </p:spPr>
      </p:pic>
      <p:grpSp>
        <p:nvGrpSpPr>
          <p:cNvPr id="15" name="Group 15"/>
          <p:cNvGrpSpPr/>
          <p:nvPr/>
        </p:nvGrpSpPr>
        <p:grpSpPr>
          <a:xfrm>
            <a:off x="9314183" y="1816103"/>
            <a:ext cx="8437883" cy="4048763"/>
            <a:chOff x="0" y="0"/>
            <a:chExt cx="11250511" cy="5398351"/>
          </a:xfrm>
        </p:grpSpPr>
        <p:sp>
          <p:nvSpPr>
            <p:cNvPr id="16" name="Freeform 16"/>
            <p:cNvSpPr/>
            <p:nvPr/>
          </p:nvSpPr>
          <p:spPr>
            <a:xfrm>
              <a:off x="0" y="0"/>
              <a:ext cx="11250549" cy="5398389"/>
            </a:xfrm>
            <a:custGeom>
              <a:avLst/>
              <a:gdLst/>
              <a:ahLst/>
              <a:cxnLst/>
              <a:rect l="l" t="t" r="r" b="b"/>
              <a:pathLst>
                <a:path w="11250549" h="5398389">
                  <a:moveTo>
                    <a:pt x="0" y="196342"/>
                  </a:moveTo>
                  <a:cubicBezTo>
                    <a:pt x="0" y="87884"/>
                    <a:pt x="87884" y="0"/>
                    <a:pt x="196342" y="0"/>
                  </a:cubicBezTo>
                  <a:lnTo>
                    <a:pt x="11054207" y="0"/>
                  </a:lnTo>
                  <a:cubicBezTo>
                    <a:pt x="11162664" y="0"/>
                    <a:pt x="11250549" y="87884"/>
                    <a:pt x="11250549" y="196342"/>
                  </a:cubicBezTo>
                  <a:lnTo>
                    <a:pt x="11250549" y="5202047"/>
                  </a:lnTo>
                  <a:cubicBezTo>
                    <a:pt x="11250549" y="5310505"/>
                    <a:pt x="11162664" y="5398389"/>
                    <a:pt x="11054207" y="5398389"/>
                  </a:cubicBezTo>
                  <a:lnTo>
                    <a:pt x="196342" y="5398389"/>
                  </a:lnTo>
                  <a:cubicBezTo>
                    <a:pt x="87884" y="5398389"/>
                    <a:pt x="0" y="5310505"/>
                    <a:pt x="0" y="5202047"/>
                  </a:cubicBezTo>
                  <a:close/>
                </a:path>
              </a:pathLst>
            </a:custGeom>
            <a:solidFill>
              <a:srgbClr val="F2F2F2"/>
            </a:solidFill>
            <a:ln w="25400" cap="sq">
              <a:solidFill>
                <a:srgbClr val="F2F2F2"/>
              </a:solidFill>
              <a:prstDash val="solid"/>
              <a:miter/>
            </a:ln>
          </p:spPr>
          <p:txBody>
            <a:bodyPr/>
            <a:lstStyle/>
            <a:p>
              <a:endParaRPr lang="ko-KR" altLang="en-US"/>
            </a:p>
          </p:txBody>
        </p:sp>
      </p:grpSp>
      <p:sp>
        <p:nvSpPr>
          <p:cNvPr id="17" name="TextBox 17"/>
          <p:cNvSpPr txBox="1"/>
          <p:nvPr/>
        </p:nvSpPr>
        <p:spPr>
          <a:xfrm>
            <a:off x="9601205" y="2192664"/>
            <a:ext cx="7863840" cy="371475"/>
          </a:xfrm>
          <a:prstGeom prst="rect">
            <a:avLst/>
          </a:prstGeom>
        </p:spPr>
        <p:txBody>
          <a:bodyPr lIns="0" tIns="0" rIns="0" bIns="0" rtlCol="0" anchor="t">
            <a:spAutoFit/>
          </a:bodyPr>
          <a:lstStyle/>
          <a:p>
            <a:pPr algn="l">
              <a:lnSpc>
                <a:spcPts val="2879"/>
              </a:lnSpc>
            </a:pPr>
            <a:r>
              <a:rPr lang="en-US" sz="2400" b="1">
                <a:solidFill>
                  <a:srgbClr val="1A1A1A"/>
                </a:solidFill>
                <a:latin typeface="프리텐다드 Bold"/>
                <a:ea typeface="프리텐다드 Bold"/>
                <a:cs typeface="프리텐다드 Bold"/>
                <a:sym typeface="프리텐다드 Bold"/>
              </a:rPr>
              <a:t>남은 한계</a:t>
            </a:r>
          </a:p>
        </p:txBody>
      </p:sp>
      <p:sp>
        <p:nvSpPr>
          <p:cNvPr id="18" name="TextBox 18"/>
          <p:cNvSpPr txBox="1"/>
          <p:nvPr/>
        </p:nvSpPr>
        <p:spPr>
          <a:xfrm>
            <a:off x="9601205" y="2777744"/>
            <a:ext cx="7658095" cy="2572435"/>
          </a:xfrm>
          <a:prstGeom prst="rect">
            <a:avLst/>
          </a:prstGeom>
        </p:spPr>
        <p:txBody>
          <a:bodyPr lIns="0" tIns="0" rIns="0" bIns="0" rtlCol="0" anchor="t">
            <a:spAutoFit/>
          </a:bodyPr>
          <a:lstStyle/>
          <a:p>
            <a:pPr marL="506730" lvl="1" indent="-253365" algn="just">
              <a:lnSpc>
                <a:spcPts val="3360"/>
              </a:lnSpc>
              <a:buFont typeface="Arial"/>
              <a:buChar char="•"/>
            </a:pPr>
            <a:r>
              <a:rPr lang="ko-KR" altLang="en-US" sz="2100" dirty="0" err="1">
                <a:solidFill>
                  <a:srgbClr val="1A1A1A"/>
                </a:solidFill>
                <a:latin typeface="프리텐다드"/>
                <a:ea typeface="프리텐다드"/>
                <a:cs typeface="프리텐다드"/>
                <a:sym typeface="프리텐다드"/>
              </a:rPr>
              <a:t>미인식</a:t>
            </a:r>
            <a:r>
              <a:rPr lang="ko-KR" altLang="en-US" sz="2100" dirty="0">
                <a:solidFill>
                  <a:srgbClr val="1A1A1A"/>
                </a:solidFill>
                <a:latin typeface="프리텐다드"/>
                <a:ea typeface="프리텐다드"/>
                <a:cs typeface="프리텐다드"/>
                <a:sym typeface="프리텐다드"/>
              </a:rPr>
              <a:t> </a:t>
            </a:r>
            <a:r>
              <a:rPr lang="en-US" sz="2100" dirty="0">
                <a:solidFill>
                  <a:srgbClr val="1A1A1A"/>
                </a:solidFill>
                <a:latin typeface="프리텐다드"/>
                <a:ea typeface="프리텐다드"/>
                <a:cs typeface="프리텐다드"/>
                <a:sym typeface="프리텐다드"/>
              </a:rPr>
              <a:t>21.9% 는 </a:t>
            </a:r>
            <a:r>
              <a:rPr lang="en-US" sz="2100" dirty="0" err="1">
                <a:solidFill>
                  <a:srgbClr val="1A1A1A"/>
                </a:solidFill>
                <a:latin typeface="프리텐다드"/>
                <a:ea typeface="프리텐다드"/>
                <a:cs typeface="프리텐다드"/>
                <a:sym typeface="프리텐다드"/>
              </a:rPr>
              <a:t>봉인</a:t>
            </a:r>
            <a:r>
              <a:rPr lang="en-US" sz="2100" dirty="0">
                <a:solidFill>
                  <a:srgbClr val="1A1A1A"/>
                </a:solidFill>
                <a:latin typeface="프리텐다드"/>
                <a:ea typeface="프리텐다드"/>
                <a:cs typeface="프리텐다드"/>
                <a:sym typeface="프리텐다드"/>
              </a:rPr>
              <a:t> 500장(3.0%)의 약 </a:t>
            </a:r>
            <a:r>
              <a:rPr lang="en-US" sz="2100" dirty="0" err="1">
                <a:solidFill>
                  <a:srgbClr val="1A1A1A"/>
                </a:solidFill>
                <a:latin typeface="프리텐다드"/>
                <a:ea typeface="프리텐다드"/>
                <a:cs typeface="프리텐다드"/>
                <a:sym typeface="프리텐다드"/>
              </a:rPr>
              <a:t>일곱</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배입니다</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찍은</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사람과</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촬영</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조건에</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따라</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크게</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갈립니다</a:t>
            </a:r>
            <a:r>
              <a:rPr lang="en-US" sz="2100" dirty="0">
                <a:solidFill>
                  <a:srgbClr val="1A1A1A"/>
                </a:solidFill>
                <a:latin typeface="프리텐다드"/>
                <a:ea typeface="프리텐다드"/>
                <a:cs typeface="프리텐다드"/>
                <a:sym typeface="프리텐다드"/>
              </a:rPr>
              <a:t>.</a:t>
            </a:r>
          </a:p>
          <a:p>
            <a:pPr marL="506730" lvl="1" indent="-253365" algn="just">
              <a:lnSpc>
                <a:spcPts val="3360"/>
              </a:lnSpc>
              <a:buFont typeface="Arial"/>
              <a:buChar char="•"/>
            </a:pPr>
            <a:r>
              <a:rPr lang="en-US" sz="2100" dirty="0">
                <a:solidFill>
                  <a:srgbClr val="1A1A1A"/>
                </a:solidFill>
                <a:latin typeface="프리텐다드"/>
                <a:ea typeface="프리텐다드"/>
                <a:cs typeface="프리텐다드"/>
                <a:sym typeface="프리텐다드"/>
              </a:rPr>
              <a:t>389장은 </a:t>
            </a:r>
            <a:r>
              <a:rPr lang="en-US" sz="2100" dirty="0" err="1">
                <a:solidFill>
                  <a:srgbClr val="1A1A1A"/>
                </a:solidFill>
                <a:latin typeface="프리텐다드"/>
                <a:ea typeface="프리텐다드"/>
                <a:cs typeface="프리텐다드"/>
                <a:sym typeface="프리텐다드"/>
              </a:rPr>
              <a:t>어려운</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유형</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위주로</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찍은</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것입니다</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실제</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게시</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사진으로</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다시</a:t>
            </a:r>
            <a:r>
              <a:rPr lang="en-US" sz="2100" dirty="0">
                <a:solidFill>
                  <a:srgbClr val="1A1A1A"/>
                </a:solidFill>
                <a:latin typeface="프리텐다드"/>
                <a:ea typeface="프리텐다드"/>
                <a:cs typeface="프리텐다드"/>
                <a:sym typeface="프리텐다드"/>
              </a:rPr>
              <a:t> </a:t>
            </a:r>
            <a:r>
              <a:rPr lang="ko-KR" altLang="en-US" sz="2100" dirty="0">
                <a:solidFill>
                  <a:srgbClr val="1A1A1A"/>
                </a:solidFill>
                <a:latin typeface="프리텐다드"/>
                <a:ea typeface="프리텐다드"/>
                <a:cs typeface="프리텐다드"/>
                <a:sym typeface="프리텐다드"/>
              </a:rPr>
              <a:t>측정해야 합니다</a:t>
            </a:r>
            <a:r>
              <a:rPr lang="en-US" altLang="ko-KR" sz="2100" dirty="0">
                <a:solidFill>
                  <a:srgbClr val="1A1A1A"/>
                </a:solidFill>
                <a:latin typeface="프리텐다드"/>
                <a:ea typeface="프리텐다드"/>
                <a:cs typeface="프리텐다드"/>
                <a:sym typeface="프리텐다드"/>
              </a:rPr>
              <a:t>.</a:t>
            </a:r>
            <a:endParaRPr lang="en-US" sz="2100" dirty="0">
              <a:solidFill>
                <a:srgbClr val="1A1A1A"/>
              </a:solidFill>
              <a:latin typeface="프리텐다드"/>
              <a:ea typeface="프리텐다드"/>
              <a:cs typeface="프리텐다드"/>
              <a:sym typeface="프리텐다드"/>
            </a:endParaRPr>
          </a:p>
          <a:p>
            <a:pPr marL="506730" lvl="1" indent="-253365" algn="just">
              <a:lnSpc>
                <a:spcPts val="3360"/>
              </a:lnSpc>
              <a:buFont typeface="Arial"/>
              <a:buChar char="•"/>
            </a:pPr>
            <a:r>
              <a:rPr lang="en-US" sz="2100" dirty="0" err="1">
                <a:solidFill>
                  <a:srgbClr val="1A1A1A"/>
                </a:solidFill>
                <a:latin typeface="프리텐다드"/>
                <a:ea typeface="프리텐다드"/>
                <a:cs typeface="프리텐다드"/>
                <a:sym typeface="프리텐다드"/>
              </a:rPr>
              <a:t>조작·개봉</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여부·카테고리를</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바꿔</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촬영을</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피하는</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것은</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막지</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못합니다</a:t>
            </a:r>
            <a:r>
              <a:rPr lang="en-US" sz="2100" dirty="0">
                <a:solidFill>
                  <a:srgbClr val="1A1A1A"/>
                </a:solidFill>
                <a:latin typeface="프리텐다드"/>
                <a:ea typeface="프리텐다드"/>
                <a:cs typeface="프리텐다드"/>
                <a:sym typeface="프리텐다드"/>
              </a:rPr>
              <a:t>.</a:t>
            </a:r>
          </a:p>
          <a:p>
            <a:pPr marL="506730" lvl="1" indent="-253365" algn="just">
              <a:lnSpc>
                <a:spcPts val="3360"/>
              </a:lnSpc>
              <a:buFont typeface="Arial"/>
              <a:buChar char="•"/>
            </a:pPr>
            <a:r>
              <a:rPr lang="en-US" sz="2100" dirty="0" err="1">
                <a:solidFill>
                  <a:srgbClr val="1A1A1A"/>
                </a:solidFill>
                <a:latin typeface="프리텐다드"/>
                <a:ea typeface="프리텐다드"/>
                <a:cs typeface="프리텐다드"/>
                <a:sym typeface="프리텐다드"/>
              </a:rPr>
              <a:t>판매자가</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보지</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않고</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확인을</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누르는</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비율은</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재지</a:t>
            </a:r>
            <a:r>
              <a:rPr lang="en-US" sz="2100" dirty="0">
                <a:solidFill>
                  <a:srgbClr val="1A1A1A"/>
                </a:solidFill>
                <a:latin typeface="프리텐다드"/>
                <a:ea typeface="프리텐다드"/>
                <a:cs typeface="프리텐다드"/>
                <a:sym typeface="프리텐다드"/>
              </a:rPr>
              <a:t> </a:t>
            </a:r>
            <a:r>
              <a:rPr lang="en-US" sz="2100" dirty="0" err="1">
                <a:solidFill>
                  <a:srgbClr val="1A1A1A"/>
                </a:solidFill>
                <a:latin typeface="프리텐다드"/>
                <a:ea typeface="프리텐다드"/>
                <a:cs typeface="프리텐다드"/>
                <a:sym typeface="프리텐다드"/>
              </a:rPr>
              <a:t>못했습니다</a:t>
            </a:r>
            <a:r>
              <a:rPr lang="en-US" sz="2100" dirty="0">
                <a:solidFill>
                  <a:srgbClr val="1A1A1A"/>
                </a:solidFill>
                <a:latin typeface="프리텐다드"/>
                <a:ea typeface="프리텐다드"/>
                <a:cs typeface="프리텐다드"/>
                <a:sym typeface="프리텐다드"/>
              </a:rPr>
              <a:t>.</a:t>
            </a:r>
          </a:p>
        </p:txBody>
      </p:sp>
      <p:sp>
        <p:nvSpPr>
          <p:cNvPr id="19" name="TextBox 19"/>
          <p:cNvSpPr txBox="1"/>
          <p:nvPr/>
        </p:nvSpPr>
        <p:spPr>
          <a:xfrm>
            <a:off x="548640" y="6171819"/>
            <a:ext cx="17190720" cy="428625"/>
          </a:xfrm>
          <a:prstGeom prst="rect">
            <a:avLst/>
          </a:prstGeom>
        </p:spPr>
        <p:txBody>
          <a:bodyPr lIns="0" tIns="0" rIns="0" bIns="0" rtlCol="0" anchor="t">
            <a:spAutoFit/>
          </a:bodyPr>
          <a:lstStyle/>
          <a:p>
            <a:pPr algn="l">
              <a:lnSpc>
                <a:spcPts val="3359"/>
              </a:lnSpc>
            </a:pPr>
            <a:r>
              <a:rPr lang="en-US" sz="2799" b="1">
                <a:solidFill>
                  <a:srgbClr val="1A1A1A"/>
                </a:solidFill>
                <a:latin typeface="프리텐다드 Bold"/>
                <a:ea typeface="프리텐다드 Bold"/>
                <a:cs typeface="프리텐다드 Bold"/>
                <a:sym typeface="프리텐다드 Bold"/>
              </a:rPr>
              <a:t>보완 계획</a:t>
            </a:r>
          </a:p>
        </p:txBody>
      </p:sp>
      <p:grpSp>
        <p:nvGrpSpPr>
          <p:cNvPr id="20" name="Group 20"/>
          <p:cNvGrpSpPr/>
          <p:nvPr/>
        </p:nvGrpSpPr>
        <p:grpSpPr>
          <a:xfrm>
            <a:off x="535943" y="6803136"/>
            <a:ext cx="17218657" cy="1159764"/>
            <a:chOff x="0" y="0"/>
            <a:chExt cx="22958209" cy="1546352"/>
          </a:xfrm>
        </p:grpSpPr>
        <p:grpSp>
          <p:nvGrpSpPr>
            <p:cNvPr id="21" name="Group 21"/>
            <p:cNvGrpSpPr/>
            <p:nvPr/>
          </p:nvGrpSpPr>
          <p:grpSpPr>
            <a:xfrm>
              <a:off x="0" y="56223"/>
              <a:ext cx="862927" cy="862927"/>
              <a:chOff x="0" y="0"/>
              <a:chExt cx="862927" cy="862927"/>
            </a:xfrm>
          </p:grpSpPr>
          <p:sp>
            <p:nvSpPr>
              <p:cNvPr id="22" name="Freeform 22"/>
              <p:cNvSpPr/>
              <p:nvPr/>
            </p:nvSpPr>
            <p:spPr>
              <a:xfrm>
                <a:off x="0" y="0"/>
                <a:ext cx="862965" cy="862965"/>
              </a:xfrm>
              <a:custGeom>
                <a:avLst/>
                <a:gdLst/>
                <a:ahLst/>
                <a:cxnLst/>
                <a:rect l="l" t="t" r="r" b="b"/>
                <a:pathLst>
                  <a:path w="862965" h="862965">
                    <a:moveTo>
                      <a:pt x="0" y="431419"/>
                    </a:moveTo>
                    <a:cubicBezTo>
                      <a:pt x="0" y="193167"/>
                      <a:pt x="193167" y="0"/>
                      <a:pt x="431419" y="0"/>
                    </a:cubicBezTo>
                    <a:cubicBezTo>
                      <a:pt x="669671" y="0"/>
                      <a:pt x="862965" y="193167"/>
                      <a:pt x="862965" y="431419"/>
                    </a:cubicBezTo>
                    <a:cubicBezTo>
                      <a:pt x="862965" y="669671"/>
                      <a:pt x="669798" y="862965"/>
                      <a:pt x="431419" y="862965"/>
                    </a:cubicBezTo>
                    <a:cubicBezTo>
                      <a:pt x="193040" y="862965"/>
                      <a:pt x="0" y="669798"/>
                      <a:pt x="0" y="431419"/>
                    </a:cubicBez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23" name="Group 23"/>
            <p:cNvGrpSpPr/>
            <p:nvPr/>
          </p:nvGrpSpPr>
          <p:grpSpPr>
            <a:xfrm>
              <a:off x="16929" y="73152"/>
              <a:ext cx="829056" cy="829056"/>
              <a:chOff x="0" y="0"/>
              <a:chExt cx="829056" cy="829056"/>
            </a:xfrm>
          </p:grpSpPr>
          <p:sp>
            <p:nvSpPr>
              <p:cNvPr id="24" name="Freeform 24"/>
              <p:cNvSpPr/>
              <p:nvPr/>
            </p:nvSpPr>
            <p:spPr>
              <a:xfrm>
                <a:off x="0" y="0"/>
                <a:ext cx="829056" cy="829056"/>
              </a:xfrm>
              <a:custGeom>
                <a:avLst/>
                <a:gdLst/>
                <a:ahLst/>
                <a:cxnLst/>
                <a:rect l="l" t="t" r="r" b="b"/>
                <a:pathLst>
                  <a:path w="829056" h="829056">
                    <a:moveTo>
                      <a:pt x="0" y="0"/>
                    </a:moveTo>
                    <a:lnTo>
                      <a:pt x="829056" y="0"/>
                    </a:lnTo>
                    <a:lnTo>
                      <a:pt x="829056" y="829056"/>
                    </a:lnTo>
                    <a:lnTo>
                      <a:pt x="0" y="829056"/>
                    </a:lnTo>
                    <a:close/>
                  </a:path>
                </a:pathLst>
              </a:custGeom>
              <a:blipFill>
                <a:blip r:embed="rId3">
                  <a:alphaModFix amt="0"/>
                </a:blip>
                <a:stretch>
                  <a:fillRect l="-78303" r="-78303"/>
                </a:stretch>
              </a:blipFill>
            </p:spPr>
            <p:txBody>
              <a:bodyPr/>
              <a:lstStyle/>
              <a:p>
                <a:endParaRPr lang="ko-KR" altLang="en-US"/>
              </a:p>
            </p:txBody>
          </p:sp>
          <p:sp>
            <p:nvSpPr>
              <p:cNvPr id="25" name="TextBox 25"/>
              <p:cNvSpPr txBox="1"/>
              <p:nvPr/>
            </p:nvSpPr>
            <p:spPr>
              <a:xfrm>
                <a:off x="0" y="-9525"/>
                <a:ext cx="829056" cy="838581"/>
              </a:xfrm>
              <a:prstGeom prst="rect">
                <a:avLst/>
              </a:prstGeom>
            </p:spPr>
            <p:txBody>
              <a:bodyPr lIns="0" tIns="0" rIns="0" bIns="0" rtlCol="0" anchor="ctr"/>
              <a:lstStyle/>
              <a:p>
                <a:pPr algn="ctr">
                  <a:lnSpc>
                    <a:spcPts val="2400"/>
                  </a:lnSpc>
                </a:pPr>
                <a:r>
                  <a:rPr lang="en-US" sz="2000" b="1">
                    <a:solidFill>
                      <a:srgbClr val="FFFFFF"/>
                    </a:solidFill>
                    <a:latin typeface="프리텐다드 Bold"/>
                    <a:ea typeface="프리텐다드 Bold"/>
                    <a:cs typeface="프리텐다드 Bold"/>
                    <a:sym typeface="프리텐다드 Bold"/>
                  </a:rPr>
                  <a:t>01</a:t>
                </a:r>
              </a:p>
            </p:txBody>
          </p:sp>
        </p:grpSp>
        <p:grpSp>
          <p:nvGrpSpPr>
            <p:cNvPr id="26" name="Group 26"/>
            <p:cNvGrpSpPr/>
            <p:nvPr/>
          </p:nvGrpSpPr>
          <p:grpSpPr>
            <a:xfrm>
              <a:off x="1041057" y="0"/>
              <a:ext cx="6372352" cy="784352"/>
              <a:chOff x="0" y="0"/>
              <a:chExt cx="6372352" cy="784352"/>
            </a:xfrm>
          </p:grpSpPr>
          <p:sp>
            <p:nvSpPr>
              <p:cNvPr id="27" name="Freeform 27"/>
              <p:cNvSpPr/>
              <p:nvPr/>
            </p:nvSpPr>
            <p:spPr>
              <a:xfrm>
                <a:off x="0" y="0"/>
                <a:ext cx="6339840" cy="731520"/>
              </a:xfrm>
              <a:custGeom>
                <a:avLst/>
                <a:gdLst/>
                <a:ahLst/>
                <a:cxnLst/>
                <a:rect l="l" t="t" r="r" b="b"/>
                <a:pathLst>
                  <a:path w="6339840" h="731520">
                    <a:moveTo>
                      <a:pt x="0" y="0"/>
                    </a:moveTo>
                    <a:lnTo>
                      <a:pt x="6339840" y="0"/>
                    </a:lnTo>
                    <a:lnTo>
                      <a:pt x="6339840" y="731520"/>
                    </a:lnTo>
                    <a:lnTo>
                      <a:pt x="0" y="731520"/>
                    </a:lnTo>
                    <a:close/>
                  </a:path>
                </a:pathLst>
              </a:custGeom>
              <a:blipFill>
                <a:blip r:embed="rId3">
                  <a:alphaModFix amt="0"/>
                </a:blip>
                <a:stretch>
                  <a:fillRect t="-118870" b="-118870"/>
                </a:stretch>
              </a:blipFill>
            </p:spPr>
            <p:txBody>
              <a:bodyPr/>
              <a:lstStyle/>
              <a:p>
                <a:endParaRPr lang="ko-KR" altLang="en-US"/>
              </a:p>
            </p:txBody>
          </p:sp>
          <p:sp>
            <p:nvSpPr>
              <p:cNvPr id="28" name="TextBox 28"/>
              <p:cNvSpPr txBox="1"/>
              <p:nvPr/>
            </p:nvSpPr>
            <p:spPr>
              <a:xfrm>
                <a:off x="32512" y="43307"/>
                <a:ext cx="6339840" cy="741045"/>
              </a:xfrm>
              <a:prstGeom prst="rect">
                <a:avLst/>
              </a:prstGeom>
            </p:spPr>
            <p:txBody>
              <a:bodyPr lIns="0" tIns="0" rIns="0" bIns="0" rtlCol="0" anchor="ctr"/>
              <a:lstStyle/>
              <a:p>
                <a:pPr algn="l">
                  <a:lnSpc>
                    <a:spcPts val="2760"/>
                  </a:lnSpc>
                </a:pPr>
                <a:r>
                  <a:rPr lang="en-US" sz="2300" b="1" dirty="0" err="1">
                    <a:solidFill>
                      <a:srgbClr val="1A1A1A"/>
                    </a:solidFill>
                    <a:latin typeface="프리텐다드 Bold"/>
                    <a:ea typeface="프리텐다드 Bold"/>
                    <a:cs typeface="프리텐다드 Bold"/>
                    <a:sym typeface="프리텐다드 Bold"/>
                  </a:rPr>
                  <a:t>촬영</a:t>
                </a:r>
                <a:r>
                  <a:rPr lang="en-US" sz="2300" b="1" dirty="0">
                    <a:solidFill>
                      <a:srgbClr val="1A1A1A"/>
                    </a:solidFill>
                    <a:latin typeface="프리텐다드 Bold"/>
                    <a:ea typeface="프리텐다드 Bold"/>
                    <a:cs typeface="프리텐다드 Bold"/>
                    <a:sym typeface="프리텐다드 Bold"/>
                  </a:rPr>
                  <a:t> </a:t>
                </a:r>
                <a:r>
                  <a:rPr lang="en-US" sz="2300" b="1" dirty="0" err="1">
                    <a:solidFill>
                      <a:srgbClr val="1A1A1A"/>
                    </a:solidFill>
                    <a:latin typeface="프리텐다드 Bold"/>
                    <a:ea typeface="프리텐다드 Bold"/>
                    <a:cs typeface="프리텐다드 Bold"/>
                    <a:sym typeface="프리텐다드 Bold"/>
                  </a:rPr>
                  <a:t>단계에서</a:t>
                </a:r>
                <a:r>
                  <a:rPr lang="en-US" sz="2300" b="1" dirty="0">
                    <a:solidFill>
                      <a:srgbClr val="1A1A1A"/>
                    </a:solidFill>
                    <a:latin typeface="프리텐다드 Bold"/>
                    <a:ea typeface="프리텐다드 Bold"/>
                    <a:cs typeface="프리텐다드 Bold"/>
                    <a:sym typeface="프리텐다드 Bold"/>
                  </a:rPr>
                  <a:t> </a:t>
                </a:r>
                <a:r>
                  <a:rPr lang="en-US" sz="2300" b="1" dirty="0" err="1">
                    <a:solidFill>
                      <a:srgbClr val="1A1A1A"/>
                    </a:solidFill>
                    <a:latin typeface="프리텐다드 Bold"/>
                    <a:ea typeface="프리텐다드 Bold"/>
                    <a:cs typeface="프리텐다드 Bold"/>
                    <a:sym typeface="프리텐다드 Bold"/>
                  </a:rPr>
                  <a:t>막는다</a:t>
                </a:r>
                <a:endParaRPr lang="en-US" sz="2300" b="1" dirty="0">
                  <a:solidFill>
                    <a:srgbClr val="1A1A1A"/>
                  </a:solidFill>
                  <a:latin typeface="프리텐다드 Bold"/>
                  <a:ea typeface="프리텐다드 Bold"/>
                  <a:cs typeface="프리텐다드 Bold"/>
                  <a:sym typeface="프리텐다드 Bold"/>
                </a:endParaRPr>
              </a:p>
            </p:txBody>
          </p:sp>
        </p:grpSp>
        <p:sp>
          <p:nvSpPr>
            <p:cNvPr id="29" name="TextBox 29"/>
            <p:cNvSpPr txBox="1"/>
            <p:nvPr/>
          </p:nvSpPr>
          <p:spPr>
            <a:xfrm>
              <a:off x="1073569" y="724027"/>
              <a:ext cx="6339840" cy="820737"/>
            </a:xfrm>
            <a:prstGeom prst="rect">
              <a:avLst/>
            </a:prstGeom>
          </p:spPr>
          <p:txBody>
            <a:bodyPr lIns="0" tIns="0" rIns="0" bIns="0" rtlCol="0" anchor="t">
              <a:spAutoFit/>
            </a:bodyPr>
            <a:lstStyle/>
            <a:p>
              <a:pPr algn="l">
                <a:lnSpc>
                  <a:spcPts val="2400"/>
                </a:lnSpc>
              </a:pPr>
              <a:r>
                <a:rPr lang="en-US" sz="2000" dirty="0" err="1">
                  <a:solidFill>
                    <a:srgbClr val="6B6B6B"/>
                  </a:solidFill>
                  <a:latin typeface="프리텐다드"/>
                  <a:ea typeface="프리텐다드"/>
                  <a:cs typeface="프리텐다드"/>
                  <a:sym typeface="프리텐다드"/>
                </a:rPr>
                <a:t>촬영</a:t>
              </a:r>
              <a:r>
                <a:rPr lang="en-US" sz="2000" dirty="0">
                  <a:solidFill>
                    <a:srgbClr val="6B6B6B"/>
                  </a:solidFill>
                  <a:latin typeface="프리텐다드"/>
                  <a:ea typeface="프리텐다드"/>
                  <a:cs typeface="프리텐다드"/>
                  <a:sym typeface="프리텐다드"/>
                </a:rPr>
                <a:t> </a:t>
              </a:r>
              <a:r>
                <a:rPr lang="en-US" sz="2000" dirty="0" err="1">
                  <a:solidFill>
                    <a:srgbClr val="6B6B6B"/>
                  </a:solidFill>
                  <a:latin typeface="프리텐다드"/>
                  <a:ea typeface="프리텐다드"/>
                  <a:cs typeface="프리텐다드"/>
                  <a:sym typeface="프리텐다드"/>
                </a:rPr>
                <a:t>안내와</a:t>
              </a:r>
              <a:r>
                <a:rPr lang="en-US" sz="2000" dirty="0">
                  <a:solidFill>
                    <a:srgbClr val="6B6B6B"/>
                  </a:solidFill>
                  <a:latin typeface="프리텐다드"/>
                  <a:ea typeface="프리텐다드"/>
                  <a:cs typeface="프리텐다드"/>
                  <a:sym typeface="프리텐다드"/>
                </a:rPr>
                <a:t> </a:t>
              </a:r>
              <a:r>
                <a:rPr lang="en-US" sz="2000" dirty="0" err="1">
                  <a:solidFill>
                    <a:srgbClr val="6B6B6B"/>
                  </a:solidFill>
                  <a:latin typeface="프리텐다드"/>
                  <a:ea typeface="프리텐다드"/>
                  <a:cs typeface="프리텐다드"/>
                  <a:sym typeface="프리텐다드"/>
                </a:rPr>
                <a:t>해상도·흐림</a:t>
              </a:r>
              <a:r>
                <a:rPr lang="en-US" sz="2000" dirty="0">
                  <a:solidFill>
                    <a:srgbClr val="6B6B6B"/>
                  </a:solidFill>
                  <a:latin typeface="프리텐다드"/>
                  <a:ea typeface="프리텐다드"/>
                  <a:cs typeface="프리텐다드"/>
                  <a:sym typeface="프리텐다드"/>
                </a:rPr>
                <a:t> </a:t>
              </a:r>
              <a:r>
                <a:rPr lang="en-US" sz="2000" dirty="0" err="1">
                  <a:solidFill>
                    <a:srgbClr val="6B6B6B"/>
                  </a:solidFill>
                  <a:latin typeface="프리텐다드"/>
                  <a:ea typeface="프리텐다드"/>
                  <a:cs typeface="프리텐다드"/>
                  <a:sym typeface="프리텐다드"/>
                </a:rPr>
                <a:t>검사</a:t>
              </a:r>
              <a:endParaRPr lang="en-US" sz="2000" dirty="0">
                <a:solidFill>
                  <a:srgbClr val="6B6B6B"/>
                </a:solidFill>
                <a:latin typeface="프리텐다드"/>
                <a:ea typeface="프리텐다드"/>
                <a:cs typeface="프리텐다드"/>
                <a:sym typeface="프리텐다드"/>
              </a:endParaRPr>
            </a:p>
            <a:p>
              <a:pPr algn="l">
                <a:lnSpc>
                  <a:spcPts val="2400"/>
                </a:lnSpc>
              </a:pPr>
              <a:r>
                <a:rPr lang="ko-KR" altLang="en-US" sz="2000" dirty="0">
                  <a:solidFill>
                    <a:srgbClr val="6B6B6B"/>
                  </a:solidFill>
                  <a:latin typeface="프리텐다드"/>
                  <a:ea typeface="프리텐다드"/>
                  <a:cs typeface="프리텐다드"/>
                  <a:sym typeface="프리텐다드"/>
                </a:rPr>
                <a:t>미달인 경우</a:t>
              </a:r>
              <a:r>
                <a:rPr lang="en-US" altLang="ko-KR" sz="2000" dirty="0">
                  <a:solidFill>
                    <a:srgbClr val="6B6B6B"/>
                  </a:solidFill>
                  <a:latin typeface="프리텐다드"/>
                  <a:ea typeface="프리텐다드"/>
                  <a:cs typeface="프리텐다드"/>
                  <a:sym typeface="프리텐다드"/>
                </a:rPr>
                <a:t> </a:t>
              </a:r>
              <a:r>
                <a:rPr lang="ko-KR" altLang="en-US" sz="2000" dirty="0">
                  <a:solidFill>
                    <a:srgbClr val="6B6B6B"/>
                  </a:solidFill>
                  <a:latin typeface="프리텐다드"/>
                  <a:ea typeface="프리텐다드"/>
                  <a:cs typeface="프리텐다드"/>
                  <a:sym typeface="프리텐다드"/>
                </a:rPr>
                <a:t>재촬영</a:t>
              </a:r>
              <a:endParaRPr lang="en-US" sz="2000" dirty="0">
                <a:solidFill>
                  <a:srgbClr val="6B6B6B"/>
                </a:solidFill>
                <a:latin typeface="프리텐다드"/>
                <a:ea typeface="프리텐다드"/>
                <a:cs typeface="프리텐다드"/>
                <a:sym typeface="프리텐다드"/>
              </a:endParaRPr>
            </a:p>
          </p:txBody>
        </p:sp>
        <p:grpSp>
          <p:nvGrpSpPr>
            <p:cNvPr id="30" name="Group 30"/>
            <p:cNvGrpSpPr/>
            <p:nvPr/>
          </p:nvGrpSpPr>
          <p:grpSpPr>
            <a:xfrm>
              <a:off x="7560062" y="56223"/>
              <a:ext cx="862927" cy="862927"/>
              <a:chOff x="0" y="0"/>
              <a:chExt cx="862927" cy="862927"/>
            </a:xfrm>
          </p:grpSpPr>
          <p:sp>
            <p:nvSpPr>
              <p:cNvPr id="31" name="Freeform 31"/>
              <p:cNvSpPr/>
              <p:nvPr/>
            </p:nvSpPr>
            <p:spPr>
              <a:xfrm>
                <a:off x="0" y="0"/>
                <a:ext cx="862965" cy="862965"/>
              </a:xfrm>
              <a:custGeom>
                <a:avLst/>
                <a:gdLst/>
                <a:ahLst/>
                <a:cxnLst/>
                <a:rect l="l" t="t" r="r" b="b"/>
                <a:pathLst>
                  <a:path w="862965" h="862965">
                    <a:moveTo>
                      <a:pt x="0" y="431419"/>
                    </a:moveTo>
                    <a:cubicBezTo>
                      <a:pt x="0" y="193167"/>
                      <a:pt x="193167" y="0"/>
                      <a:pt x="431419" y="0"/>
                    </a:cubicBezTo>
                    <a:cubicBezTo>
                      <a:pt x="669671" y="0"/>
                      <a:pt x="862965" y="193167"/>
                      <a:pt x="862965" y="431419"/>
                    </a:cubicBezTo>
                    <a:cubicBezTo>
                      <a:pt x="862965" y="669671"/>
                      <a:pt x="669798" y="862965"/>
                      <a:pt x="431419" y="862965"/>
                    </a:cubicBezTo>
                    <a:cubicBezTo>
                      <a:pt x="193040" y="862965"/>
                      <a:pt x="0" y="669798"/>
                      <a:pt x="0" y="431419"/>
                    </a:cubicBez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32" name="Group 32"/>
            <p:cNvGrpSpPr/>
            <p:nvPr/>
          </p:nvGrpSpPr>
          <p:grpSpPr>
            <a:xfrm>
              <a:off x="7576991" y="73152"/>
              <a:ext cx="829056" cy="829056"/>
              <a:chOff x="0" y="0"/>
              <a:chExt cx="829056" cy="829056"/>
            </a:xfrm>
          </p:grpSpPr>
          <p:sp>
            <p:nvSpPr>
              <p:cNvPr id="33" name="Freeform 33"/>
              <p:cNvSpPr/>
              <p:nvPr/>
            </p:nvSpPr>
            <p:spPr>
              <a:xfrm>
                <a:off x="0" y="0"/>
                <a:ext cx="829056" cy="829056"/>
              </a:xfrm>
              <a:custGeom>
                <a:avLst/>
                <a:gdLst/>
                <a:ahLst/>
                <a:cxnLst/>
                <a:rect l="l" t="t" r="r" b="b"/>
                <a:pathLst>
                  <a:path w="829056" h="829056">
                    <a:moveTo>
                      <a:pt x="0" y="0"/>
                    </a:moveTo>
                    <a:lnTo>
                      <a:pt x="829056" y="0"/>
                    </a:lnTo>
                    <a:lnTo>
                      <a:pt x="829056" y="829056"/>
                    </a:lnTo>
                    <a:lnTo>
                      <a:pt x="0" y="829056"/>
                    </a:lnTo>
                    <a:close/>
                  </a:path>
                </a:pathLst>
              </a:custGeom>
              <a:blipFill>
                <a:blip r:embed="rId3">
                  <a:alphaModFix amt="0"/>
                </a:blip>
                <a:stretch>
                  <a:fillRect l="-78303" r="-78303"/>
                </a:stretch>
              </a:blipFill>
            </p:spPr>
            <p:txBody>
              <a:bodyPr/>
              <a:lstStyle/>
              <a:p>
                <a:endParaRPr lang="ko-KR" altLang="en-US"/>
              </a:p>
            </p:txBody>
          </p:sp>
          <p:sp>
            <p:nvSpPr>
              <p:cNvPr id="34" name="TextBox 34"/>
              <p:cNvSpPr txBox="1"/>
              <p:nvPr/>
            </p:nvSpPr>
            <p:spPr>
              <a:xfrm>
                <a:off x="0" y="-9525"/>
                <a:ext cx="829056" cy="838581"/>
              </a:xfrm>
              <a:prstGeom prst="rect">
                <a:avLst/>
              </a:prstGeom>
            </p:spPr>
            <p:txBody>
              <a:bodyPr lIns="0" tIns="0" rIns="0" bIns="0" rtlCol="0" anchor="ctr"/>
              <a:lstStyle/>
              <a:p>
                <a:pPr algn="ctr">
                  <a:lnSpc>
                    <a:spcPts val="2400"/>
                  </a:lnSpc>
                </a:pPr>
                <a:r>
                  <a:rPr lang="en-US" sz="2000" b="1" dirty="0">
                    <a:solidFill>
                      <a:srgbClr val="FFFFFF"/>
                    </a:solidFill>
                    <a:latin typeface="프리텐다드 Bold"/>
                    <a:ea typeface="프리텐다드 Bold"/>
                    <a:cs typeface="프리텐다드 Bold"/>
                    <a:sym typeface="프리텐다드 Bold"/>
                  </a:rPr>
                  <a:t>02</a:t>
                </a:r>
              </a:p>
            </p:txBody>
          </p:sp>
        </p:grpSp>
        <p:grpSp>
          <p:nvGrpSpPr>
            <p:cNvPr id="35" name="Group 35"/>
            <p:cNvGrpSpPr/>
            <p:nvPr/>
          </p:nvGrpSpPr>
          <p:grpSpPr>
            <a:xfrm>
              <a:off x="8601119" y="0"/>
              <a:ext cx="6432291" cy="791464"/>
              <a:chOff x="0" y="0"/>
              <a:chExt cx="6432291" cy="791464"/>
            </a:xfrm>
          </p:grpSpPr>
          <p:sp>
            <p:nvSpPr>
              <p:cNvPr id="36" name="Freeform 36"/>
              <p:cNvSpPr/>
              <p:nvPr/>
            </p:nvSpPr>
            <p:spPr>
              <a:xfrm>
                <a:off x="0" y="0"/>
                <a:ext cx="6339840" cy="731520"/>
              </a:xfrm>
              <a:custGeom>
                <a:avLst/>
                <a:gdLst/>
                <a:ahLst/>
                <a:cxnLst/>
                <a:rect l="l" t="t" r="r" b="b"/>
                <a:pathLst>
                  <a:path w="6339840" h="731520">
                    <a:moveTo>
                      <a:pt x="0" y="0"/>
                    </a:moveTo>
                    <a:lnTo>
                      <a:pt x="6339840" y="0"/>
                    </a:lnTo>
                    <a:lnTo>
                      <a:pt x="6339840" y="731520"/>
                    </a:lnTo>
                    <a:lnTo>
                      <a:pt x="0" y="731520"/>
                    </a:lnTo>
                    <a:close/>
                  </a:path>
                </a:pathLst>
              </a:custGeom>
              <a:blipFill>
                <a:blip r:embed="rId3">
                  <a:alphaModFix amt="0"/>
                </a:blip>
                <a:stretch>
                  <a:fillRect t="-118870" b="-118870"/>
                </a:stretch>
              </a:blipFill>
            </p:spPr>
            <p:txBody>
              <a:bodyPr/>
              <a:lstStyle/>
              <a:p>
                <a:endParaRPr lang="ko-KR" altLang="en-US"/>
              </a:p>
            </p:txBody>
          </p:sp>
          <p:sp>
            <p:nvSpPr>
              <p:cNvPr id="37" name="TextBox 37"/>
              <p:cNvSpPr txBox="1"/>
              <p:nvPr/>
            </p:nvSpPr>
            <p:spPr>
              <a:xfrm>
                <a:off x="92451" y="50419"/>
                <a:ext cx="6339840" cy="741045"/>
              </a:xfrm>
              <a:prstGeom prst="rect">
                <a:avLst/>
              </a:prstGeom>
            </p:spPr>
            <p:txBody>
              <a:bodyPr lIns="0" tIns="0" rIns="0" bIns="0" rtlCol="0" anchor="ctr"/>
              <a:lstStyle/>
              <a:p>
                <a:pPr algn="l">
                  <a:lnSpc>
                    <a:spcPts val="2760"/>
                  </a:lnSpc>
                </a:pPr>
                <a:r>
                  <a:rPr lang="en-US" sz="2300" b="1" dirty="0" err="1">
                    <a:solidFill>
                      <a:srgbClr val="1A1A1A"/>
                    </a:solidFill>
                    <a:latin typeface="프리텐다드 Bold"/>
                    <a:ea typeface="프리텐다드 Bold"/>
                    <a:cs typeface="프리텐다드 Bold"/>
                    <a:sym typeface="프리텐다드 Bold"/>
                  </a:rPr>
                  <a:t>판매자</a:t>
                </a:r>
                <a:r>
                  <a:rPr lang="en-US" sz="2300" b="1" dirty="0">
                    <a:solidFill>
                      <a:srgbClr val="1A1A1A"/>
                    </a:solidFill>
                    <a:latin typeface="프리텐다드 Bold"/>
                    <a:ea typeface="프리텐다드 Bold"/>
                    <a:cs typeface="프리텐다드 Bold"/>
                    <a:sym typeface="프리텐다드 Bold"/>
                  </a:rPr>
                  <a:t> </a:t>
                </a:r>
                <a:r>
                  <a:rPr lang="en-US" sz="2300" b="1" dirty="0" err="1">
                    <a:solidFill>
                      <a:srgbClr val="1A1A1A"/>
                    </a:solidFill>
                    <a:latin typeface="프리텐다드 Bold"/>
                    <a:ea typeface="프리텐다드 Bold"/>
                    <a:cs typeface="프리텐다드 Bold"/>
                    <a:sym typeface="프리텐다드 Bold"/>
                  </a:rPr>
                  <a:t>수정값으로</a:t>
                </a:r>
                <a:r>
                  <a:rPr lang="en-US" sz="2300" b="1" dirty="0">
                    <a:solidFill>
                      <a:srgbClr val="1A1A1A"/>
                    </a:solidFill>
                    <a:latin typeface="프리텐다드 Bold"/>
                    <a:ea typeface="프리텐다드 Bold"/>
                    <a:cs typeface="프리텐다드 Bold"/>
                    <a:sym typeface="프리텐다드 Bold"/>
                  </a:rPr>
                  <a:t> </a:t>
                </a:r>
                <a:r>
                  <a:rPr lang="en-US" sz="2300" b="1" dirty="0" err="1">
                    <a:solidFill>
                      <a:srgbClr val="1A1A1A"/>
                    </a:solidFill>
                    <a:latin typeface="프리텐다드 Bold"/>
                    <a:ea typeface="프리텐다드 Bold"/>
                    <a:cs typeface="프리텐다드 Bold"/>
                    <a:sym typeface="프리텐다드 Bold"/>
                  </a:rPr>
                  <a:t>재학습</a:t>
                </a:r>
                <a:endParaRPr lang="en-US" sz="2300" b="1" dirty="0">
                  <a:solidFill>
                    <a:srgbClr val="1A1A1A"/>
                  </a:solidFill>
                  <a:latin typeface="프리텐다드 Bold"/>
                  <a:ea typeface="프리텐다드 Bold"/>
                  <a:cs typeface="프리텐다드 Bold"/>
                  <a:sym typeface="프리텐다드 Bold"/>
                </a:endParaRPr>
              </a:p>
            </p:txBody>
          </p:sp>
        </p:grpSp>
        <p:sp>
          <p:nvSpPr>
            <p:cNvPr id="38" name="TextBox 38"/>
            <p:cNvSpPr txBox="1"/>
            <p:nvPr/>
          </p:nvSpPr>
          <p:spPr>
            <a:xfrm>
              <a:off x="8693569" y="724027"/>
              <a:ext cx="6339840" cy="415925"/>
            </a:xfrm>
            <a:prstGeom prst="rect">
              <a:avLst/>
            </a:prstGeom>
          </p:spPr>
          <p:txBody>
            <a:bodyPr lIns="0" tIns="0" rIns="0" bIns="0" rtlCol="0" anchor="t">
              <a:spAutoFit/>
            </a:bodyPr>
            <a:lstStyle/>
            <a:p>
              <a:pPr algn="l">
                <a:lnSpc>
                  <a:spcPts val="2400"/>
                </a:lnSpc>
              </a:pPr>
              <a:r>
                <a:rPr lang="en-US" sz="2000" dirty="0" err="1">
                  <a:solidFill>
                    <a:srgbClr val="6B6B6B"/>
                  </a:solidFill>
                  <a:latin typeface="프리텐다드"/>
                  <a:ea typeface="프리텐다드"/>
                  <a:cs typeface="프리텐다드"/>
                  <a:sym typeface="프리텐다드"/>
                </a:rPr>
                <a:t>고친</a:t>
              </a:r>
              <a:r>
                <a:rPr lang="en-US" sz="2000" dirty="0">
                  <a:solidFill>
                    <a:srgbClr val="6B6B6B"/>
                  </a:solidFill>
                  <a:latin typeface="프리텐다드"/>
                  <a:ea typeface="프리텐다드"/>
                  <a:cs typeface="프리텐다드"/>
                  <a:sym typeface="프리텐다드"/>
                </a:rPr>
                <a:t> </a:t>
              </a:r>
              <a:r>
                <a:rPr lang="en-US" sz="2000" dirty="0" err="1">
                  <a:solidFill>
                    <a:srgbClr val="6B6B6B"/>
                  </a:solidFill>
                  <a:latin typeface="프리텐다드"/>
                  <a:ea typeface="프리텐다드"/>
                  <a:cs typeface="프리텐다드"/>
                  <a:sym typeface="프리텐다드"/>
                </a:rPr>
                <a:t>값을</a:t>
              </a:r>
              <a:r>
                <a:rPr lang="en-US" sz="2000" dirty="0">
                  <a:solidFill>
                    <a:srgbClr val="6B6B6B"/>
                  </a:solidFill>
                  <a:latin typeface="프리텐다드"/>
                  <a:ea typeface="프리텐다드"/>
                  <a:cs typeface="프리텐다드"/>
                  <a:sym typeface="프리텐다드"/>
                </a:rPr>
                <a:t> </a:t>
              </a:r>
              <a:r>
                <a:rPr lang="en-US" sz="2000" dirty="0" err="1">
                  <a:solidFill>
                    <a:srgbClr val="6B6B6B"/>
                  </a:solidFill>
                  <a:latin typeface="프리텐다드"/>
                  <a:ea typeface="프리텐다드"/>
                  <a:cs typeface="프리텐다드"/>
                  <a:sym typeface="프리텐다드"/>
                </a:rPr>
                <a:t>검수해</a:t>
              </a:r>
              <a:r>
                <a:rPr lang="en-US" sz="2000" dirty="0">
                  <a:solidFill>
                    <a:srgbClr val="6B6B6B"/>
                  </a:solidFill>
                  <a:latin typeface="프리텐다드"/>
                  <a:ea typeface="프리텐다드"/>
                  <a:cs typeface="프리텐다드"/>
                  <a:sym typeface="프리텐다드"/>
                </a:rPr>
                <a:t> </a:t>
              </a:r>
              <a:r>
                <a:rPr lang="en-US" sz="2000" dirty="0" err="1">
                  <a:solidFill>
                    <a:srgbClr val="6B6B6B"/>
                  </a:solidFill>
                  <a:latin typeface="프리텐다드"/>
                  <a:ea typeface="프리텐다드"/>
                  <a:cs typeface="프리텐다드"/>
                  <a:sym typeface="프리텐다드"/>
                </a:rPr>
                <a:t>인식기</a:t>
              </a:r>
              <a:r>
                <a:rPr lang="en-US" sz="2000" dirty="0">
                  <a:solidFill>
                    <a:srgbClr val="6B6B6B"/>
                  </a:solidFill>
                  <a:latin typeface="프리텐다드"/>
                  <a:ea typeface="프리텐다드"/>
                  <a:cs typeface="프리텐다드"/>
                  <a:sym typeface="프리텐다드"/>
                </a:rPr>
                <a:t> </a:t>
              </a:r>
              <a:r>
                <a:rPr lang="en-US" sz="2000" dirty="0" err="1">
                  <a:solidFill>
                    <a:srgbClr val="6B6B6B"/>
                  </a:solidFill>
                  <a:latin typeface="프리텐다드"/>
                  <a:ea typeface="프리텐다드"/>
                  <a:cs typeface="프리텐다드"/>
                  <a:sym typeface="프리텐다드"/>
                </a:rPr>
                <a:t>학습</a:t>
              </a:r>
              <a:r>
                <a:rPr lang="en-US" sz="2000" dirty="0">
                  <a:solidFill>
                    <a:srgbClr val="6B6B6B"/>
                  </a:solidFill>
                  <a:latin typeface="프리텐다드"/>
                  <a:ea typeface="프리텐다드"/>
                  <a:cs typeface="프리텐다드"/>
                  <a:sym typeface="프리텐다드"/>
                </a:rPr>
                <a:t> </a:t>
              </a:r>
              <a:r>
                <a:rPr lang="en-US" sz="2000" dirty="0" err="1">
                  <a:solidFill>
                    <a:srgbClr val="6B6B6B"/>
                  </a:solidFill>
                  <a:latin typeface="프리텐다드"/>
                  <a:ea typeface="프리텐다드"/>
                  <a:cs typeface="프리텐다드"/>
                  <a:sym typeface="프리텐다드"/>
                </a:rPr>
                <a:t>데이터로</a:t>
              </a:r>
              <a:endParaRPr lang="en-US" sz="2000" dirty="0">
                <a:solidFill>
                  <a:srgbClr val="6B6B6B"/>
                </a:solidFill>
                <a:latin typeface="프리텐다드"/>
                <a:ea typeface="프리텐다드"/>
                <a:cs typeface="프리텐다드"/>
                <a:sym typeface="프리텐다드"/>
              </a:endParaRPr>
            </a:p>
          </p:txBody>
        </p:sp>
        <p:grpSp>
          <p:nvGrpSpPr>
            <p:cNvPr id="39" name="Group 39"/>
            <p:cNvGrpSpPr/>
            <p:nvPr/>
          </p:nvGrpSpPr>
          <p:grpSpPr>
            <a:xfrm>
              <a:off x="15556992" y="56223"/>
              <a:ext cx="862927" cy="862927"/>
              <a:chOff x="0" y="0"/>
              <a:chExt cx="862927" cy="862927"/>
            </a:xfrm>
          </p:grpSpPr>
          <p:sp>
            <p:nvSpPr>
              <p:cNvPr id="40" name="Freeform 40"/>
              <p:cNvSpPr/>
              <p:nvPr/>
            </p:nvSpPr>
            <p:spPr>
              <a:xfrm>
                <a:off x="0" y="0"/>
                <a:ext cx="862965" cy="862965"/>
              </a:xfrm>
              <a:custGeom>
                <a:avLst/>
                <a:gdLst/>
                <a:ahLst/>
                <a:cxnLst/>
                <a:rect l="l" t="t" r="r" b="b"/>
                <a:pathLst>
                  <a:path w="862965" h="862965">
                    <a:moveTo>
                      <a:pt x="0" y="431419"/>
                    </a:moveTo>
                    <a:cubicBezTo>
                      <a:pt x="0" y="193167"/>
                      <a:pt x="193167" y="0"/>
                      <a:pt x="431419" y="0"/>
                    </a:cubicBezTo>
                    <a:cubicBezTo>
                      <a:pt x="669671" y="0"/>
                      <a:pt x="862965" y="193167"/>
                      <a:pt x="862965" y="431419"/>
                    </a:cubicBezTo>
                    <a:cubicBezTo>
                      <a:pt x="862965" y="669671"/>
                      <a:pt x="669798" y="862965"/>
                      <a:pt x="431419" y="862965"/>
                    </a:cubicBezTo>
                    <a:cubicBezTo>
                      <a:pt x="193040" y="862965"/>
                      <a:pt x="0" y="669798"/>
                      <a:pt x="0" y="431419"/>
                    </a:cubicBez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41" name="Group 41"/>
            <p:cNvGrpSpPr/>
            <p:nvPr/>
          </p:nvGrpSpPr>
          <p:grpSpPr>
            <a:xfrm>
              <a:off x="15573921" y="73152"/>
              <a:ext cx="829056" cy="829056"/>
              <a:chOff x="0" y="0"/>
              <a:chExt cx="829056" cy="829056"/>
            </a:xfrm>
          </p:grpSpPr>
          <p:sp>
            <p:nvSpPr>
              <p:cNvPr id="42" name="Freeform 42"/>
              <p:cNvSpPr/>
              <p:nvPr/>
            </p:nvSpPr>
            <p:spPr>
              <a:xfrm>
                <a:off x="0" y="0"/>
                <a:ext cx="829056" cy="829056"/>
              </a:xfrm>
              <a:custGeom>
                <a:avLst/>
                <a:gdLst/>
                <a:ahLst/>
                <a:cxnLst/>
                <a:rect l="l" t="t" r="r" b="b"/>
                <a:pathLst>
                  <a:path w="829056" h="829056">
                    <a:moveTo>
                      <a:pt x="0" y="0"/>
                    </a:moveTo>
                    <a:lnTo>
                      <a:pt x="829056" y="0"/>
                    </a:lnTo>
                    <a:lnTo>
                      <a:pt x="829056" y="829056"/>
                    </a:lnTo>
                    <a:lnTo>
                      <a:pt x="0" y="829056"/>
                    </a:lnTo>
                    <a:close/>
                  </a:path>
                </a:pathLst>
              </a:custGeom>
              <a:blipFill>
                <a:blip r:embed="rId3">
                  <a:alphaModFix amt="0"/>
                </a:blip>
                <a:stretch>
                  <a:fillRect l="-78303" r="-78303"/>
                </a:stretch>
              </a:blipFill>
            </p:spPr>
            <p:txBody>
              <a:bodyPr/>
              <a:lstStyle/>
              <a:p>
                <a:endParaRPr lang="ko-KR" altLang="en-US"/>
              </a:p>
            </p:txBody>
          </p:sp>
          <p:sp>
            <p:nvSpPr>
              <p:cNvPr id="43" name="TextBox 43"/>
              <p:cNvSpPr txBox="1"/>
              <p:nvPr/>
            </p:nvSpPr>
            <p:spPr>
              <a:xfrm>
                <a:off x="0" y="-9525"/>
                <a:ext cx="829056" cy="838581"/>
              </a:xfrm>
              <a:prstGeom prst="rect">
                <a:avLst/>
              </a:prstGeom>
            </p:spPr>
            <p:txBody>
              <a:bodyPr lIns="0" tIns="0" rIns="0" bIns="0" rtlCol="0" anchor="ctr"/>
              <a:lstStyle/>
              <a:p>
                <a:pPr algn="ctr">
                  <a:lnSpc>
                    <a:spcPts val="2400"/>
                  </a:lnSpc>
                </a:pPr>
                <a:r>
                  <a:rPr lang="en-US" sz="2000" b="1">
                    <a:solidFill>
                      <a:srgbClr val="FFFFFF"/>
                    </a:solidFill>
                    <a:latin typeface="프리텐다드 Bold"/>
                    <a:ea typeface="프리텐다드 Bold"/>
                    <a:cs typeface="프리텐다드 Bold"/>
                    <a:sym typeface="프리텐다드 Bold"/>
                  </a:rPr>
                  <a:t>03</a:t>
                </a:r>
              </a:p>
            </p:txBody>
          </p:sp>
        </p:grpSp>
        <p:grpSp>
          <p:nvGrpSpPr>
            <p:cNvPr id="44" name="Group 44"/>
            <p:cNvGrpSpPr/>
            <p:nvPr/>
          </p:nvGrpSpPr>
          <p:grpSpPr>
            <a:xfrm>
              <a:off x="16618369" y="43307"/>
              <a:ext cx="6339840" cy="741045"/>
              <a:chOff x="20320" y="43307"/>
              <a:chExt cx="6339840" cy="741045"/>
            </a:xfrm>
          </p:grpSpPr>
          <p:sp>
            <p:nvSpPr>
              <p:cNvPr id="45" name="Freeform 45"/>
              <p:cNvSpPr/>
              <p:nvPr/>
            </p:nvSpPr>
            <p:spPr>
              <a:xfrm>
                <a:off x="20320" y="52832"/>
                <a:ext cx="6339840" cy="731520"/>
              </a:xfrm>
              <a:custGeom>
                <a:avLst/>
                <a:gdLst/>
                <a:ahLst/>
                <a:cxnLst/>
                <a:rect l="l" t="t" r="r" b="b"/>
                <a:pathLst>
                  <a:path w="6339840" h="731520">
                    <a:moveTo>
                      <a:pt x="0" y="0"/>
                    </a:moveTo>
                    <a:lnTo>
                      <a:pt x="6339840" y="0"/>
                    </a:lnTo>
                    <a:lnTo>
                      <a:pt x="6339840" y="731520"/>
                    </a:lnTo>
                    <a:lnTo>
                      <a:pt x="0" y="731520"/>
                    </a:lnTo>
                    <a:close/>
                  </a:path>
                </a:pathLst>
              </a:custGeom>
              <a:blipFill>
                <a:blip r:embed="rId3">
                  <a:alphaModFix amt="0"/>
                </a:blip>
                <a:stretch>
                  <a:fillRect t="-118870" b="-118870"/>
                </a:stretch>
              </a:blipFill>
            </p:spPr>
            <p:txBody>
              <a:bodyPr/>
              <a:lstStyle/>
              <a:p>
                <a:endParaRPr lang="ko-KR" altLang="en-US"/>
              </a:p>
            </p:txBody>
          </p:sp>
          <p:sp>
            <p:nvSpPr>
              <p:cNvPr id="46" name="TextBox 46"/>
              <p:cNvSpPr txBox="1"/>
              <p:nvPr/>
            </p:nvSpPr>
            <p:spPr>
              <a:xfrm>
                <a:off x="20320" y="43307"/>
                <a:ext cx="6339840" cy="741045"/>
              </a:xfrm>
              <a:prstGeom prst="rect">
                <a:avLst/>
              </a:prstGeom>
            </p:spPr>
            <p:txBody>
              <a:bodyPr lIns="0" tIns="0" rIns="0" bIns="0" rtlCol="0" anchor="ctr"/>
              <a:lstStyle/>
              <a:p>
                <a:pPr algn="l">
                  <a:lnSpc>
                    <a:spcPts val="2760"/>
                  </a:lnSpc>
                </a:pPr>
                <a:r>
                  <a:rPr lang="en-US" sz="2300" b="1" dirty="0" err="1">
                    <a:solidFill>
                      <a:srgbClr val="1A1A1A"/>
                    </a:solidFill>
                    <a:latin typeface="프리텐다드 Bold"/>
                    <a:ea typeface="프리텐다드 Bold"/>
                    <a:cs typeface="프리텐다드 Bold"/>
                    <a:sym typeface="프리텐다드 Bold"/>
                  </a:rPr>
                  <a:t>확인을</a:t>
                </a:r>
                <a:r>
                  <a:rPr lang="en-US" sz="2300" b="1" dirty="0">
                    <a:solidFill>
                      <a:srgbClr val="1A1A1A"/>
                    </a:solidFill>
                    <a:latin typeface="프리텐다드 Bold"/>
                    <a:ea typeface="프리텐다드 Bold"/>
                    <a:cs typeface="프리텐다드 Bold"/>
                    <a:sym typeface="프리텐다드 Bold"/>
                  </a:rPr>
                  <a:t> </a:t>
                </a:r>
                <a:r>
                  <a:rPr lang="ko-KR" altLang="en-US" sz="2300" b="1" dirty="0">
                    <a:solidFill>
                      <a:srgbClr val="1A1A1A"/>
                    </a:solidFill>
                    <a:latin typeface="프리텐다드 Bold"/>
                    <a:ea typeface="프리텐다드 Bold"/>
                    <a:cs typeface="프리텐다드 Bold"/>
                    <a:sym typeface="프리텐다드 Bold"/>
                  </a:rPr>
                  <a:t>버튼이 아닌 직접 입력으로</a:t>
                </a:r>
                <a:endParaRPr lang="en-US" sz="2300" b="1" dirty="0">
                  <a:solidFill>
                    <a:srgbClr val="1A1A1A"/>
                  </a:solidFill>
                  <a:latin typeface="프리텐다드 Bold"/>
                  <a:ea typeface="프리텐다드 Bold"/>
                  <a:cs typeface="프리텐다드 Bold"/>
                  <a:sym typeface="프리텐다드 Bold"/>
                </a:endParaRPr>
              </a:p>
            </p:txBody>
          </p:sp>
        </p:grpSp>
        <p:sp>
          <p:nvSpPr>
            <p:cNvPr id="47" name="TextBox 47"/>
            <p:cNvSpPr txBox="1"/>
            <p:nvPr/>
          </p:nvSpPr>
          <p:spPr>
            <a:xfrm>
              <a:off x="16618369" y="724027"/>
              <a:ext cx="6339840" cy="822325"/>
            </a:xfrm>
            <a:prstGeom prst="rect">
              <a:avLst/>
            </a:prstGeom>
          </p:spPr>
          <p:txBody>
            <a:bodyPr lIns="0" tIns="0" rIns="0" bIns="0" rtlCol="0" anchor="t">
              <a:spAutoFit/>
            </a:bodyPr>
            <a:lstStyle/>
            <a:p>
              <a:pPr algn="l">
                <a:lnSpc>
                  <a:spcPts val="2400"/>
                </a:lnSpc>
              </a:pPr>
              <a:r>
                <a:rPr lang="en-US" sz="2000" dirty="0" err="1">
                  <a:solidFill>
                    <a:srgbClr val="6B6B6B"/>
                  </a:solidFill>
                  <a:latin typeface="프리텐다드"/>
                  <a:ea typeface="프리텐다드"/>
                  <a:cs typeface="프리텐다드"/>
                  <a:sym typeface="프리텐다드"/>
                </a:rPr>
                <a:t>버튼</a:t>
              </a:r>
              <a:r>
                <a:rPr lang="en-US" sz="2000" dirty="0">
                  <a:solidFill>
                    <a:srgbClr val="6B6B6B"/>
                  </a:solidFill>
                  <a:latin typeface="프리텐다드"/>
                  <a:ea typeface="프리텐다드"/>
                  <a:cs typeface="프리텐다드"/>
                  <a:sym typeface="프리텐다드"/>
                </a:rPr>
                <a:t> </a:t>
              </a:r>
              <a:r>
                <a:rPr lang="en-US" sz="2000" dirty="0" err="1">
                  <a:solidFill>
                    <a:srgbClr val="6B6B6B"/>
                  </a:solidFill>
                  <a:latin typeface="프리텐다드"/>
                  <a:ea typeface="프리텐다드"/>
                  <a:cs typeface="프리텐다드"/>
                  <a:sym typeface="프리텐다드"/>
                </a:rPr>
                <a:t>대신</a:t>
              </a:r>
              <a:r>
                <a:rPr lang="en-US" sz="2000" dirty="0">
                  <a:solidFill>
                    <a:srgbClr val="6B6B6B"/>
                  </a:solidFill>
                  <a:latin typeface="프리텐다드"/>
                  <a:ea typeface="프리텐다드"/>
                  <a:cs typeface="프리텐다드"/>
                  <a:sym typeface="프리텐다드"/>
                </a:rPr>
                <a:t> </a:t>
              </a:r>
              <a:r>
                <a:rPr lang="en-US" sz="2000" dirty="0" err="1">
                  <a:solidFill>
                    <a:srgbClr val="6B6B6B"/>
                  </a:solidFill>
                  <a:latin typeface="프리텐다드"/>
                  <a:ea typeface="프리텐다드"/>
                  <a:cs typeface="프리텐다드"/>
                  <a:sym typeface="프리텐다드"/>
                </a:rPr>
                <a:t>날짜의</a:t>
              </a:r>
              <a:r>
                <a:rPr lang="en-US" sz="2000" dirty="0">
                  <a:solidFill>
                    <a:srgbClr val="6B6B6B"/>
                  </a:solidFill>
                  <a:latin typeface="프리텐다드"/>
                  <a:ea typeface="프리텐다드"/>
                  <a:cs typeface="프리텐다드"/>
                  <a:sym typeface="프리텐다드"/>
                </a:rPr>
                <a:t> '일' </a:t>
              </a:r>
              <a:r>
                <a:rPr lang="en-US" sz="2000" dirty="0" err="1">
                  <a:solidFill>
                    <a:srgbClr val="6B6B6B"/>
                  </a:solidFill>
                  <a:latin typeface="프리텐다드"/>
                  <a:ea typeface="프리텐다드"/>
                  <a:cs typeface="프리텐다드"/>
                  <a:sym typeface="프리텐다드"/>
                </a:rPr>
                <a:t>칸을</a:t>
              </a:r>
              <a:r>
                <a:rPr lang="en-US" sz="2000" dirty="0">
                  <a:solidFill>
                    <a:srgbClr val="6B6B6B"/>
                  </a:solidFill>
                  <a:latin typeface="프리텐다드"/>
                  <a:ea typeface="프리텐다드"/>
                  <a:cs typeface="프리텐다드"/>
                  <a:sym typeface="프리텐다드"/>
                </a:rPr>
                <a:t> </a:t>
              </a:r>
              <a:r>
                <a:rPr lang="en-US" sz="2000" dirty="0" err="1">
                  <a:solidFill>
                    <a:srgbClr val="6B6B6B"/>
                  </a:solidFill>
                  <a:latin typeface="프리텐다드"/>
                  <a:ea typeface="프리텐다드"/>
                  <a:cs typeface="프리텐다드"/>
                  <a:sym typeface="프리텐다드"/>
                </a:rPr>
                <a:t>다시</a:t>
              </a:r>
              <a:r>
                <a:rPr lang="en-US" sz="2000" dirty="0">
                  <a:solidFill>
                    <a:srgbClr val="6B6B6B"/>
                  </a:solidFill>
                  <a:latin typeface="프리텐다드"/>
                  <a:ea typeface="프리텐다드"/>
                  <a:cs typeface="프리텐다드"/>
                  <a:sym typeface="프리텐다드"/>
                </a:rPr>
                <a:t> </a:t>
              </a:r>
              <a:r>
                <a:rPr lang="en-US" sz="2000" dirty="0" err="1">
                  <a:solidFill>
                    <a:srgbClr val="6B6B6B"/>
                  </a:solidFill>
                  <a:latin typeface="프리텐다드"/>
                  <a:ea typeface="프리텐다드"/>
                  <a:cs typeface="프리텐다드"/>
                  <a:sym typeface="프리텐다드"/>
                </a:rPr>
                <a:t>입력</a:t>
              </a:r>
              <a:endParaRPr lang="en-US" sz="2000" dirty="0">
                <a:solidFill>
                  <a:srgbClr val="6B6B6B"/>
                </a:solidFill>
                <a:latin typeface="프리텐다드"/>
                <a:ea typeface="프리텐다드"/>
                <a:cs typeface="프리텐다드"/>
                <a:sym typeface="프리텐다드"/>
              </a:endParaRPr>
            </a:p>
            <a:p>
              <a:pPr algn="l">
                <a:lnSpc>
                  <a:spcPts val="2400"/>
                </a:lnSpc>
              </a:pPr>
              <a:r>
                <a:rPr lang="en-US" sz="2000" dirty="0" err="1">
                  <a:solidFill>
                    <a:srgbClr val="6B6B6B"/>
                  </a:solidFill>
                  <a:latin typeface="프리텐다드"/>
                  <a:ea typeface="프리텐다드"/>
                  <a:cs typeface="프리텐다드"/>
                  <a:sym typeface="프리텐다드"/>
                </a:rPr>
                <a:t>실제</a:t>
              </a:r>
              <a:r>
                <a:rPr lang="en-US" sz="2000" dirty="0">
                  <a:solidFill>
                    <a:srgbClr val="6B6B6B"/>
                  </a:solidFill>
                  <a:latin typeface="프리텐다드"/>
                  <a:ea typeface="프리텐다드"/>
                  <a:cs typeface="프리텐다드"/>
                  <a:sym typeface="프리텐다드"/>
                </a:rPr>
                <a:t> </a:t>
              </a:r>
              <a:r>
                <a:rPr lang="en-US" sz="2000" dirty="0" err="1">
                  <a:solidFill>
                    <a:srgbClr val="6B6B6B"/>
                  </a:solidFill>
                  <a:latin typeface="프리텐다드"/>
                  <a:ea typeface="프리텐다드"/>
                  <a:cs typeface="프리텐다드"/>
                  <a:sym typeface="프리텐다드"/>
                </a:rPr>
                <a:t>수정</a:t>
              </a:r>
              <a:r>
                <a:rPr lang="en-US" sz="2000" dirty="0">
                  <a:solidFill>
                    <a:srgbClr val="6B6B6B"/>
                  </a:solidFill>
                  <a:latin typeface="프리텐다드"/>
                  <a:ea typeface="프리텐다드"/>
                  <a:cs typeface="프리텐다드"/>
                  <a:sym typeface="프리텐다드"/>
                </a:rPr>
                <a:t> </a:t>
              </a:r>
              <a:r>
                <a:rPr lang="en-US" sz="2000" dirty="0" err="1">
                  <a:solidFill>
                    <a:srgbClr val="6B6B6B"/>
                  </a:solidFill>
                  <a:latin typeface="프리텐다드"/>
                  <a:ea typeface="프리텐다드"/>
                  <a:cs typeface="프리텐다드"/>
                  <a:sym typeface="프리텐다드"/>
                </a:rPr>
                <a:t>비율을</a:t>
              </a:r>
              <a:r>
                <a:rPr lang="en-US" sz="2000" dirty="0">
                  <a:solidFill>
                    <a:srgbClr val="6B6B6B"/>
                  </a:solidFill>
                  <a:latin typeface="프리텐다드"/>
                  <a:ea typeface="프리텐다드"/>
                  <a:cs typeface="프리텐다드"/>
                  <a:sym typeface="프리텐다드"/>
                </a:rPr>
                <a:t> </a:t>
              </a:r>
              <a:r>
                <a:rPr lang="en-US" sz="2000" dirty="0" err="1">
                  <a:solidFill>
                    <a:srgbClr val="6B6B6B"/>
                  </a:solidFill>
                  <a:latin typeface="프리텐다드"/>
                  <a:ea typeface="프리텐다드"/>
                  <a:cs typeface="프리텐다드"/>
                  <a:sym typeface="프리텐다드"/>
                </a:rPr>
                <a:t>지표로</a:t>
              </a:r>
              <a:r>
                <a:rPr lang="en-US" sz="2000" dirty="0">
                  <a:solidFill>
                    <a:srgbClr val="6B6B6B"/>
                  </a:solidFill>
                  <a:latin typeface="프리텐다드"/>
                  <a:ea typeface="프리텐다드"/>
                  <a:cs typeface="프리텐다드"/>
                  <a:sym typeface="프리텐다드"/>
                </a:rPr>
                <a:t> </a:t>
              </a:r>
              <a:r>
                <a:rPr lang="ko-KR" altLang="en-US" sz="2000" dirty="0">
                  <a:solidFill>
                    <a:srgbClr val="6B6B6B"/>
                  </a:solidFill>
                  <a:latin typeface="프리텐다드"/>
                  <a:ea typeface="프리텐다드"/>
                  <a:cs typeface="프리텐다드"/>
                  <a:sym typeface="프리텐다드"/>
                </a:rPr>
                <a:t>활용</a:t>
              </a:r>
              <a:endParaRPr lang="en-US" sz="2000" dirty="0">
                <a:solidFill>
                  <a:srgbClr val="6B6B6B"/>
                </a:solidFill>
                <a:latin typeface="프리텐다드"/>
                <a:ea typeface="프리텐다드"/>
                <a:cs typeface="프리텐다드"/>
                <a:sym typeface="프리텐다드"/>
              </a:endParaRPr>
            </a:p>
          </p:txBody>
        </p:sp>
      </p:grpSp>
      <p:grpSp>
        <p:nvGrpSpPr>
          <p:cNvPr id="48" name="Group 48"/>
          <p:cNvGrpSpPr/>
          <p:nvPr/>
        </p:nvGrpSpPr>
        <p:grpSpPr>
          <a:xfrm>
            <a:off x="535943" y="8674103"/>
            <a:ext cx="17216123" cy="793499"/>
            <a:chOff x="0" y="0"/>
            <a:chExt cx="22954831" cy="1057999"/>
          </a:xfrm>
        </p:grpSpPr>
        <p:sp>
          <p:nvSpPr>
            <p:cNvPr id="49" name="Freeform 49"/>
            <p:cNvSpPr/>
            <p:nvPr/>
          </p:nvSpPr>
          <p:spPr>
            <a:xfrm>
              <a:off x="0" y="0"/>
              <a:ext cx="22954869" cy="1058037"/>
            </a:xfrm>
            <a:custGeom>
              <a:avLst/>
              <a:gdLst/>
              <a:ahLst/>
              <a:cxnLst/>
              <a:rect l="l" t="t" r="r" b="b"/>
              <a:pathLst>
                <a:path w="22954869" h="1058037">
                  <a:moveTo>
                    <a:pt x="0" y="201549"/>
                  </a:moveTo>
                  <a:cubicBezTo>
                    <a:pt x="0" y="90170"/>
                    <a:pt x="90170" y="0"/>
                    <a:pt x="201549" y="0"/>
                  </a:cubicBezTo>
                  <a:lnTo>
                    <a:pt x="22753320" y="0"/>
                  </a:lnTo>
                  <a:cubicBezTo>
                    <a:pt x="22864572" y="0"/>
                    <a:pt x="22954869" y="90170"/>
                    <a:pt x="22954869" y="201549"/>
                  </a:cubicBezTo>
                  <a:lnTo>
                    <a:pt x="22954869" y="856488"/>
                  </a:lnTo>
                  <a:cubicBezTo>
                    <a:pt x="22954869" y="967740"/>
                    <a:pt x="22864699" y="1058037"/>
                    <a:pt x="22753320" y="1058037"/>
                  </a:cubicBezTo>
                  <a:lnTo>
                    <a:pt x="201549" y="1058037"/>
                  </a:lnTo>
                  <a:cubicBezTo>
                    <a:pt x="90170" y="1058037"/>
                    <a:pt x="0" y="967740"/>
                    <a:pt x="0" y="856488"/>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50" name="Group 50"/>
          <p:cNvGrpSpPr/>
          <p:nvPr/>
        </p:nvGrpSpPr>
        <p:grpSpPr>
          <a:xfrm>
            <a:off x="822960" y="8686800"/>
            <a:ext cx="16642080" cy="768096"/>
            <a:chOff x="0" y="0"/>
            <a:chExt cx="22189440" cy="1024128"/>
          </a:xfrm>
        </p:grpSpPr>
        <p:sp>
          <p:nvSpPr>
            <p:cNvPr id="51" name="Freeform 51"/>
            <p:cNvSpPr/>
            <p:nvPr/>
          </p:nvSpPr>
          <p:spPr>
            <a:xfrm>
              <a:off x="0" y="0"/>
              <a:ext cx="22189439" cy="1024128"/>
            </a:xfrm>
            <a:custGeom>
              <a:avLst/>
              <a:gdLst/>
              <a:ahLst/>
              <a:cxnLst/>
              <a:rect l="l" t="t" r="r" b="b"/>
              <a:pathLst>
                <a:path w="22189439" h="1024128">
                  <a:moveTo>
                    <a:pt x="0" y="0"/>
                  </a:moveTo>
                  <a:lnTo>
                    <a:pt x="22189439" y="0"/>
                  </a:lnTo>
                  <a:lnTo>
                    <a:pt x="22189439" y="1024128"/>
                  </a:lnTo>
                  <a:lnTo>
                    <a:pt x="0" y="1024128"/>
                  </a:lnTo>
                  <a:close/>
                </a:path>
              </a:pathLst>
            </a:custGeom>
            <a:blipFill>
              <a:blip r:embed="rId3">
                <a:alphaModFix amt="0"/>
              </a:blip>
              <a:stretch>
                <a:fillRect t="-372175" b="-372175"/>
              </a:stretch>
            </a:blipFill>
          </p:spPr>
          <p:txBody>
            <a:bodyPr/>
            <a:lstStyle/>
            <a:p>
              <a:endParaRPr lang="ko-KR" altLang="en-US"/>
            </a:p>
          </p:txBody>
        </p:sp>
        <p:sp>
          <p:nvSpPr>
            <p:cNvPr id="52" name="TextBox 52"/>
            <p:cNvSpPr txBox="1"/>
            <p:nvPr/>
          </p:nvSpPr>
          <p:spPr>
            <a:xfrm>
              <a:off x="0" y="0"/>
              <a:ext cx="22189440" cy="1024128"/>
            </a:xfrm>
            <a:prstGeom prst="rect">
              <a:avLst/>
            </a:prstGeom>
          </p:spPr>
          <p:txBody>
            <a:bodyPr lIns="0" tIns="0" rIns="0" bIns="0" rtlCol="0" anchor="ctr"/>
            <a:lstStyle/>
            <a:p>
              <a:pPr algn="ctr">
                <a:lnSpc>
                  <a:spcPts val="2999"/>
                </a:lnSpc>
              </a:pPr>
              <a:r>
                <a:rPr lang="en-US" sz="2499" dirty="0" err="1">
                  <a:solidFill>
                    <a:srgbClr val="1A1A1A"/>
                  </a:solidFill>
                  <a:latin typeface="프리텐다드"/>
                  <a:ea typeface="프리텐다드"/>
                  <a:cs typeface="프리텐다드"/>
                  <a:sym typeface="프리텐다드"/>
                </a:rPr>
                <a:t>규칙으로</a:t>
              </a:r>
              <a:r>
                <a:rPr lang="en-US" sz="2499" dirty="0">
                  <a:solidFill>
                    <a:srgbClr val="1A1A1A"/>
                  </a:solidFill>
                  <a:latin typeface="프리텐다드"/>
                  <a:ea typeface="프리텐다드"/>
                  <a:cs typeface="프리텐다드"/>
                  <a:sym typeface="프리텐다드"/>
                </a:rPr>
                <a:t> </a:t>
              </a:r>
              <a:r>
                <a:rPr lang="ko-KR" altLang="en-US" sz="2499" dirty="0">
                  <a:solidFill>
                    <a:srgbClr val="1A1A1A"/>
                  </a:solidFill>
                  <a:latin typeface="프리텐다드"/>
                  <a:ea typeface="프리텐다드"/>
                  <a:cs typeface="프리텐다드"/>
                  <a:sym typeface="프리텐다드"/>
                </a:rPr>
                <a:t>고칠 수 있는</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오답은</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거의</a:t>
              </a:r>
              <a:r>
                <a:rPr lang="en-US" sz="2499" dirty="0">
                  <a:solidFill>
                    <a:srgbClr val="1A1A1A"/>
                  </a:solidFill>
                  <a:latin typeface="프리텐다드"/>
                  <a:ea typeface="프리텐다드"/>
                  <a:cs typeface="프리텐다드"/>
                  <a:sym typeface="프리텐다드"/>
                </a:rPr>
                <a:t> 다 </a:t>
              </a:r>
              <a:r>
                <a:rPr lang="ko-KR" altLang="en-US" sz="2499" dirty="0">
                  <a:solidFill>
                    <a:srgbClr val="1A1A1A"/>
                  </a:solidFill>
                  <a:latin typeface="프리텐다드"/>
                  <a:ea typeface="프리텐다드"/>
                  <a:cs typeface="프리텐다드"/>
                  <a:sym typeface="프리텐다드"/>
                </a:rPr>
                <a:t>고쳤습니다</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남은</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것은</a:t>
              </a:r>
              <a:r>
                <a:rPr lang="en-US" sz="2499" dirty="0">
                  <a:solidFill>
                    <a:srgbClr val="1A1A1A"/>
                  </a:solidFill>
                  <a:latin typeface="프리텐다드"/>
                  <a:ea typeface="프리텐다드"/>
                  <a:cs typeface="프리텐다드"/>
                  <a:sym typeface="프리텐다드"/>
                </a:rPr>
                <a:t> </a:t>
              </a:r>
              <a:r>
                <a:rPr lang="en-US" sz="2499" b="1" dirty="0" err="1">
                  <a:solidFill>
                    <a:srgbClr val="8B0000"/>
                  </a:solidFill>
                  <a:latin typeface="프리텐다드 Bold"/>
                  <a:ea typeface="프리텐다드 Bold"/>
                  <a:cs typeface="프리텐다드 Bold"/>
                  <a:sym typeface="프리텐다드 Bold"/>
                </a:rPr>
                <a:t>인식</a:t>
              </a:r>
              <a:r>
                <a:rPr lang="en-US" sz="2499" b="1" dirty="0">
                  <a:solidFill>
                    <a:srgbClr val="8B0000"/>
                  </a:solidFill>
                  <a:latin typeface="프리텐다드 Bold"/>
                  <a:ea typeface="프리텐다드 Bold"/>
                  <a:cs typeface="프리텐다드 Bold"/>
                  <a:sym typeface="프리텐다드 Bold"/>
                </a:rPr>
                <a:t> </a:t>
              </a:r>
              <a:r>
                <a:rPr lang="en-US" sz="2499" b="1" dirty="0" err="1">
                  <a:solidFill>
                    <a:srgbClr val="8B0000"/>
                  </a:solidFill>
                  <a:latin typeface="프리텐다드 Bold"/>
                  <a:ea typeface="프리텐다드 Bold"/>
                  <a:cs typeface="프리텐다드 Bold"/>
                  <a:sym typeface="프리텐다드 Bold"/>
                </a:rPr>
                <a:t>품질</a:t>
              </a:r>
              <a:r>
                <a:rPr lang="en-US" sz="2499" b="1" dirty="0">
                  <a:solidFill>
                    <a:srgbClr val="8B0000"/>
                  </a:solidFill>
                  <a:latin typeface="프리텐다드 Bold"/>
                  <a:ea typeface="프리텐다드 Bold"/>
                  <a:cs typeface="프리텐다드 Bold"/>
                  <a:sym typeface="프리텐다드 Bold"/>
                </a:rPr>
                <a:t>(</a:t>
              </a:r>
              <a:r>
                <a:rPr lang="en-US" sz="2499" b="1" dirty="0" err="1">
                  <a:solidFill>
                    <a:srgbClr val="8B0000"/>
                  </a:solidFill>
                  <a:latin typeface="프리텐다드 Bold"/>
                  <a:ea typeface="프리텐다드 Bold"/>
                  <a:cs typeface="프리텐다드 Bold"/>
                  <a:sym typeface="프리텐다드 Bold"/>
                </a:rPr>
                <a:t>각인·도트</a:t>
              </a:r>
              <a:r>
                <a:rPr lang="en-US" sz="2499" b="1" dirty="0">
                  <a:solidFill>
                    <a:srgbClr val="8B0000"/>
                  </a:solidFill>
                  <a:latin typeface="프리텐다드 Bold"/>
                  <a:ea typeface="프리텐다드 Bold"/>
                  <a:cs typeface="프리텐다드 Bold"/>
                  <a:sym typeface="프리텐다드 Bold"/>
                </a:rPr>
                <a:t>)과 </a:t>
              </a:r>
              <a:r>
                <a:rPr lang="en-US" sz="2499" b="1" dirty="0" err="1">
                  <a:solidFill>
                    <a:srgbClr val="8B0000"/>
                  </a:solidFill>
                  <a:latin typeface="프리텐다드 Bold"/>
                  <a:ea typeface="프리텐다드 Bold"/>
                  <a:cs typeface="프리텐다드 Bold"/>
                  <a:sym typeface="프리텐다드 Bold"/>
                </a:rPr>
                <a:t>저해상도</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입니다</a:t>
              </a:r>
              <a:r>
                <a:rPr lang="en-US" sz="2499" dirty="0">
                  <a:solidFill>
                    <a:srgbClr val="1A1A1A"/>
                  </a:solidFill>
                  <a:latin typeface="프리텐다드"/>
                  <a:ea typeface="프리텐다드"/>
                  <a:cs typeface="프리텐다드"/>
                  <a:sym typeface="프리텐다드"/>
                </a:rPr>
                <a:t>.</a:t>
              </a:r>
            </a:p>
          </p:txBody>
        </p:sp>
      </p:grpSp>
      <p:sp>
        <p:nvSpPr>
          <p:cNvPr id="57" name="TextBox 56">
            <a:extLst>
              <a:ext uri="{FF2B5EF4-FFF2-40B4-BE49-F238E27FC236}">
                <a16:creationId xmlns:a16="http://schemas.microsoft.com/office/drawing/2014/main" id="{2456B94B-55B6-8672-9A7D-C0D06D506251}"/>
              </a:ext>
            </a:extLst>
          </p:cNvPr>
          <p:cNvSpPr txBox="1"/>
          <p:nvPr/>
        </p:nvSpPr>
        <p:spPr>
          <a:xfrm>
            <a:off x="548640" y="3959792"/>
            <a:ext cx="947695" cy="292388"/>
          </a:xfrm>
          <a:prstGeom prst="rect">
            <a:avLst/>
          </a:prstGeom>
          <a:solidFill>
            <a:srgbClr val="F2F2F2"/>
          </a:solidFill>
        </p:spPr>
        <p:txBody>
          <a:bodyPr wrap="none" rtlCol="0">
            <a:spAutoFit/>
          </a:bodyPr>
          <a:lstStyle/>
          <a:p>
            <a:r>
              <a:rPr lang="ko-KR" altLang="en-US" sz="1300" dirty="0">
                <a:latin typeface="프리텐다드" panose="020B0600000101010101" charset="-127"/>
                <a:ea typeface="프리텐다드" panose="020B0600000101010101" charset="-127"/>
                <a:cs typeface="프리텐다드" panose="020B0600000101010101" charset="-127"/>
              </a:rPr>
              <a:t>이르게 읽음</a:t>
            </a:r>
          </a:p>
        </p:txBody>
      </p:sp>
      <p:sp>
        <p:nvSpPr>
          <p:cNvPr id="59" name="TextBox 58">
            <a:extLst>
              <a:ext uri="{FF2B5EF4-FFF2-40B4-BE49-F238E27FC236}">
                <a16:creationId xmlns:a16="http://schemas.microsoft.com/office/drawing/2014/main" id="{2AE228D0-0666-F9AE-AA81-BEC879257102}"/>
              </a:ext>
            </a:extLst>
          </p:cNvPr>
          <p:cNvSpPr txBox="1"/>
          <p:nvPr/>
        </p:nvSpPr>
        <p:spPr>
          <a:xfrm>
            <a:off x="639266" y="5068802"/>
            <a:ext cx="851515" cy="307777"/>
          </a:xfrm>
          <a:prstGeom prst="rect">
            <a:avLst/>
          </a:prstGeom>
          <a:solidFill>
            <a:srgbClr val="F2F2F2"/>
          </a:solidFill>
        </p:spPr>
        <p:txBody>
          <a:bodyPr wrap="none" rtlCol="0">
            <a:spAutoFit/>
          </a:bodyPr>
          <a:lstStyle/>
          <a:p>
            <a:r>
              <a:rPr lang="ko-KR" altLang="en-US" sz="1400" dirty="0">
                <a:latin typeface="프리텐다드" panose="020B0600000101010101" charset="-127"/>
                <a:ea typeface="프리텐다드" panose="020B0600000101010101" charset="-127"/>
                <a:cs typeface="프리텐다드" panose="020B0600000101010101" charset="-127"/>
              </a:rPr>
              <a:t>늦게 </a:t>
            </a:r>
            <a:r>
              <a:rPr lang="ko-KR" altLang="en-US" sz="1300" dirty="0">
                <a:latin typeface="프리텐다드" panose="020B0600000101010101" charset="-127"/>
                <a:ea typeface="프리텐다드" panose="020B0600000101010101" charset="-127"/>
                <a:cs typeface="프리텐다드" panose="020B0600000101010101" charset="-127"/>
              </a:rPr>
              <a:t>읽음</a:t>
            </a:r>
          </a:p>
        </p:txBody>
      </p:sp>
      <p:sp>
        <p:nvSpPr>
          <p:cNvPr id="61" name="TextBox 60">
            <a:extLst>
              <a:ext uri="{FF2B5EF4-FFF2-40B4-BE49-F238E27FC236}">
                <a16:creationId xmlns:a16="http://schemas.microsoft.com/office/drawing/2014/main" id="{77EF21FD-B3FF-6DAF-9581-76E4178F210A}"/>
              </a:ext>
            </a:extLst>
          </p:cNvPr>
          <p:cNvSpPr txBox="1"/>
          <p:nvPr/>
        </p:nvSpPr>
        <p:spPr>
          <a:xfrm>
            <a:off x="838200" y="2835570"/>
            <a:ext cx="617477" cy="292388"/>
          </a:xfrm>
          <a:prstGeom prst="rect">
            <a:avLst/>
          </a:prstGeom>
          <a:solidFill>
            <a:srgbClr val="F2F2F2"/>
          </a:solidFill>
        </p:spPr>
        <p:txBody>
          <a:bodyPr wrap="none" rtlCol="0">
            <a:spAutoFit/>
          </a:bodyPr>
          <a:lstStyle/>
          <a:p>
            <a:r>
              <a:rPr lang="ko-KR" altLang="en-US" sz="1300" dirty="0" err="1">
                <a:latin typeface="프리텐다드" panose="020B0600000101010101" charset="-127"/>
                <a:ea typeface="프리텐다드" panose="020B0600000101010101" charset="-127"/>
                <a:cs typeface="프리텐다드" panose="020B0600000101010101" charset="-127"/>
              </a:rPr>
              <a:t>미인식</a:t>
            </a:r>
            <a:endParaRPr lang="ko-KR" altLang="en-US" sz="1300" dirty="0">
              <a:latin typeface="프리텐다드" panose="020B0600000101010101" charset="-127"/>
              <a:ea typeface="프리텐다드" panose="020B0600000101010101" charset="-127"/>
              <a:cs typeface="프리텐다드" panose="020B0600000101010101" charset="-127"/>
            </a:endParaRPr>
          </a:p>
        </p:txBody>
      </p:sp>
      <p:sp>
        <p:nvSpPr>
          <p:cNvPr id="62" name="직사각형 61">
            <a:extLst>
              <a:ext uri="{FF2B5EF4-FFF2-40B4-BE49-F238E27FC236}">
                <a16:creationId xmlns:a16="http://schemas.microsoft.com/office/drawing/2014/main" id="{5717056E-B078-B81B-EA73-21306F28D466}"/>
              </a:ext>
            </a:extLst>
          </p:cNvPr>
          <p:cNvSpPr/>
          <p:nvPr/>
        </p:nvSpPr>
        <p:spPr>
          <a:xfrm>
            <a:off x="8628396" y="5327047"/>
            <a:ext cx="341381" cy="357305"/>
          </a:xfrm>
          <a:prstGeom prst="rect">
            <a:avLst/>
          </a:pr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5943" y="535943"/>
            <a:ext cx="153419" cy="756923"/>
            <a:chOff x="0" y="0"/>
            <a:chExt cx="204559" cy="1009231"/>
          </a:xfrm>
        </p:grpSpPr>
        <p:sp>
          <p:nvSpPr>
            <p:cNvPr id="3" name="Freeform 3"/>
            <p:cNvSpPr/>
            <p:nvPr/>
          </p:nvSpPr>
          <p:spPr>
            <a:xfrm>
              <a:off x="0" y="0"/>
              <a:ext cx="204597" cy="1009269"/>
            </a:xfrm>
            <a:custGeom>
              <a:avLst/>
              <a:gdLst/>
              <a:ahLst/>
              <a:cxnLst/>
              <a:rect l="l" t="t" r="r" b="b"/>
              <a:pathLst>
                <a:path w="204597" h="1009269">
                  <a:moveTo>
                    <a:pt x="0" y="0"/>
                  </a:moveTo>
                  <a:lnTo>
                    <a:pt x="204597" y="0"/>
                  </a:lnTo>
                  <a:lnTo>
                    <a:pt x="204597" y="1009269"/>
                  </a:lnTo>
                  <a:lnTo>
                    <a:pt x="0" y="1009269"/>
                  </a:ln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4" name="Group 4"/>
          <p:cNvGrpSpPr/>
          <p:nvPr/>
        </p:nvGrpSpPr>
        <p:grpSpPr>
          <a:xfrm>
            <a:off x="822960" y="457200"/>
            <a:ext cx="15910560" cy="914400"/>
            <a:chOff x="0" y="0"/>
            <a:chExt cx="21214080" cy="1219200"/>
          </a:xfrm>
        </p:grpSpPr>
        <p:sp>
          <p:nvSpPr>
            <p:cNvPr id="5" name="Freeform 5"/>
            <p:cNvSpPr/>
            <p:nvPr/>
          </p:nvSpPr>
          <p:spPr>
            <a:xfrm>
              <a:off x="0" y="0"/>
              <a:ext cx="21214080" cy="1219200"/>
            </a:xfrm>
            <a:custGeom>
              <a:avLst/>
              <a:gdLst/>
              <a:ahLst/>
              <a:cxnLst/>
              <a:rect l="l" t="t" r="r" b="b"/>
              <a:pathLst>
                <a:path w="21214080" h="1219200">
                  <a:moveTo>
                    <a:pt x="0" y="0"/>
                  </a:moveTo>
                  <a:lnTo>
                    <a:pt x="21214080" y="0"/>
                  </a:lnTo>
                  <a:lnTo>
                    <a:pt x="21214080" y="1219200"/>
                  </a:lnTo>
                  <a:lnTo>
                    <a:pt x="0" y="1219200"/>
                  </a:lnTo>
                  <a:close/>
                </a:path>
              </a:pathLst>
            </a:custGeom>
            <a:blipFill>
              <a:blip r:embed="rId3">
                <a:alphaModFix amt="0"/>
              </a:blip>
              <a:stretch>
                <a:fillRect t="-289039" b="-289039"/>
              </a:stretch>
            </a:blipFill>
          </p:spPr>
          <p:txBody>
            <a:bodyPr/>
            <a:lstStyle/>
            <a:p>
              <a:endParaRPr lang="ko-KR" altLang="en-US"/>
            </a:p>
          </p:txBody>
        </p:sp>
        <p:sp>
          <p:nvSpPr>
            <p:cNvPr id="6" name="TextBox 6"/>
            <p:cNvSpPr txBox="1"/>
            <p:nvPr/>
          </p:nvSpPr>
          <p:spPr>
            <a:xfrm>
              <a:off x="0" y="0"/>
              <a:ext cx="21214080" cy="1219200"/>
            </a:xfrm>
            <a:prstGeom prst="rect">
              <a:avLst/>
            </a:prstGeom>
          </p:spPr>
          <p:txBody>
            <a:bodyPr lIns="0" tIns="0" rIns="0" bIns="0" rtlCol="0" anchor="ctr"/>
            <a:lstStyle/>
            <a:p>
              <a:pPr algn="l">
                <a:lnSpc>
                  <a:spcPts val="4560"/>
                </a:lnSpc>
              </a:pPr>
              <a:r>
                <a:rPr lang="en-US" sz="3800" b="1">
                  <a:solidFill>
                    <a:srgbClr val="1A1A1A"/>
                  </a:solidFill>
                  <a:latin typeface="프리텐다드 Bold"/>
                  <a:ea typeface="프리텐다드 Bold"/>
                  <a:cs typeface="프리텐다드 Bold"/>
                  <a:sym typeface="프리텐다드 Bold"/>
                </a:rPr>
                <a:t>확장성 : </a:t>
              </a:r>
              <a:r>
                <a:rPr lang="en-US" sz="3800" b="1">
                  <a:solidFill>
                    <a:srgbClr val="8B0000"/>
                  </a:solidFill>
                  <a:latin typeface="프리텐다드 Bold"/>
                  <a:ea typeface="프리텐다드 Bold"/>
                  <a:cs typeface="프리텐다드 Bold"/>
                  <a:sym typeface="프리텐다드 Bold"/>
                </a:rPr>
                <a:t>"제품에 찍힌 기한" 을 읽는 모든 곳</a:t>
              </a:r>
            </a:p>
          </p:txBody>
        </p:sp>
      </p:grpSp>
      <p:sp>
        <p:nvSpPr>
          <p:cNvPr id="7" name="AutoShape 7"/>
          <p:cNvSpPr/>
          <p:nvPr/>
        </p:nvSpPr>
        <p:spPr>
          <a:xfrm rot="3780">
            <a:off x="539105" y="1494854"/>
            <a:ext cx="17209780" cy="0"/>
          </a:xfrm>
          <a:prstGeom prst="line">
            <a:avLst/>
          </a:prstGeom>
          <a:ln w="9525" cap="rnd">
            <a:solidFill>
              <a:srgbClr val="BFBFBF"/>
            </a:solidFill>
            <a:prstDash val="solid"/>
            <a:headEnd type="none" w="sm" len="sm"/>
            <a:tailEnd type="none" w="sm" len="sm"/>
          </a:ln>
        </p:spPr>
        <p:txBody>
          <a:bodyPr/>
          <a:lstStyle/>
          <a:p>
            <a:endParaRPr lang="ko-KR" altLang="en-US"/>
          </a:p>
        </p:txBody>
      </p:sp>
      <p:grpSp>
        <p:nvGrpSpPr>
          <p:cNvPr id="8" name="Group 8"/>
          <p:cNvGrpSpPr/>
          <p:nvPr/>
        </p:nvGrpSpPr>
        <p:grpSpPr>
          <a:xfrm>
            <a:off x="17007840" y="219456"/>
            <a:ext cx="914400" cy="457200"/>
            <a:chOff x="0" y="0"/>
            <a:chExt cx="1219200" cy="609600"/>
          </a:xfrm>
        </p:grpSpPr>
        <p:sp>
          <p:nvSpPr>
            <p:cNvPr id="9" name="Freeform 9"/>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10" name="TextBox 10"/>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1A1A1A"/>
                  </a:solidFill>
                  <a:latin typeface="프리텐다드"/>
                  <a:ea typeface="프리텐다드"/>
                  <a:cs typeface="프리텐다드"/>
                  <a:sym typeface="프리텐다드"/>
                </a:rPr>
                <a:t>21</a:t>
              </a:r>
            </a:p>
          </p:txBody>
        </p:sp>
      </p:grpSp>
      <p:graphicFrame>
        <p:nvGraphicFramePr>
          <p:cNvPr id="11" name="Table 11"/>
          <p:cNvGraphicFramePr>
            <a:graphicFrameLocks noGrp="1"/>
          </p:cNvGraphicFramePr>
          <p:nvPr/>
        </p:nvGraphicFramePr>
        <p:xfrm>
          <a:off x="548640" y="1828800"/>
          <a:ext cx="17145000" cy="3429000"/>
        </p:xfrm>
        <a:graphic>
          <a:graphicData uri="http://schemas.openxmlformats.org/drawingml/2006/table">
            <a:tbl>
              <a:tblPr/>
              <a:tblGrid>
                <a:gridCol w="5646165">
                  <a:extLst>
                    <a:ext uri="{9D8B030D-6E8A-4147-A177-3AD203B41FA5}">
                      <a16:colId xmlns:a16="http://schemas.microsoft.com/office/drawing/2014/main" val="20000"/>
                    </a:ext>
                  </a:extLst>
                </a:gridCol>
                <a:gridCol w="3288979">
                  <a:extLst>
                    <a:ext uri="{9D8B030D-6E8A-4147-A177-3AD203B41FA5}">
                      <a16:colId xmlns:a16="http://schemas.microsoft.com/office/drawing/2014/main" val="20001"/>
                    </a:ext>
                  </a:extLst>
                </a:gridCol>
                <a:gridCol w="4376911">
                  <a:extLst>
                    <a:ext uri="{9D8B030D-6E8A-4147-A177-3AD203B41FA5}">
                      <a16:colId xmlns:a16="http://schemas.microsoft.com/office/drawing/2014/main" val="20002"/>
                    </a:ext>
                  </a:extLst>
                </a:gridCol>
                <a:gridCol w="3832945">
                  <a:extLst>
                    <a:ext uri="{9D8B030D-6E8A-4147-A177-3AD203B41FA5}">
                      <a16:colId xmlns:a16="http://schemas.microsoft.com/office/drawing/2014/main" val="20003"/>
                    </a:ext>
                  </a:extLst>
                </a:gridCol>
              </a:tblGrid>
              <a:tr h="685800">
                <a:tc>
                  <a:txBody>
                    <a:bodyPr/>
                    <a:lstStyle/>
                    <a:p>
                      <a:pPr algn="l">
                        <a:lnSpc>
                          <a:spcPts val="2423"/>
                        </a:lnSpc>
                        <a:defRPr/>
                      </a:pPr>
                      <a:r>
                        <a:rPr lang="en-US" sz="2019">
                          <a:solidFill>
                            <a:srgbClr val="FFFFFF"/>
                          </a:solidFill>
                          <a:latin typeface="프리텐다드"/>
                          <a:ea typeface="프리텐다드"/>
                          <a:cs typeface="프리텐다드"/>
                          <a:sym typeface="프리텐다드"/>
                        </a:rPr>
                        <a:t>적용 분야</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423"/>
                        </a:lnSpc>
                        <a:defRPr/>
                      </a:pPr>
                      <a:r>
                        <a:rPr lang="en-US" sz="2019">
                          <a:solidFill>
                            <a:srgbClr val="FFFFFF"/>
                          </a:solidFill>
                          <a:latin typeface="프리텐다드"/>
                          <a:ea typeface="프리텐다드"/>
                          <a:cs typeface="프리텐다드"/>
                          <a:sym typeface="프리텐다드"/>
                        </a:rPr>
                        <a:t>읽는 값</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423"/>
                        </a:lnSpc>
                        <a:defRPr/>
                      </a:pPr>
                      <a:r>
                        <a:rPr lang="en-US" sz="2019">
                          <a:solidFill>
                            <a:srgbClr val="FFFFFF"/>
                          </a:solidFill>
                          <a:latin typeface="프리텐다드"/>
                          <a:ea typeface="프리텐다드"/>
                          <a:cs typeface="프리텐다드"/>
                          <a:sym typeface="프리텐다드"/>
                        </a:rPr>
                        <a:t>바꿀 것</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423"/>
                        </a:lnSpc>
                        <a:defRPr/>
                      </a:pPr>
                      <a:r>
                        <a:rPr lang="en-US" sz="2019">
                          <a:solidFill>
                            <a:srgbClr val="FFFFFF"/>
                          </a:solidFill>
                          <a:latin typeface="프리텐다드"/>
                          <a:ea typeface="프리텐다드"/>
                          <a:cs typeface="프리텐다드"/>
                          <a:sym typeface="프리텐다드"/>
                        </a:rPr>
                        <a:t>그대로 쓰는 것</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extLst>
                  <a:ext uri="{0D108BD9-81ED-4DB2-BD59-A6C34878D82A}">
                    <a16:rowId xmlns:a16="http://schemas.microsoft.com/office/drawing/2014/main" val="10000"/>
                  </a:ext>
                </a:extLst>
              </a:tr>
              <a:tr h="685800">
                <a:tc>
                  <a:txBody>
                    <a:bodyPr/>
                    <a:lstStyle/>
                    <a:p>
                      <a:pPr algn="l">
                        <a:lnSpc>
                          <a:spcPts val="2423"/>
                        </a:lnSpc>
                        <a:defRPr/>
                      </a:pPr>
                      <a:r>
                        <a:rPr lang="en-US" sz="2019">
                          <a:solidFill>
                            <a:srgbClr val="1A1A1A"/>
                          </a:solidFill>
                          <a:latin typeface="프리텐다드"/>
                          <a:ea typeface="프리텐다드"/>
                          <a:cs typeface="프리텐다드"/>
                          <a:sym typeface="프리텐다드"/>
                        </a:rPr>
                        <a:t>1단계 건강기능식품 → 2단계 가공식품 · 선물세트</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23"/>
                        </a:lnSpc>
                        <a:defRPr/>
                      </a:pPr>
                      <a:r>
                        <a:rPr lang="en-US" sz="2019">
                          <a:solidFill>
                            <a:srgbClr val="1A1A1A"/>
                          </a:solidFill>
                          <a:latin typeface="프리텐다드"/>
                          <a:ea typeface="프리텐다드"/>
                          <a:cs typeface="프리텐다드"/>
                          <a:sym typeface="프리텐다드"/>
                        </a:rPr>
                        <a:t>소비기한</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23"/>
                        </a:lnSpc>
                        <a:defRPr/>
                      </a:pPr>
                      <a:r>
                        <a:rPr lang="en-US" sz="2019">
                          <a:solidFill>
                            <a:srgbClr val="1A1A1A"/>
                          </a:solidFill>
                          <a:latin typeface="프리텐다드"/>
                          <a:ea typeface="프리텐다드"/>
                          <a:cs typeface="프리텐다드"/>
                          <a:sym typeface="프리텐다드"/>
                        </a:rPr>
                        <a:t>대상 카테고리, 상품별 촬영</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23"/>
                        </a:lnSpc>
                        <a:defRPr/>
                      </a:pPr>
                      <a:r>
                        <a:rPr lang="en-US" sz="2019">
                          <a:solidFill>
                            <a:srgbClr val="1A1A1A"/>
                          </a:solidFill>
                          <a:latin typeface="프리텐다드"/>
                          <a:ea typeface="프리텐다드"/>
                          <a:cs typeface="프리텐다드"/>
                          <a:sym typeface="프리텐다드"/>
                        </a:rPr>
                        <a:t>파이프라인 전체</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algn="l">
                        <a:lnSpc>
                          <a:spcPts val="2423"/>
                        </a:lnSpc>
                        <a:defRPr/>
                      </a:pPr>
                      <a:r>
                        <a:rPr lang="en-US" sz="2019">
                          <a:solidFill>
                            <a:srgbClr val="1A1A1A"/>
                          </a:solidFill>
                          <a:latin typeface="프리텐다드"/>
                          <a:ea typeface="프리텐다드"/>
                          <a:cs typeface="프리텐다드"/>
                          <a:sym typeface="프리텐다드"/>
                        </a:rPr>
                        <a:t>품목보고번호 인식 → 제품 조회·회수 확인</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23"/>
                        </a:lnSpc>
                        <a:defRPr/>
                      </a:pPr>
                      <a:r>
                        <a:rPr lang="en-US" sz="2019">
                          <a:solidFill>
                            <a:srgbClr val="1A1A1A"/>
                          </a:solidFill>
                          <a:latin typeface="프리텐다드"/>
                          <a:ea typeface="프리텐다드"/>
                          <a:cs typeface="프리텐다드"/>
                          <a:sym typeface="프리텐다드"/>
                        </a:rPr>
                        <a:t>품목보고번호</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23"/>
                        </a:lnSpc>
                        <a:defRPr/>
                      </a:pPr>
                      <a:r>
                        <a:rPr lang="en-US" sz="2019">
                          <a:solidFill>
                            <a:srgbClr val="1A1A1A"/>
                          </a:solidFill>
                          <a:latin typeface="프리텐다드"/>
                          <a:ea typeface="프리텐다드"/>
                          <a:cs typeface="프리텐다드"/>
                          <a:sym typeface="프리텐다드"/>
                        </a:rPr>
                        <a:t>9자리 숫자 마스킹 규칙 재설계</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23"/>
                        </a:lnSpc>
                        <a:defRPr/>
                      </a:pPr>
                      <a:r>
                        <a:rPr lang="en-US" sz="2019">
                          <a:solidFill>
                            <a:srgbClr val="1A1A1A"/>
                          </a:solidFill>
                          <a:latin typeface="프리텐다드"/>
                          <a:ea typeface="프리텐다드"/>
                          <a:cs typeface="프리텐다드"/>
                          <a:sym typeface="프리텐다드"/>
                        </a:rPr>
                        <a:t>탐지 · 인식 (정확도 미측정)</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l">
                        <a:lnSpc>
                          <a:spcPts val="2423"/>
                        </a:lnSpc>
                        <a:defRPr/>
                      </a:pPr>
                      <a:r>
                        <a:rPr lang="en-US" sz="2019">
                          <a:solidFill>
                            <a:srgbClr val="1A1A1A"/>
                          </a:solidFill>
                          <a:latin typeface="프리텐다드"/>
                          <a:ea typeface="프리텐다드"/>
                          <a:cs typeface="프리텐다드"/>
                          <a:sym typeface="프리텐다드"/>
                        </a:rPr>
                        <a:t>식품공장 출하 전 날짜 인쇄 확인</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23"/>
                        </a:lnSpc>
                        <a:defRPr/>
                      </a:pPr>
                      <a:r>
                        <a:rPr lang="en-US" sz="2019">
                          <a:solidFill>
                            <a:srgbClr val="1A1A1A"/>
                          </a:solidFill>
                          <a:latin typeface="프리텐다드"/>
                          <a:ea typeface="프리텐다드"/>
                          <a:cs typeface="프리텐다드"/>
                          <a:sym typeface="프리텐다드"/>
                        </a:rPr>
                        <a:t>소비기한</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23"/>
                        </a:lnSpc>
                        <a:defRPr/>
                      </a:pPr>
                      <a:r>
                        <a:rPr lang="en-US" sz="2019">
                          <a:solidFill>
                            <a:srgbClr val="1A1A1A"/>
                          </a:solidFill>
                          <a:latin typeface="프리텐다드"/>
                          <a:ea typeface="프리텐다드"/>
                          <a:cs typeface="프리텐다드"/>
                          <a:sym typeface="프리텐다드"/>
                        </a:rPr>
                        <a:t>대조 대상 (제조일 + 품목별 일수)</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23"/>
                        </a:lnSpc>
                        <a:defRPr/>
                      </a:pPr>
                      <a:r>
                        <a:rPr lang="en-US" sz="2019">
                          <a:solidFill>
                            <a:srgbClr val="1A1A1A"/>
                          </a:solidFill>
                          <a:latin typeface="프리텐다드"/>
                          <a:ea typeface="프리텐다드"/>
                          <a:cs typeface="프리텐다드"/>
                          <a:sym typeface="프리텐다드"/>
                        </a:rPr>
                        <a:t>놓칠 확률 한 장당 0.2%</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5800">
                <a:tc>
                  <a:txBody>
                    <a:bodyPr/>
                    <a:lstStyle/>
                    <a:p>
                      <a:pPr algn="l">
                        <a:lnSpc>
                          <a:spcPts val="2423"/>
                        </a:lnSpc>
                        <a:defRPr/>
                      </a:pPr>
                      <a:r>
                        <a:rPr lang="en-US" sz="2019">
                          <a:solidFill>
                            <a:srgbClr val="1A1A1A"/>
                          </a:solidFill>
                          <a:latin typeface="프리텐다드"/>
                          <a:ea typeface="프리텐다드"/>
                          <a:cs typeface="프리텐다드"/>
                          <a:sym typeface="프리텐다드"/>
                        </a:rPr>
                        <a:t>의약품 · 화학 제품 출하 표시물</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23"/>
                        </a:lnSpc>
                        <a:defRPr/>
                      </a:pPr>
                      <a:r>
                        <a:rPr lang="en-US" sz="2019">
                          <a:solidFill>
                            <a:srgbClr val="1A1A1A"/>
                          </a:solidFill>
                          <a:latin typeface="프리텐다드"/>
                          <a:ea typeface="프리텐다드"/>
                          <a:cs typeface="프리텐다드"/>
                          <a:sym typeface="프리텐다드"/>
                        </a:rPr>
                        <a:t>제조번호 · 사용기한</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23"/>
                        </a:lnSpc>
                        <a:defRPr/>
                      </a:pPr>
                      <a:r>
                        <a:rPr lang="en-US" sz="2019">
                          <a:solidFill>
                            <a:srgbClr val="1A1A1A"/>
                          </a:solidFill>
                          <a:latin typeface="프리텐다드"/>
                          <a:ea typeface="프리텐다드"/>
                          <a:cs typeface="프리텐다드"/>
                          <a:sym typeface="프리텐다드"/>
                        </a:rPr>
                        <a:t>표기 형식 규칙</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23"/>
                        </a:lnSpc>
                        <a:defRPr/>
                      </a:pPr>
                      <a:r>
                        <a:rPr lang="en-US" sz="2019">
                          <a:solidFill>
                            <a:srgbClr val="1A1A1A"/>
                          </a:solidFill>
                          <a:latin typeface="프리텐다드"/>
                          <a:ea typeface="프리텐다드"/>
                          <a:cs typeface="프리텐다드"/>
                          <a:sym typeface="프리텐다드"/>
                        </a:rPr>
                        <a:t>읽기 · 대조 · 예외 처리</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pSp>
        <p:nvGrpSpPr>
          <p:cNvPr id="12" name="Group 12"/>
          <p:cNvGrpSpPr/>
          <p:nvPr/>
        </p:nvGrpSpPr>
        <p:grpSpPr>
          <a:xfrm>
            <a:off x="535943" y="5748023"/>
            <a:ext cx="17216123" cy="2677163"/>
            <a:chOff x="0" y="0"/>
            <a:chExt cx="22954831" cy="3569551"/>
          </a:xfrm>
        </p:grpSpPr>
        <p:sp>
          <p:nvSpPr>
            <p:cNvPr id="13" name="Freeform 13"/>
            <p:cNvSpPr/>
            <p:nvPr/>
          </p:nvSpPr>
          <p:spPr>
            <a:xfrm>
              <a:off x="0" y="0"/>
              <a:ext cx="22954869" cy="3569589"/>
            </a:xfrm>
            <a:custGeom>
              <a:avLst/>
              <a:gdLst/>
              <a:ahLst/>
              <a:cxnLst/>
              <a:rect l="l" t="t" r="r" b="b"/>
              <a:pathLst>
                <a:path w="22954869" h="3569589">
                  <a:moveTo>
                    <a:pt x="0" y="196977"/>
                  </a:moveTo>
                  <a:cubicBezTo>
                    <a:pt x="0" y="88138"/>
                    <a:pt x="88138" y="0"/>
                    <a:pt x="196977" y="0"/>
                  </a:cubicBezTo>
                  <a:lnTo>
                    <a:pt x="22757892" y="0"/>
                  </a:lnTo>
                  <a:cubicBezTo>
                    <a:pt x="22866604" y="0"/>
                    <a:pt x="22954869" y="88138"/>
                    <a:pt x="22954869" y="196977"/>
                  </a:cubicBezTo>
                  <a:lnTo>
                    <a:pt x="22954869" y="3372612"/>
                  </a:lnTo>
                  <a:cubicBezTo>
                    <a:pt x="22954869" y="3481324"/>
                    <a:pt x="22866731" y="3569589"/>
                    <a:pt x="22757892" y="3569589"/>
                  </a:cubicBezTo>
                  <a:lnTo>
                    <a:pt x="196977" y="3569589"/>
                  </a:lnTo>
                  <a:cubicBezTo>
                    <a:pt x="88138" y="3569589"/>
                    <a:pt x="0" y="3481324"/>
                    <a:pt x="0" y="3372612"/>
                  </a:cubicBezTo>
                  <a:close/>
                </a:path>
              </a:pathLst>
            </a:custGeom>
            <a:solidFill>
              <a:srgbClr val="F2F2F2"/>
            </a:solidFill>
            <a:ln w="25400" cap="sq">
              <a:solidFill>
                <a:srgbClr val="F2F2F2"/>
              </a:solidFill>
              <a:prstDash val="solid"/>
              <a:miter/>
            </a:ln>
          </p:spPr>
          <p:txBody>
            <a:bodyPr/>
            <a:lstStyle/>
            <a:p>
              <a:endParaRPr lang="ko-KR" altLang="en-US"/>
            </a:p>
          </p:txBody>
        </p:sp>
      </p:grpSp>
      <p:sp>
        <p:nvSpPr>
          <p:cNvPr id="14" name="TextBox 14"/>
          <p:cNvSpPr txBox="1"/>
          <p:nvPr/>
        </p:nvSpPr>
        <p:spPr>
          <a:xfrm>
            <a:off x="1106800" y="6200775"/>
            <a:ext cx="16642080" cy="371475"/>
          </a:xfrm>
          <a:prstGeom prst="rect">
            <a:avLst/>
          </a:prstGeom>
        </p:spPr>
        <p:txBody>
          <a:bodyPr lIns="0" tIns="0" rIns="0" bIns="0" rtlCol="0" anchor="t">
            <a:spAutoFit/>
          </a:bodyPr>
          <a:lstStyle/>
          <a:p>
            <a:pPr algn="l">
              <a:lnSpc>
                <a:spcPts val="2999"/>
              </a:lnSpc>
            </a:pPr>
            <a:r>
              <a:rPr lang="en-US" sz="2499" b="1">
                <a:solidFill>
                  <a:srgbClr val="1A1A1A"/>
                </a:solidFill>
                <a:latin typeface="프리텐다드 Bold"/>
                <a:ea typeface="프리텐다드 Bold"/>
                <a:cs typeface="프리텐다드 Bold"/>
                <a:sym typeface="프리텐다드 Bold"/>
              </a:rPr>
              <a:t>왜 옮겨 쓸 수 있는가</a:t>
            </a:r>
          </a:p>
        </p:txBody>
      </p:sp>
      <p:sp>
        <p:nvSpPr>
          <p:cNvPr id="15" name="TextBox 15"/>
          <p:cNvSpPr txBox="1"/>
          <p:nvPr/>
        </p:nvSpPr>
        <p:spPr>
          <a:xfrm>
            <a:off x="822960" y="6622161"/>
            <a:ext cx="16642080" cy="1290447"/>
          </a:xfrm>
          <a:prstGeom prst="rect">
            <a:avLst/>
          </a:prstGeom>
        </p:spPr>
        <p:txBody>
          <a:bodyPr lIns="0" tIns="0" rIns="0" bIns="0" rtlCol="0" anchor="t">
            <a:spAutoFit/>
          </a:bodyPr>
          <a:lstStyle/>
          <a:p>
            <a:pPr marL="521208" lvl="1" indent="-260604" algn="l">
              <a:lnSpc>
                <a:spcPts val="3456"/>
              </a:lnSpc>
              <a:buFont typeface="Arial"/>
              <a:buChar char="•"/>
            </a:pPr>
            <a:r>
              <a:rPr lang="en-US" sz="2160" dirty="0" err="1">
                <a:solidFill>
                  <a:srgbClr val="1A1A1A"/>
                </a:solidFill>
                <a:latin typeface="프리텐다드"/>
                <a:ea typeface="프리텐다드"/>
                <a:cs typeface="프리텐다드"/>
                <a:sym typeface="프리텐다드"/>
              </a:rPr>
              <a:t>딥러닝</a:t>
            </a:r>
            <a:r>
              <a:rPr lang="en-US" sz="2160" dirty="0">
                <a:solidFill>
                  <a:srgbClr val="1A1A1A"/>
                </a:solidFill>
                <a:latin typeface="프리텐다드"/>
                <a:ea typeface="프리텐다드"/>
                <a:cs typeface="프리텐다드"/>
                <a:sym typeface="프리텐다드"/>
              </a:rPr>
              <a:t> </a:t>
            </a:r>
            <a:r>
              <a:rPr lang="en-US" sz="2160" dirty="0" err="1">
                <a:solidFill>
                  <a:srgbClr val="1A1A1A"/>
                </a:solidFill>
                <a:latin typeface="프리텐다드"/>
                <a:ea typeface="프리텐다드"/>
                <a:cs typeface="프리텐다드"/>
                <a:sym typeface="프리텐다드"/>
              </a:rPr>
              <a:t>모델은</a:t>
            </a:r>
            <a:r>
              <a:rPr lang="en-US" sz="2160" dirty="0">
                <a:solidFill>
                  <a:srgbClr val="1A1A1A"/>
                </a:solidFill>
                <a:latin typeface="프리텐다드"/>
                <a:ea typeface="프리텐다드"/>
                <a:cs typeface="프리텐다드"/>
                <a:sym typeface="프리텐다드"/>
              </a:rPr>
              <a:t> "</a:t>
            </a:r>
            <a:r>
              <a:rPr lang="en-US" sz="2160" dirty="0" err="1">
                <a:solidFill>
                  <a:srgbClr val="1A1A1A"/>
                </a:solidFill>
                <a:latin typeface="프리텐다드"/>
                <a:ea typeface="프리텐다드"/>
                <a:cs typeface="프리텐다드"/>
                <a:sym typeface="프리텐다드"/>
              </a:rPr>
              <a:t>글자를</a:t>
            </a:r>
            <a:r>
              <a:rPr lang="en-US" sz="2160" dirty="0">
                <a:solidFill>
                  <a:srgbClr val="1A1A1A"/>
                </a:solidFill>
                <a:latin typeface="프리텐다드"/>
                <a:ea typeface="프리텐다드"/>
                <a:cs typeface="프리텐다드"/>
                <a:sym typeface="프리텐다드"/>
              </a:rPr>
              <a:t> </a:t>
            </a:r>
            <a:r>
              <a:rPr lang="en-US" sz="2160" dirty="0" err="1">
                <a:solidFill>
                  <a:srgbClr val="1A1A1A"/>
                </a:solidFill>
                <a:latin typeface="프리텐다드"/>
                <a:ea typeface="프리텐다드"/>
                <a:cs typeface="프리텐다드"/>
                <a:sym typeface="프리텐다드"/>
              </a:rPr>
              <a:t>읽는</a:t>
            </a:r>
            <a:r>
              <a:rPr lang="en-US" sz="2160" dirty="0">
                <a:solidFill>
                  <a:srgbClr val="1A1A1A"/>
                </a:solidFill>
                <a:latin typeface="프리텐다드"/>
                <a:ea typeface="프리텐다드"/>
                <a:cs typeface="프리텐다드"/>
                <a:sym typeface="프리텐다드"/>
              </a:rPr>
              <a:t> 일" 만 </a:t>
            </a:r>
            <a:r>
              <a:rPr lang="en-US" sz="2160" dirty="0" err="1">
                <a:solidFill>
                  <a:srgbClr val="1A1A1A"/>
                </a:solidFill>
                <a:latin typeface="프리텐다드"/>
                <a:ea typeface="프리텐다드"/>
                <a:cs typeface="프리텐다드"/>
                <a:sym typeface="프리텐다드"/>
              </a:rPr>
              <a:t>하고</a:t>
            </a:r>
            <a:r>
              <a:rPr lang="en-US" sz="2160" dirty="0">
                <a:solidFill>
                  <a:srgbClr val="1A1A1A"/>
                </a:solidFill>
                <a:latin typeface="프리텐다드"/>
                <a:ea typeface="프리텐다드"/>
                <a:cs typeface="프리텐다드"/>
                <a:sym typeface="프리텐다드"/>
              </a:rPr>
              <a:t>, </a:t>
            </a:r>
            <a:r>
              <a:rPr lang="en-US" sz="2160" dirty="0" err="1">
                <a:solidFill>
                  <a:srgbClr val="1A1A1A"/>
                </a:solidFill>
                <a:latin typeface="프리텐다드"/>
                <a:ea typeface="프리텐다드"/>
                <a:cs typeface="프리텐다드"/>
                <a:sym typeface="프리텐다드"/>
              </a:rPr>
              <a:t>도메인</a:t>
            </a:r>
            <a:r>
              <a:rPr lang="en-US" sz="2160" dirty="0">
                <a:solidFill>
                  <a:srgbClr val="1A1A1A"/>
                </a:solidFill>
                <a:latin typeface="프리텐다드"/>
                <a:ea typeface="프리텐다드"/>
                <a:cs typeface="프리텐다드"/>
                <a:sym typeface="프리텐다드"/>
              </a:rPr>
              <a:t> </a:t>
            </a:r>
            <a:r>
              <a:rPr lang="en-US" sz="2160" dirty="0" err="1">
                <a:solidFill>
                  <a:srgbClr val="1A1A1A"/>
                </a:solidFill>
                <a:latin typeface="프리텐다드"/>
                <a:ea typeface="프리텐다드"/>
                <a:cs typeface="프리텐다드"/>
                <a:sym typeface="프리텐다드"/>
              </a:rPr>
              <a:t>지식은</a:t>
            </a:r>
            <a:r>
              <a:rPr lang="en-US" sz="2160" dirty="0">
                <a:solidFill>
                  <a:srgbClr val="1A1A1A"/>
                </a:solidFill>
                <a:latin typeface="프리텐다드"/>
                <a:ea typeface="프리텐다드"/>
                <a:cs typeface="프리텐다드"/>
                <a:sym typeface="프리텐다드"/>
              </a:rPr>
              <a:t> </a:t>
            </a:r>
            <a:r>
              <a:rPr lang="en-US" sz="2160" dirty="0" err="1">
                <a:solidFill>
                  <a:srgbClr val="1A1A1A"/>
                </a:solidFill>
                <a:latin typeface="프리텐다드"/>
                <a:ea typeface="프리텐다드"/>
                <a:cs typeface="프리텐다드"/>
                <a:sym typeface="프리텐다드"/>
              </a:rPr>
              <a:t>전부</a:t>
            </a:r>
            <a:r>
              <a:rPr lang="en-US" sz="2160" dirty="0">
                <a:solidFill>
                  <a:srgbClr val="1A1A1A"/>
                </a:solidFill>
                <a:latin typeface="프리텐다드"/>
                <a:ea typeface="프리텐다드"/>
                <a:cs typeface="프리텐다드"/>
                <a:sym typeface="프리텐다드"/>
              </a:rPr>
              <a:t> </a:t>
            </a:r>
            <a:r>
              <a:rPr lang="en-US" sz="2160" dirty="0" err="1">
                <a:solidFill>
                  <a:srgbClr val="1A1A1A"/>
                </a:solidFill>
                <a:latin typeface="프리텐다드"/>
                <a:ea typeface="프리텐다드"/>
                <a:cs typeface="프리텐다드"/>
                <a:sym typeface="프리텐다드"/>
              </a:rPr>
              <a:t>규칙</a:t>
            </a:r>
            <a:r>
              <a:rPr lang="en-US" sz="2160" dirty="0">
                <a:solidFill>
                  <a:srgbClr val="1A1A1A"/>
                </a:solidFill>
                <a:latin typeface="프리텐다드"/>
                <a:ea typeface="프리텐다드"/>
                <a:cs typeface="프리텐다드"/>
                <a:sym typeface="프리텐다드"/>
              </a:rPr>
              <a:t> </a:t>
            </a:r>
            <a:r>
              <a:rPr lang="en-US" sz="2160" dirty="0" err="1">
                <a:solidFill>
                  <a:srgbClr val="1A1A1A"/>
                </a:solidFill>
                <a:latin typeface="프리텐다드"/>
                <a:ea typeface="프리텐다드"/>
                <a:cs typeface="프리텐다드"/>
                <a:sym typeface="프리텐다드"/>
              </a:rPr>
              <a:t>문서</a:t>
            </a:r>
            <a:r>
              <a:rPr lang="en-US" sz="2160" dirty="0">
                <a:solidFill>
                  <a:srgbClr val="1A1A1A"/>
                </a:solidFill>
                <a:latin typeface="프리텐다드"/>
                <a:ea typeface="프리텐다드"/>
                <a:cs typeface="프리텐다드"/>
                <a:sym typeface="프리텐다드"/>
              </a:rPr>
              <a:t> 한 </a:t>
            </a:r>
            <a:r>
              <a:rPr lang="en-US" sz="2160" dirty="0" err="1">
                <a:solidFill>
                  <a:srgbClr val="1A1A1A"/>
                </a:solidFill>
                <a:latin typeface="프리텐다드"/>
                <a:ea typeface="프리텐다드"/>
                <a:cs typeface="프리텐다드"/>
                <a:sym typeface="프리텐다드"/>
              </a:rPr>
              <a:t>장에</a:t>
            </a:r>
            <a:r>
              <a:rPr lang="en-US" sz="2160" dirty="0">
                <a:solidFill>
                  <a:srgbClr val="1A1A1A"/>
                </a:solidFill>
                <a:latin typeface="프리텐다드"/>
                <a:ea typeface="프리텐다드"/>
                <a:cs typeface="프리텐다드"/>
                <a:sym typeface="프리텐다드"/>
              </a:rPr>
              <a:t> </a:t>
            </a:r>
            <a:r>
              <a:rPr lang="en-US" sz="2160" dirty="0" err="1">
                <a:solidFill>
                  <a:srgbClr val="1A1A1A"/>
                </a:solidFill>
                <a:latin typeface="프리텐다드"/>
                <a:ea typeface="프리텐다드"/>
                <a:cs typeface="프리텐다드"/>
                <a:sym typeface="프리텐다드"/>
              </a:rPr>
              <a:t>있습니다</a:t>
            </a:r>
            <a:r>
              <a:rPr lang="en-US" sz="2160" dirty="0">
                <a:solidFill>
                  <a:srgbClr val="1A1A1A"/>
                </a:solidFill>
                <a:latin typeface="프리텐다드"/>
                <a:ea typeface="프리텐다드"/>
                <a:cs typeface="프리텐다드"/>
                <a:sym typeface="프리텐다드"/>
              </a:rPr>
              <a:t>.</a:t>
            </a:r>
          </a:p>
          <a:p>
            <a:pPr marL="521208" lvl="1" indent="-260604" algn="l">
              <a:lnSpc>
                <a:spcPts val="3456"/>
              </a:lnSpc>
              <a:buFont typeface="Arial"/>
              <a:buChar char="•"/>
            </a:pPr>
            <a:r>
              <a:rPr lang="en-US" sz="2160" dirty="0" err="1">
                <a:solidFill>
                  <a:srgbClr val="1A1A1A"/>
                </a:solidFill>
                <a:latin typeface="프리텐다드"/>
                <a:ea typeface="프리텐다드"/>
                <a:cs typeface="프리텐다드"/>
                <a:sym typeface="프리텐다드"/>
              </a:rPr>
              <a:t>읽기</a:t>
            </a:r>
            <a:r>
              <a:rPr lang="en-US" sz="2160" dirty="0">
                <a:solidFill>
                  <a:srgbClr val="1A1A1A"/>
                </a:solidFill>
                <a:latin typeface="프리텐다드"/>
                <a:ea typeface="프리텐다드"/>
                <a:cs typeface="프리텐다드"/>
                <a:sym typeface="프리텐다드"/>
              </a:rPr>
              <a:t> → </a:t>
            </a:r>
            <a:r>
              <a:rPr lang="en-US" sz="2160" dirty="0" err="1">
                <a:solidFill>
                  <a:srgbClr val="1A1A1A"/>
                </a:solidFill>
                <a:latin typeface="프리텐다드"/>
                <a:ea typeface="프리텐다드"/>
                <a:cs typeface="프리텐다드"/>
                <a:sym typeface="프리텐다드"/>
              </a:rPr>
              <a:t>기준값과</a:t>
            </a:r>
            <a:r>
              <a:rPr lang="en-US" sz="2160" dirty="0">
                <a:solidFill>
                  <a:srgbClr val="1A1A1A"/>
                </a:solidFill>
                <a:latin typeface="프리텐다드"/>
                <a:ea typeface="프리텐다드"/>
                <a:cs typeface="프리텐다드"/>
                <a:sym typeface="프리텐다드"/>
              </a:rPr>
              <a:t> </a:t>
            </a:r>
            <a:r>
              <a:rPr lang="en-US" sz="2160" dirty="0" err="1">
                <a:solidFill>
                  <a:srgbClr val="1A1A1A"/>
                </a:solidFill>
                <a:latin typeface="프리텐다드"/>
                <a:ea typeface="프리텐다드"/>
                <a:cs typeface="프리텐다드"/>
                <a:sym typeface="프리텐다드"/>
              </a:rPr>
              <a:t>대조</a:t>
            </a:r>
            <a:r>
              <a:rPr lang="en-US" sz="2160" dirty="0">
                <a:solidFill>
                  <a:srgbClr val="1A1A1A"/>
                </a:solidFill>
                <a:latin typeface="프리텐다드"/>
                <a:ea typeface="프리텐다드"/>
                <a:cs typeface="프리텐다드"/>
                <a:sym typeface="프리텐다드"/>
              </a:rPr>
              <a:t> → </a:t>
            </a:r>
            <a:r>
              <a:rPr lang="en-US" sz="2160" dirty="0" err="1">
                <a:solidFill>
                  <a:srgbClr val="1A1A1A"/>
                </a:solidFill>
                <a:latin typeface="프리텐다드"/>
                <a:ea typeface="프리텐다드"/>
                <a:cs typeface="프리텐다드"/>
                <a:sym typeface="프리텐다드"/>
              </a:rPr>
              <a:t>예외만</a:t>
            </a:r>
            <a:r>
              <a:rPr lang="en-US" sz="2160" dirty="0">
                <a:solidFill>
                  <a:srgbClr val="1A1A1A"/>
                </a:solidFill>
                <a:latin typeface="프리텐다드"/>
                <a:ea typeface="프리텐다드"/>
                <a:cs typeface="프리텐다드"/>
                <a:sym typeface="프리텐다드"/>
              </a:rPr>
              <a:t> </a:t>
            </a:r>
            <a:r>
              <a:rPr lang="en-US" sz="2160" dirty="0" err="1">
                <a:solidFill>
                  <a:srgbClr val="1A1A1A"/>
                </a:solidFill>
                <a:latin typeface="프리텐다드"/>
                <a:ea typeface="프리텐다드"/>
                <a:cs typeface="프리텐다드"/>
                <a:sym typeface="프리텐다드"/>
              </a:rPr>
              <a:t>사람에게</a:t>
            </a:r>
            <a:r>
              <a:rPr lang="en-US" sz="2160" dirty="0">
                <a:solidFill>
                  <a:srgbClr val="1A1A1A"/>
                </a:solidFill>
                <a:latin typeface="프리텐다드"/>
                <a:ea typeface="프리텐다드"/>
                <a:cs typeface="프리텐다드"/>
                <a:sym typeface="프리텐다드"/>
              </a:rPr>
              <a:t> : 이 세 </a:t>
            </a:r>
            <a:r>
              <a:rPr lang="en-US" sz="2160" dirty="0" err="1">
                <a:solidFill>
                  <a:srgbClr val="1A1A1A"/>
                </a:solidFill>
                <a:latin typeface="프리텐다드"/>
                <a:ea typeface="프리텐다드"/>
                <a:cs typeface="프리텐다드"/>
                <a:sym typeface="프리텐다드"/>
              </a:rPr>
              <a:t>단계는</a:t>
            </a:r>
            <a:r>
              <a:rPr lang="en-US" sz="2160" dirty="0">
                <a:solidFill>
                  <a:srgbClr val="1A1A1A"/>
                </a:solidFill>
                <a:latin typeface="프리텐다드"/>
                <a:ea typeface="프리텐다드"/>
                <a:cs typeface="프리텐다드"/>
                <a:sym typeface="프리텐다드"/>
              </a:rPr>
              <a:t> </a:t>
            </a:r>
            <a:r>
              <a:rPr lang="en-US" sz="2160" dirty="0" err="1">
                <a:solidFill>
                  <a:srgbClr val="1A1A1A"/>
                </a:solidFill>
                <a:latin typeface="프리텐다드"/>
                <a:ea typeface="프리텐다드"/>
                <a:cs typeface="프리텐다드"/>
                <a:sym typeface="프리텐다드"/>
              </a:rPr>
              <a:t>분야가</a:t>
            </a:r>
            <a:r>
              <a:rPr lang="en-US" sz="2160" dirty="0">
                <a:solidFill>
                  <a:srgbClr val="1A1A1A"/>
                </a:solidFill>
                <a:latin typeface="프리텐다드"/>
                <a:ea typeface="프리텐다드"/>
                <a:cs typeface="프리텐다드"/>
                <a:sym typeface="프리텐다드"/>
              </a:rPr>
              <a:t> </a:t>
            </a:r>
            <a:r>
              <a:rPr lang="en-US" sz="2160" dirty="0" err="1">
                <a:solidFill>
                  <a:srgbClr val="1A1A1A"/>
                </a:solidFill>
                <a:latin typeface="프리텐다드"/>
                <a:ea typeface="프리텐다드"/>
                <a:cs typeface="프리텐다드"/>
                <a:sym typeface="프리텐다드"/>
              </a:rPr>
              <a:t>바뀌어도</a:t>
            </a:r>
            <a:r>
              <a:rPr lang="en-US" sz="2160" dirty="0">
                <a:solidFill>
                  <a:srgbClr val="1A1A1A"/>
                </a:solidFill>
                <a:latin typeface="프리텐다드"/>
                <a:ea typeface="프리텐다드"/>
                <a:cs typeface="프리텐다드"/>
                <a:sym typeface="프리텐다드"/>
              </a:rPr>
              <a:t> </a:t>
            </a:r>
            <a:r>
              <a:rPr lang="en-US" sz="2160" dirty="0" err="1">
                <a:solidFill>
                  <a:srgbClr val="1A1A1A"/>
                </a:solidFill>
                <a:latin typeface="프리텐다드"/>
                <a:ea typeface="프리텐다드"/>
                <a:cs typeface="프리텐다드"/>
                <a:sym typeface="프리텐다드"/>
              </a:rPr>
              <a:t>같습니다</a:t>
            </a:r>
            <a:r>
              <a:rPr lang="en-US" sz="2160" dirty="0">
                <a:solidFill>
                  <a:srgbClr val="1A1A1A"/>
                </a:solidFill>
                <a:latin typeface="프리텐다드"/>
                <a:ea typeface="프리텐다드"/>
                <a:cs typeface="프리텐다드"/>
                <a:sym typeface="프리텐다드"/>
              </a:rPr>
              <a:t>.</a:t>
            </a:r>
          </a:p>
          <a:p>
            <a:pPr marL="521208" lvl="1" indent="-260604" algn="l">
              <a:lnSpc>
                <a:spcPts val="3456"/>
              </a:lnSpc>
              <a:buFont typeface="Arial"/>
              <a:buChar char="•"/>
            </a:pPr>
            <a:r>
              <a:rPr lang="en-US" sz="2160" dirty="0" err="1">
                <a:solidFill>
                  <a:srgbClr val="1A1A1A"/>
                </a:solidFill>
                <a:latin typeface="프리텐다드"/>
                <a:ea typeface="프리텐다드"/>
                <a:cs typeface="프리텐다드"/>
                <a:sym typeface="프리텐다드"/>
              </a:rPr>
              <a:t>사람</a:t>
            </a:r>
            <a:r>
              <a:rPr lang="en-US" sz="2160" dirty="0">
                <a:solidFill>
                  <a:srgbClr val="1A1A1A"/>
                </a:solidFill>
                <a:latin typeface="프리텐다드"/>
                <a:ea typeface="프리텐다드"/>
                <a:cs typeface="프리텐다드"/>
                <a:sym typeface="프리텐다드"/>
              </a:rPr>
              <a:t>(</a:t>
            </a:r>
            <a:r>
              <a:rPr lang="en-US" sz="2160" dirty="0" err="1">
                <a:solidFill>
                  <a:srgbClr val="1A1A1A"/>
                </a:solidFill>
                <a:latin typeface="프리텐다드"/>
                <a:ea typeface="프리텐다드"/>
                <a:cs typeface="프리텐다드"/>
                <a:sym typeface="프리텐다드"/>
              </a:rPr>
              <a:t>판매자·검수자</a:t>
            </a:r>
            <a:r>
              <a:rPr lang="en-US" sz="2160" dirty="0">
                <a:solidFill>
                  <a:srgbClr val="1A1A1A"/>
                </a:solidFill>
                <a:latin typeface="프리텐다드"/>
                <a:ea typeface="프리텐다드"/>
                <a:cs typeface="프리텐다드"/>
                <a:sym typeface="프리텐다드"/>
              </a:rPr>
              <a:t>)이 </a:t>
            </a:r>
            <a:r>
              <a:rPr lang="en-US" sz="2160" dirty="0" err="1">
                <a:solidFill>
                  <a:srgbClr val="1A1A1A"/>
                </a:solidFill>
                <a:latin typeface="프리텐다드"/>
                <a:ea typeface="프리텐다드"/>
                <a:cs typeface="프리텐다드"/>
                <a:sym typeface="프리텐다드"/>
              </a:rPr>
              <a:t>확정한</a:t>
            </a:r>
            <a:r>
              <a:rPr lang="en-US" sz="2160" dirty="0">
                <a:solidFill>
                  <a:srgbClr val="1A1A1A"/>
                </a:solidFill>
                <a:latin typeface="프리텐다드"/>
                <a:ea typeface="프리텐다드"/>
                <a:cs typeface="프리텐다드"/>
                <a:sym typeface="프리텐다드"/>
              </a:rPr>
              <a:t> </a:t>
            </a:r>
            <a:r>
              <a:rPr lang="en-US" sz="2160" dirty="0" err="1">
                <a:solidFill>
                  <a:srgbClr val="1A1A1A"/>
                </a:solidFill>
                <a:latin typeface="프리텐다드"/>
                <a:ea typeface="프리텐다드"/>
                <a:cs typeface="프리텐다드"/>
                <a:sym typeface="프리텐다드"/>
              </a:rPr>
              <a:t>값이</a:t>
            </a:r>
            <a:r>
              <a:rPr lang="en-US" sz="2160" dirty="0">
                <a:solidFill>
                  <a:srgbClr val="1A1A1A"/>
                </a:solidFill>
                <a:latin typeface="프리텐다드"/>
                <a:ea typeface="프리텐다드"/>
                <a:cs typeface="프리텐다드"/>
                <a:sym typeface="프리텐다드"/>
              </a:rPr>
              <a:t> </a:t>
            </a:r>
            <a:r>
              <a:rPr lang="en-US" sz="2160" dirty="0" err="1">
                <a:solidFill>
                  <a:srgbClr val="1A1A1A"/>
                </a:solidFill>
                <a:latin typeface="프리텐다드"/>
                <a:ea typeface="프리텐다드"/>
                <a:cs typeface="프리텐다드"/>
                <a:sym typeface="프리텐다드"/>
              </a:rPr>
              <a:t>다시</a:t>
            </a:r>
            <a:r>
              <a:rPr lang="en-US" sz="2160" dirty="0">
                <a:solidFill>
                  <a:srgbClr val="1A1A1A"/>
                </a:solidFill>
                <a:latin typeface="프리텐다드"/>
                <a:ea typeface="프리텐다드"/>
                <a:cs typeface="프리텐다드"/>
                <a:sym typeface="프리텐다드"/>
              </a:rPr>
              <a:t> </a:t>
            </a:r>
            <a:r>
              <a:rPr lang="en-US" sz="2160" dirty="0" err="1">
                <a:solidFill>
                  <a:srgbClr val="1A1A1A"/>
                </a:solidFill>
                <a:latin typeface="프리텐다드"/>
                <a:ea typeface="프리텐다드"/>
                <a:cs typeface="프리텐다드"/>
                <a:sym typeface="프리텐다드"/>
              </a:rPr>
              <a:t>학습</a:t>
            </a:r>
            <a:r>
              <a:rPr lang="en-US" sz="2160" dirty="0">
                <a:solidFill>
                  <a:srgbClr val="1A1A1A"/>
                </a:solidFill>
                <a:latin typeface="프리텐다드"/>
                <a:ea typeface="프리텐다드"/>
                <a:cs typeface="프리텐다드"/>
                <a:sym typeface="프리텐다드"/>
              </a:rPr>
              <a:t> </a:t>
            </a:r>
            <a:r>
              <a:rPr lang="en-US" sz="2160" dirty="0" err="1">
                <a:solidFill>
                  <a:srgbClr val="1A1A1A"/>
                </a:solidFill>
                <a:latin typeface="프리텐다드"/>
                <a:ea typeface="프리텐다드"/>
                <a:cs typeface="프리텐다드"/>
                <a:sym typeface="프리텐다드"/>
              </a:rPr>
              <a:t>데이터가</a:t>
            </a:r>
            <a:r>
              <a:rPr lang="en-US" sz="2160" dirty="0">
                <a:solidFill>
                  <a:srgbClr val="1A1A1A"/>
                </a:solidFill>
                <a:latin typeface="프리텐다드"/>
                <a:ea typeface="프리텐다드"/>
                <a:cs typeface="프리텐다드"/>
                <a:sym typeface="프리텐다드"/>
              </a:rPr>
              <a:t> </a:t>
            </a:r>
            <a:r>
              <a:rPr lang="en-US" sz="2160" dirty="0" err="1">
                <a:solidFill>
                  <a:srgbClr val="1A1A1A"/>
                </a:solidFill>
                <a:latin typeface="프리텐다드"/>
                <a:ea typeface="프리텐다드"/>
                <a:cs typeface="프리텐다드"/>
                <a:sym typeface="프리텐다드"/>
              </a:rPr>
              <a:t>되는</a:t>
            </a:r>
            <a:r>
              <a:rPr lang="en-US" sz="2160" dirty="0">
                <a:solidFill>
                  <a:srgbClr val="1A1A1A"/>
                </a:solidFill>
                <a:latin typeface="프리텐다드"/>
                <a:ea typeface="프리텐다드"/>
                <a:cs typeface="프리텐다드"/>
                <a:sym typeface="프리텐다드"/>
              </a:rPr>
              <a:t> </a:t>
            </a:r>
            <a:r>
              <a:rPr lang="en-US" sz="2160" dirty="0" err="1">
                <a:solidFill>
                  <a:srgbClr val="1A1A1A"/>
                </a:solidFill>
                <a:latin typeface="프리텐다드"/>
                <a:ea typeface="프리텐다드"/>
                <a:cs typeface="프리텐다드"/>
                <a:sym typeface="프리텐다드"/>
              </a:rPr>
              <a:t>순환</a:t>
            </a:r>
            <a:r>
              <a:rPr lang="en-US" sz="2160" dirty="0">
                <a:solidFill>
                  <a:srgbClr val="1A1A1A"/>
                </a:solidFill>
                <a:latin typeface="프리텐다드"/>
                <a:ea typeface="프리텐다드"/>
                <a:cs typeface="프리텐다드"/>
                <a:sym typeface="프리텐다드"/>
              </a:rPr>
              <a:t> </a:t>
            </a:r>
            <a:r>
              <a:rPr lang="en-US" sz="2160" dirty="0" err="1">
                <a:solidFill>
                  <a:srgbClr val="1A1A1A"/>
                </a:solidFill>
                <a:latin typeface="프리텐다드"/>
                <a:ea typeface="프리텐다드"/>
                <a:cs typeface="프리텐다드"/>
                <a:sym typeface="프리텐다드"/>
              </a:rPr>
              <a:t>구조</a:t>
            </a:r>
            <a:endParaRPr lang="en-US" sz="2160" dirty="0">
              <a:solidFill>
                <a:srgbClr val="1A1A1A"/>
              </a:solidFill>
              <a:latin typeface="프리텐다드"/>
              <a:ea typeface="프리텐다드"/>
              <a:cs typeface="프리텐다드"/>
              <a:sym typeface="프리텐다드"/>
            </a:endParaRPr>
          </a:p>
        </p:txBody>
      </p:sp>
      <p:grpSp>
        <p:nvGrpSpPr>
          <p:cNvPr id="16" name="Group 16"/>
          <p:cNvGrpSpPr/>
          <p:nvPr/>
        </p:nvGrpSpPr>
        <p:grpSpPr>
          <a:xfrm>
            <a:off x="535943" y="8674103"/>
            <a:ext cx="17216123" cy="793499"/>
            <a:chOff x="0" y="0"/>
            <a:chExt cx="22954831" cy="1057999"/>
          </a:xfrm>
        </p:grpSpPr>
        <p:sp>
          <p:nvSpPr>
            <p:cNvPr id="17" name="Freeform 17"/>
            <p:cNvSpPr/>
            <p:nvPr/>
          </p:nvSpPr>
          <p:spPr>
            <a:xfrm>
              <a:off x="0" y="0"/>
              <a:ext cx="22954869" cy="1058037"/>
            </a:xfrm>
            <a:custGeom>
              <a:avLst/>
              <a:gdLst/>
              <a:ahLst/>
              <a:cxnLst/>
              <a:rect l="l" t="t" r="r" b="b"/>
              <a:pathLst>
                <a:path w="22954869" h="1058037">
                  <a:moveTo>
                    <a:pt x="0" y="201549"/>
                  </a:moveTo>
                  <a:cubicBezTo>
                    <a:pt x="0" y="90170"/>
                    <a:pt x="90170" y="0"/>
                    <a:pt x="201549" y="0"/>
                  </a:cubicBezTo>
                  <a:lnTo>
                    <a:pt x="22753320" y="0"/>
                  </a:lnTo>
                  <a:cubicBezTo>
                    <a:pt x="22864572" y="0"/>
                    <a:pt x="22954869" y="90170"/>
                    <a:pt x="22954869" y="201549"/>
                  </a:cubicBezTo>
                  <a:lnTo>
                    <a:pt x="22954869" y="856488"/>
                  </a:lnTo>
                  <a:cubicBezTo>
                    <a:pt x="22954869" y="967740"/>
                    <a:pt x="22864699" y="1058037"/>
                    <a:pt x="22753320" y="1058037"/>
                  </a:cubicBezTo>
                  <a:lnTo>
                    <a:pt x="201549" y="1058037"/>
                  </a:lnTo>
                  <a:cubicBezTo>
                    <a:pt x="90170" y="1058037"/>
                    <a:pt x="0" y="967740"/>
                    <a:pt x="0" y="856488"/>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18" name="Group 18"/>
          <p:cNvGrpSpPr/>
          <p:nvPr/>
        </p:nvGrpSpPr>
        <p:grpSpPr>
          <a:xfrm>
            <a:off x="822960" y="8686800"/>
            <a:ext cx="16642080" cy="768096"/>
            <a:chOff x="0" y="0"/>
            <a:chExt cx="22189440" cy="1024128"/>
          </a:xfrm>
        </p:grpSpPr>
        <p:sp>
          <p:nvSpPr>
            <p:cNvPr id="19" name="Freeform 19"/>
            <p:cNvSpPr/>
            <p:nvPr/>
          </p:nvSpPr>
          <p:spPr>
            <a:xfrm>
              <a:off x="0" y="0"/>
              <a:ext cx="22189439" cy="1024128"/>
            </a:xfrm>
            <a:custGeom>
              <a:avLst/>
              <a:gdLst/>
              <a:ahLst/>
              <a:cxnLst/>
              <a:rect l="l" t="t" r="r" b="b"/>
              <a:pathLst>
                <a:path w="22189439" h="1024128">
                  <a:moveTo>
                    <a:pt x="0" y="0"/>
                  </a:moveTo>
                  <a:lnTo>
                    <a:pt x="22189439" y="0"/>
                  </a:lnTo>
                  <a:lnTo>
                    <a:pt x="22189439" y="1024128"/>
                  </a:lnTo>
                  <a:lnTo>
                    <a:pt x="0" y="1024128"/>
                  </a:lnTo>
                  <a:close/>
                </a:path>
              </a:pathLst>
            </a:custGeom>
            <a:blipFill>
              <a:blip r:embed="rId3">
                <a:alphaModFix amt="0"/>
              </a:blip>
              <a:stretch>
                <a:fillRect t="-372175" b="-372175"/>
              </a:stretch>
            </a:blipFill>
          </p:spPr>
          <p:txBody>
            <a:bodyPr/>
            <a:lstStyle/>
            <a:p>
              <a:endParaRPr lang="ko-KR" altLang="en-US"/>
            </a:p>
          </p:txBody>
        </p:sp>
        <p:sp>
          <p:nvSpPr>
            <p:cNvPr id="20" name="TextBox 20"/>
            <p:cNvSpPr txBox="1"/>
            <p:nvPr/>
          </p:nvSpPr>
          <p:spPr>
            <a:xfrm>
              <a:off x="0" y="0"/>
              <a:ext cx="22189440" cy="1024128"/>
            </a:xfrm>
            <a:prstGeom prst="rect">
              <a:avLst/>
            </a:prstGeom>
          </p:spPr>
          <p:txBody>
            <a:bodyPr lIns="0" tIns="0" rIns="0" bIns="0" rtlCol="0" anchor="ctr"/>
            <a:lstStyle/>
            <a:p>
              <a:pPr algn="ctr">
                <a:lnSpc>
                  <a:spcPts val="2999"/>
                </a:lnSpc>
              </a:pPr>
              <a:r>
                <a:rPr lang="en-US" sz="2499" dirty="0" err="1">
                  <a:solidFill>
                    <a:srgbClr val="1A1A1A"/>
                  </a:solidFill>
                  <a:latin typeface="프리텐다드"/>
                  <a:ea typeface="프리텐다드"/>
                  <a:cs typeface="프리텐다드"/>
                  <a:sym typeface="프리텐다드"/>
                </a:rPr>
                <a:t>규칙</a:t>
              </a:r>
              <a:r>
                <a:rPr lang="en-US" sz="2499" dirty="0">
                  <a:solidFill>
                    <a:srgbClr val="1A1A1A"/>
                  </a:solidFill>
                  <a:latin typeface="프리텐다드"/>
                  <a:ea typeface="프리텐다드"/>
                  <a:cs typeface="프리텐다드"/>
                  <a:sym typeface="프리텐다드"/>
                </a:rPr>
                <a:t> </a:t>
              </a:r>
              <a:r>
                <a:rPr lang="ko-KR" altLang="en-US" sz="2499" dirty="0">
                  <a:solidFill>
                    <a:srgbClr val="1A1A1A"/>
                  </a:solidFill>
                  <a:latin typeface="프리텐다드"/>
                  <a:ea typeface="프리텐다드"/>
                  <a:cs typeface="프리텐다드"/>
                  <a:sym typeface="프리텐다드"/>
                </a:rPr>
                <a:t>문서</a:t>
              </a:r>
              <a:r>
                <a:rPr lang="en-US" sz="2499" dirty="0">
                  <a:solidFill>
                    <a:srgbClr val="1A1A1A"/>
                  </a:solidFill>
                  <a:latin typeface="프리텐다드"/>
                  <a:ea typeface="프리텐다드"/>
                  <a:cs typeface="프리텐다드"/>
                  <a:sym typeface="프리텐다드"/>
                </a:rPr>
                <a:t>만 </a:t>
              </a:r>
              <a:r>
                <a:rPr lang="en-US" sz="2499" dirty="0" err="1">
                  <a:solidFill>
                    <a:srgbClr val="1A1A1A"/>
                  </a:solidFill>
                  <a:latin typeface="프리텐다드"/>
                  <a:ea typeface="프리텐다드"/>
                  <a:cs typeface="프리텐다드"/>
                  <a:sym typeface="프리텐다드"/>
                </a:rPr>
                <a:t>바꾸면</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되는</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구조</a:t>
              </a:r>
              <a:r>
                <a:rPr lang="en-US" sz="2499" dirty="0">
                  <a:solidFill>
                    <a:srgbClr val="1A1A1A"/>
                  </a:solidFill>
                  <a:latin typeface="프리텐다드"/>
                  <a:ea typeface="프리텐다드"/>
                  <a:cs typeface="프리텐다드"/>
                  <a:sym typeface="프리텐다드"/>
                </a:rPr>
                <a:t> : </a:t>
              </a:r>
              <a:r>
                <a:rPr lang="en-US" sz="2499" b="1" dirty="0" err="1">
                  <a:solidFill>
                    <a:srgbClr val="8B0000"/>
                  </a:solidFill>
                  <a:latin typeface="프리텐다드 Bold"/>
                  <a:ea typeface="프리텐다드 Bold"/>
                  <a:cs typeface="프리텐다드 Bold"/>
                  <a:sym typeface="프리텐다드 Bold"/>
                </a:rPr>
                <a:t>모델을</a:t>
              </a:r>
              <a:r>
                <a:rPr lang="en-US" sz="2499" b="1" dirty="0">
                  <a:solidFill>
                    <a:srgbClr val="8B0000"/>
                  </a:solidFill>
                  <a:latin typeface="프리텐다드 Bold"/>
                  <a:ea typeface="프리텐다드 Bold"/>
                  <a:cs typeface="프리텐다드 Bold"/>
                  <a:sym typeface="프리텐다드 Bold"/>
                </a:rPr>
                <a:t> </a:t>
              </a:r>
              <a:r>
                <a:rPr lang="en-US" sz="2499" b="1" dirty="0" err="1">
                  <a:solidFill>
                    <a:srgbClr val="8B0000"/>
                  </a:solidFill>
                  <a:latin typeface="프리텐다드 Bold"/>
                  <a:ea typeface="프리텐다드 Bold"/>
                  <a:cs typeface="프리텐다드 Bold"/>
                  <a:sym typeface="프리텐다드 Bold"/>
                </a:rPr>
                <a:t>다시</a:t>
              </a:r>
              <a:r>
                <a:rPr lang="en-US" sz="2499" b="1" dirty="0">
                  <a:solidFill>
                    <a:srgbClr val="8B0000"/>
                  </a:solidFill>
                  <a:latin typeface="프리텐다드 Bold"/>
                  <a:ea typeface="프리텐다드 Bold"/>
                  <a:cs typeface="프리텐다드 Bold"/>
                  <a:sym typeface="프리텐다드 Bold"/>
                </a:rPr>
                <a:t> </a:t>
              </a:r>
              <a:r>
                <a:rPr lang="en-US" sz="2499" b="1" dirty="0" err="1">
                  <a:solidFill>
                    <a:srgbClr val="8B0000"/>
                  </a:solidFill>
                  <a:latin typeface="프리텐다드 Bold"/>
                  <a:ea typeface="프리텐다드 Bold"/>
                  <a:cs typeface="프리텐다드 Bold"/>
                  <a:sym typeface="프리텐다드 Bold"/>
                </a:rPr>
                <a:t>만들</a:t>
              </a:r>
              <a:r>
                <a:rPr lang="en-US" sz="2499" b="1" dirty="0">
                  <a:solidFill>
                    <a:srgbClr val="8B0000"/>
                  </a:solidFill>
                  <a:latin typeface="프리텐다드 Bold"/>
                  <a:ea typeface="프리텐다드 Bold"/>
                  <a:cs typeface="프리텐다드 Bold"/>
                  <a:sym typeface="프리텐다드 Bold"/>
                </a:rPr>
                <a:t> </a:t>
              </a:r>
              <a:r>
                <a:rPr lang="en-US" sz="2499" b="1" dirty="0" err="1">
                  <a:solidFill>
                    <a:srgbClr val="8B0000"/>
                  </a:solidFill>
                  <a:latin typeface="프리텐다드 Bold"/>
                  <a:ea typeface="프리텐다드 Bold"/>
                  <a:cs typeface="프리텐다드 Bold"/>
                  <a:sym typeface="프리텐다드 Bold"/>
                </a:rPr>
                <a:t>필요가</a:t>
              </a:r>
              <a:r>
                <a:rPr lang="en-US" sz="2499" b="1" dirty="0">
                  <a:solidFill>
                    <a:srgbClr val="8B0000"/>
                  </a:solidFill>
                  <a:latin typeface="프리텐다드 Bold"/>
                  <a:ea typeface="프리텐다드 Bold"/>
                  <a:cs typeface="프리텐다드 Bold"/>
                  <a:sym typeface="프리텐다드 Bold"/>
                </a:rPr>
                <a:t> </a:t>
              </a:r>
              <a:r>
                <a:rPr lang="en-US" sz="2499" b="1" dirty="0" err="1">
                  <a:solidFill>
                    <a:srgbClr val="8B0000"/>
                  </a:solidFill>
                  <a:latin typeface="프리텐다드 Bold"/>
                  <a:ea typeface="프리텐다드 Bold"/>
                  <a:cs typeface="프리텐다드 Bold"/>
                  <a:sym typeface="프리텐다드 Bold"/>
                </a:rPr>
                <a:t>없습니다</a:t>
              </a:r>
              <a:endParaRPr lang="en-US" sz="2499" b="1" dirty="0">
                <a:solidFill>
                  <a:srgbClr val="8B0000"/>
                </a:solidFill>
                <a:latin typeface="프리텐다드 Bold"/>
                <a:ea typeface="프리텐다드 Bold"/>
                <a:cs typeface="프리텐다드 Bold"/>
                <a:sym typeface="프리텐다드 Bold"/>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8B0000"/>
        </a:solidFill>
        <a:effectLst/>
      </p:bgPr>
    </p:bg>
    <p:spTree>
      <p:nvGrpSpPr>
        <p:cNvPr id="1" name=""/>
        <p:cNvGrpSpPr/>
        <p:nvPr/>
      </p:nvGrpSpPr>
      <p:grpSpPr>
        <a:xfrm>
          <a:off x="0" y="0"/>
          <a:ext cx="0" cy="0"/>
          <a:chOff x="0" y="0"/>
          <a:chExt cx="0" cy="0"/>
        </a:xfrm>
      </p:grpSpPr>
      <p:grpSp>
        <p:nvGrpSpPr>
          <p:cNvPr id="2" name="Group 2"/>
          <p:cNvGrpSpPr/>
          <p:nvPr/>
        </p:nvGrpSpPr>
        <p:grpSpPr>
          <a:xfrm>
            <a:off x="1267463" y="1358903"/>
            <a:ext cx="171707" cy="1031243"/>
            <a:chOff x="0" y="0"/>
            <a:chExt cx="228943" cy="1374991"/>
          </a:xfrm>
        </p:grpSpPr>
        <p:sp>
          <p:nvSpPr>
            <p:cNvPr id="3" name="Freeform 3"/>
            <p:cNvSpPr/>
            <p:nvPr/>
          </p:nvSpPr>
          <p:spPr>
            <a:xfrm>
              <a:off x="0" y="0"/>
              <a:ext cx="228981" cy="1375029"/>
            </a:xfrm>
            <a:custGeom>
              <a:avLst/>
              <a:gdLst/>
              <a:ahLst/>
              <a:cxnLst/>
              <a:rect l="l" t="t" r="r" b="b"/>
              <a:pathLst>
                <a:path w="228981" h="1375029">
                  <a:moveTo>
                    <a:pt x="0" y="0"/>
                  </a:moveTo>
                  <a:lnTo>
                    <a:pt x="228981" y="0"/>
                  </a:lnTo>
                  <a:lnTo>
                    <a:pt x="228981" y="1375029"/>
                  </a:lnTo>
                  <a:lnTo>
                    <a:pt x="0" y="1375029"/>
                  </a:lnTo>
                  <a:close/>
                </a:path>
              </a:pathLst>
            </a:custGeom>
            <a:solidFill>
              <a:srgbClr val="FFFFFF"/>
            </a:solidFill>
            <a:ln w="25400" cap="sq">
              <a:solidFill>
                <a:srgbClr val="FFFFFF"/>
              </a:solidFill>
              <a:prstDash val="solid"/>
              <a:miter/>
            </a:ln>
          </p:spPr>
          <p:txBody>
            <a:bodyPr/>
            <a:lstStyle/>
            <a:p>
              <a:endParaRPr lang="ko-KR" altLang="en-US"/>
            </a:p>
          </p:txBody>
        </p:sp>
      </p:grpSp>
      <p:grpSp>
        <p:nvGrpSpPr>
          <p:cNvPr id="4" name="Group 4"/>
          <p:cNvGrpSpPr/>
          <p:nvPr/>
        </p:nvGrpSpPr>
        <p:grpSpPr>
          <a:xfrm>
            <a:off x="1737360" y="1316736"/>
            <a:ext cx="14630400" cy="1097280"/>
            <a:chOff x="0" y="0"/>
            <a:chExt cx="19507200" cy="1463040"/>
          </a:xfrm>
        </p:grpSpPr>
        <p:sp>
          <p:nvSpPr>
            <p:cNvPr id="5" name="Freeform 5"/>
            <p:cNvSpPr/>
            <p:nvPr/>
          </p:nvSpPr>
          <p:spPr>
            <a:xfrm>
              <a:off x="0" y="0"/>
              <a:ext cx="19507200" cy="1463040"/>
            </a:xfrm>
            <a:custGeom>
              <a:avLst/>
              <a:gdLst/>
              <a:ahLst/>
              <a:cxnLst/>
              <a:rect l="l" t="t" r="r" b="b"/>
              <a:pathLst>
                <a:path w="19507200" h="1463040">
                  <a:moveTo>
                    <a:pt x="0" y="0"/>
                  </a:moveTo>
                  <a:lnTo>
                    <a:pt x="19507200" y="0"/>
                  </a:lnTo>
                  <a:lnTo>
                    <a:pt x="19507200" y="1463040"/>
                  </a:lnTo>
                  <a:lnTo>
                    <a:pt x="0" y="1463040"/>
                  </a:lnTo>
                  <a:close/>
                </a:path>
              </a:pathLst>
            </a:custGeom>
            <a:blipFill>
              <a:blip r:embed="rId3">
                <a:alphaModFix amt="0"/>
              </a:blip>
              <a:stretch>
                <a:fillRect t="-209800" b="-209800"/>
              </a:stretch>
            </a:blipFill>
          </p:spPr>
          <p:txBody>
            <a:bodyPr/>
            <a:lstStyle/>
            <a:p>
              <a:endParaRPr lang="ko-KR" altLang="en-US"/>
            </a:p>
          </p:txBody>
        </p:sp>
        <p:sp>
          <p:nvSpPr>
            <p:cNvPr id="6" name="TextBox 6"/>
            <p:cNvSpPr txBox="1"/>
            <p:nvPr/>
          </p:nvSpPr>
          <p:spPr>
            <a:xfrm>
              <a:off x="0" y="-9525"/>
              <a:ext cx="19507200" cy="1472565"/>
            </a:xfrm>
            <a:prstGeom prst="rect">
              <a:avLst/>
            </a:prstGeom>
          </p:spPr>
          <p:txBody>
            <a:bodyPr lIns="0" tIns="0" rIns="0" bIns="0" rtlCol="0" anchor="ctr"/>
            <a:lstStyle/>
            <a:p>
              <a:pPr algn="l">
                <a:lnSpc>
                  <a:spcPts val="6239"/>
                </a:lnSpc>
              </a:pPr>
              <a:r>
                <a:rPr lang="en-US" sz="5199" b="1">
                  <a:solidFill>
                    <a:srgbClr val="FFFFFF"/>
                  </a:solidFill>
                  <a:latin typeface="프리텐다드 Bold"/>
                  <a:ea typeface="프리텐다드 Bold"/>
                  <a:cs typeface="프리텐다드 Bold"/>
                  <a:sym typeface="프리텐다드 Bold"/>
                </a:rPr>
                <a:t>정리</a:t>
              </a:r>
            </a:p>
          </p:txBody>
        </p:sp>
      </p:grpSp>
      <p:grpSp>
        <p:nvGrpSpPr>
          <p:cNvPr id="7" name="Group 7"/>
          <p:cNvGrpSpPr/>
          <p:nvPr/>
        </p:nvGrpSpPr>
        <p:grpSpPr>
          <a:xfrm>
            <a:off x="1724663" y="3151127"/>
            <a:ext cx="939803" cy="939803"/>
            <a:chOff x="0" y="0"/>
            <a:chExt cx="1253071" cy="1253071"/>
          </a:xfrm>
        </p:grpSpPr>
        <p:sp>
          <p:nvSpPr>
            <p:cNvPr id="8" name="Freeform 8"/>
            <p:cNvSpPr/>
            <p:nvPr/>
          </p:nvSpPr>
          <p:spPr>
            <a:xfrm>
              <a:off x="0" y="0"/>
              <a:ext cx="1253109" cy="1253109"/>
            </a:xfrm>
            <a:custGeom>
              <a:avLst/>
              <a:gdLst/>
              <a:ahLst/>
              <a:cxnLst/>
              <a:rect l="l" t="t" r="r" b="b"/>
              <a:pathLst>
                <a:path w="1253109" h="1253109">
                  <a:moveTo>
                    <a:pt x="0" y="626491"/>
                  </a:moveTo>
                  <a:cubicBezTo>
                    <a:pt x="0" y="280543"/>
                    <a:pt x="280543" y="0"/>
                    <a:pt x="626491" y="0"/>
                  </a:cubicBezTo>
                  <a:cubicBezTo>
                    <a:pt x="972439" y="0"/>
                    <a:pt x="1253109" y="280543"/>
                    <a:pt x="1253109" y="626491"/>
                  </a:cubicBezTo>
                  <a:cubicBezTo>
                    <a:pt x="1253109" y="972439"/>
                    <a:pt x="972566" y="1253109"/>
                    <a:pt x="626491" y="1253109"/>
                  </a:cubicBezTo>
                  <a:cubicBezTo>
                    <a:pt x="280416" y="1253109"/>
                    <a:pt x="0" y="972566"/>
                    <a:pt x="0" y="626491"/>
                  </a:cubicBezTo>
                  <a:close/>
                </a:path>
              </a:pathLst>
            </a:custGeom>
            <a:solidFill>
              <a:srgbClr val="FFFFFF"/>
            </a:solidFill>
            <a:ln w="25400" cap="sq">
              <a:solidFill>
                <a:srgbClr val="FFFFFF"/>
              </a:solidFill>
              <a:prstDash val="solid"/>
              <a:miter/>
            </a:ln>
          </p:spPr>
          <p:txBody>
            <a:bodyPr/>
            <a:lstStyle/>
            <a:p>
              <a:endParaRPr lang="ko-KR" altLang="en-US"/>
            </a:p>
          </p:txBody>
        </p:sp>
      </p:grpSp>
      <p:grpSp>
        <p:nvGrpSpPr>
          <p:cNvPr id="9" name="Group 9"/>
          <p:cNvGrpSpPr/>
          <p:nvPr/>
        </p:nvGrpSpPr>
        <p:grpSpPr>
          <a:xfrm>
            <a:off x="1737360" y="3163824"/>
            <a:ext cx="914400" cy="914400"/>
            <a:chOff x="0" y="0"/>
            <a:chExt cx="1219200" cy="1219200"/>
          </a:xfrm>
        </p:grpSpPr>
        <p:sp>
          <p:nvSpPr>
            <p:cNvPr id="10" name="Freeform 10"/>
            <p:cNvSpPr/>
            <p:nvPr/>
          </p:nvSpPr>
          <p:spPr>
            <a:xfrm>
              <a:off x="0" y="0"/>
              <a:ext cx="1219200" cy="1219200"/>
            </a:xfrm>
            <a:custGeom>
              <a:avLst/>
              <a:gdLst/>
              <a:ahLst/>
              <a:cxnLst/>
              <a:rect l="l" t="t" r="r" b="b"/>
              <a:pathLst>
                <a:path w="1219200" h="1219200">
                  <a:moveTo>
                    <a:pt x="0" y="0"/>
                  </a:moveTo>
                  <a:lnTo>
                    <a:pt x="1219200" y="0"/>
                  </a:lnTo>
                  <a:lnTo>
                    <a:pt x="1219200" y="1219200"/>
                  </a:lnTo>
                  <a:lnTo>
                    <a:pt x="0" y="1219200"/>
                  </a:lnTo>
                  <a:close/>
                </a:path>
              </a:pathLst>
            </a:custGeom>
            <a:blipFill>
              <a:blip r:embed="rId3">
                <a:alphaModFix amt="0"/>
              </a:blip>
              <a:stretch>
                <a:fillRect l="-78303" r="-78303"/>
              </a:stretch>
            </a:blipFill>
          </p:spPr>
          <p:txBody>
            <a:bodyPr/>
            <a:lstStyle/>
            <a:p>
              <a:endParaRPr lang="ko-KR" altLang="en-US"/>
            </a:p>
          </p:txBody>
        </p:sp>
        <p:sp>
          <p:nvSpPr>
            <p:cNvPr id="11" name="TextBox 11"/>
            <p:cNvSpPr txBox="1"/>
            <p:nvPr/>
          </p:nvSpPr>
          <p:spPr>
            <a:xfrm>
              <a:off x="0" y="-9525"/>
              <a:ext cx="1219200" cy="1228725"/>
            </a:xfrm>
            <a:prstGeom prst="rect">
              <a:avLst/>
            </a:prstGeom>
          </p:spPr>
          <p:txBody>
            <a:bodyPr lIns="0" tIns="0" rIns="0" bIns="0" rtlCol="0" anchor="ctr"/>
            <a:lstStyle/>
            <a:p>
              <a:pPr algn="ctr">
                <a:lnSpc>
                  <a:spcPts val="3840"/>
                </a:lnSpc>
              </a:pPr>
              <a:r>
                <a:rPr lang="en-US" sz="3200" b="1">
                  <a:solidFill>
                    <a:srgbClr val="8B0000"/>
                  </a:solidFill>
                  <a:latin typeface="프리텐다드 Bold"/>
                  <a:ea typeface="프리텐다드 Bold"/>
                  <a:cs typeface="프리텐다드 Bold"/>
                  <a:sym typeface="프리텐다드 Bold"/>
                </a:rPr>
                <a:t>1</a:t>
              </a:r>
            </a:p>
          </p:txBody>
        </p:sp>
      </p:grpSp>
      <p:grpSp>
        <p:nvGrpSpPr>
          <p:cNvPr id="12" name="Group 12"/>
          <p:cNvGrpSpPr/>
          <p:nvPr/>
        </p:nvGrpSpPr>
        <p:grpSpPr>
          <a:xfrm>
            <a:off x="3017520" y="3072384"/>
            <a:ext cx="13898880" cy="654447"/>
            <a:chOff x="0" y="0"/>
            <a:chExt cx="18531840" cy="872596"/>
          </a:xfrm>
        </p:grpSpPr>
        <p:sp>
          <p:nvSpPr>
            <p:cNvPr id="13" name="Freeform 13"/>
            <p:cNvSpPr/>
            <p:nvPr/>
          </p:nvSpPr>
          <p:spPr>
            <a:xfrm>
              <a:off x="0" y="0"/>
              <a:ext cx="18531839" cy="872596"/>
            </a:xfrm>
            <a:custGeom>
              <a:avLst/>
              <a:gdLst/>
              <a:ahLst/>
              <a:cxnLst/>
              <a:rect l="l" t="t" r="r" b="b"/>
              <a:pathLst>
                <a:path w="18531839" h="872596">
                  <a:moveTo>
                    <a:pt x="0" y="0"/>
                  </a:moveTo>
                  <a:lnTo>
                    <a:pt x="18531839" y="0"/>
                  </a:lnTo>
                  <a:lnTo>
                    <a:pt x="18531839" y="872596"/>
                  </a:lnTo>
                  <a:lnTo>
                    <a:pt x="0" y="872596"/>
                  </a:lnTo>
                  <a:close/>
                </a:path>
              </a:pathLst>
            </a:custGeom>
            <a:blipFill>
              <a:blip r:embed="rId3">
                <a:alphaModFix amt="0"/>
              </a:blip>
              <a:stretch>
                <a:fillRect t="-366310" b="-361320"/>
              </a:stretch>
            </a:blipFill>
          </p:spPr>
          <p:txBody>
            <a:bodyPr/>
            <a:lstStyle/>
            <a:p>
              <a:endParaRPr lang="ko-KR" altLang="en-US"/>
            </a:p>
          </p:txBody>
        </p:sp>
        <p:sp>
          <p:nvSpPr>
            <p:cNvPr id="14" name="TextBox 14"/>
            <p:cNvSpPr txBox="1"/>
            <p:nvPr/>
          </p:nvSpPr>
          <p:spPr>
            <a:xfrm>
              <a:off x="0" y="-9525"/>
              <a:ext cx="18531840" cy="882121"/>
            </a:xfrm>
            <a:prstGeom prst="rect">
              <a:avLst/>
            </a:prstGeom>
          </p:spPr>
          <p:txBody>
            <a:bodyPr lIns="0" tIns="0" rIns="0" bIns="0" rtlCol="0" anchor="ctr"/>
            <a:lstStyle/>
            <a:p>
              <a:pPr algn="l">
                <a:lnSpc>
                  <a:spcPts val="3840"/>
                </a:lnSpc>
              </a:pPr>
              <a:r>
                <a:rPr lang="en-US" sz="3200" b="1">
                  <a:solidFill>
                    <a:srgbClr val="FFFFFF"/>
                  </a:solidFill>
                  <a:latin typeface="프리텐다드 Bold"/>
                  <a:ea typeface="프리텐다드 Bold"/>
                  <a:cs typeface="프리텐다드 Bold"/>
                  <a:sym typeface="프리텐다드 Bold"/>
                </a:rPr>
                <a:t>제약에서 출발</a:t>
              </a:r>
            </a:p>
          </p:txBody>
        </p:sp>
      </p:grpSp>
      <p:sp>
        <p:nvSpPr>
          <p:cNvPr id="15" name="TextBox 15"/>
          <p:cNvSpPr txBox="1"/>
          <p:nvPr/>
        </p:nvSpPr>
        <p:spPr>
          <a:xfrm>
            <a:off x="3017520" y="3684651"/>
            <a:ext cx="13898880" cy="352425"/>
          </a:xfrm>
          <a:prstGeom prst="rect">
            <a:avLst/>
          </a:prstGeom>
        </p:spPr>
        <p:txBody>
          <a:bodyPr lIns="0" tIns="0" rIns="0" bIns="0" rtlCol="0" anchor="t">
            <a:spAutoFit/>
          </a:bodyPr>
          <a:lstStyle/>
          <a:p>
            <a:pPr algn="l">
              <a:lnSpc>
                <a:spcPts val="2760"/>
              </a:lnSpc>
            </a:pPr>
            <a:r>
              <a:rPr lang="en-US" sz="2300">
                <a:solidFill>
                  <a:srgbClr val="FFFFFF"/>
                </a:solidFill>
                <a:latin typeface="프리텐다드"/>
                <a:ea typeface="프리텐다드"/>
                <a:cs typeface="프리텐다드"/>
                <a:sym typeface="프리텐다드"/>
              </a:rPr>
              <a:t>4코어 CPU · 2,500초 안에서 끝까지 돌아가는 구조. 봉인 500장 86.2%, 한도의 55 ~ 79%</a:t>
            </a:r>
          </a:p>
        </p:txBody>
      </p:sp>
      <p:grpSp>
        <p:nvGrpSpPr>
          <p:cNvPr id="16" name="Group 16"/>
          <p:cNvGrpSpPr/>
          <p:nvPr/>
        </p:nvGrpSpPr>
        <p:grpSpPr>
          <a:xfrm>
            <a:off x="1724663" y="5071367"/>
            <a:ext cx="939803" cy="939803"/>
            <a:chOff x="0" y="0"/>
            <a:chExt cx="1253071" cy="1253071"/>
          </a:xfrm>
        </p:grpSpPr>
        <p:sp>
          <p:nvSpPr>
            <p:cNvPr id="17" name="Freeform 17"/>
            <p:cNvSpPr/>
            <p:nvPr/>
          </p:nvSpPr>
          <p:spPr>
            <a:xfrm>
              <a:off x="0" y="0"/>
              <a:ext cx="1253109" cy="1253109"/>
            </a:xfrm>
            <a:custGeom>
              <a:avLst/>
              <a:gdLst/>
              <a:ahLst/>
              <a:cxnLst/>
              <a:rect l="l" t="t" r="r" b="b"/>
              <a:pathLst>
                <a:path w="1253109" h="1253109">
                  <a:moveTo>
                    <a:pt x="0" y="626491"/>
                  </a:moveTo>
                  <a:cubicBezTo>
                    <a:pt x="0" y="280543"/>
                    <a:pt x="280543" y="0"/>
                    <a:pt x="626491" y="0"/>
                  </a:cubicBezTo>
                  <a:cubicBezTo>
                    <a:pt x="972439" y="0"/>
                    <a:pt x="1253109" y="280543"/>
                    <a:pt x="1253109" y="626491"/>
                  </a:cubicBezTo>
                  <a:cubicBezTo>
                    <a:pt x="1253109" y="972439"/>
                    <a:pt x="972566" y="1253109"/>
                    <a:pt x="626491" y="1253109"/>
                  </a:cubicBezTo>
                  <a:cubicBezTo>
                    <a:pt x="280416" y="1253109"/>
                    <a:pt x="0" y="972566"/>
                    <a:pt x="0" y="626491"/>
                  </a:cubicBezTo>
                  <a:close/>
                </a:path>
              </a:pathLst>
            </a:custGeom>
            <a:solidFill>
              <a:srgbClr val="FFFFFF"/>
            </a:solidFill>
            <a:ln w="25400" cap="sq">
              <a:solidFill>
                <a:srgbClr val="FFFFFF"/>
              </a:solidFill>
              <a:prstDash val="solid"/>
              <a:miter/>
            </a:ln>
          </p:spPr>
          <p:txBody>
            <a:bodyPr/>
            <a:lstStyle/>
            <a:p>
              <a:endParaRPr lang="ko-KR" altLang="en-US"/>
            </a:p>
          </p:txBody>
        </p:sp>
      </p:grpSp>
      <p:grpSp>
        <p:nvGrpSpPr>
          <p:cNvPr id="18" name="Group 18"/>
          <p:cNvGrpSpPr/>
          <p:nvPr/>
        </p:nvGrpSpPr>
        <p:grpSpPr>
          <a:xfrm>
            <a:off x="1737360" y="5084064"/>
            <a:ext cx="914400" cy="914400"/>
            <a:chOff x="0" y="0"/>
            <a:chExt cx="1219200" cy="1219200"/>
          </a:xfrm>
        </p:grpSpPr>
        <p:sp>
          <p:nvSpPr>
            <p:cNvPr id="19" name="Freeform 19"/>
            <p:cNvSpPr/>
            <p:nvPr/>
          </p:nvSpPr>
          <p:spPr>
            <a:xfrm>
              <a:off x="0" y="0"/>
              <a:ext cx="1219200" cy="1219200"/>
            </a:xfrm>
            <a:custGeom>
              <a:avLst/>
              <a:gdLst/>
              <a:ahLst/>
              <a:cxnLst/>
              <a:rect l="l" t="t" r="r" b="b"/>
              <a:pathLst>
                <a:path w="1219200" h="1219200">
                  <a:moveTo>
                    <a:pt x="0" y="0"/>
                  </a:moveTo>
                  <a:lnTo>
                    <a:pt x="1219200" y="0"/>
                  </a:lnTo>
                  <a:lnTo>
                    <a:pt x="1219200" y="1219200"/>
                  </a:lnTo>
                  <a:lnTo>
                    <a:pt x="0" y="1219200"/>
                  </a:lnTo>
                  <a:close/>
                </a:path>
              </a:pathLst>
            </a:custGeom>
            <a:blipFill>
              <a:blip r:embed="rId3">
                <a:alphaModFix amt="0"/>
              </a:blip>
              <a:stretch>
                <a:fillRect l="-78303" r="-78303"/>
              </a:stretch>
            </a:blipFill>
          </p:spPr>
          <p:txBody>
            <a:bodyPr/>
            <a:lstStyle/>
            <a:p>
              <a:endParaRPr lang="ko-KR" altLang="en-US"/>
            </a:p>
          </p:txBody>
        </p:sp>
        <p:sp>
          <p:nvSpPr>
            <p:cNvPr id="20" name="TextBox 20"/>
            <p:cNvSpPr txBox="1"/>
            <p:nvPr/>
          </p:nvSpPr>
          <p:spPr>
            <a:xfrm>
              <a:off x="0" y="-9525"/>
              <a:ext cx="1219200" cy="1228725"/>
            </a:xfrm>
            <a:prstGeom prst="rect">
              <a:avLst/>
            </a:prstGeom>
          </p:spPr>
          <p:txBody>
            <a:bodyPr lIns="0" tIns="0" rIns="0" bIns="0" rtlCol="0" anchor="ctr"/>
            <a:lstStyle/>
            <a:p>
              <a:pPr algn="ctr">
                <a:lnSpc>
                  <a:spcPts val="3840"/>
                </a:lnSpc>
              </a:pPr>
              <a:r>
                <a:rPr lang="en-US" sz="3200" b="1">
                  <a:solidFill>
                    <a:srgbClr val="8B0000"/>
                  </a:solidFill>
                  <a:latin typeface="프리텐다드 Bold"/>
                  <a:ea typeface="프리텐다드 Bold"/>
                  <a:cs typeface="프리텐다드 Bold"/>
                  <a:sym typeface="프리텐다드 Bold"/>
                </a:rPr>
                <a:t>2</a:t>
              </a:r>
            </a:p>
          </p:txBody>
        </p:sp>
      </p:grpSp>
      <p:grpSp>
        <p:nvGrpSpPr>
          <p:cNvPr id="21" name="Group 21"/>
          <p:cNvGrpSpPr/>
          <p:nvPr/>
        </p:nvGrpSpPr>
        <p:grpSpPr>
          <a:xfrm>
            <a:off x="3017520" y="4992624"/>
            <a:ext cx="13898880" cy="654447"/>
            <a:chOff x="0" y="0"/>
            <a:chExt cx="18531840" cy="872596"/>
          </a:xfrm>
        </p:grpSpPr>
        <p:sp>
          <p:nvSpPr>
            <p:cNvPr id="22" name="Freeform 22"/>
            <p:cNvSpPr/>
            <p:nvPr/>
          </p:nvSpPr>
          <p:spPr>
            <a:xfrm>
              <a:off x="0" y="0"/>
              <a:ext cx="18531839" cy="872596"/>
            </a:xfrm>
            <a:custGeom>
              <a:avLst/>
              <a:gdLst/>
              <a:ahLst/>
              <a:cxnLst/>
              <a:rect l="l" t="t" r="r" b="b"/>
              <a:pathLst>
                <a:path w="18531839" h="872596">
                  <a:moveTo>
                    <a:pt x="0" y="0"/>
                  </a:moveTo>
                  <a:lnTo>
                    <a:pt x="18531839" y="0"/>
                  </a:lnTo>
                  <a:lnTo>
                    <a:pt x="18531839" y="872596"/>
                  </a:lnTo>
                  <a:lnTo>
                    <a:pt x="0" y="872596"/>
                  </a:lnTo>
                  <a:close/>
                </a:path>
              </a:pathLst>
            </a:custGeom>
            <a:blipFill>
              <a:blip r:embed="rId3">
                <a:alphaModFix amt="0"/>
              </a:blip>
              <a:stretch>
                <a:fillRect t="-366310" b="-361320"/>
              </a:stretch>
            </a:blipFill>
          </p:spPr>
          <p:txBody>
            <a:bodyPr/>
            <a:lstStyle/>
            <a:p>
              <a:endParaRPr lang="ko-KR" altLang="en-US"/>
            </a:p>
          </p:txBody>
        </p:sp>
        <p:sp>
          <p:nvSpPr>
            <p:cNvPr id="23" name="TextBox 23"/>
            <p:cNvSpPr txBox="1"/>
            <p:nvPr/>
          </p:nvSpPr>
          <p:spPr>
            <a:xfrm>
              <a:off x="0" y="-9525"/>
              <a:ext cx="18531840" cy="882121"/>
            </a:xfrm>
            <a:prstGeom prst="rect">
              <a:avLst/>
            </a:prstGeom>
          </p:spPr>
          <p:txBody>
            <a:bodyPr lIns="0" tIns="0" rIns="0" bIns="0" rtlCol="0" anchor="ctr"/>
            <a:lstStyle/>
            <a:p>
              <a:pPr algn="l">
                <a:lnSpc>
                  <a:spcPts val="3840"/>
                </a:lnSpc>
              </a:pPr>
              <a:r>
                <a:rPr lang="en-US" sz="3200" b="1">
                  <a:solidFill>
                    <a:srgbClr val="FFFFFF"/>
                  </a:solidFill>
                  <a:latin typeface="프리텐다드 Bold"/>
                  <a:ea typeface="프리텐다드 Bold"/>
                  <a:cs typeface="프리텐다드 Bold"/>
                  <a:sym typeface="프리텐다드 Bold"/>
                </a:rPr>
                <a:t>검증을 먼저</a:t>
              </a:r>
            </a:p>
          </p:txBody>
        </p:sp>
      </p:grpSp>
      <p:sp>
        <p:nvSpPr>
          <p:cNvPr id="24" name="TextBox 24"/>
          <p:cNvSpPr txBox="1"/>
          <p:nvPr/>
        </p:nvSpPr>
        <p:spPr>
          <a:xfrm>
            <a:off x="3017520" y="5604891"/>
            <a:ext cx="13898880" cy="352425"/>
          </a:xfrm>
          <a:prstGeom prst="rect">
            <a:avLst/>
          </a:prstGeom>
        </p:spPr>
        <p:txBody>
          <a:bodyPr lIns="0" tIns="0" rIns="0" bIns="0" rtlCol="0" anchor="t">
            <a:spAutoFit/>
          </a:bodyPr>
          <a:lstStyle/>
          <a:p>
            <a:pPr algn="l">
              <a:lnSpc>
                <a:spcPts val="2760"/>
              </a:lnSpc>
            </a:pPr>
            <a:r>
              <a:rPr lang="en-US" sz="2300">
                <a:solidFill>
                  <a:srgbClr val="FFFFFF"/>
                </a:solidFill>
                <a:latin typeface="프리텐다드"/>
                <a:ea typeface="프리텐다드"/>
                <a:cs typeface="프리텐다드"/>
                <a:sym typeface="프리텐다드"/>
              </a:rPr>
              <a:t>전수 라벨링, 봉인 시험지, 회복·퇴보 기준. 점수가 올라도 퇴보가 크면 버렸습니다</a:t>
            </a:r>
          </a:p>
        </p:txBody>
      </p:sp>
      <p:grpSp>
        <p:nvGrpSpPr>
          <p:cNvPr id="25" name="Group 25"/>
          <p:cNvGrpSpPr/>
          <p:nvPr/>
        </p:nvGrpSpPr>
        <p:grpSpPr>
          <a:xfrm>
            <a:off x="1724663" y="6991607"/>
            <a:ext cx="939803" cy="939803"/>
            <a:chOff x="0" y="0"/>
            <a:chExt cx="1253071" cy="1253071"/>
          </a:xfrm>
        </p:grpSpPr>
        <p:sp>
          <p:nvSpPr>
            <p:cNvPr id="26" name="Freeform 26"/>
            <p:cNvSpPr/>
            <p:nvPr/>
          </p:nvSpPr>
          <p:spPr>
            <a:xfrm>
              <a:off x="0" y="0"/>
              <a:ext cx="1253109" cy="1253109"/>
            </a:xfrm>
            <a:custGeom>
              <a:avLst/>
              <a:gdLst/>
              <a:ahLst/>
              <a:cxnLst/>
              <a:rect l="l" t="t" r="r" b="b"/>
              <a:pathLst>
                <a:path w="1253109" h="1253109">
                  <a:moveTo>
                    <a:pt x="0" y="626491"/>
                  </a:moveTo>
                  <a:cubicBezTo>
                    <a:pt x="0" y="280543"/>
                    <a:pt x="280543" y="0"/>
                    <a:pt x="626491" y="0"/>
                  </a:cubicBezTo>
                  <a:cubicBezTo>
                    <a:pt x="972439" y="0"/>
                    <a:pt x="1253109" y="280543"/>
                    <a:pt x="1253109" y="626491"/>
                  </a:cubicBezTo>
                  <a:cubicBezTo>
                    <a:pt x="1253109" y="972439"/>
                    <a:pt x="972566" y="1253109"/>
                    <a:pt x="626491" y="1253109"/>
                  </a:cubicBezTo>
                  <a:cubicBezTo>
                    <a:pt x="280416" y="1253109"/>
                    <a:pt x="0" y="972566"/>
                    <a:pt x="0" y="626491"/>
                  </a:cubicBezTo>
                  <a:close/>
                </a:path>
              </a:pathLst>
            </a:custGeom>
            <a:solidFill>
              <a:srgbClr val="FFFFFF"/>
            </a:solidFill>
            <a:ln w="25400" cap="sq">
              <a:solidFill>
                <a:srgbClr val="FFFFFF"/>
              </a:solidFill>
              <a:prstDash val="solid"/>
              <a:miter/>
            </a:ln>
          </p:spPr>
          <p:txBody>
            <a:bodyPr/>
            <a:lstStyle/>
            <a:p>
              <a:endParaRPr lang="ko-KR" altLang="en-US"/>
            </a:p>
          </p:txBody>
        </p:sp>
      </p:grpSp>
      <p:grpSp>
        <p:nvGrpSpPr>
          <p:cNvPr id="27" name="Group 27"/>
          <p:cNvGrpSpPr/>
          <p:nvPr/>
        </p:nvGrpSpPr>
        <p:grpSpPr>
          <a:xfrm>
            <a:off x="1737360" y="7004304"/>
            <a:ext cx="914400" cy="914400"/>
            <a:chOff x="0" y="0"/>
            <a:chExt cx="1219200" cy="1219200"/>
          </a:xfrm>
        </p:grpSpPr>
        <p:sp>
          <p:nvSpPr>
            <p:cNvPr id="28" name="Freeform 28"/>
            <p:cNvSpPr/>
            <p:nvPr/>
          </p:nvSpPr>
          <p:spPr>
            <a:xfrm>
              <a:off x="0" y="0"/>
              <a:ext cx="1219200" cy="1219200"/>
            </a:xfrm>
            <a:custGeom>
              <a:avLst/>
              <a:gdLst/>
              <a:ahLst/>
              <a:cxnLst/>
              <a:rect l="l" t="t" r="r" b="b"/>
              <a:pathLst>
                <a:path w="1219200" h="1219200">
                  <a:moveTo>
                    <a:pt x="0" y="0"/>
                  </a:moveTo>
                  <a:lnTo>
                    <a:pt x="1219200" y="0"/>
                  </a:lnTo>
                  <a:lnTo>
                    <a:pt x="1219200" y="1219200"/>
                  </a:lnTo>
                  <a:lnTo>
                    <a:pt x="0" y="1219200"/>
                  </a:lnTo>
                  <a:close/>
                </a:path>
              </a:pathLst>
            </a:custGeom>
            <a:blipFill>
              <a:blip r:embed="rId3">
                <a:alphaModFix amt="0"/>
              </a:blip>
              <a:stretch>
                <a:fillRect l="-78303" r="-78303"/>
              </a:stretch>
            </a:blipFill>
          </p:spPr>
          <p:txBody>
            <a:bodyPr/>
            <a:lstStyle/>
            <a:p>
              <a:endParaRPr lang="ko-KR" altLang="en-US"/>
            </a:p>
          </p:txBody>
        </p:sp>
        <p:sp>
          <p:nvSpPr>
            <p:cNvPr id="29" name="TextBox 29"/>
            <p:cNvSpPr txBox="1"/>
            <p:nvPr/>
          </p:nvSpPr>
          <p:spPr>
            <a:xfrm>
              <a:off x="0" y="-9525"/>
              <a:ext cx="1219200" cy="1228725"/>
            </a:xfrm>
            <a:prstGeom prst="rect">
              <a:avLst/>
            </a:prstGeom>
          </p:spPr>
          <p:txBody>
            <a:bodyPr lIns="0" tIns="0" rIns="0" bIns="0" rtlCol="0" anchor="ctr"/>
            <a:lstStyle/>
            <a:p>
              <a:pPr algn="ctr">
                <a:lnSpc>
                  <a:spcPts val="3840"/>
                </a:lnSpc>
              </a:pPr>
              <a:r>
                <a:rPr lang="en-US" sz="3200" b="1">
                  <a:solidFill>
                    <a:srgbClr val="8B0000"/>
                  </a:solidFill>
                  <a:latin typeface="프리텐다드 Bold"/>
                  <a:ea typeface="프리텐다드 Bold"/>
                  <a:cs typeface="프리텐다드 Bold"/>
                  <a:sym typeface="프리텐다드 Bold"/>
                </a:rPr>
                <a:t>3</a:t>
              </a:r>
            </a:p>
          </p:txBody>
        </p:sp>
      </p:grpSp>
      <p:grpSp>
        <p:nvGrpSpPr>
          <p:cNvPr id="30" name="Group 30"/>
          <p:cNvGrpSpPr/>
          <p:nvPr/>
        </p:nvGrpSpPr>
        <p:grpSpPr>
          <a:xfrm>
            <a:off x="3017520" y="6912864"/>
            <a:ext cx="13898880" cy="654447"/>
            <a:chOff x="0" y="0"/>
            <a:chExt cx="18531840" cy="872596"/>
          </a:xfrm>
        </p:grpSpPr>
        <p:sp>
          <p:nvSpPr>
            <p:cNvPr id="31" name="Freeform 31"/>
            <p:cNvSpPr/>
            <p:nvPr/>
          </p:nvSpPr>
          <p:spPr>
            <a:xfrm>
              <a:off x="0" y="0"/>
              <a:ext cx="18531839" cy="872596"/>
            </a:xfrm>
            <a:custGeom>
              <a:avLst/>
              <a:gdLst/>
              <a:ahLst/>
              <a:cxnLst/>
              <a:rect l="l" t="t" r="r" b="b"/>
              <a:pathLst>
                <a:path w="18531839" h="872596">
                  <a:moveTo>
                    <a:pt x="0" y="0"/>
                  </a:moveTo>
                  <a:lnTo>
                    <a:pt x="18531839" y="0"/>
                  </a:lnTo>
                  <a:lnTo>
                    <a:pt x="18531839" y="872596"/>
                  </a:lnTo>
                  <a:lnTo>
                    <a:pt x="0" y="872596"/>
                  </a:lnTo>
                  <a:close/>
                </a:path>
              </a:pathLst>
            </a:custGeom>
            <a:blipFill>
              <a:blip r:embed="rId3">
                <a:alphaModFix amt="0"/>
              </a:blip>
              <a:stretch>
                <a:fillRect t="-366310" b="-361320"/>
              </a:stretch>
            </a:blipFill>
          </p:spPr>
          <p:txBody>
            <a:bodyPr/>
            <a:lstStyle/>
            <a:p>
              <a:endParaRPr lang="ko-KR" altLang="en-US"/>
            </a:p>
          </p:txBody>
        </p:sp>
        <p:sp>
          <p:nvSpPr>
            <p:cNvPr id="32" name="TextBox 32"/>
            <p:cNvSpPr txBox="1"/>
            <p:nvPr/>
          </p:nvSpPr>
          <p:spPr>
            <a:xfrm>
              <a:off x="0" y="-9525"/>
              <a:ext cx="18531840" cy="882121"/>
            </a:xfrm>
            <a:prstGeom prst="rect">
              <a:avLst/>
            </a:prstGeom>
          </p:spPr>
          <p:txBody>
            <a:bodyPr lIns="0" tIns="0" rIns="0" bIns="0" rtlCol="0" anchor="ctr"/>
            <a:lstStyle/>
            <a:p>
              <a:pPr algn="l">
                <a:lnSpc>
                  <a:spcPts val="3840"/>
                </a:lnSpc>
              </a:pPr>
              <a:r>
                <a:rPr lang="en-US" sz="3200" b="1">
                  <a:solidFill>
                    <a:srgbClr val="FFFFFF"/>
                  </a:solidFill>
                  <a:latin typeface="프리텐다드 Bold"/>
                  <a:ea typeface="프리텐다드 Bold"/>
                  <a:cs typeface="프리텐다드 Bold"/>
                  <a:sym typeface="프리텐다드 Bold"/>
                </a:rPr>
                <a:t>틀리는 방식을 설계</a:t>
              </a:r>
            </a:p>
          </p:txBody>
        </p:sp>
      </p:grpSp>
      <p:sp>
        <p:nvSpPr>
          <p:cNvPr id="33" name="TextBox 33"/>
          <p:cNvSpPr txBox="1"/>
          <p:nvPr/>
        </p:nvSpPr>
        <p:spPr>
          <a:xfrm>
            <a:off x="3017520" y="7525131"/>
            <a:ext cx="13898880" cy="352425"/>
          </a:xfrm>
          <a:prstGeom prst="rect">
            <a:avLst/>
          </a:prstGeom>
        </p:spPr>
        <p:txBody>
          <a:bodyPr lIns="0" tIns="0" rIns="0" bIns="0" rtlCol="0" anchor="t">
            <a:spAutoFit/>
          </a:bodyPr>
          <a:lstStyle/>
          <a:p>
            <a:pPr algn="l">
              <a:lnSpc>
                <a:spcPts val="2760"/>
              </a:lnSpc>
            </a:pPr>
            <a:r>
              <a:rPr lang="en-US" sz="2300" dirty="0" err="1">
                <a:solidFill>
                  <a:srgbClr val="FFFFFF"/>
                </a:solidFill>
                <a:latin typeface="프리텐다드"/>
                <a:ea typeface="프리텐다드"/>
                <a:cs typeface="프리텐다드"/>
                <a:sym typeface="프리텐다드"/>
              </a:rPr>
              <a:t>확신이</a:t>
            </a:r>
            <a:r>
              <a:rPr lang="en-US" sz="2300" dirty="0">
                <a:solidFill>
                  <a:srgbClr val="FFFFFF"/>
                </a:solidFill>
                <a:latin typeface="프리텐다드"/>
                <a:ea typeface="프리텐다드"/>
                <a:cs typeface="프리텐다드"/>
                <a:sym typeface="프리텐다드"/>
              </a:rPr>
              <a:t> </a:t>
            </a:r>
            <a:r>
              <a:rPr lang="en-US" sz="2300" dirty="0" err="1">
                <a:solidFill>
                  <a:srgbClr val="FFFFFF"/>
                </a:solidFill>
                <a:latin typeface="프리텐다드"/>
                <a:ea typeface="프리텐다드"/>
                <a:cs typeface="프리텐다드"/>
                <a:sym typeface="프리텐다드"/>
              </a:rPr>
              <a:t>없으면</a:t>
            </a:r>
            <a:r>
              <a:rPr lang="en-US" sz="2300" dirty="0">
                <a:solidFill>
                  <a:srgbClr val="FFFFFF"/>
                </a:solidFill>
                <a:latin typeface="프리텐다드"/>
                <a:ea typeface="프리텐다드"/>
                <a:cs typeface="프리텐다드"/>
                <a:sym typeface="프리텐다드"/>
              </a:rPr>
              <a:t> NONE, </a:t>
            </a:r>
            <a:r>
              <a:rPr lang="en-US" sz="2300" dirty="0" err="1">
                <a:solidFill>
                  <a:srgbClr val="FFFFFF"/>
                </a:solidFill>
                <a:latin typeface="프리텐다드"/>
                <a:ea typeface="프리텐다드"/>
                <a:cs typeface="프리텐다드"/>
                <a:sym typeface="프리텐다드"/>
              </a:rPr>
              <a:t>판매자가</a:t>
            </a:r>
            <a:r>
              <a:rPr lang="en-US" sz="2300" dirty="0">
                <a:solidFill>
                  <a:srgbClr val="FFFFFF"/>
                </a:solidFill>
                <a:latin typeface="프리텐다드"/>
                <a:ea typeface="프리텐다드"/>
                <a:cs typeface="프리텐다드"/>
                <a:sym typeface="프리텐다드"/>
              </a:rPr>
              <a:t> </a:t>
            </a:r>
            <a:r>
              <a:rPr lang="en-US" sz="2300" dirty="0" err="1">
                <a:solidFill>
                  <a:srgbClr val="FFFFFF"/>
                </a:solidFill>
                <a:latin typeface="프리텐다드"/>
                <a:ea typeface="프리텐다드"/>
                <a:cs typeface="프리텐다드"/>
                <a:sym typeface="프리텐다드"/>
              </a:rPr>
              <a:t>직접</a:t>
            </a:r>
            <a:r>
              <a:rPr lang="en-US" sz="2300" dirty="0">
                <a:solidFill>
                  <a:srgbClr val="FFFFFF"/>
                </a:solidFill>
                <a:latin typeface="프리텐다드"/>
                <a:ea typeface="프리텐다드"/>
                <a:cs typeface="프리텐다드"/>
                <a:sym typeface="프리텐다드"/>
              </a:rPr>
              <a:t> </a:t>
            </a:r>
            <a:r>
              <a:rPr lang="en-US" sz="2300" dirty="0" err="1">
                <a:solidFill>
                  <a:srgbClr val="FFFFFF"/>
                </a:solidFill>
                <a:latin typeface="프리텐다드"/>
                <a:ea typeface="프리텐다드"/>
                <a:cs typeface="프리텐다드"/>
                <a:sym typeface="프리텐다드"/>
              </a:rPr>
              <a:t>입력</a:t>
            </a:r>
            <a:r>
              <a:rPr lang="en-US" sz="2300" dirty="0">
                <a:solidFill>
                  <a:srgbClr val="FFFFFF"/>
                </a:solidFill>
                <a:latin typeface="프리텐다드"/>
                <a:ea typeface="프리텐다드"/>
                <a:cs typeface="프리텐다드"/>
                <a:sym typeface="프리텐다드"/>
              </a:rPr>
              <a:t>. </a:t>
            </a:r>
            <a:r>
              <a:rPr lang="ko-KR" altLang="en-US" sz="2300" dirty="0">
                <a:solidFill>
                  <a:srgbClr val="FFFFFF"/>
                </a:solidFill>
                <a:latin typeface="프리텐다드"/>
                <a:ea typeface="프리텐다드"/>
                <a:cs typeface="프리텐다드"/>
                <a:sym typeface="프리텐다드"/>
              </a:rPr>
              <a:t> 판매자 확인을 전제로</a:t>
            </a:r>
            <a:r>
              <a:rPr lang="en-US" altLang="ko-KR" sz="2300" dirty="0">
                <a:solidFill>
                  <a:srgbClr val="FFFFFF"/>
                </a:solidFill>
                <a:latin typeface="프리텐다드"/>
                <a:ea typeface="프리텐다드"/>
                <a:cs typeface="프리텐다드"/>
                <a:sym typeface="프리텐다드"/>
              </a:rPr>
              <a:t>,</a:t>
            </a:r>
            <a:r>
              <a:rPr lang="ko-KR" altLang="en-US" sz="2300" dirty="0">
                <a:solidFill>
                  <a:srgbClr val="FFFFFF"/>
                </a:solidFill>
                <a:latin typeface="프리텐다드"/>
                <a:ea typeface="프리텐다드"/>
                <a:cs typeface="프리텐다드"/>
                <a:sym typeface="프리텐다드"/>
              </a:rPr>
              <a:t> 정확도는 안전성이 아니라 자동 입력 비율이 됩니다</a:t>
            </a:r>
            <a:r>
              <a:rPr lang="en-US" altLang="ko-KR" sz="2300" dirty="0">
                <a:solidFill>
                  <a:srgbClr val="FFFFFF"/>
                </a:solidFill>
                <a:latin typeface="프리텐다드"/>
                <a:ea typeface="프리텐다드"/>
                <a:cs typeface="프리텐다드"/>
                <a:sym typeface="프리텐다드"/>
              </a:rPr>
              <a:t>.</a:t>
            </a:r>
            <a:endParaRPr lang="en-US" sz="2300" dirty="0">
              <a:solidFill>
                <a:srgbClr val="FFFFFF"/>
              </a:solidFill>
              <a:latin typeface="프리텐다드"/>
              <a:ea typeface="프리텐다드"/>
              <a:cs typeface="프리텐다드"/>
              <a:sym typeface="프리텐다드"/>
            </a:endParaRPr>
          </a:p>
        </p:txBody>
      </p:sp>
      <p:sp>
        <p:nvSpPr>
          <p:cNvPr id="34" name="TextBox 34"/>
          <p:cNvSpPr txBox="1"/>
          <p:nvPr/>
        </p:nvSpPr>
        <p:spPr>
          <a:xfrm>
            <a:off x="1737360" y="9043035"/>
            <a:ext cx="15179040" cy="342900"/>
          </a:xfrm>
          <a:prstGeom prst="rect">
            <a:avLst/>
          </a:prstGeom>
        </p:spPr>
        <p:txBody>
          <a:bodyPr lIns="0" tIns="0" rIns="0" bIns="0" rtlCol="0" anchor="t">
            <a:spAutoFit/>
          </a:bodyPr>
          <a:lstStyle/>
          <a:p>
            <a:pPr algn="l">
              <a:lnSpc>
                <a:spcPts val="2639"/>
              </a:lnSpc>
            </a:pPr>
            <a:r>
              <a:rPr lang="en-US" sz="2199" b="1">
                <a:solidFill>
                  <a:srgbClr val="FFFFFF"/>
                </a:solidFill>
                <a:latin typeface="프리텐다드 Bold"/>
                <a:ea typeface="프리텐다드 Bold"/>
                <a:cs typeface="프리텐다드 Bold"/>
                <a:sym typeface="프리텐다드 Bold"/>
              </a:rPr>
              <a:t>감사합니다  |  github.com/LEEbyeongchul/itda3-CODE-subway</a:t>
            </a:r>
          </a:p>
        </p:txBody>
      </p:sp>
      <p:grpSp>
        <p:nvGrpSpPr>
          <p:cNvPr id="35" name="Group 35"/>
          <p:cNvGrpSpPr/>
          <p:nvPr/>
        </p:nvGrpSpPr>
        <p:grpSpPr>
          <a:xfrm>
            <a:off x="17007840" y="219456"/>
            <a:ext cx="914400" cy="457200"/>
            <a:chOff x="0" y="0"/>
            <a:chExt cx="1219200" cy="609600"/>
          </a:xfrm>
        </p:grpSpPr>
        <p:sp>
          <p:nvSpPr>
            <p:cNvPr id="36" name="Freeform 36"/>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37" name="TextBox 37"/>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FFFFFF"/>
                  </a:solidFill>
                  <a:latin typeface="프리텐다드"/>
                  <a:ea typeface="프리텐다드"/>
                  <a:cs typeface="프리텐다드"/>
                  <a:sym typeface="프리텐다드"/>
                </a:rPr>
                <a:t>22</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5943" y="535943"/>
            <a:ext cx="153419" cy="756923"/>
            <a:chOff x="0" y="0"/>
            <a:chExt cx="204559" cy="1009231"/>
          </a:xfrm>
        </p:grpSpPr>
        <p:sp>
          <p:nvSpPr>
            <p:cNvPr id="3" name="Freeform 3"/>
            <p:cNvSpPr/>
            <p:nvPr/>
          </p:nvSpPr>
          <p:spPr>
            <a:xfrm>
              <a:off x="0" y="0"/>
              <a:ext cx="204597" cy="1009269"/>
            </a:xfrm>
            <a:custGeom>
              <a:avLst/>
              <a:gdLst/>
              <a:ahLst/>
              <a:cxnLst/>
              <a:rect l="l" t="t" r="r" b="b"/>
              <a:pathLst>
                <a:path w="204597" h="1009269">
                  <a:moveTo>
                    <a:pt x="0" y="0"/>
                  </a:moveTo>
                  <a:lnTo>
                    <a:pt x="204597" y="0"/>
                  </a:lnTo>
                  <a:lnTo>
                    <a:pt x="204597" y="1009269"/>
                  </a:lnTo>
                  <a:lnTo>
                    <a:pt x="0" y="1009269"/>
                  </a:ln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4" name="Group 4"/>
          <p:cNvGrpSpPr/>
          <p:nvPr/>
        </p:nvGrpSpPr>
        <p:grpSpPr>
          <a:xfrm>
            <a:off x="822960" y="457200"/>
            <a:ext cx="15910560" cy="914400"/>
            <a:chOff x="0" y="0"/>
            <a:chExt cx="21214080" cy="1219200"/>
          </a:xfrm>
        </p:grpSpPr>
        <p:sp>
          <p:nvSpPr>
            <p:cNvPr id="5" name="Freeform 5"/>
            <p:cNvSpPr/>
            <p:nvPr/>
          </p:nvSpPr>
          <p:spPr>
            <a:xfrm>
              <a:off x="0" y="0"/>
              <a:ext cx="21214080" cy="1219200"/>
            </a:xfrm>
            <a:custGeom>
              <a:avLst/>
              <a:gdLst/>
              <a:ahLst/>
              <a:cxnLst/>
              <a:rect l="l" t="t" r="r" b="b"/>
              <a:pathLst>
                <a:path w="21214080" h="1219200">
                  <a:moveTo>
                    <a:pt x="0" y="0"/>
                  </a:moveTo>
                  <a:lnTo>
                    <a:pt x="21214080" y="0"/>
                  </a:lnTo>
                  <a:lnTo>
                    <a:pt x="21214080" y="1219200"/>
                  </a:lnTo>
                  <a:lnTo>
                    <a:pt x="0" y="1219200"/>
                  </a:lnTo>
                  <a:close/>
                </a:path>
              </a:pathLst>
            </a:custGeom>
            <a:blipFill>
              <a:blip r:embed="rId3">
                <a:alphaModFix amt="0"/>
              </a:blip>
              <a:stretch>
                <a:fillRect t="-289039" b="-289039"/>
              </a:stretch>
            </a:blipFill>
          </p:spPr>
          <p:txBody>
            <a:bodyPr/>
            <a:lstStyle/>
            <a:p>
              <a:endParaRPr lang="ko-KR" altLang="en-US"/>
            </a:p>
          </p:txBody>
        </p:sp>
        <p:sp>
          <p:nvSpPr>
            <p:cNvPr id="6" name="TextBox 6"/>
            <p:cNvSpPr txBox="1"/>
            <p:nvPr/>
          </p:nvSpPr>
          <p:spPr>
            <a:xfrm>
              <a:off x="0" y="0"/>
              <a:ext cx="21214080" cy="1219200"/>
            </a:xfrm>
            <a:prstGeom prst="rect">
              <a:avLst/>
            </a:prstGeom>
          </p:spPr>
          <p:txBody>
            <a:bodyPr lIns="0" tIns="0" rIns="0" bIns="0" rtlCol="0" anchor="ctr"/>
            <a:lstStyle/>
            <a:p>
              <a:pPr algn="l">
                <a:lnSpc>
                  <a:spcPts val="4560"/>
                </a:lnSpc>
              </a:pPr>
              <a:r>
                <a:rPr lang="en-US" sz="3800" b="1">
                  <a:solidFill>
                    <a:srgbClr val="1A1A1A"/>
                  </a:solidFill>
                  <a:latin typeface="프리텐다드 Bold"/>
                  <a:ea typeface="프리텐다드 Bold"/>
                  <a:cs typeface="프리텐다드 Bold"/>
                  <a:sym typeface="프리텐다드 Bold"/>
                </a:rPr>
                <a:t>부록 : </a:t>
              </a:r>
              <a:r>
                <a:rPr lang="en-US" sz="3800" b="1">
                  <a:solidFill>
                    <a:srgbClr val="8B0000"/>
                  </a:solidFill>
                  <a:latin typeface="프리텐다드 Bold"/>
                  <a:ea typeface="프리텐다드 Bold"/>
                  <a:cs typeface="프리텐다드 Bold"/>
                  <a:sym typeface="프리텐다드 Bold"/>
                </a:rPr>
                <a:t>날짜 해석 규칙표 (모호한 표기)</a:t>
              </a:r>
            </a:p>
          </p:txBody>
        </p:sp>
      </p:grpSp>
      <p:sp>
        <p:nvSpPr>
          <p:cNvPr id="7" name="AutoShape 7"/>
          <p:cNvSpPr/>
          <p:nvPr/>
        </p:nvSpPr>
        <p:spPr>
          <a:xfrm rot="3780">
            <a:off x="539105" y="1494854"/>
            <a:ext cx="17209780" cy="0"/>
          </a:xfrm>
          <a:prstGeom prst="line">
            <a:avLst/>
          </a:prstGeom>
          <a:ln w="9525" cap="rnd">
            <a:solidFill>
              <a:srgbClr val="BFBFBF"/>
            </a:solidFill>
            <a:prstDash val="solid"/>
            <a:headEnd type="none" w="sm" len="sm"/>
            <a:tailEnd type="none" w="sm" len="sm"/>
          </a:ln>
        </p:spPr>
        <p:txBody>
          <a:bodyPr/>
          <a:lstStyle/>
          <a:p>
            <a:endParaRPr lang="ko-KR" altLang="en-US"/>
          </a:p>
        </p:txBody>
      </p:sp>
      <p:grpSp>
        <p:nvGrpSpPr>
          <p:cNvPr id="8" name="Group 8"/>
          <p:cNvGrpSpPr/>
          <p:nvPr/>
        </p:nvGrpSpPr>
        <p:grpSpPr>
          <a:xfrm>
            <a:off x="17007840" y="219456"/>
            <a:ext cx="914400" cy="457200"/>
            <a:chOff x="0" y="0"/>
            <a:chExt cx="1219200" cy="609600"/>
          </a:xfrm>
        </p:grpSpPr>
        <p:sp>
          <p:nvSpPr>
            <p:cNvPr id="9" name="Freeform 9"/>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10" name="TextBox 10"/>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1A1A1A"/>
                  </a:solidFill>
                  <a:latin typeface="프리텐다드"/>
                  <a:ea typeface="프리텐다드"/>
                  <a:cs typeface="프리텐다드"/>
                  <a:sym typeface="프리텐다드"/>
                </a:rPr>
                <a:t>23</a:t>
              </a:r>
            </a:p>
          </p:txBody>
        </p:sp>
      </p:grpSp>
      <p:graphicFrame>
        <p:nvGraphicFramePr>
          <p:cNvPr id="11" name="Table 11"/>
          <p:cNvGraphicFramePr>
            <a:graphicFrameLocks noGrp="1"/>
          </p:cNvGraphicFramePr>
          <p:nvPr/>
        </p:nvGraphicFramePr>
        <p:xfrm>
          <a:off x="548640" y="1828800"/>
          <a:ext cx="17170400" cy="6172200"/>
        </p:xfrm>
        <a:graphic>
          <a:graphicData uri="http://schemas.openxmlformats.org/drawingml/2006/table">
            <a:tbl>
              <a:tblPr/>
              <a:tblGrid>
                <a:gridCol w="5480990">
                  <a:extLst>
                    <a:ext uri="{9D8B030D-6E8A-4147-A177-3AD203B41FA5}">
                      <a16:colId xmlns:a16="http://schemas.microsoft.com/office/drawing/2014/main" val="20000"/>
                    </a:ext>
                  </a:extLst>
                </a:gridCol>
                <a:gridCol w="7663282">
                  <a:extLst>
                    <a:ext uri="{9D8B030D-6E8A-4147-A177-3AD203B41FA5}">
                      <a16:colId xmlns:a16="http://schemas.microsoft.com/office/drawing/2014/main" val="20001"/>
                    </a:ext>
                  </a:extLst>
                </a:gridCol>
                <a:gridCol w="4026128">
                  <a:extLst>
                    <a:ext uri="{9D8B030D-6E8A-4147-A177-3AD203B41FA5}">
                      <a16:colId xmlns:a16="http://schemas.microsoft.com/office/drawing/2014/main" val="20002"/>
                    </a:ext>
                  </a:extLst>
                </a:gridCol>
              </a:tblGrid>
              <a:tr h="685800">
                <a:tc>
                  <a:txBody>
                    <a:bodyPr/>
                    <a:lstStyle/>
                    <a:p>
                      <a:pPr algn="l">
                        <a:lnSpc>
                          <a:spcPts val="2400"/>
                        </a:lnSpc>
                        <a:defRPr/>
                      </a:pPr>
                      <a:r>
                        <a:rPr lang="en-US" sz="2000">
                          <a:solidFill>
                            <a:srgbClr val="FFFFFF"/>
                          </a:solidFill>
                          <a:latin typeface="프리텐다드"/>
                          <a:ea typeface="프리텐다드"/>
                          <a:cs typeface="프리텐다드"/>
                          <a:sym typeface="프리텐다드"/>
                        </a:rPr>
                        <a:t>상황</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400"/>
                        </a:lnSpc>
                        <a:defRPr/>
                      </a:pPr>
                      <a:r>
                        <a:rPr lang="en-US" sz="2000">
                          <a:solidFill>
                            <a:srgbClr val="FFFFFF"/>
                          </a:solidFill>
                          <a:latin typeface="프리텐다드"/>
                          <a:ea typeface="프리텐다드"/>
                          <a:cs typeface="프리텐다드"/>
                          <a:sym typeface="프리텐다드"/>
                        </a:rPr>
                        <a:t>해석</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400"/>
                        </a:lnSpc>
                        <a:defRPr/>
                      </a:pPr>
                      <a:r>
                        <a:rPr lang="en-US" sz="2000">
                          <a:solidFill>
                            <a:srgbClr val="FFFFFF"/>
                          </a:solidFill>
                          <a:latin typeface="프리텐다드"/>
                          <a:ea typeface="프리텐다드"/>
                          <a:cs typeface="프리텐다드"/>
                          <a:sym typeface="프리텐다드"/>
                        </a:rPr>
                        <a:t>근거 (전수 라벨 3,352장)</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extLst>
                  <a:ext uri="{0D108BD9-81ED-4DB2-BD59-A6C34878D82A}">
                    <a16:rowId xmlns:a16="http://schemas.microsoft.com/office/drawing/2014/main" val="10000"/>
                  </a:ext>
                </a:extLst>
              </a:tr>
              <a:tr h="685800">
                <a:tc>
                  <a:txBody>
                    <a:bodyPr/>
                    <a:lstStyle/>
                    <a:p>
                      <a:pPr algn="l">
                        <a:lnSpc>
                          <a:spcPts val="2400"/>
                        </a:lnSpc>
                        <a:defRPr/>
                      </a:pPr>
                      <a:r>
                        <a:rPr lang="en-US" sz="2000">
                          <a:solidFill>
                            <a:srgbClr val="1A1A1A"/>
                          </a:solidFill>
                          <a:latin typeface="프리텐다드"/>
                          <a:ea typeface="프리텐다드"/>
                          <a:cs typeface="프리텐다드"/>
                          <a:sym typeface="프리텐다드"/>
                        </a:rPr>
                        <a:t>4자리 연도가 앞 / 뒤</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앞이면 년/월/일, 뒤면 일/월/년. 구분자 종류는 무관</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연도 앞 2,217 · 연도 뒤 362</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algn="l">
                        <a:lnSpc>
                          <a:spcPts val="2400"/>
                        </a:lnSpc>
                        <a:defRPr/>
                      </a:pPr>
                      <a:r>
                        <a:rPr lang="en-US" sz="2000">
                          <a:solidFill>
                            <a:srgbClr val="1A1A1A"/>
                          </a:solidFill>
                          <a:latin typeface="프리텐다드"/>
                          <a:ea typeface="프리텐다드"/>
                          <a:cs typeface="프리텐다드"/>
                          <a:sym typeface="프리텐다드"/>
                        </a:rPr>
                        <a:t>2자리 세 개 (26.03.20)</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년/월/일 우선. 무효이거나 연도 2028 이상이면 일/월/년</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년월일 344 : 일월년 102</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l">
                        <a:lnSpc>
                          <a:spcPts val="2400"/>
                        </a:lnSpc>
                        <a:defRPr/>
                      </a:pPr>
                      <a:r>
                        <a:rPr lang="en-US" sz="2000">
                          <a:solidFill>
                            <a:srgbClr val="1A1A1A"/>
                          </a:solidFill>
                          <a:latin typeface="프리텐다드"/>
                          <a:ea typeface="프리텐다드"/>
                          <a:cs typeface="프리텐다드"/>
                          <a:sym typeface="프리텐다드"/>
                        </a:rPr>
                        <a:t>영문 유통 문구 (BBD, BEST BEFORE, EXP)</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같은 사진에 있으면 일/월/년 우선</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수입품 표기 관행</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5800">
                <a:tc>
                  <a:txBody>
                    <a:bodyPr/>
                    <a:lstStyle/>
                    <a:p>
                      <a:pPr algn="l">
                        <a:lnSpc>
                          <a:spcPts val="2400"/>
                        </a:lnSpc>
                        <a:defRPr/>
                      </a:pPr>
                      <a:r>
                        <a:rPr lang="en-US" sz="2000">
                          <a:solidFill>
                            <a:srgbClr val="1A1A1A"/>
                          </a:solidFill>
                          <a:latin typeface="프리텐다드"/>
                          <a:ea typeface="프리텐다드"/>
                          <a:cs typeface="프리텐다드"/>
                          <a:sym typeface="프리텐다드"/>
                        </a:rPr>
                        <a:t>공백 구분 (30 12 23)</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일/월/년</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전부 수입품</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5800">
                <a:tc>
                  <a:txBody>
                    <a:bodyPr/>
                    <a:lstStyle/>
                    <a:p>
                      <a:pPr algn="l">
                        <a:lnSpc>
                          <a:spcPts val="2400"/>
                        </a:lnSpc>
                        <a:defRPr/>
                      </a:pPr>
                      <a:r>
                        <a:rPr lang="en-US" sz="2000">
                          <a:solidFill>
                            <a:srgbClr val="1A1A1A"/>
                          </a:solidFill>
                          <a:latin typeface="프리텐다드"/>
                          <a:ea typeface="프리텐다드"/>
                          <a:cs typeface="프리텐다드"/>
                          <a:sym typeface="프리텐다드"/>
                        </a:rPr>
                        <a:t>영문 월 (04-Jul-21, 22OCT2021)</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월 위치 확정, 4자리는 연도</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148장</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85800">
                <a:tc>
                  <a:txBody>
                    <a:bodyPr/>
                    <a:lstStyle/>
                    <a:p>
                      <a:pPr algn="l">
                        <a:lnSpc>
                          <a:spcPts val="2400"/>
                        </a:lnSpc>
                        <a:defRPr/>
                      </a:pPr>
                      <a:r>
                        <a:rPr lang="en-US" sz="2000">
                          <a:solidFill>
                            <a:srgbClr val="1A1A1A"/>
                          </a:solidFill>
                          <a:latin typeface="프리텐다드"/>
                          <a:ea typeface="프리텐다드"/>
                          <a:cs typeface="프리텐다드"/>
                          <a:sym typeface="프리텐다드"/>
                        </a:rPr>
                        <a:t>월/일/년 (06/18/23)</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일/월/년이 불가능할 때만 (가운데 13 이상)</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확정 미국식 2장</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685800">
                <a:tc>
                  <a:txBody>
                    <a:bodyPr/>
                    <a:lstStyle/>
                    <a:p>
                      <a:pPr algn="l">
                        <a:lnSpc>
                          <a:spcPts val="2400"/>
                        </a:lnSpc>
                        <a:defRPr/>
                      </a:pPr>
                      <a:r>
                        <a:rPr lang="en-US" sz="2000">
                          <a:solidFill>
                            <a:srgbClr val="1A1A1A"/>
                          </a:solidFill>
                          <a:latin typeface="프리텐다드"/>
                          <a:ea typeface="프리텐다드"/>
                          <a:cs typeface="프리텐다드"/>
                          <a:sym typeface="프리텐다드"/>
                        </a:rPr>
                        <a:t>연월만 / 월일만</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YYYY-MM-NONE / NONE-MM-DD</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운영진 확정</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5800">
                <a:tc>
                  <a:txBody>
                    <a:bodyPr/>
                    <a:lstStyle/>
                    <a:p>
                      <a:pPr algn="l">
                        <a:lnSpc>
                          <a:spcPts val="2400"/>
                        </a:lnSpc>
                        <a:defRPr/>
                      </a:pPr>
                      <a:r>
                        <a:rPr lang="en-US" sz="2000">
                          <a:solidFill>
                            <a:srgbClr val="1A1A1A"/>
                          </a:solidFill>
                          <a:latin typeface="프리텐다드"/>
                          <a:ea typeface="프리텐다드"/>
                          <a:cs typeface="프리텐다드"/>
                          <a:sym typeface="프리텐다드"/>
                        </a:rPr>
                        <a:t>날짜가 여럿</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가장 좋은 등급 안에서 가장 늦은 날짜</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병기 345장 (10.3%)</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grpSp>
        <p:nvGrpSpPr>
          <p:cNvPr id="12" name="Group 12"/>
          <p:cNvGrpSpPr/>
          <p:nvPr/>
        </p:nvGrpSpPr>
        <p:grpSpPr>
          <a:xfrm>
            <a:off x="535943" y="8674103"/>
            <a:ext cx="17216123" cy="793499"/>
            <a:chOff x="0" y="0"/>
            <a:chExt cx="22954831" cy="1057999"/>
          </a:xfrm>
        </p:grpSpPr>
        <p:sp>
          <p:nvSpPr>
            <p:cNvPr id="13" name="Freeform 13"/>
            <p:cNvSpPr/>
            <p:nvPr/>
          </p:nvSpPr>
          <p:spPr>
            <a:xfrm>
              <a:off x="0" y="0"/>
              <a:ext cx="22954869" cy="1058037"/>
            </a:xfrm>
            <a:custGeom>
              <a:avLst/>
              <a:gdLst/>
              <a:ahLst/>
              <a:cxnLst/>
              <a:rect l="l" t="t" r="r" b="b"/>
              <a:pathLst>
                <a:path w="22954869" h="1058037">
                  <a:moveTo>
                    <a:pt x="0" y="201549"/>
                  </a:moveTo>
                  <a:cubicBezTo>
                    <a:pt x="0" y="90170"/>
                    <a:pt x="90170" y="0"/>
                    <a:pt x="201549" y="0"/>
                  </a:cubicBezTo>
                  <a:lnTo>
                    <a:pt x="22753320" y="0"/>
                  </a:lnTo>
                  <a:cubicBezTo>
                    <a:pt x="22864572" y="0"/>
                    <a:pt x="22954869" y="90170"/>
                    <a:pt x="22954869" y="201549"/>
                  </a:cubicBezTo>
                  <a:lnTo>
                    <a:pt x="22954869" y="856488"/>
                  </a:lnTo>
                  <a:cubicBezTo>
                    <a:pt x="22954869" y="967740"/>
                    <a:pt x="22864699" y="1058037"/>
                    <a:pt x="22753320" y="1058037"/>
                  </a:cubicBezTo>
                  <a:lnTo>
                    <a:pt x="201549" y="1058037"/>
                  </a:lnTo>
                  <a:cubicBezTo>
                    <a:pt x="90170" y="1058037"/>
                    <a:pt x="0" y="967740"/>
                    <a:pt x="0" y="856488"/>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14" name="Group 14"/>
          <p:cNvGrpSpPr/>
          <p:nvPr/>
        </p:nvGrpSpPr>
        <p:grpSpPr>
          <a:xfrm>
            <a:off x="822960" y="8686800"/>
            <a:ext cx="16642080" cy="768096"/>
            <a:chOff x="0" y="0"/>
            <a:chExt cx="22189440" cy="1024128"/>
          </a:xfrm>
        </p:grpSpPr>
        <p:sp>
          <p:nvSpPr>
            <p:cNvPr id="15" name="Freeform 15"/>
            <p:cNvSpPr/>
            <p:nvPr/>
          </p:nvSpPr>
          <p:spPr>
            <a:xfrm>
              <a:off x="0" y="0"/>
              <a:ext cx="22189439" cy="1024128"/>
            </a:xfrm>
            <a:custGeom>
              <a:avLst/>
              <a:gdLst/>
              <a:ahLst/>
              <a:cxnLst/>
              <a:rect l="l" t="t" r="r" b="b"/>
              <a:pathLst>
                <a:path w="22189439" h="1024128">
                  <a:moveTo>
                    <a:pt x="0" y="0"/>
                  </a:moveTo>
                  <a:lnTo>
                    <a:pt x="22189439" y="0"/>
                  </a:lnTo>
                  <a:lnTo>
                    <a:pt x="22189439" y="1024128"/>
                  </a:lnTo>
                  <a:lnTo>
                    <a:pt x="0" y="1024128"/>
                  </a:lnTo>
                  <a:close/>
                </a:path>
              </a:pathLst>
            </a:custGeom>
            <a:blipFill>
              <a:blip r:embed="rId3">
                <a:alphaModFix amt="0"/>
              </a:blip>
              <a:stretch>
                <a:fillRect t="-372175" b="-372175"/>
              </a:stretch>
            </a:blipFill>
          </p:spPr>
          <p:txBody>
            <a:bodyPr/>
            <a:lstStyle/>
            <a:p>
              <a:endParaRPr lang="ko-KR" altLang="en-US"/>
            </a:p>
          </p:txBody>
        </p:sp>
        <p:sp>
          <p:nvSpPr>
            <p:cNvPr id="16" name="TextBox 16"/>
            <p:cNvSpPr txBox="1"/>
            <p:nvPr/>
          </p:nvSpPr>
          <p:spPr>
            <a:xfrm>
              <a:off x="0" y="0"/>
              <a:ext cx="22189440" cy="1024128"/>
            </a:xfrm>
            <a:prstGeom prst="rect">
              <a:avLst/>
            </a:prstGeom>
          </p:spPr>
          <p:txBody>
            <a:bodyPr lIns="0" tIns="0" rIns="0" bIns="0" rtlCol="0" anchor="ctr"/>
            <a:lstStyle/>
            <a:p>
              <a:pPr algn="ctr">
                <a:lnSpc>
                  <a:spcPts val="2999"/>
                </a:lnSpc>
              </a:pPr>
              <a:r>
                <a:rPr lang="en-US" sz="2499" dirty="0" err="1">
                  <a:solidFill>
                    <a:srgbClr val="1A1A1A"/>
                  </a:solidFill>
                  <a:latin typeface="프리텐다드"/>
                  <a:ea typeface="프리텐다드"/>
                  <a:cs typeface="프리텐다드"/>
                  <a:sym typeface="프리텐다드"/>
                </a:rPr>
                <a:t>해석</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기본값은</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감이</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아니라</a:t>
              </a:r>
              <a:r>
                <a:rPr lang="en-US" sz="2499" dirty="0">
                  <a:solidFill>
                    <a:srgbClr val="1A1A1A"/>
                  </a:solidFill>
                  <a:latin typeface="프리텐다드"/>
                  <a:ea typeface="프리텐다드"/>
                  <a:cs typeface="프리텐다드"/>
                  <a:sym typeface="프리텐다드"/>
                </a:rPr>
                <a:t> </a:t>
              </a:r>
              <a:r>
                <a:rPr lang="en-US" sz="2499" b="1" dirty="0" err="1">
                  <a:solidFill>
                    <a:srgbClr val="8B0000"/>
                  </a:solidFill>
                  <a:latin typeface="프리텐다드 Bold"/>
                  <a:ea typeface="프리텐다드 Bold"/>
                  <a:cs typeface="프리텐다드 Bold"/>
                  <a:sym typeface="프리텐다드 Bold"/>
                </a:rPr>
                <a:t>직접</a:t>
              </a:r>
              <a:r>
                <a:rPr lang="en-US" sz="2499" b="1" dirty="0">
                  <a:solidFill>
                    <a:srgbClr val="8B0000"/>
                  </a:solidFill>
                  <a:latin typeface="프리텐다드 Bold"/>
                  <a:ea typeface="프리텐다드 Bold"/>
                  <a:cs typeface="프리텐다드 Bold"/>
                  <a:sym typeface="프리텐다드 Bold"/>
                </a:rPr>
                <a:t> 단 </a:t>
              </a:r>
              <a:r>
                <a:rPr lang="en-US" sz="2499" b="1" dirty="0" err="1">
                  <a:solidFill>
                    <a:srgbClr val="8B0000"/>
                  </a:solidFill>
                  <a:latin typeface="프리텐다드 Bold"/>
                  <a:ea typeface="프리텐다드 Bold"/>
                  <a:cs typeface="프리텐다드 Bold"/>
                  <a:sym typeface="프리텐다드 Bold"/>
                </a:rPr>
                <a:t>라벨의</a:t>
              </a:r>
              <a:r>
                <a:rPr lang="en-US" sz="2499" b="1" dirty="0">
                  <a:solidFill>
                    <a:srgbClr val="8B0000"/>
                  </a:solidFill>
                  <a:latin typeface="프리텐다드 Bold"/>
                  <a:ea typeface="프리텐다드 Bold"/>
                  <a:cs typeface="프리텐다드 Bold"/>
                  <a:sym typeface="프리텐다드 Bold"/>
                </a:rPr>
                <a:t> </a:t>
              </a:r>
              <a:r>
                <a:rPr lang="en-US" sz="2499" b="1" dirty="0" err="1">
                  <a:solidFill>
                    <a:srgbClr val="8B0000"/>
                  </a:solidFill>
                  <a:latin typeface="프리텐다드 Bold"/>
                  <a:ea typeface="프리텐다드 Bold"/>
                  <a:cs typeface="프리텐다드 Bold"/>
                  <a:sym typeface="프리텐다드 Bold"/>
                </a:rPr>
                <a:t>통계</a:t>
              </a:r>
              <a:r>
                <a:rPr lang="en-US" sz="2499" dirty="0">
                  <a:solidFill>
                    <a:srgbClr val="1A1A1A"/>
                  </a:solidFill>
                  <a:latin typeface="프리텐다드"/>
                  <a:ea typeface="프리텐다드"/>
                  <a:cs typeface="프리텐다드"/>
                  <a:sym typeface="프리텐다드"/>
                </a:rPr>
                <a:t> 로 </a:t>
              </a:r>
              <a:r>
                <a:rPr lang="en-US" sz="2499" dirty="0" err="1">
                  <a:solidFill>
                    <a:srgbClr val="1A1A1A"/>
                  </a:solidFill>
                  <a:latin typeface="프리텐다드"/>
                  <a:ea typeface="프리텐다드"/>
                  <a:cs typeface="프리텐다드"/>
                  <a:sym typeface="프리텐다드"/>
                </a:rPr>
                <a:t>정했습니다</a:t>
              </a:r>
              <a:r>
                <a:rPr lang="en-US" sz="2499" dirty="0">
                  <a:solidFill>
                    <a:srgbClr val="1A1A1A"/>
                  </a:solidFill>
                  <a:latin typeface="프리텐다드"/>
                  <a:ea typeface="프리텐다드"/>
                  <a:cs typeface="프리텐다드"/>
                  <a:sym typeface="프리텐다드"/>
                </a:rPr>
                <a:t>.</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5943" y="535943"/>
            <a:ext cx="153419" cy="756923"/>
            <a:chOff x="0" y="0"/>
            <a:chExt cx="204559" cy="1009231"/>
          </a:xfrm>
        </p:grpSpPr>
        <p:sp>
          <p:nvSpPr>
            <p:cNvPr id="3" name="Freeform 3"/>
            <p:cNvSpPr/>
            <p:nvPr/>
          </p:nvSpPr>
          <p:spPr>
            <a:xfrm>
              <a:off x="0" y="0"/>
              <a:ext cx="204597" cy="1009269"/>
            </a:xfrm>
            <a:custGeom>
              <a:avLst/>
              <a:gdLst/>
              <a:ahLst/>
              <a:cxnLst/>
              <a:rect l="l" t="t" r="r" b="b"/>
              <a:pathLst>
                <a:path w="204597" h="1009269">
                  <a:moveTo>
                    <a:pt x="0" y="0"/>
                  </a:moveTo>
                  <a:lnTo>
                    <a:pt x="204597" y="0"/>
                  </a:lnTo>
                  <a:lnTo>
                    <a:pt x="204597" y="1009269"/>
                  </a:lnTo>
                  <a:lnTo>
                    <a:pt x="0" y="1009269"/>
                  </a:lnTo>
                  <a:close/>
                </a:path>
              </a:pathLst>
            </a:custGeom>
            <a:solidFill>
              <a:srgbClr val="8B0000"/>
            </a:solidFill>
            <a:ln w="25400" cap="sq">
              <a:solidFill>
                <a:srgbClr val="8B0000"/>
              </a:solidFill>
              <a:prstDash val="solid"/>
              <a:miter/>
            </a:ln>
          </p:spPr>
          <p:txBody>
            <a:bodyPr/>
            <a:lstStyle/>
            <a:p>
              <a:endParaRPr lang="ko-KR" altLang="en-US"/>
            </a:p>
          </p:txBody>
        </p:sp>
      </p:grpSp>
      <p:grpSp>
        <p:nvGrpSpPr>
          <p:cNvPr id="4" name="Group 4"/>
          <p:cNvGrpSpPr/>
          <p:nvPr/>
        </p:nvGrpSpPr>
        <p:grpSpPr>
          <a:xfrm>
            <a:off x="822960" y="457200"/>
            <a:ext cx="15910560" cy="914400"/>
            <a:chOff x="0" y="0"/>
            <a:chExt cx="21214080" cy="1219200"/>
          </a:xfrm>
        </p:grpSpPr>
        <p:sp>
          <p:nvSpPr>
            <p:cNvPr id="5" name="Freeform 5"/>
            <p:cNvSpPr/>
            <p:nvPr/>
          </p:nvSpPr>
          <p:spPr>
            <a:xfrm>
              <a:off x="0" y="0"/>
              <a:ext cx="21214080" cy="1219200"/>
            </a:xfrm>
            <a:custGeom>
              <a:avLst/>
              <a:gdLst/>
              <a:ahLst/>
              <a:cxnLst/>
              <a:rect l="l" t="t" r="r" b="b"/>
              <a:pathLst>
                <a:path w="21214080" h="1219200">
                  <a:moveTo>
                    <a:pt x="0" y="0"/>
                  </a:moveTo>
                  <a:lnTo>
                    <a:pt x="21214080" y="0"/>
                  </a:lnTo>
                  <a:lnTo>
                    <a:pt x="21214080" y="1219200"/>
                  </a:lnTo>
                  <a:lnTo>
                    <a:pt x="0" y="1219200"/>
                  </a:lnTo>
                  <a:close/>
                </a:path>
              </a:pathLst>
            </a:custGeom>
            <a:blipFill>
              <a:blip r:embed="rId3">
                <a:alphaModFix amt="0"/>
              </a:blip>
              <a:stretch>
                <a:fillRect t="-289039" b="-289039"/>
              </a:stretch>
            </a:blipFill>
          </p:spPr>
          <p:txBody>
            <a:bodyPr/>
            <a:lstStyle/>
            <a:p>
              <a:endParaRPr lang="ko-KR" altLang="en-US"/>
            </a:p>
          </p:txBody>
        </p:sp>
        <p:sp>
          <p:nvSpPr>
            <p:cNvPr id="6" name="TextBox 6"/>
            <p:cNvSpPr txBox="1"/>
            <p:nvPr/>
          </p:nvSpPr>
          <p:spPr>
            <a:xfrm>
              <a:off x="0" y="0"/>
              <a:ext cx="21214080" cy="1219200"/>
            </a:xfrm>
            <a:prstGeom prst="rect">
              <a:avLst/>
            </a:prstGeom>
          </p:spPr>
          <p:txBody>
            <a:bodyPr lIns="0" tIns="0" rIns="0" bIns="0" rtlCol="0" anchor="ctr"/>
            <a:lstStyle/>
            <a:p>
              <a:pPr algn="l">
                <a:lnSpc>
                  <a:spcPts val="4560"/>
                </a:lnSpc>
              </a:pPr>
              <a:r>
                <a:rPr lang="en-US" sz="3800" b="1">
                  <a:solidFill>
                    <a:srgbClr val="1A1A1A"/>
                  </a:solidFill>
                  <a:latin typeface="프리텐다드 Bold"/>
                  <a:ea typeface="프리텐다드 Bold"/>
                  <a:cs typeface="프리텐다드 Bold"/>
                  <a:sym typeface="프리텐다드 Bold"/>
                </a:rPr>
                <a:t>부록 : </a:t>
              </a:r>
              <a:r>
                <a:rPr lang="en-US" sz="3800" b="1">
                  <a:solidFill>
                    <a:srgbClr val="8B0000"/>
                  </a:solidFill>
                  <a:latin typeface="프리텐다드 Bold"/>
                  <a:ea typeface="프리텐다드 Bold"/>
                  <a:cs typeface="프리텐다드 Bold"/>
                  <a:sym typeface="프리텐다드 Bold"/>
                </a:rPr>
                <a:t>측정 수치 한눈에</a:t>
              </a:r>
            </a:p>
          </p:txBody>
        </p:sp>
      </p:grpSp>
      <p:sp>
        <p:nvSpPr>
          <p:cNvPr id="7" name="AutoShape 7"/>
          <p:cNvSpPr/>
          <p:nvPr/>
        </p:nvSpPr>
        <p:spPr>
          <a:xfrm rot="3780">
            <a:off x="539105" y="1494854"/>
            <a:ext cx="17209780" cy="0"/>
          </a:xfrm>
          <a:prstGeom prst="line">
            <a:avLst/>
          </a:prstGeom>
          <a:ln w="9525" cap="rnd">
            <a:solidFill>
              <a:srgbClr val="BFBFBF"/>
            </a:solidFill>
            <a:prstDash val="solid"/>
            <a:headEnd type="none" w="sm" len="sm"/>
            <a:tailEnd type="none" w="sm" len="sm"/>
          </a:ln>
        </p:spPr>
        <p:txBody>
          <a:bodyPr/>
          <a:lstStyle/>
          <a:p>
            <a:endParaRPr lang="ko-KR" altLang="en-US"/>
          </a:p>
        </p:txBody>
      </p:sp>
      <p:grpSp>
        <p:nvGrpSpPr>
          <p:cNvPr id="8" name="Group 8"/>
          <p:cNvGrpSpPr/>
          <p:nvPr/>
        </p:nvGrpSpPr>
        <p:grpSpPr>
          <a:xfrm>
            <a:off x="17007840" y="219456"/>
            <a:ext cx="914400" cy="457200"/>
            <a:chOff x="0" y="0"/>
            <a:chExt cx="1219200" cy="609600"/>
          </a:xfrm>
        </p:grpSpPr>
        <p:sp>
          <p:nvSpPr>
            <p:cNvPr id="9" name="Freeform 9"/>
            <p:cNvSpPr/>
            <p:nvPr/>
          </p:nvSpPr>
          <p:spPr>
            <a:xfrm>
              <a:off x="0" y="0"/>
              <a:ext cx="1219200" cy="609600"/>
            </a:xfrm>
            <a:custGeom>
              <a:avLst/>
              <a:gdLst/>
              <a:ahLst/>
              <a:cxnLst/>
              <a:rect l="l" t="t" r="r" b="b"/>
              <a:pathLst>
                <a:path w="1219200" h="609600">
                  <a:moveTo>
                    <a:pt x="0" y="0"/>
                  </a:moveTo>
                  <a:lnTo>
                    <a:pt x="1219200" y="0"/>
                  </a:lnTo>
                  <a:lnTo>
                    <a:pt x="1219200" y="609600"/>
                  </a:lnTo>
                  <a:lnTo>
                    <a:pt x="0" y="609600"/>
                  </a:lnTo>
                  <a:close/>
                </a:path>
              </a:pathLst>
            </a:custGeom>
            <a:blipFill>
              <a:blip r:embed="rId3">
                <a:alphaModFix amt="0"/>
              </a:blip>
              <a:stretch>
                <a:fillRect l="-14151" r="-14151"/>
              </a:stretch>
            </a:blipFill>
          </p:spPr>
          <p:txBody>
            <a:bodyPr/>
            <a:lstStyle/>
            <a:p>
              <a:endParaRPr lang="ko-KR" altLang="en-US"/>
            </a:p>
          </p:txBody>
        </p:sp>
        <p:sp>
          <p:nvSpPr>
            <p:cNvPr id="10" name="TextBox 10"/>
            <p:cNvSpPr txBox="1"/>
            <p:nvPr/>
          </p:nvSpPr>
          <p:spPr>
            <a:xfrm>
              <a:off x="0" y="0"/>
              <a:ext cx="1219200" cy="609600"/>
            </a:xfrm>
            <a:prstGeom prst="rect">
              <a:avLst/>
            </a:prstGeom>
          </p:spPr>
          <p:txBody>
            <a:bodyPr lIns="0" tIns="0" rIns="0" bIns="0" rtlCol="0" anchor="ctr"/>
            <a:lstStyle/>
            <a:p>
              <a:pPr algn="r">
                <a:lnSpc>
                  <a:spcPts val="2160"/>
                </a:lnSpc>
              </a:pPr>
              <a:r>
                <a:rPr lang="en-US" sz="1800">
                  <a:solidFill>
                    <a:srgbClr val="1A1A1A"/>
                  </a:solidFill>
                  <a:latin typeface="프리텐다드"/>
                  <a:ea typeface="프리텐다드"/>
                  <a:cs typeface="프리텐다드"/>
                  <a:sym typeface="프리텐다드"/>
                </a:rPr>
                <a:t>24</a:t>
              </a:r>
            </a:p>
          </p:txBody>
        </p:sp>
      </p:grpSp>
      <p:graphicFrame>
        <p:nvGraphicFramePr>
          <p:cNvPr id="11" name="Table 11"/>
          <p:cNvGraphicFramePr>
            <a:graphicFrameLocks noGrp="1"/>
          </p:cNvGraphicFramePr>
          <p:nvPr/>
        </p:nvGraphicFramePr>
        <p:xfrm>
          <a:off x="535943" y="2323465"/>
          <a:ext cx="17145000" cy="3810000"/>
        </p:xfrm>
        <a:graphic>
          <a:graphicData uri="http://schemas.openxmlformats.org/drawingml/2006/table">
            <a:tbl>
              <a:tblPr/>
              <a:tblGrid>
                <a:gridCol w="3103099">
                  <a:extLst>
                    <a:ext uri="{9D8B030D-6E8A-4147-A177-3AD203B41FA5}">
                      <a16:colId xmlns:a16="http://schemas.microsoft.com/office/drawing/2014/main" val="20000"/>
                    </a:ext>
                  </a:extLst>
                </a:gridCol>
                <a:gridCol w="5456828">
                  <a:extLst>
                    <a:ext uri="{9D8B030D-6E8A-4147-A177-3AD203B41FA5}">
                      <a16:colId xmlns:a16="http://schemas.microsoft.com/office/drawing/2014/main" val="20001"/>
                    </a:ext>
                  </a:extLst>
                </a:gridCol>
                <a:gridCol w="2197819">
                  <a:extLst>
                    <a:ext uri="{9D8B030D-6E8A-4147-A177-3AD203B41FA5}">
                      <a16:colId xmlns:a16="http://schemas.microsoft.com/office/drawing/2014/main" val="20002"/>
                    </a:ext>
                  </a:extLst>
                </a:gridCol>
                <a:gridCol w="2197819">
                  <a:extLst>
                    <a:ext uri="{9D8B030D-6E8A-4147-A177-3AD203B41FA5}">
                      <a16:colId xmlns:a16="http://schemas.microsoft.com/office/drawing/2014/main" val="20003"/>
                    </a:ext>
                  </a:extLst>
                </a:gridCol>
                <a:gridCol w="4189435">
                  <a:extLst>
                    <a:ext uri="{9D8B030D-6E8A-4147-A177-3AD203B41FA5}">
                      <a16:colId xmlns:a16="http://schemas.microsoft.com/office/drawing/2014/main" val="20004"/>
                    </a:ext>
                  </a:extLst>
                </a:gridCol>
              </a:tblGrid>
              <a:tr h="635000">
                <a:tc>
                  <a:txBody>
                    <a:bodyPr/>
                    <a:lstStyle/>
                    <a:p>
                      <a:pPr algn="l">
                        <a:lnSpc>
                          <a:spcPts val="2400"/>
                        </a:lnSpc>
                        <a:defRPr/>
                      </a:pPr>
                      <a:r>
                        <a:rPr lang="en-US" sz="2000">
                          <a:solidFill>
                            <a:srgbClr val="FFFFFF"/>
                          </a:solidFill>
                          <a:latin typeface="프리텐다드"/>
                          <a:ea typeface="프리텐다드"/>
                          <a:cs typeface="프리텐다드"/>
                          <a:sym typeface="프리텐다드"/>
                        </a:rPr>
                        <a:t>측정셋</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400"/>
                        </a:lnSpc>
                        <a:defRPr/>
                      </a:pPr>
                      <a:r>
                        <a:rPr lang="en-US" sz="2000">
                          <a:solidFill>
                            <a:srgbClr val="FFFFFF"/>
                          </a:solidFill>
                          <a:latin typeface="프리텐다드"/>
                          <a:ea typeface="프리텐다드"/>
                          <a:cs typeface="프리텐다드"/>
                          <a:sym typeface="프리텐다드"/>
                        </a:rPr>
                        <a:t>구성</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400"/>
                        </a:lnSpc>
                        <a:defRPr/>
                      </a:pPr>
                      <a:r>
                        <a:rPr lang="en-US" sz="2000">
                          <a:solidFill>
                            <a:srgbClr val="FFFFFF"/>
                          </a:solidFill>
                          <a:latin typeface="프리텐다드"/>
                          <a:ea typeface="프리텐다드"/>
                          <a:cs typeface="프리텐다드"/>
                          <a:sym typeface="프리텐다드"/>
                        </a:rPr>
                        <a:t>완전일치</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400"/>
                        </a:lnSpc>
                        <a:defRPr/>
                      </a:pPr>
                      <a:r>
                        <a:rPr lang="en-US" sz="2000">
                          <a:solidFill>
                            <a:srgbClr val="FFFFFF"/>
                          </a:solidFill>
                          <a:latin typeface="프리텐다드"/>
                          <a:ea typeface="프리텐다드"/>
                          <a:cs typeface="프리텐다드"/>
                          <a:sym typeface="프리텐다드"/>
                        </a:rPr>
                        <a:t>필드평균</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tc>
                  <a:txBody>
                    <a:bodyPr/>
                    <a:lstStyle/>
                    <a:p>
                      <a:pPr algn="l">
                        <a:lnSpc>
                          <a:spcPts val="2400"/>
                        </a:lnSpc>
                        <a:defRPr/>
                      </a:pPr>
                      <a:r>
                        <a:rPr lang="en-US" sz="2000">
                          <a:solidFill>
                            <a:srgbClr val="FFFFFF"/>
                          </a:solidFill>
                          <a:latin typeface="프리텐다드"/>
                          <a:ea typeface="프리텐다드"/>
                          <a:cs typeface="프리텐다드"/>
                          <a:sym typeface="프리텐다드"/>
                        </a:rPr>
                        <a:t>비고</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3A3A3A"/>
                    </a:solidFill>
                  </a:tcPr>
                </a:tc>
                <a:extLst>
                  <a:ext uri="{0D108BD9-81ED-4DB2-BD59-A6C34878D82A}">
                    <a16:rowId xmlns:a16="http://schemas.microsoft.com/office/drawing/2014/main" val="10000"/>
                  </a:ext>
                </a:extLst>
              </a:tr>
              <a:tr h="635000">
                <a:tc>
                  <a:txBody>
                    <a:bodyPr/>
                    <a:lstStyle/>
                    <a:p>
                      <a:pPr algn="l">
                        <a:lnSpc>
                          <a:spcPts val="2400"/>
                        </a:lnSpc>
                        <a:defRPr/>
                      </a:pPr>
                      <a:r>
                        <a:rPr lang="en-US" sz="2000">
                          <a:solidFill>
                            <a:srgbClr val="1A1A1A"/>
                          </a:solidFill>
                          <a:latin typeface="프리텐다드"/>
                          <a:ea typeface="프리텐다드"/>
                          <a:cs typeface="프리텐다드"/>
                          <a:sym typeface="프리텐다드"/>
                        </a:rPr>
                        <a:t>봉인 500장</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예선 제출본 (9/13)</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84.2%</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88.8%</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미인식 17</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5000">
                <a:tc>
                  <a:txBody>
                    <a:bodyPr/>
                    <a:lstStyle/>
                    <a:p>
                      <a:pPr algn="l">
                        <a:lnSpc>
                          <a:spcPts val="2400"/>
                        </a:lnSpc>
                        <a:defRPr/>
                      </a:pPr>
                      <a:r>
                        <a:rPr lang="en-US" sz="2000">
                          <a:solidFill>
                            <a:srgbClr val="1A1A1A"/>
                          </a:solidFill>
                          <a:latin typeface="프리텐다드"/>
                          <a:ea typeface="프리텐다드"/>
                          <a:cs typeface="프리텐다드"/>
                          <a:sym typeface="프리텐다드"/>
                        </a:rPr>
                        <a:t>봉인 500장</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본선 통합본 (9/28)</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8B0000"/>
                          </a:solidFill>
                          <a:latin typeface="프리텐다드"/>
                          <a:ea typeface="프리텐다드"/>
                          <a:cs typeface="프리텐다드"/>
                          <a:sym typeface="프리텐다드"/>
                        </a:rPr>
                        <a:t>86.2%</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8B0000"/>
                          </a:solidFill>
                          <a:latin typeface="프리텐다드"/>
                          <a:ea typeface="프리텐다드"/>
                          <a:cs typeface="프리텐다드"/>
                          <a:sym typeface="프리텐다드"/>
                        </a:rPr>
                        <a:t>90.8%</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미인식 15, 정밀도 88.9%</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35000">
                <a:tc>
                  <a:txBody>
                    <a:bodyPr/>
                    <a:lstStyle/>
                    <a:p>
                      <a:pPr algn="l">
                        <a:lnSpc>
                          <a:spcPts val="2400"/>
                        </a:lnSpc>
                        <a:defRPr/>
                      </a:pPr>
                      <a:r>
                        <a:rPr lang="en-US" sz="2000">
                          <a:solidFill>
                            <a:srgbClr val="1A1A1A"/>
                          </a:solidFill>
                          <a:latin typeface="프리텐다드"/>
                          <a:ea typeface="프리텐다드"/>
                          <a:cs typeface="프리텐다드"/>
                          <a:sym typeface="프리텐다드"/>
                        </a:rPr>
                        <a:t>판정용 2,852장</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예선 구성 (지금 라벨로 채점)</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82.3%</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1679"/>
                        </a:lnSpc>
                        <a:defRPr/>
                      </a:pP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병기 64.9%</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5000">
                <a:tc>
                  <a:txBody>
                    <a:bodyPr/>
                    <a:lstStyle/>
                    <a:p>
                      <a:pPr algn="l">
                        <a:lnSpc>
                          <a:spcPts val="2400"/>
                        </a:lnSpc>
                        <a:defRPr/>
                      </a:pPr>
                      <a:r>
                        <a:rPr lang="en-US" sz="2000">
                          <a:solidFill>
                            <a:srgbClr val="1A1A1A"/>
                          </a:solidFill>
                          <a:latin typeface="프리텐다드"/>
                          <a:ea typeface="프리텐다드"/>
                          <a:cs typeface="프리텐다드"/>
                          <a:sym typeface="프리텐다드"/>
                        </a:rPr>
                        <a:t>판정용 2,852장</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본선 최종 (한국어 인식기 끔)</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86.7%</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1679"/>
                        </a:lnSpc>
                        <a:defRPr/>
                      </a:pP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병기 78.3% · 비병기 87.7%</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35000">
                <a:tc>
                  <a:txBody>
                    <a:bodyPr/>
                    <a:lstStyle/>
                    <a:p>
                      <a:pPr algn="l">
                        <a:lnSpc>
                          <a:spcPts val="2400"/>
                        </a:lnSpc>
                        <a:defRPr/>
                      </a:pPr>
                      <a:r>
                        <a:rPr lang="en-US" sz="2000">
                          <a:solidFill>
                            <a:srgbClr val="1A1A1A"/>
                          </a:solidFill>
                          <a:latin typeface="프리텐다드"/>
                          <a:ea typeface="프리텐다드"/>
                          <a:cs typeface="프리텐다드"/>
                          <a:sym typeface="프리텐다드"/>
                        </a:rPr>
                        <a:t>직접 찍은 폰 사진 389장</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본선 최종 (운영 수치 계산용)</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1679"/>
                        </a:lnSpc>
                        <a:defRPr/>
                      </a:pP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1679"/>
                        </a:lnSpc>
                        <a:defRPr/>
                      </a:pP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tc>
                  <a:txBody>
                    <a:bodyPr/>
                    <a:lstStyle/>
                    <a:p>
                      <a:pPr algn="l">
                        <a:lnSpc>
                          <a:spcPts val="2400"/>
                        </a:lnSpc>
                        <a:defRPr/>
                      </a:pPr>
                      <a:r>
                        <a:rPr lang="en-US" sz="2000">
                          <a:solidFill>
                            <a:srgbClr val="1A1A1A"/>
                          </a:solidFill>
                          <a:latin typeface="프리텐다드"/>
                          <a:ea typeface="프리텐다드"/>
                          <a:cs typeface="프리텐다드"/>
                          <a:sym typeface="프리텐다드"/>
                        </a:rPr>
                        <a:t>미인식 21.9%, 자동 입력 41 ~ 45%</a:t>
                      </a:r>
                      <a:endParaRPr lang="en-US" sz="1100"/>
                    </a:p>
                  </a:txBody>
                  <a:tcPr marL="76200" marR="76200" marT="76200" marB="76200" anchor="ctr">
                    <a:lnL w="6350" cap="flat" cmpd="sng" algn="ctr">
                      <a:solidFill>
                        <a:srgbClr val="9A9A9A"/>
                      </a:solidFill>
                      <a:prstDash val="solid"/>
                      <a:round/>
                      <a:headEnd type="none" w="med" len="med"/>
                      <a:tailEnd type="none" w="med" len="med"/>
                    </a:lnL>
                    <a:lnR w="6350" cap="flat" cmpd="sng" algn="ctr">
                      <a:solidFill>
                        <a:srgbClr val="9A9A9A"/>
                      </a:solidFill>
                      <a:prstDash val="solid"/>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2" name="TextBox 12"/>
          <p:cNvSpPr txBox="1"/>
          <p:nvPr/>
        </p:nvSpPr>
        <p:spPr>
          <a:xfrm>
            <a:off x="561346" y="6362700"/>
            <a:ext cx="17190720" cy="1290447"/>
          </a:xfrm>
          <a:prstGeom prst="rect">
            <a:avLst/>
          </a:prstGeom>
        </p:spPr>
        <p:txBody>
          <a:bodyPr lIns="0" tIns="0" rIns="0" bIns="0" rtlCol="0" anchor="t">
            <a:spAutoFit/>
          </a:bodyPr>
          <a:lstStyle/>
          <a:p>
            <a:pPr marL="521208" lvl="1" indent="-260604" algn="l">
              <a:lnSpc>
                <a:spcPts val="3456"/>
              </a:lnSpc>
              <a:buFont typeface="Arial"/>
              <a:buChar char="•"/>
            </a:pPr>
            <a:r>
              <a:rPr lang="en-US" sz="2160">
                <a:solidFill>
                  <a:srgbClr val="1A1A1A"/>
                </a:solidFill>
                <a:latin typeface="프리텐다드"/>
                <a:ea typeface="프리텐다드"/>
                <a:cs typeface="프리텐다드"/>
                <a:sym typeface="프리텐다드"/>
              </a:rPr>
              <a:t>완전일치 : 연·월·일이 모두 맞은 사진 비율</a:t>
            </a:r>
          </a:p>
          <a:p>
            <a:pPr marL="521208" lvl="1" indent="-260604" algn="l">
              <a:lnSpc>
                <a:spcPts val="3456"/>
              </a:lnSpc>
              <a:buFont typeface="Arial"/>
              <a:buChar char="•"/>
            </a:pPr>
            <a:r>
              <a:rPr lang="en-US" sz="2160">
                <a:solidFill>
                  <a:srgbClr val="1A1A1A"/>
                </a:solidFill>
                <a:latin typeface="프리텐다드"/>
                <a:ea typeface="프리텐다드"/>
                <a:cs typeface="프리텐다드"/>
                <a:sym typeface="프리텐다드"/>
              </a:rPr>
              <a:t>필드평균 : 연·월·일을 따로 채점한 평균 (운영진 채점 방식)</a:t>
            </a:r>
          </a:p>
          <a:p>
            <a:pPr marL="521208" lvl="1" indent="-260604" algn="l">
              <a:lnSpc>
                <a:spcPts val="3456"/>
              </a:lnSpc>
              <a:buFont typeface="Arial"/>
              <a:buChar char="•"/>
            </a:pPr>
            <a:r>
              <a:rPr lang="en-US" sz="2160">
                <a:solidFill>
                  <a:srgbClr val="1A1A1A"/>
                </a:solidFill>
                <a:latin typeface="프리텐다드"/>
                <a:ea typeface="프리텐다드"/>
                <a:cs typeface="프리텐다드"/>
                <a:sym typeface="프리텐다드"/>
              </a:rPr>
              <a:t>회복 / 퇴보 : 이전 버전 대비 새로 맞힌 장 / 새로 틀린 장</a:t>
            </a:r>
          </a:p>
        </p:txBody>
      </p:sp>
      <p:grpSp>
        <p:nvGrpSpPr>
          <p:cNvPr id="13" name="Group 13"/>
          <p:cNvGrpSpPr/>
          <p:nvPr/>
        </p:nvGrpSpPr>
        <p:grpSpPr>
          <a:xfrm>
            <a:off x="535943" y="8674103"/>
            <a:ext cx="17216123" cy="793499"/>
            <a:chOff x="0" y="0"/>
            <a:chExt cx="22954831" cy="1057999"/>
          </a:xfrm>
        </p:grpSpPr>
        <p:sp>
          <p:nvSpPr>
            <p:cNvPr id="14" name="Freeform 14"/>
            <p:cNvSpPr/>
            <p:nvPr/>
          </p:nvSpPr>
          <p:spPr>
            <a:xfrm>
              <a:off x="0" y="0"/>
              <a:ext cx="22954869" cy="1058037"/>
            </a:xfrm>
            <a:custGeom>
              <a:avLst/>
              <a:gdLst/>
              <a:ahLst/>
              <a:cxnLst/>
              <a:rect l="l" t="t" r="r" b="b"/>
              <a:pathLst>
                <a:path w="22954869" h="1058037">
                  <a:moveTo>
                    <a:pt x="0" y="201549"/>
                  </a:moveTo>
                  <a:cubicBezTo>
                    <a:pt x="0" y="90170"/>
                    <a:pt x="90170" y="0"/>
                    <a:pt x="201549" y="0"/>
                  </a:cubicBezTo>
                  <a:lnTo>
                    <a:pt x="22753320" y="0"/>
                  </a:lnTo>
                  <a:cubicBezTo>
                    <a:pt x="22864572" y="0"/>
                    <a:pt x="22954869" y="90170"/>
                    <a:pt x="22954869" y="201549"/>
                  </a:cubicBezTo>
                  <a:lnTo>
                    <a:pt x="22954869" y="856488"/>
                  </a:lnTo>
                  <a:cubicBezTo>
                    <a:pt x="22954869" y="967740"/>
                    <a:pt x="22864699" y="1058037"/>
                    <a:pt x="22753320" y="1058037"/>
                  </a:cubicBezTo>
                  <a:lnTo>
                    <a:pt x="201549" y="1058037"/>
                  </a:lnTo>
                  <a:cubicBezTo>
                    <a:pt x="90170" y="1058037"/>
                    <a:pt x="0" y="967740"/>
                    <a:pt x="0" y="856488"/>
                  </a:cubicBezTo>
                  <a:close/>
                </a:path>
              </a:pathLst>
            </a:custGeom>
            <a:solidFill>
              <a:srgbClr val="F2F2F2"/>
            </a:solidFill>
            <a:ln w="25400" cap="sq">
              <a:solidFill>
                <a:srgbClr val="F2F2F2"/>
              </a:solidFill>
              <a:prstDash val="solid"/>
              <a:miter/>
            </a:ln>
          </p:spPr>
          <p:txBody>
            <a:bodyPr/>
            <a:lstStyle/>
            <a:p>
              <a:endParaRPr lang="ko-KR" altLang="en-US"/>
            </a:p>
          </p:txBody>
        </p:sp>
      </p:grpSp>
      <p:grpSp>
        <p:nvGrpSpPr>
          <p:cNvPr id="15" name="Group 15"/>
          <p:cNvGrpSpPr/>
          <p:nvPr/>
        </p:nvGrpSpPr>
        <p:grpSpPr>
          <a:xfrm>
            <a:off x="822960" y="8686800"/>
            <a:ext cx="16642080" cy="768096"/>
            <a:chOff x="0" y="0"/>
            <a:chExt cx="22189440" cy="1024128"/>
          </a:xfrm>
        </p:grpSpPr>
        <p:sp>
          <p:nvSpPr>
            <p:cNvPr id="16" name="Freeform 16"/>
            <p:cNvSpPr/>
            <p:nvPr/>
          </p:nvSpPr>
          <p:spPr>
            <a:xfrm>
              <a:off x="0" y="0"/>
              <a:ext cx="22189439" cy="1024128"/>
            </a:xfrm>
            <a:custGeom>
              <a:avLst/>
              <a:gdLst/>
              <a:ahLst/>
              <a:cxnLst/>
              <a:rect l="l" t="t" r="r" b="b"/>
              <a:pathLst>
                <a:path w="22189439" h="1024128">
                  <a:moveTo>
                    <a:pt x="0" y="0"/>
                  </a:moveTo>
                  <a:lnTo>
                    <a:pt x="22189439" y="0"/>
                  </a:lnTo>
                  <a:lnTo>
                    <a:pt x="22189439" y="1024128"/>
                  </a:lnTo>
                  <a:lnTo>
                    <a:pt x="0" y="1024128"/>
                  </a:lnTo>
                  <a:close/>
                </a:path>
              </a:pathLst>
            </a:custGeom>
            <a:blipFill>
              <a:blip r:embed="rId3">
                <a:alphaModFix amt="0"/>
              </a:blip>
              <a:stretch>
                <a:fillRect t="-372175" b="-372175"/>
              </a:stretch>
            </a:blipFill>
          </p:spPr>
          <p:txBody>
            <a:bodyPr/>
            <a:lstStyle/>
            <a:p>
              <a:endParaRPr lang="ko-KR" altLang="en-US"/>
            </a:p>
          </p:txBody>
        </p:sp>
        <p:sp>
          <p:nvSpPr>
            <p:cNvPr id="17" name="TextBox 17"/>
            <p:cNvSpPr txBox="1"/>
            <p:nvPr/>
          </p:nvSpPr>
          <p:spPr>
            <a:xfrm>
              <a:off x="0" y="0"/>
              <a:ext cx="22189440" cy="1024128"/>
            </a:xfrm>
            <a:prstGeom prst="rect">
              <a:avLst/>
            </a:prstGeom>
          </p:spPr>
          <p:txBody>
            <a:bodyPr lIns="0" tIns="0" rIns="0" bIns="0" rtlCol="0" anchor="ctr"/>
            <a:lstStyle/>
            <a:p>
              <a:pPr algn="ctr">
                <a:lnSpc>
                  <a:spcPts val="2999"/>
                </a:lnSpc>
              </a:pPr>
              <a:r>
                <a:rPr lang="en-US" sz="2499" dirty="0" err="1">
                  <a:solidFill>
                    <a:srgbClr val="1A1A1A"/>
                  </a:solidFill>
                  <a:latin typeface="프리텐다드"/>
                  <a:ea typeface="프리텐다드"/>
                  <a:cs typeface="프리텐다드"/>
                  <a:sym typeface="프리텐다드"/>
                </a:rPr>
                <a:t>모든</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수치의</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예측</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파일과</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실험</a:t>
              </a:r>
              <a:r>
                <a:rPr lang="en-US" sz="2499" dirty="0">
                  <a:solidFill>
                    <a:srgbClr val="1A1A1A"/>
                  </a:solidFill>
                  <a:latin typeface="프리텐다드"/>
                  <a:ea typeface="프리텐다드"/>
                  <a:cs typeface="프리텐다드"/>
                  <a:sym typeface="프리텐다드"/>
                </a:rPr>
                <a:t> </a:t>
              </a:r>
              <a:r>
                <a:rPr lang="en-US" sz="2499" dirty="0" err="1">
                  <a:solidFill>
                    <a:srgbClr val="1A1A1A"/>
                  </a:solidFill>
                  <a:latin typeface="프리텐다드"/>
                  <a:ea typeface="프리텐다드"/>
                  <a:cs typeface="프리텐다드"/>
                  <a:sym typeface="프리텐다드"/>
                </a:rPr>
                <a:t>기록은</a:t>
              </a:r>
              <a:r>
                <a:rPr lang="en-US" sz="2499" dirty="0">
                  <a:solidFill>
                    <a:srgbClr val="1A1A1A"/>
                  </a:solidFill>
                  <a:latin typeface="프리텐다드"/>
                  <a:ea typeface="프리텐다드"/>
                  <a:cs typeface="프리텐다드"/>
                  <a:sym typeface="프리텐다드"/>
                </a:rPr>
                <a:t> </a:t>
              </a:r>
              <a:r>
                <a:rPr lang="en-US" sz="2499" b="1" dirty="0" err="1">
                  <a:solidFill>
                    <a:srgbClr val="8B0000"/>
                  </a:solidFill>
                  <a:latin typeface="프리텐다드 Bold"/>
                  <a:ea typeface="프리텐다드 Bold"/>
                  <a:cs typeface="프리텐다드 Bold"/>
                  <a:sym typeface="프리텐다드 Bold"/>
                </a:rPr>
                <a:t>저장소</a:t>
              </a:r>
              <a:r>
                <a:rPr lang="en-US" sz="2499" b="1" dirty="0">
                  <a:solidFill>
                    <a:srgbClr val="8B0000"/>
                  </a:solidFill>
                  <a:latin typeface="프리텐다드 Bold"/>
                  <a:ea typeface="프리텐다드 Bold"/>
                  <a:cs typeface="프리텐다드 Bold"/>
                  <a:sym typeface="프리텐다드 Bold"/>
                </a:rPr>
                <a:t> results/ · docs/실험_기록.md</a:t>
              </a:r>
              <a:r>
                <a:rPr lang="en-US" sz="2499" dirty="0">
                  <a:solidFill>
                    <a:srgbClr val="1A1A1A"/>
                  </a:solidFill>
                  <a:latin typeface="프리텐다드"/>
                  <a:ea typeface="프리텐다드"/>
                  <a:cs typeface="프리텐다드"/>
                  <a:sym typeface="프리텐다드"/>
                </a:rPr>
                <a:t> 에 </a:t>
              </a:r>
              <a:r>
                <a:rPr lang="en-US" sz="2499" dirty="0" err="1">
                  <a:solidFill>
                    <a:srgbClr val="1A1A1A"/>
                  </a:solidFill>
                  <a:latin typeface="프리텐다드"/>
                  <a:ea typeface="프리텐다드"/>
                  <a:cs typeface="프리텐다드"/>
                  <a:sym typeface="프리텐다드"/>
                </a:rPr>
                <a:t>있습니다</a:t>
              </a:r>
              <a:r>
                <a:rPr lang="en-US" sz="2499" dirty="0">
                  <a:solidFill>
                    <a:srgbClr val="1A1A1A"/>
                  </a:solidFill>
                  <a:latin typeface="프리텐다드"/>
                  <a:ea typeface="프리텐다드"/>
                  <a:cs typeface="프리텐다드"/>
                  <a:sym typeface="프리텐다드"/>
                </a:rPr>
                <a:t>.</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251</TotalTime>
  <Words>4408</Words>
  <Application>Microsoft Macintosh PowerPoint</Application>
  <PresentationFormat>Custom</PresentationFormat>
  <Paragraphs>624</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프리텐다드</vt:lpstr>
      <vt:lpstr>프리텐다드 Heavy</vt:lpstr>
      <vt:lpstr>프리텐다드 Ultra-Bold</vt:lpstr>
      <vt:lpstr>프리텐다드 Medium</vt:lpstr>
      <vt:lpstr>프리텐다드 Bold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CODE_서브웨이_최종수정.pptx</dc:title>
  <dc:creator>이승아</dc:creator>
  <cp:lastModifiedBy>ChoSeoyeong</cp:lastModifiedBy>
  <cp:revision>89</cp:revision>
  <dcterms:created xsi:type="dcterms:W3CDTF">2006-08-16T00:00:00Z</dcterms:created>
  <dcterms:modified xsi:type="dcterms:W3CDTF">2026-10-02T01:33:29Z</dcterms:modified>
  <dc:identifier>DAHWwXGbZzU</dc:identifier>
</cp:coreProperties>
</file>