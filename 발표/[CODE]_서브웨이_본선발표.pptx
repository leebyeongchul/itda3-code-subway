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완전일치(%)</c:v>
                </c:pt>
              </c:strCache>
            </c:strRef>
          </c:tx>
          <c:spPr>
            <a:solidFill>
              <a:srgbClr val="B9B9B9"/>
            </a:solidFill>
            <a:effectLst/>
          </c:spPr>
          <c:invertIfNegative val="0"/>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B9B9B9"/>
              </a:solidFill>
              <a:effectLst/>
            </c:spPr>
          </c:dPt>
          <c:dPt>
            <c:idx val="1"/>
            <c:invertIfNegative val="0"/>
            <c:bubble3D val="0"/>
            <c:spPr>
              <a:solidFill>
                <a:srgbClr val="B9B9B9"/>
              </a:solidFill>
              <a:effectLst/>
            </c:spPr>
          </c:dPt>
          <c:dPt>
            <c:idx val="2"/>
            <c:invertIfNegative val="0"/>
            <c:bubble3D val="0"/>
            <c:spPr>
              <a:solidFill>
                <a:srgbClr val="B9B9B9"/>
              </a:solidFill>
              <a:effectLst/>
            </c:spPr>
          </c:dPt>
          <c:dPt>
            <c:idx val="3"/>
            <c:invertIfNegative val="0"/>
            <c:bubble3D val="0"/>
            <c:spPr>
              <a:solidFill>
                <a:srgbClr val="B9B9B9"/>
              </a:solidFill>
              <a:effectLst/>
            </c:spPr>
          </c:dPt>
          <c:dPt>
            <c:idx val="4"/>
            <c:invertIfNegative val="0"/>
            <c:bubble3D val="0"/>
            <c:spPr>
              <a:solidFill>
                <a:srgbClr val="B9B9B9"/>
              </a:solidFill>
              <a:effectLst/>
            </c:spPr>
          </c:dPt>
          <c:dPt>
            <c:idx val="5"/>
            <c:invertIfNegative val="0"/>
            <c:bubble3D val="0"/>
            <c:spPr>
              <a:solidFill>
                <a:srgbClr val="B9B9B9"/>
              </a:solidFill>
              <a:effectLst/>
            </c:spPr>
          </c:dPt>
          <c:dPt>
            <c:idx val="6"/>
            <c:invertIfNegative val="0"/>
            <c:bubble3D val="0"/>
            <c:spPr>
              <a:solidFill>
                <a:srgbClr val="B9B9B9"/>
              </a:solidFill>
              <a:effectLst/>
            </c:spPr>
          </c:dPt>
          <c:dPt>
            <c:idx val="7"/>
            <c:invertIfNegative val="0"/>
            <c:bubble3D val="0"/>
            <c:spPr>
              <a:solidFill>
                <a:srgbClr val="B9B9B9"/>
              </a:solidFill>
              <a:effectLst/>
            </c:spPr>
          </c:dPt>
          <c:dPt>
            <c:idx val="8"/>
            <c:invertIfNegative val="0"/>
            <c:bubble3D val="0"/>
            <c:spPr>
              <a:solidFill>
                <a:srgbClr val="B9B9B9"/>
              </a:solidFill>
              <a:effectLst/>
            </c:spPr>
          </c:dPt>
          <c:dPt>
            <c:idx val="9"/>
            <c:invertIfNegative val="0"/>
            <c:bubble3D val="0"/>
            <c:spPr>
              <a:solidFill>
                <a:srgbClr val="5A5A5A"/>
              </a:solidFill>
              <a:effectLst/>
            </c:spPr>
          </c:dPt>
          <c:dPt>
            <c:idx val="10"/>
            <c:invertIfNegative val="0"/>
            <c:bubble3D val="0"/>
            <c:spPr>
              <a:solidFill>
                <a:srgbClr val="8B0000"/>
              </a:solidFill>
              <a:effectLst/>
            </c:spPr>
          </c:dPt>
          <c:cat>
            <c:multiLvlStrRef>
              <c:f>Sheet1!$A$2:$A$12</c:f>
              <c:multiLvlStrCache>
                <c:ptCount val="11"/>
                <c:lvl>
                  <c:pt idx="0">
                    <c:v>EasyOCR</c:v>
                  </c:pt>
                  <c:pt idx="1">
                    <c:v>규칙 5개</c:v>
                  </c:pt>
                  <c:pt idx="2">
                    <c:v>인식기 교체</c:v>
                  </c:pt>
                  <c:pt idx="3">
                    <c:v>탐지기 교체</c:v>
                  </c:pt>
                  <c:pt idx="4">
                    <c:v>신뢰 등급</c:v>
                  </c:pt>
                  <c:pt idx="5">
                    <c:v>도트 폴백</c:v>
                  </c:pt>
                  <c:pt idx="6">
                    <c:v>2패스 다수결</c:v>
                  </c:pt>
                  <c:pt idx="7">
                    <c:v>규칙 v5·v6</c:v>
                  </c:pt>
                  <c:pt idx="8">
                    <c:v>파인튜닝 폴백</c:v>
                  </c:pt>
                  <c:pt idx="9">
                    <c:v>예선 제출</c:v>
                  </c:pt>
                  <c:pt idx="10">
                    <c:v>본선 통합</c:v>
                  </c:pt>
                </c:lvl>
              </c:multiLvlStrCache>
            </c:multiLvlStrRef>
          </c:cat>
          <c:val>
            <c:numRef>
              <c:f>Sheet1!$B$2:$B$12</c:f>
              <c:numCache>
                <c:formatCode>General</c:formatCode>
                <c:ptCount val="11"/>
                <c:pt idx="0">
                  <c:v>39.1</c:v>
                </c:pt>
                <c:pt idx="1">
                  <c:v>44.4</c:v>
                </c:pt>
                <c:pt idx="2">
                  <c:v>60.9</c:v>
                </c:pt>
                <c:pt idx="3">
                  <c:v>71.2</c:v>
                </c:pt>
                <c:pt idx="4">
                  <c:v>73.6</c:v>
                </c:pt>
                <c:pt idx="5">
                  <c:v>77</c:v>
                </c:pt>
                <c:pt idx="6">
                  <c:v>78.4</c:v>
                </c:pt>
                <c:pt idx="7">
                  <c:v>81.8</c:v>
                </c:pt>
                <c:pt idx="8">
                  <c:v>83.2</c:v>
                </c:pt>
                <c:pt idx="9">
                  <c:v>84.2</c:v>
                </c:pt>
                <c:pt idx="10">
                  <c:v>86.2</c:v>
                </c:pt>
              </c:numCache>
            </c:numRef>
          </c:val>
        </c:ser>
        <c:dLbls>
          <c:numFmt formatCode="0.0" sourceLinked="0"/>
          <c:txPr>
            <a:bodyPr/>
            <a:lstStyle/>
            <a:p>
              <a:pPr>
                <a:defRPr b="0" i="0" strike="noStrike" sz="9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900000"/>
          <a:lstStyle/>
          <a:p>
            <a:pPr>
              <a:defRPr sz="800" b="0" i="0" u="none" strike="noStrike">
                <a:solidFill>
                  <a:srgbClr val="6B6B6B"/>
                </a:solidFill>
                <a:latin typeface="Pretendard SemiBold"/>
              </a:defRPr>
            </a:pPr>
            <a:endParaRPr lang="en-US"/>
          </a:p>
        </c:txPr>
        <c:crossAx val="2094734552"/>
        <c:crosses val="autoZero"/>
        <c:auto val="1"/>
        <c:lblAlgn val="ctr"/>
        <c:noMultiLvlLbl val="1"/>
      </c:catAx>
      <c:valAx>
        <c:axId val="2094734552"/>
        <c:scaling>
          <c:orientation val="minMax"/>
          <c:max val="95"/>
          <c:min val="3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비율(%)</c:v>
                </c:pt>
              </c:strCache>
            </c:strRef>
          </c:tx>
          <c:spPr>
            <a:solidFill>
              <a:srgbClr val="8B0000"/>
            </a:solidFill>
            <a:effectLst/>
          </c:spPr>
          <c:invertIfNegative val="0"/>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dPt>
            <c:idx val="0"/>
            <c:invertIfNegative val="0"/>
            <c:bubble3D val="0"/>
            <c:spPr>
              <a:solidFill>
                <a:srgbClr val="8B0000"/>
              </a:solidFill>
              <a:effectLst/>
            </c:spPr>
          </c:dPt>
          <c:dPt>
            <c:idx val="1"/>
            <c:invertIfNegative val="0"/>
            <c:bubble3D val="0"/>
            <c:spPr>
              <a:solidFill>
                <a:srgbClr val="9A9A9A"/>
              </a:solidFill>
              <a:effectLst/>
            </c:spPr>
          </c:dPt>
          <c:dPt>
            <c:idx val="2"/>
            <c:invertIfNegative val="0"/>
            <c:bubble3D val="0"/>
            <c:spPr>
              <a:solidFill>
                <a:srgbClr val="5A5A5A"/>
              </a:solidFill>
              <a:effectLst/>
            </c:spPr>
          </c:dPt>
          <c:cat>
            <c:multiLvlStrRef>
              <c:f>Sheet1!$A$2:$A$4</c:f>
              <c:multiLvlStrCache>
                <c:ptCount val="3"/>
                <c:lvl>
                  <c:pt idx="0">
                    <c:v>늦게 읽음 (남은 날이 많게 표시)</c:v>
                  </c:pt>
                  <c:pt idx="1">
                    <c:v>이르게 읽음</c:v>
                  </c:pt>
                  <c:pt idx="2">
                    <c:v>못 읽음 → 빈칸</c:v>
                  </c:pt>
                </c:lvl>
              </c:multiLvlStrCache>
            </c:multiLvlStrRef>
          </c:cat>
          <c:val>
            <c:numRef>
              <c:f>Sheet1!$B$2:$B$4</c:f>
              <c:numCache>
                <c:formatCode>General</c:formatCode>
                <c:ptCount val="3"/>
                <c:pt idx="0">
                  <c:v>4.9</c:v>
                </c:pt>
                <c:pt idx="1">
                  <c:v>15.8</c:v>
                </c:pt>
                <c:pt idx="2">
                  <c:v>21.9</c:v>
                </c:pt>
              </c:numCache>
            </c:numRef>
          </c:val>
        </c:ser>
        <c:dLbls>
          <c:numFmt formatCode="0.0" sourceLinked="0"/>
          <c:txPr>
            <a:bodyPr/>
            <a:lstStyle/>
            <a:p>
              <a:pPr>
                <a:defRPr b="0" i="0" strike="noStrike" sz="1000" u="none">
                  <a:solidFill>
                    <a:srgbClr val="1A1A1A"/>
                  </a:solidFill>
                  <a:latin typeface="Pretendard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A1A1A"/>
                </a:solidFill>
                <a:latin typeface="Pretendard SemiBold"/>
              </a:defRPr>
            </a:pPr>
            <a:endParaRPr lang="en-US"/>
          </a:p>
        </c:txPr>
        <c:crossAx val="2094734552"/>
        <c:crosses val="autoZero"/>
        <c:auto val="1"/>
        <c:lblAlgn val="ctr"/>
        <c:noMultiLvlLbl val="1"/>
      </c:catAx>
      <c:valAx>
        <c:axId val="2094734552"/>
        <c:scaling>
          <c:orientation val="minMax"/>
          <c:max val="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CODE 서브웨이 팀입니다. 저희는 상품 뒷면 사진에서 소비기한을 읽는 OCR을 만들었습니다. 오늘 드릴 말씀의 핵심은 제목 그대로입니다. 저희 시스템은 잘 읽는 것만큼, 못 읽었을 때 못 읽었다고 말하는 것을 중요하게 설계했습니다. 왜 그렇게 했는지, 그리고 그 설계가 중고거래 서비스에서 어떤 의미인지 10분 동안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문제와 제약입니다.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번째는 검증 설계입니다. 심사에서 가장 먼저 확인하실 부분이라고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정답이 없으니 자부터 만들었습니다. 먼저 날짜를 어떻게 해석할지 규칙을 문서로 정하고, 그 규칙대로 동작하는 라벨링 도구를 만들어 3,352장 전부에 다섯 명이 직접 라벨을 달았습니다. 그중 500장은 따로 봉인해서 학습과 규칙 도출에 쓰지 않고 측정에만 썼고, 오늘 말씀드리는 공식 수치는 전부 이 500장 기준입니다. 기능을 넣을지는 나머지 2,852장에서 판정했고, 새로 맞힌 장과 새로 틀린 장을 따로 세어 퇴보가 크면 점수가 올라도 버렸습니다. 정답 라벨도 의심했습니다. 오답을 다시 보니 라벨이 틀린 게 23장, 그중 16장은 모델이 맞은 경우였습니다.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아키텍처입니다.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중요한 건 아래 표입니다. 비용이 큰 단계는 전부 조건부입니다. 대부분의 사진은 위 한 줄로 끝나고, 어려운 사진에서만 재탐지, 도트 폴백, 파인튜닝 인식기가 차례로 동작합니다.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본선에서 가장 먼저 한 일은 오답 진단입니다. 오답 603장마다 정답 날짜가 어느 단계까지 살아 있었는지를 추적했더니 네 가지로 갈렸습니다. 못 읽은 것 183장, 잘못 읽은 것 290장, 그리고 흥미로운 게 세 번째입니다. 처음엔 맞게 읽었는데 다시 읽기 단계가 그 정답을 지워 버린 게 111장이었습니다. 이건 모델 문제가 아니라 저희 코드의 문제였고, 다시 읽기는 교정만 하고 삭제는 못 하게 규칙을 바꿔서 53장을 되찾았습니다. 이렇게 원인을 나눠 놓으니, 모델을 키우는 대신 원인마다 가장 싼 처방을 고를 수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 규칙마다 어떤 오답에서 나왔고 몇 장을 얻고 잃었는지가 기록돼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처음 39%에서 출발해서 예선 제출 때 84.2%, 본선 통합본은 봉인 500장에서 86.2%입니다. 연월일을 따로 채점하는 필드 평균으로는 90.8%입니다. 가장 큰 도약은 탐지기와 인식기를 교체한 구간인데, 속도 때문에 한 결정이 정확도까지 올린 경우입니다. 튜닝에 쓴 2,852장에서는 82.3에서 86.7로 올랐고, 한 번도 보지 않은 봉인 셋에서도 같이 올랐기 때문에 튜닝 셋에 과적합된 상승이 아니라고 판단합니다.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시도한 것 중 절반은 버렸습니다. 대표적인 게 파인튜닝입니다. 저희 라벨로 학습시킨 인식기를 다시 읽기 단계에 썼더니 점수는 올랐습니다. 그런데 새로 맞힌 게 86장, 새로 틀린 게 64장이었습니다. 전체 점수는 올랐지만 잘 맞히던 사진 64장을 망가뜨린 겁니다. 그래서 기각했고, 기존 인식기가 못 읽은 사진에만 쓰는 방식으로 넣어 퇴보 없이 7장을 얻었습니다. 합성 데이터도, 해상도 상향도 같은 기준으로 버렸습니다.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속도입니다. 개발 PC 두 대에서 스레드를 4개로 제한해 쟀을 때 장당 2.7초에서 4초, 500장에 한도의 55에서 79퍼센트입니다. 메모리는 1.25기가, 학습은 무료 코랩만 써서 비용이 0원입니다. 탐지는 줄인 사진에서 한 번만 하고, 인식은 큰 글자부터 읽다가 날짜를 찾으면 멈춥니다. 오른쪽이 시간 가드입니다. 채점 서버가 얼마나 빠른지 저희는 모릅니다. 그래서 속도를 지켜보다가 늦을 것 같으면 단계적으로 가벼워지고, 최악의 경우에도 결과 파일은 반드시 나오게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서비스 적용입니다.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적용 대상은 중고거래 플랫폼의 식품과 건강기능식품 게시글입니다. 소비기한은 판매자가 손으로 적고 구매자는 확인할 방법이 없습니다. 약사 단체 모니터링에서 적발된 위반 중 가장 많은 유형이 사용기한 확인 불가였고, 게시글은 한 달에 2만 4천 건인데 전담 모니터링 인력은 다섯 명으로 보도됐습니다. 화면은 시연용 설계안이고, 실제 앱을 만든 것은 아닙니다.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플랫폼에는 사진을 읽어 글을 자동으로 써 주는 기능이 이미 있습니다. 저희는 소비기한 판독을 그 게시 흐름에 잇습니다.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확신도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아키텍처입니다. 지금은 서버 추론 하나만 돌아갑니다. 모델이 21메가바이트로 작아 폰 안에서 직접 돌리는 온디바이스도 가능할 걸로 보지만, 아직 재 보지 않아 다음 단계로 남겨 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손실 절감과 ROI입니다. 손익분기 처리비가 사람 검토 비용 86원의 9배에서 220배라, 저희는 비용 절감이 아니라 규제 대응을 도입 이유로 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한계입니다. 판매자가 폰으로 찍는 사진이 저희 약점입니다. 팀원 네 명이 어려운 유형 위주로 389장을 직접 찍어 돌렸더니 다섯 장 중 한 장은 읽지 못했습니다. 봉인 500장의 일곱 배입니다. 가장 위험한 것은 늦게 읽어서 남은 날이 많게 표시되는 경우로 4.9퍼센트입니다. 그래서 채운 값 옆에 늘 날짜 확대본을 보여 주고, 읽은 값만으로 게시를 막지 않습니다. 조작과 개봉 여부는 막지 못하고, 판매자가 보지 않고 확인을 누르는 비율은 재지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모호한 날짜 표기를 어떻게 해석하는지와 그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질의응답용 부록입니다. 측정셋별 수치 전체입니다.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1097280"/>
            <a:ext cx="73152" cy="1143000"/>
          </a:xfrm>
          <a:prstGeom prst="rect">
            <a:avLst/>
          </a:prstGeom>
          <a:solidFill>
            <a:srgbClr val="FFFFFF"/>
          </a:solidFill>
          <a:ln w="12700">
            <a:solidFill>
              <a:srgbClr val="FFFFFF"/>
            </a:solidFill>
            <a:prstDash val="solid"/>
          </a:ln>
        </p:spPr>
      </p:sp>
      <p:sp>
        <p:nvSpPr>
          <p:cNvPr id="3" name="Text 1"/>
          <p:cNvSpPr txBox="1"/>
          <p:nvPr/>
        </p:nvSpPr>
        <p:spPr>
          <a:xfrm>
            <a:off x="868680" y="1051560"/>
            <a:ext cx="7863840" cy="640080"/>
          </a:xfrm>
          <a:prstGeom prst="rect">
            <a:avLst/>
          </a:prstGeom>
          <a:noFill/>
          <a:ln/>
        </p:spPr>
        <p:txBody>
          <a:bodyPr wrap="square" lIns="0" tIns="0" rIns="0" bIns="0" rtlCol="0" anchor="ctr"/>
          <a:lstStyle/>
          <a:p>
            <a:pPr indent="0" marL="0">
              <a:buNone/>
            </a:pPr>
            <a:r>
              <a:rPr lang="en-US" sz="3000" dirty="0">
                <a:solidFill>
                  <a:srgbClr val="FFFFFF"/>
                </a:solidFill>
                <a:latin typeface="Pretendard SemiBold" pitchFamily="34" charset="0"/>
                <a:ea typeface="Pretendard SemiBold" pitchFamily="34" charset="-122"/>
                <a:cs typeface="Pretendard SemiBold" pitchFamily="34" charset="-120"/>
              </a:rPr>
              <a:t>읽지 못하면, 읽지 못했다고 말하는 OCR</a:t>
            </a:r>
            <a:endParaRPr lang="en-US" sz="3000" dirty="0"/>
          </a:p>
        </p:txBody>
      </p:sp>
      <p:sp>
        <p:nvSpPr>
          <p:cNvPr id="4" name="Text 2"/>
          <p:cNvSpPr txBox="1"/>
          <p:nvPr/>
        </p:nvSpPr>
        <p:spPr>
          <a:xfrm>
            <a:off x="868680" y="1719072"/>
            <a:ext cx="7863840" cy="502920"/>
          </a:xfrm>
          <a:prstGeom prst="rect">
            <a:avLst/>
          </a:prstGeom>
          <a:noFill/>
          <a:ln/>
        </p:spPr>
        <p:txBody>
          <a:bodyPr wrap="square" lIns="0" tIns="0" rIns="0" bIns="0" rtlCol="0" anchor="ctr"/>
          <a:lstStyle/>
          <a:p>
            <a:pPr indent="0" marL="0">
              <a:buNone/>
            </a:pPr>
            <a:r>
              <a:rPr lang="en-US" sz="2000" dirty="0">
                <a:solidFill>
                  <a:srgbClr val="FFFFFF"/>
                </a:solidFill>
                <a:latin typeface="Pretendard SemiBold" pitchFamily="34" charset="0"/>
                <a:ea typeface="Pretendard SemiBold" pitchFamily="34" charset="-122"/>
                <a:cs typeface="Pretendard SemiBold" pitchFamily="34" charset="-120"/>
              </a:rPr>
              <a:t>소비기한 추출 파이프라인과 중고거래 게시글 적용</a:t>
            </a:r>
            <a:endParaRPr lang="en-US" sz="2000" dirty="0"/>
          </a:p>
        </p:txBody>
      </p:sp>
      <p:sp>
        <p:nvSpPr>
          <p:cNvPr id="5" name="Text 3"/>
          <p:cNvSpPr txBox="1"/>
          <p:nvPr/>
        </p:nvSpPr>
        <p:spPr>
          <a:xfrm>
            <a:off x="868680" y="2468880"/>
            <a:ext cx="7589520" cy="320040"/>
          </a:xfrm>
          <a:prstGeom prst="rect">
            <a:avLst/>
          </a:prstGeom>
          <a:noFill/>
          <a:ln/>
        </p:spPr>
        <p:txBody>
          <a:bodyPr wrap="square" lIns="0" tIns="0" rIns="0" bIns="0" rtlCol="0" anchor="t"/>
          <a:lstStyle/>
          <a:p>
            <a:pPr indent="0" marL="0">
              <a:buNone/>
            </a:pPr>
            <a:r>
              <a:rPr lang="en-US" sz="1300" dirty="0">
                <a:solidFill>
                  <a:srgbClr val="FFFFFF"/>
                </a:solidFill>
                <a:latin typeface="Pretendard SemiBold" pitchFamily="34" charset="0"/>
                <a:ea typeface="Pretendard SemiBold" pitchFamily="34" charset="-122"/>
                <a:cs typeface="Pretendard SemiBold" pitchFamily="34" charset="-120"/>
              </a:rPr>
              <a:t>4코어 CPU · GPU 없음 · 오프라인 환경에서의 경량 OCR 설계와 검증</a:t>
            </a:r>
            <a:endParaRPr lang="en-US" sz="1300" dirty="0"/>
          </a:p>
        </p:txBody>
      </p:sp>
      <p:sp>
        <p:nvSpPr>
          <p:cNvPr id="6" name="Text 4"/>
          <p:cNvSpPr txBox="1"/>
          <p:nvPr/>
        </p:nvSpPr>
        <p:spPr>
          <a:xfrm>
            <a:off x="868680" y="3977640"/>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제3회 ITDA 연합학술제 본선  |  [CODE]_서브웨이</a:t>
            </a:r>
            <a:endParaRPr lang="en-US" sz="1200" dirty="0"/>
          </a:p>
        </p:txBody>
      </p:sp>
      <p:sp>
        <p:nvSpPr>
          <p:cNvPr id="7" name="Text 5"/>
          <p:cNvSpPr txBox="1"/>
          <p:nvPr/>
        </p:nvSpPr>
        <p:spPr>
          <a:xfrm>
            <a:off x="868680" y="4279392"/>
            <a:ext cx="7589520" cy="274320"/>
          </a:xfrm>
          <a:prstGeom prst="rect">
            <a:avLst/>
          </a:prstGeom>
          <a:noFill/>
          <a:ln/>
        </p:spPr>
        <p:txBody>
          <a:bodyPr wrap="square" lIns="0" tIns="0" rIns="0" bIns="0" rtlCol="0" anchor="t"/>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민섭 · 서현 · 병철 · 승아 · 서영</a:t>
            </a:r>
            <a:endParaRPr lang="en-US" sz="1200" dirty="0"/>
          </a:p>
        </p:txBody>
      </p:sp>
      <p:sp>
        <p:nvSpPr>
          <p:cNvPr id="8" name="Text 6"/>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1</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문제 정의</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어떤 제약 아래에서 풀었는가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출발점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제약이 설계를 결정했다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3</a:t>
            </a:r>
            <a:endParaRPr lang="en-US" sz="900" dirty="0"/>
          </a:p>
        </p:txBody>
      </p:sp>
      <p:sp>
        <p:nvSpPr>
          <p:cNvPr id="6" name="Shape 4"/>
          <p:cNvSpPr/>
          <p:nvPr/>
        </p:nvSpPr>
        <p:spPr>
          <a:xfrm>
            <a:off x="274320" y="960120"/>
            <a:ext cx="2779776" cy="2240280"/>
          </a:xfrm>
          <a:prstGeom prst="roundRect">
            <a:avLst>
              <a:gd name="adj" fmla="val 3265"/>
            </a:avLst>
          </a:prstGeom>
          <a:solidFill>
            <a:srgbClr val="F2F2F2"/>
          </a:solidFill>
          <a:ln w="12700">
            <a:solidFill>
              <a:srgbClr val="F2F2F2"/>
            </a:solidFill>
            <a:prstDash val="solid"/>
          </a:ln>
        </p:spPr>
      </p:sp>
      <p:sp>
        <p:nvSpPr>
          <p:cNvPr id="7" name="Text 5"/>
          <p:cNvSpPr txBox="1"/>
          <p:nvPr/>
        </p:nvSpPr>
        <p:spPr>
          <a:xfrm>
            <a:off x="457200"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3,352장</a:t>
            </a:r>
            <a:endParaRPr lang="en-US" sz="3400" dirty="0"/>
          </a:p>
        </p:txBody>
      </p:sp>
      <p:sp>
        <p:nvSpPr>
          <p:cNvPr id="8" name="Text 6"/>
          <p:cNvSpPr txBox="1"/>
          <p:nvPr/>
        </p:nvSpPr>
        <p:spPr>
          <a:xfrm>
            <a:off x="457200"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정답 라벨 없음</a:t>
            </a:r>
            <a:endParaRPr lang="en-US" sz="1350" dirty="0"/>
          </a:p>
        </p:txBody>
      </p:sp>
      <p:sp>
        <p:nvSpPr>
          <p:cNvPr id="9" name="Text 7"/>
          <p:cNvSpPr txBox="1"/>
          <p:nvPr/>
        </p:nvSpPr>
        <p:spPr>
          <a:xfrm>
            <a:off x="457200"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상품 뒷면 사진만 제공. 정확도를 잴 기준부터 직접 만들어야 했다</a:t>
            </a:r>
            <a:endParaRPr lang="en-US" sz="1200" dirty="0"/>
          </a:p>
        </p:txBody>
      </p:sp>
      <p:sp>
        <p:nvSpPr>
          <p:cNvPr id="10" name="Shape 8"/>
          <p:cNvSpPr/>
          <p:nvPr/>
        </p:nvSpPr>
        <p:spPr>
          <a:xfrm>
            <a:off x="3182112" y="960120"/>
            <a:ext cx="2779776" cy="2240280"/>
          </a:xfrm>
          <a:prstGeom prst="roundRect">
            <a:avLst>
              <a:gd name="adj" fmla="val 3265"/>
            </a:avLst>
          </a:prstGeom>
          <a:solidFill>
            <a:srgbClr val="F2F2F2"/>
          </a:solidFill>
          <a:ln w="12700">
            <a:solidFill>
              <a:srgbClr val="F2F2F2"/>
            </a:solidFill>
            <a:prstDash val="solid"/>
          </a:ln>
        </p:spPr>
      </p:sp>
      <p:sp>
        <p:nvSpPr>
          <p:cNvPr id="11" name="Text 9"/>
          <p:cNvSpPr txBox="1"/>
          <p:nvPr/>
        </p:nvSpPr>
        <p:spPr>
          <a:xfrm>
            <a:off x="3364992"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4코어 CPU</a:t>
            </a:r>
            <a:endParaRPr lang="en-US" sz="3400" dirty="0"/>
          </a:p>
        </p:txBody>
      </p:sp>
      <p:sp>
        <p:nvSpPr>
          <p:cNvPr id="12" name="Text 10"/>
          <p:cNvSpPr txBox="1"/>
          <p:nvPr/>
        </p:nvSpPr>
        <p:spPr>
          <a:xfrm>
            <a:off x="3364992"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GPU 없음 · 오프라인</a:t>
            </a:r>
            <a:endParaRPr lang="en-US" sz="1350" dirty="0"/>
          </a:p>
        </p:txBody>
      </p:sp>
      <p:sp>
        <p:nvSpPr>
          <p:cNvPr id="13" name="Text 11"/>
          <p:cNvSpPr txBox="1"/>
          <p:nvPr/>
        </p:nvSpPr>
        <p:spPr>
          <a:xfrm>
            <a:off x="3364992"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채점 서버 Ubuntu 22.04, RAM 8GB. 무거운 모델·외부 API 사용 불가</a:t>
            </a:r>
            <a:endParaRPr lang="en-US" sz="1200" dirty="0"/>
          </a:p>
        </p:txBody>
      </p:sp>
      <p:sp>
        <p:nvSpPr>
          <p:cNvPr id="14" name="Shape 12"/>
          <p:cNvSpPr/>
          <p:nvPr/>
        </p:nvSpPr>
        <p:spPr>
          <a:xfrm>
            <a:off x="6089904" y="960120"/>
            <a:ext cx="2779776" cy="2240280"/>
          </a:xfrm>
          <a:prstGeom prst="roundRect">
            <a:avLst>
              <a:gd name="adj" fmla="val 3265"/>
            </a:avLst>
          </a:prstGeom>
          <a:solidFill>
            <a:srgbClr val="F2F2F2"/>
          </a:solidFill>
          <a:ln w="12700">
            <a:solidFill>
              <a:srgbClr val="F2F2F2"/>
            </a:solidFill>
            <a:prstDash val="solid"/>
          </a:ln>
        </p:spPr>
      </p:sp>
      <p:sp>
        <p:nvSpPr>
          <p:cNvPr id="15" name="Text 13"/>
          <p:cNvSpPr txBox="1"/>
          <p:nvPr/>
        </p:nvSpPr>
        <p:spPr>
          <a:xfrm>
            <a:off x="6272784" y="1115568"/>
            <a:ext cx="2414016" cy="640080"/>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2,500초</a:t>
            </a:r>
            <a:endParaRPr lang="en-US" sz="3400" dirty="0"/>
          </a:p>
        </p:txBody>
      </p:sp>
      <p:sp>
        <p:nvSpPr>
          <p:cNvPr id="16" name="Text 14"/>
          <p:cNvSpPr txBox="1"/>
          <p:nvPr/>
        </p:nvSpPr>
        <p:spPr>
          <a:xfrm>
            <a:off x="6272784" y="1783080"/>
            <a:ext cx="2414016" cy="320040"/>
          </a:xfrm>
          <a:prstGeom prst="rect">
            <a:avLst/>
          </a:prstGeom>
          <a:noFill/>
          <a:ln/>
        </p:spPr>
        <p:txBody>
          <a:bodyPr wrap="square" lIns="0" tIns="0" rIns="0" bIns="0" rtlCol="0" anchor="t"/>
          <a:lstStyle/>
          <a:p>
            <a:pPr indent="0" marL="0">
              <a:buNone/>
            </a:pPr>
            <a:r>
              <a:rPr lang="en-US" sz="1350" dirty="0">
                <a:solidFill>
                  <a:srgbClr val="1A1A1A"/>
                </a:solidFill>
                <a:latin typeface="Pretendard SemiBold" pitchFamily="34" charset="0"/>
                <a:ea typeface="Pretendard SemiBold" pitchFamily="34" charset="-122"/>
                <a:cs typeface="Pretendard SemiBold" pitchFamily="34" charset="-120"/>
              </a:rPr>
              <a:t>500장 제한 시간</a:t>
            </a:r>
            <a:endParaRPr lang="en-US" sz="1350" dirty="0"/>
          </a:p>
        </p:txBody>
      </p:sp>
      <p:sp>
        <p:nvSpPr>
          <p:cNvPr id="17" name="Text 15"/>
          <p:cNvSpPr txBox="1"/>
          <p:nvPr/>
        </p:nvSpPr>
        <p:spPr>
          <a:xfrm>
            <a:off x="6272784" y="2194560"/>
            <a:ext cx="2414016" cy="914400"/>
          </a:xfrm>
          <a:prstGeom prst="rect">
            <a:avLst/>
          </a:prstGeom>
          <a:noFill/>
          <a:ln/>
        </p:spPr>
        <p:txBody>
          <a:bodyPr wrap="square" lIns="0" tIns="0" rIns="0" bIns="0" rtlCol="0" anchor="t"/>
          <a:lstStyle/>
          <a:p>
            <a:pPr indent="0" marL="0">
              <a:buNone/>
            </a:pPr>
            <a:r>
              <a:rPr lang="en-US" sz="1200" dirty="0">
                <a:solidFill>
                  <a:srgbClr val="6B6B6B"/>
                </a:solidFill>
                <a:latin typeface="Pretendard SemiBold" pitchFamily="34" charset="0"/>
                <a:ea typeface="Pretendard SemiBold" pitchFamily="34" charset="-122"/>
                <a:cs typeface="Pretendard SemiBold" pitchFamily="34" charset="-120"/>
              </a:rPr>
              <a:t>초과하면 결과 파일이 나오지 않아 정확도까지 0점. 장당 5초가 상한</a:t>
            </a:r>
            <a:endParaRPr lang="en-US" sz="1200" dirty="0"/>
          </a:p>
        </p:txBody>
      </p:sp>
      <p:sp>
        <p:nvSpPr>
          <p:cNvPr id="18" name="Text 16"/>
          <p:cNvSpPr txBox="1"/>
          <p:nvPr/>
        </p:nvSpPr>
        <p:spPr>
          <a:xfrm>
            <a:off x="274320" y="352044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EasyOCR 탐지기를 쓴 초기 구성은 4코어에서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장당 5.8초, 500장 2,905초</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한도를 넘겼다</a:t>
            </a:r>
            <a:endParaRPr lang="en-US" sz="1250" dirty="0"/>
          </a:p>
        </p:txBody>
      </p:sp>
      <p:sp>
        <p:nvSpPr>
          <p:cNvPr id="19" name="Text 17"/>
          <p:cNvSpPr txBox="1"/>
          <p:nvPr/>
        </p:nvSpPr>
        <p:spPr>
          <a:xfrm>
            <a:off x="274320" y="3840480"/>
            <a:ext cx="8595360" cy="274320"/>
          </a:xfrm>
          <a:prstGeom prst="rect">
            <a:avLst/>
          </a:prstGeom>
          <a:noFill/>
          <a:ln/>
        </p:spPr>
        <p:txBody>
          <a:bodyPr wrap="square" lIns="0" tIns="0" rIns="0" bIns="0" rtlCol="0" anchor="t"/>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정확도를 올리기 전에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"끝까지 돌아가는가"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부터 풀어야 하는 문제였다</a:t>
            </a:r>
            <a:endParaRPr lang="en-US" sz="1250" dirty="0"/>
          </a:p>
        </p:txBody>
      </p:sp>
      <p:sp>
        <p:nvSpPr>
          <p:cNvPr id="20" name="Shape 1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1" name="Text 1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그래서 모든 설계 결정에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정확도와 시간을 함께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기록했다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2</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데이터와 검증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정답이 없는 데이터에서 정확도를 재는 법</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검증 설계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규칙을 먼저 정하고, 시험지를 봉인했다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5</a:t>
            </a:r>
            <a:endParaRPr lang="en-US" sz="900" dirty="0"/>
          </a:p>
        </p:txBody>
      </p:sp>
      <p:sp>
        <p:nvSpPr>
          <p:cNvPr id="6" name="Shape 4"/>
          <p:cNvSpPr/>
          <p:nvPr/>
        </p:nvSpPr>
        <p:spPr>
          <a:xfrm>
            <a:off x="274320" y="960120"/>
            <a:ext cx="310896" cy="310896"/>
          </a:xfrm>
          <a:prstGeom prst="ellipse">
            <a:avLst/>
          </a:prstGeom>
          <a:solidFill>
            <a:srgbClr val="8B0000"/>
          </a:solidFill>
          <a:ln w="12700">
            <a:solidFill>
              <a:srgbClr val="8B0000"/>
            </a:solidFill>
            <a:prstDash val="solid"/>
          </a:ln>
        </p:spPr>
      </p:sp>
      <p:sp>
        <p:nvSpPr>
          <p:cNvPr id="7" name="Text 5"/>
          <p:cNvSpPr txBox="1"/>
          <p:nvPr/>
        </p:nvSpPr>
        <p:spPr>
          <a:xfrm>
            <a:off x="274320" y="960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8" name="Text 6"/>
          <p:cNvSpPr txBox="1"/>
          <p:nvPr/>
        </p:nvSpPr>
        <p:spPr>
          <a:xfrm>
            <a:off x="658368" y="960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해석 규칙을 먼저 문서로 확정</a:t>
            </a:r>
            <a:endParaRPr lang="en-US" sz="1300" dirty="0"/>
          </a:p>
        </p:txBody>
      </p:sp>
      <p:sp>
        <p:nvSpPr>
          <p:cNvPr id="9" name="Text 7"/>
          <p:cNvSpPr txBox="1"/>
          <p:nvPr/>
        </p:nvSpPr>
        <p:spPr>
          <a:xfrm>
            <a:off x="658368" y="1280160"/>
            <a:ext cx="3657600" cy="73152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라벨러는 포장에 찍힌 그대로만 입력. 해석(연·월·일 순서, 2자리 연도)은 도구가 규칙으로 처리 → 라벨과 모델이 같은 규칙을 쓴다</a:t>
            </a:r>
            <a:endParaRPr lang="en-US" sz="1100" dirty="0"/>
          </a:p>
        </p:txBody>
      </p:sp>
      <p:sp>
        <p:nvSpPr>
          <p:cNvPr id="10" name="Shape 8"/>
          <p:cNvSpPr/>
          <p:nvPr/>
        </p:nvSpPr>
        <p:spPr>
          <a:xfrm>
            <a:off x="274320" y="2103120"/>
            <a:ext cx="310896" cy="310896"/>
          </a:xfrm>
          <a:prstGeom prst="ellipse">
            <a:avLst/>
          </a:prstGeom>
          <a:solidFill>
            <a:srgbClr val="8B0000"/>
          </a:solidFill>
          <a:ln w="12700">
            <a:solidFill>
              <a:srgbClr val="8B0000"/>
            </a:solidFill>
            <a:prstDash val="solid"/>
          </a:ln>
        </p:spPr>
      </p:sp>
      <p:sp>
        <p:nvSpPr>
          <p:cNvPr id="11" name="Text 9"/>
          <p:cNvSpPr txBox="1"/>
          <p:nvPr/>
        </p:nvSpPr>
        <p:spPr>
          <a:xfrm>
            <a:off x="274320" y="21031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2" name="Text 10"/>
          <p:cNvSpPr txBox="1"/>
          <p:nvPr/>
        </p:nvSpPr>
        <p:spPr>
          <a:xfrm>
            <a:off x="658368" y="210312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3,352장 전수 직접 라벨링</a:t>
            </a:r>
            <a:endParaRPr lang="en-US" sz="1300" dirty="0"/>
          </a:p>
        </p:txBody>
      </p:sp>
      <p:sp>
        <p:nvSpPr>
          <p:cNvPr id="13" name="Text 11"/>
          <p:cNvSpPr txBox="1"/>
          <p:nvPr/>
        </p:nvSpPr>
        <p:spPr>
          <a:xfrm>
            <a:off x="658368" y="242316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5명 분담, 자체 제작 라벨링 도구. 오답 530장을 사람이 다시 보고 라벨 오류 23장 수정</a:t>
            </a:r>
            <a:endParaRPr lang="en-US" sz="1100" dirty="0"/>
          </a:p>
        </p:txBody>
      </p:sp>
      <p:sp>
        <p:nvSpPr>
          <p:cNvPr id="14" name="Shape 12"/>
          <p:cNvSpPr/>
          <p:nvPr/>
        </p:nvSpPr>
        <p:spPr>
          <a:xfrm>
            <a:off x="274320" y="3154680"/>
            <a:ext cx="310896" cy="310896"/>
          </a:xfrm>
          <a:prstGeom prst="ellipse">
            <a:avLst/>
          </a:prstGeom>
          <a:solidFill>
            <a:srgbClr val="8B0000"/>
          </a:solidFill>
          <a:ln w="12700">
            <a:solidFill>
              <a:srgbClr val="8B0000"/>
            </a:solidFill>
            <a:prstDash val="solid"/>
          </a:ln>
        </p:spPr>
      </p:sp>
      <p:sp>
        <p:nvSpPr>
          <p:cNvPr id="15" name="Text 13"/>
          <p:cNvSpPr txBox="1"/>
          <p:nvPr/>
        </p:nvSpPr>
        <p:spPr>
          <a:xfrm>
            <a:off x="274320" y="315468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16" name="Text 14"/>
          <p:cNvSpPr txBox="1"/>
          <p:nvPr/>
        </p:nvSpPr>
        <p:spPr>
          <a:xfrm>
            <a:off x="658368" y="3154680"/>
            <a:ext cx="3657600" cy="310896"/>
          </a:xfrm>
          <a:prstGeom prst="rect">
            <a:avLst/>
          </a:prstGeom>
          <a:noFill/>
          <a:ln/>
        </p:spPr>
        <p:txBody>
          <a:bodyPr wrap="square" lIns="0" tIns="0" rIns="0" bIns="0" rtlCol="0" anchor="ctr"/>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약점 유형만 골라 추가 촬영</a:t>
            </a:r>
            <a:endParaRPr lang="en-US" sz="1300" dirty="0"/>
          </a:p>
        </p:txBody>
      </p:sp>
      <p:sp>
        <p:nvSpPr>
          <p:cNvPr id="17" name="Text 15"/>
          <p:cNvSpPr txBox="1"/>
          <p:nvPr/>
        </p:nvSpPr>
        <p:spPr>
          <a:xfrm>
            <a:off x="658368" y="3474720"/>
            <a:ext cx="3657600" cy="640080"/>
          </a:xfrm>
          <a:prstGeom prst="rect">
            <a:avLst/>
          </a:prstGeom>
          <a:noFill/>
          <a:ln/>
        </p:spPr>
        <p:txBody>
          <a:bodyPr wrap="square" lIns="0" tIns="0" rIns="0" bIns="0" rtlCol="0" anchor="t"/>
          <a:lstStyle/>
          <a:p>
            <a:pPr indent="0" marL="0">
              <a:buNone/>
            </a:pPr>
            <a:r>
              <a:rPr lang="en-US" sz="1100" dirty="0">
                <a:solidFill>
                  <a:srgbClr val="6B6B6B"/>
                </a:solidFill>
                <a:latin typeface="Pretendard SemiBold" pitchFamily="34" charset="0"/>
                <a:ea typeface="Pretendard SemiBold" pitchFamily="34" charset="-122"/>
                <a:cs typeface="Pretendard SemiBold" pitchFamily="34" charset="-120"/>
              </a:rPr>
              <a:t>도트 인쇄·각인·두 날짜 병기 위주 489장 촬영, 389장 라벨링. 한 번도 본 적 없는 시험지로 사용</a:t>
            </a:r>
            <a:endParaRPr lang="en-US" sz="1100" dirty="0"/>
          </a:p>
        </p:txBody>
      </p:sp>
      <p:sp>
        <p:nvSpPr>
          <p:cNvPr id="18" name="Shape 16"/>
          <p:cNvSpPr/>
          <p:nvPr/>
        </p:nvSpPr>
        <p:spPr>
          <a:xfrm>
            <a:off x="4572000" y="960120"/>
            <a:ext cx="4297680" cy="3200400"/>
          </a:xfrm>
          <a:prstGeom prst="roundRect">
            <a:avLst>
              <a:gd name="adj" fmla="val 2286"/>
            </a:avLst>
          </a:prstGeom>
          <a:solidFill>
            <a:srgbClr val="F2F2F2"/>
          </a:solidFill>
          <a:ln w="12700">
            <a:solidFill>
              <a:srgbClr val="F2F2F2"/>
            </a:solidFill>
            <a:prstDash val="solid"/>
          </a:ln>
        </p:spPr>
      </p:sp>
      <p:sp>
        <p:nvSpPr>
          <p:cNvPr id="19" name="Text 17"/>
          <p:cNvSpPr txBox="1"/>
          <p:nvPr/>
        </p:nvSpPr>
        <p:spPr>
          <a:xfrm>
            <a:off x="4754880" y="105156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데이터 분리</a:t>
            </a:r>
            <a:endParaRPr lang="en-US" sz="1250" dirty="0"/>
          </a:p>
        </p:txBody>
      </p:sp>
      <p:sp>
        <p:nvSpPr>
          <p:cNvPr id="20" name="Shape 18"/>
          <p:cNvSpPr/>
          <p:nvPr/>
        </p:nvSpPr>
        <p:spPr>
          <a:xfrm>
            <a:off x="4754880" y="1417320"/>
            <a:ext cx="585216" cy="502920"/>
          </a:xfrm>
          <a:prstGeom prst="rect">
            <a:avLst/>
          </a:prstGeom>
          <a:solidFill>
            <a:srgbClr val="8B0000"/>
          </a:solidFill>
          <a:ln w="12700">
            <a:solidFill>
              <a:srgbClr val="8B0000"/>
            </a:solidFill>
            <a:prstDash val="solid"/>
          </a:ln>
        </p:spPr>
      </p:sp>
      <p:sp>
        <p:nvSpPr>
          <p:cNvPr id="21" name="Shape 19"/>
          <p:cNvSpPr/>
          <p:nvPr/>
        </p:nvSpPr>
        <p:spPr>
          <a:xfrm>
            <a:off x="5340096" y="1417320"/>
            <a:ext cx="3346704" cy="502920"/>
          </a:xfrm>
          <a:prstGeom prst="rect">
            <a:avLst/>
          </a:prstGeom>
          <a:solidFill>
            <a:srgbClr val="BDBDBD"/>
          </a:solidFill>
          <a:ln w="12700">
            <a:solidFill>
              <a:srgbClr val="BDBDBD"/>
            </a:solidFill>
            <a:prstDash val="solid"/>
          </a:ln>
        </p:spPr>
      </p:sp>
      <p:sp>
        <p:nvSpPr>
          <p:cNvPr id="22" name="Text 20"/>
          <p:cNvSpPr txBox="1"/>
          <p:nvPr/>
        </p:nvSpPr>
        <p:spPr>
          <a:xfrm>
            <a:off x="4754880" y="1417320"/>
            <a:ext cx="585216" cy="502920"/>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500</a:t>
            </a:r>
            <a:endParaRPr lang="en-US" sz="1200" dirty="0"/>
          </a:p>
        </p:txBody>
      </p:sp>
      <p:sp>
        <p:nvSpPr>
          <p:cNvPr id="23" name="Text 21"/>
          <p:cNvSpPr txBox="1"/>
          <p:nvPr/>
        </p:nvSpPr>
        <p:spPr>
          <a:xfrm>
            <a:off x="5340096" y="1417320"/>
            <a:ext cx="3346704" cy="502920"/>
          </a:xfrm>
          <a:prstGeom prst="rect">
            <a:avLst/>
          </a:prstGeom>
          <a:noFill/>
          <a:ln/>
        </p:spPr>
        <p:txBody>
          <a:bodyPr wrap="square" lIns="0" tIns="0" rIns="0" bIns="0" rtlCol="0" anchor="ctr"/>
          <a:lstStyle/>
          <a:p>
            <a:pPr algn="ct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2,852</a:t>
            </a:r>
            <a:endParaRPr lang="en-US" sz="1200" dirty="0"/>
          </a:p>
        </p:txBody>
      </p:sp>
      <p:sp>
        <p:nvSpPr>
          <p:cNvPr id="24" name="Text 22"/>
          <p:cNvSpPr txBox="1"/>
          <p:nvPr/>
        </p:nvSpPr>
        <p:spPr>
          <a:xfrm>
            <a:off x="4754880" y="201168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봉인 500장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학습·규칙 도출에 쓰지 않음. 측정 전용</a:t>
            </a:r>
            <a:endParaRPr lang="en-US" sz="1100" dirty="0"/>
          </a:p>
        </p:txBody>
      </p:sp>
      <p:sp>
        <p:nvSpPr>
          <p:cNvPr id="25" name="Text 23"/>
          <p:cNvSpPr txBox="1"/>
          <p:nvPr/>
        </p:nvSpPr>
        <p:spPr>
          <a:xfrm>
            <a:off x="4754880" y="2286000"/>
            <a:ext cx="3931920" cy="274320"/>
          </a:xfrm>
          <a:prstGeom prst="rect">
            <a:avLst/>
          </a:prstGeom>
          <a:noFill/>
          <a:ln/>
        </p:spPr>
        <p:txBody>
          <a:bodyPr wrap="square" lIns="0" tIns="0" rIns="0" bIns="0" rtlCol="0" anchor="t"/>
          <a:lstStyle/>
          <a:p>
            <a:pPr indent="0" marL="0">
              <a:buNone/>
            </a:pPr>
            <a:r>
              <a:rPr lang="en-US" sz="1100" dirty="0">
                <a:solidFill>
                  <a:srgbClr val="8B0000"/>
                </a:solidFill>
                <a:latin typeface="Pretendard SemiBold" pitchFamily="34" charset="0"/>
                <a:ea typeface="Pretendard SemiBold" pitchFamily="34" charset="-122"/>
                <a:cs typeface="Pretendard SemiBold" pitchFamily="34" charset="-120"/>
              </a:rPr>
              <a:t>판정용 2,852장</a:t>
            </a:r>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  모든 채택·기각 판정</a:t>
            </a:r>
            <a:endParaRPr lang="en-US" sz="1100" dirty="0"/>
          </a:p>
        </p:txBody>
      </p:sp>
      <p:sp>
        <p:nvSpPr>
          <p:cNvPr id="26" name="Text 24"/>
          <p:cNvSpPr txBox="1"/>
          <p:nvPr/>
        </p:nvSpPr>
        <p:spPr>
          <a:xfrm>
            <a:off x="4754880" y="2697480"/>
            <a:ext cx="393192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채택 기준</a:t>
            </a:r>
            <a:endParaRPr lang="en-US" sz="1250" dirty="0"/>
          </a:p>
        </p:txBody>
      </p:sp>
      <p:sp>
        <p:nvSpPr>
          <p:cNvPr id="27" name="Text 25"/>
          <p:cNvSpPr txBox="1"/>
          <p:nvPr/>
        </p:nvSpPr>
        <p:spPr>
          <a:xfrm>
            <a:off x="4754880" y="2990088"/>
            <a:ext cx="3931920" cy="105156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새로 맞힌 장(회복)과 새로 틀린 장(퇴보)을 따로 센다</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퇴보가 회복의 1/3 을 넘으면 점수가 올라도 기각</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±1%p 는 잡음으로 보고 근거로 쓰지 않는다</a:t>
            </a:r>
            <a:endParaRPr lang="en-US" sz="1100" dirty="0"/>
          </a:p>
        </p:txBody>
      </p:sp>
      <p:sp>
        <p:nvSpPr>
          <p:cNvPr id="28" name="Shape 2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9" name="Text 2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정답 라벨도 검증 대상 : 고친 라벨 23장 중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16장은 모델이 맞은 쪽</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3</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아키텍처 설계</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왜 이 구조인가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전체 파이프라인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쉬운 사진은 한 번에, 어려운 사진에만 비용을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7</a:t>
            </a:r>
            <a:endParaRPr lang="en-US" sz="900" dirty="0"/>
          </a:p>
        </p:txBody>
      </p:sp>
      <p:sp>
        <p:nvSpPr>
          <p:cNvPr id="6" name="Shape 4"/>
          <p:cNvSpPr/>
          <p:nvPr/>
        </p:nvSpPr>
        <p:spPr>
          <a:xfrm>
            <a:off x="274320" y="1005840"/>
            <a:ext cx="1280160" cy="1051560"/>
          </a:xfrm>
          <a:prstGeom prst="roundRect">
            <a:avLst>
              <a:gd name="adj" fmla="val 5217"/>
            </a:avLst>
          </a:prstGeom>
          <a:solidFill>
            <a:srgbClr val="3A3A3A"/>
          </a:solidFill>
          <a:ln w="12700">
            <a:solidFill>
              <a:srgbClr val="3A3A3A"/>
            </a:solidFill>
            <a:prstDash val="solid"/>
          </a:ln>
        </p:spPr>
      </p:sp>
      <p:sp>
        <p:nvSpPr>
          <p:cNvPr id="7" name="Text 5"/>
          <p:cNvSpPr txBox="1"/>
          <p:nvPr/>
        </p:nvSpPr>
        <p:spPr>
          <a:xfrm>
            <a:off x="2743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입력</a:t>
            </a:r>
            <a:endParaRPr lang="en-US" sz="1200" dirty="0"/>
          </a:p>
        </p:txBody>
      </p:sp>
      <p:sp>
        <p:nvSpPr>
          <p:cNvPr id="8" name="Text 6"/>
          <p:cNvSpPr txBox="1"/>
          <p:nvPr/>
        </p:nvSpPr>
        <p:spPr>
          <a:xfrm>
            <a:off x="3200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EXIF 보정</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640px 축소</a:t>
            </a:r>
            <a:endParaRPr lang="en-US" sz="950" dirty="0"/>
          </a:p>
        </p:txBody>
      </p:sp>
      <p:sp>
        <p:nvSpPr>
          <p:cNvPr id="9" name="Text 7"/>
          <p:cNvSpPr txBox="1"/>
          <p:nvPr/>
        </p:nvSpPr>
        <p:spPr>
          <a:xfrm>
            <a:off x="155448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0" name="Shape 8"/>
          <p:cNvSpPr/>
          <p:nvPr/>
        </p:nvSpPr>
        <p:spPr>
          <a:xfrm>
            <a:off x="1737360" y="1005840"/>
            <a:ext cx="1280160" cy="1051560"/>
          </a:xfrm>
          <a:prstGeom prst="roundRect">
            <a:avLst>
              <a:gd name="adj" fmla="val 5217"/>
            </a:avLst>
          </a:prstGeom>
          <a:solidFill>
            <a:srgbClr val="8B0000"/>
          </a:solidFill>
          <a:ln w="12700">
            <a:solidFill>
              <a:srgbClr val="8B0000"/>
            </a:solidFill>
            <a:prstDash val="solid"/>
          </a:ln>
        </p:spPr>
      </p:sp>
      <p:sp>
        <p:nvSpPr>
          <p:cNvPr id="11" name="Text 9"/>
          <p:cNvSpPr txBox="1"/>
          <p:nvPr/>
        </p:nvSpPr>
        <p:spPr>
          <a:xfrm>
            <a:off x="173736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① 탐지</a:t>
            </a:r>
            <a:endParaRPr lang="en-US" sz="1200" dirty="0"/>
          </a:p>
        </p:txBody>
      </p:sp>
      <p:sp>
        <p:nvSpPr>
          <p:cNvPr id="12" name="Text 10"/>
          <p:cNvSpPr txBox="1"/>
          <p:nvPr/>
        </p:nvSpPr>
        <p:spPr>
          <a:xfrm>
            <a:off x="178308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det</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5MB · 장당 1회</a:t>
            </a:r>
            <a:endParaRPr lang="en-US" sz="950" dirty="0"/>
          </a:p>
        </p:txBody>
      </p:sp>
      <p:sp>
        <p:nvSpPr>
          <p:cNvPr id="13" name="Text 11"/>
          <p:cNvSpPr txBox="1"/>
          <p:nvPr/>
        </p:nvSpPr>
        <p:spPr>
          <a:xfrm>
            <a:off x="301752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4" name="Shape 12"/>
          <p:cNvSpPr/>
          <p:nvPr/>
        </p:nvSpPr>
        <p:spPr>
          <a:xfrm>
            <a:off x="3200400" y="1005840"/>
            <a:ext cx="1280160" cy="1051560"/>
          </a:xfrm>
          <a:prstGeom prst="roundRect">
            <a:avLst>
              <a:gd name="adj" fmla="val 5217"/>
            </a:avLst>
          </a:prstGeom>
          <a:solidFill>
            <a:srgbClr val="8B0000"/>
          </a:solidFill>
          <a:ln w="12700">
            <a:solidFill>
              <a:srgbClr val="8B0000"/>
            </a:solidFill>
            <a:prstDash val="solid"/>
          </a:ln>
        </p:spPr>
      </p:sp>
      <p:sp>
        <p:nvSpPr>
          <p:cNvPr id="15" name="Text 13"/>
          <p:cNvSpPr txBox="1"/>
          <p:nvPr/>
        </p:nvSpPr>
        <p:spPr>
          <a:xfrm>
            <a:off x="320040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② 인식</a:t>
            </a:r>
            <a:endParaRPr lang="en-US" sz="1200" dirty="0"/>
          </a:p>
        </p:txBody>
      </p:sp>
      <p:sp>
        <p:nvSpPr>
          <p:cNvPr id="16" name="Text 14"/>
          <p:cNvSpPr txBox="1"/>
          <p:nvPr/>
        </p:nvSpPr>
        <p:spPr>
          <a:xfrm>
            <a:off x="324612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PP-OCRv5 rec</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큰 글자부터</a:t>
            </a:r>
            <a:endParaRPr lang="en-US" sz="950" dirty="0"/>
          </a:p>
        </p:txBody>
      </p:sp>
      <p:sp>
        <p:nvSpPr>
          <p:cNvPr id="17" name="Text 15"/>
          <p:cNvSpPr txBox="1"/>
          <p:nvPr/>
        </p:nvSpPr>
        <p:spPr>
          <a:xfrm>
            <a:off x="448056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18" name="Shape 16"/>
          <p:cNvSpPr/>
          <p:nvPr/>
        </p:nvSpPr>
        <p:spPr>
          <a:xfrm>
            <a:off x="4663440" y="1005840"/>
            <a:ext cx="1280160" cy="1051560"/>
          </a:xfrm>
          <a:prstGeom prst="roundRect">
            <a:avLst>
              <a:gd name="adj" fmla="val 5217"/>
            </a:avLst>
          </a:prstGeom>
          <a:solidFill>
            <a:srgbClr val="3A3A3A"/>
          </a:solidFill>
          <a:ln w="12700">
            <a:solidFill>
              <a:srgbClr val="3A3A3A"/>
            </a:solidFill>
            <a:prstDash val="solid"/>
          </a:ln>
        </p:spPr>
      </p:sp>
      <p:sp>
        <p:nvSpPr>
          <p:cNvPr id="19" name="Text 17"/>
          <p:cNvSpPr txBox="1"/>
          <p:nvPr/>
        </p:nvSpPr>
        <p:spPr>
          <a:xfrm>
            <a:off x="466344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③ 다시 읽기</a:t>
            </a:r>
            <a:endParaRPr lang="en-US" sz="1200" dirty="0"/>
          </a:p>
        </p:txBody>
      </p:sp>
      <p:sp>
        <p:nvSpPr>
          <p:cNvPr id="20" name="Text 18"/>
          <p:cNvSpPr txBox="1"/>
          <p:nvPr/>
        </p:nvSpPr>
        <p:spPr>
          <a:xfrm>
            <a:off x="470916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후보 줄만 원본으로</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3표 다수결</a:t>
            </a:r>
            <a:endParaRPr lang="en-US" sz="950" dirty="0"/>
          </a:p>
        </p:txBody>
      </p:sp>
      <p:sp>
        <p:nvSpPr>
          <p:cNvPr id="21" name="Text 19"/>
          <p:cNvSpPr txBox="1"/>
          <p:nvPr/>
        </p:nvSpPr>
        <p:spPr>
          <a:xfrm>
            <a:off x="594360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2" name="Shape 20"/>
          <p:cNvSpPr/>
          <p:nvPr/>
        </p:nvSpPr>
        <p:spPr>
          <a:xfrm>
            <a:off x="6126480" y="1005840"/>
            <a:ext cx="1280160" cy="1051560"/>
          </a:xfrm>
          <a:prstGeom prst="roundRect">
            <a:avLst>
              <a:gd name="adj" fmla="val 5217"/>
            </a:avLst>
          </a:prstGeom>
          <a:solidFill>
            <a:srgbClr val="3A3A3A"/>
          </a:solidFill>
          <a:ln w="12700">
            <a:solidFill>
              <a:srgbClr val="3A3A3A"/>
            </a:solidFill>
            <a:prstDash val="solid"/>
          </a:ln>
        </p:spPr>
      </p:sp>
      <p:sp>
        <p:nvSpPr>
          <p:cNvPr id="23" name="Text 21"/>
          <p:cNvSpPr txBox="1"/>
          <p:nvPr/>
        </p:nvSpPr>
        <p:spPr>
          <a:xfrm>
            <a:off x="612648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④ 규칙 해석</a:t>
            </a:r>
            <a:endParaRPr lang="en-US" sz="1200" dirty="0"/>
          </a:p>
        </p:txBody>
      </p:sp>
      <p:sp>
        <p:nvSpPr>
          <p:cNvPr id="24" name="Text 22"/>
          <p:cNvSpPr txBox="1"/>
          <p:nvPr/>
        </p:nvSpPr>
        <p:spPr>
          <a:xfrm>
            <a:off x="617220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형식 정규화</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잡음 제거 · 선택</a:t>
            </a:r>
            <a:endParaRPr lang="en-US" sz="950" dirty="0"/>
          </a:p>
        </p:txBody>
      </p:sp>
      <p:sp>
        <p:nvSpPr>
          <p:cNvPr id="25" name="Text 23"/>
          <p:cNvSpPr txBox="1"/>
          <p:nvPr/>
        </p:nvSpPr>
        <p:spPr>
          <a:xfrm>
            <a:off x="7406640" y="1371600"/>
            <a:ext cx="182880" cy="274320"/>
          </a:xfrm>
          <a:prstGeom prst="rect">
            <a:avLst/>
          </a:prstGeom>
          <a:noFill/>
          <a:ln/>
        </p:spPr>
        <p:txBody>
          <a:bodyPr wrap="square" lIns="0" tIns="0" rIns="0" bIns="0" rtlCol="0" anchor="ctr"/>
          <a:lstStyle/>
          <a:p>
            <a:pPr algn="ct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a:t>
            </a:r>
            <a:endParaRPr lang="en-US" sz="1000" dirty="0"/>
          </a:p>
        </p:txBody>
      </p:sp>
      <p:sp>
        <p:nvSpPr>
          <p:cNvPr id="26" name="Shape 24"/>
          <p:cNvSpPr/>
          <p:nvPr/>
        </p:nvSpPr>
        <p:spPr>
          <a:xfrm>
            <a:off x="7589520" y="1005840"/>
            <a:ext cx="1280160" cy="1051560"/>
          </a:xfrm>
          <a:prstGeom prst="roundRect">
            <a:avLst>
              <a:gd name="adj" fmla="val 5217"/>
            </a:avLst>
          </a:prstGeom>
          <a:solidFill>
            <a:srgbClr val="3A3A3A"/>
          </a:solidFill>
          <a:ln w="12700">
            <a:solidFill>
              <a:srgbClr val="3A3A3A"/>
            </a:solidFill>
            <a:prstDash val="solid"/>
          </a:ln>
        </p:spPr>
      </p:sp>
      <p:sp>
        <p:nvSpPr>
          <p:cNvPr id="27" name="Text 25"/>
          <p:cNvSpPr txBox="1"/>
          <p:nvPr/>
        </p:nvSpPr>
        <p:spPr>
          <a:xfrm>
            <a:off x="7589520" y="1069848"/>
            <a:ext cx="1280160" cy="292608"/>
          </a:xfrm>
          <a:prstGeom prst="rect">
            <a:avLst/>
          </a:prstGeom>
          <a:noFill/>
          <a:ln/>
        </p:spPr>
        <p:txBody>
          <a:bodyPr wrap="square" lIns="0" tIns="0" rIns="0" bIns="0" rtlCol="0" anchor="ctr"/>
          <a:lstStyle/>
          <a:p>
            <a:pPr algn="ct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출력</a:t>
            </a:r>
            <a:endParaRPr lang="en-US" sz="1200" dirty="0"/>
          </a:p>
        </p:txBody>
      </p:sp>
      <p:sp>
        <p:nvSpPr>
          <p:cNvPr id="28" name="Text 26"/>
          <p:cNvSpPr txBox="1"/>
          <p:nvPr/>
        </p:nvSpPr>
        <p:spPr>
          <a:xfrm>
            <a:off x="7635240" y="1371600"/>
            <a:ext cx="1188720" cy="640080"/>
          </a:xfrm>
          <a:prstGeom prst="rect">
            <a:avLst/>
          </a:prstGeom>
          <a:noFill/>
          <a:ln/>
        </p:spPr>
        <p:txBody>
          <a:bodyPr wrap="square" lIns="0" tIns="0" rIns="0" bIns="0" rtlCol="0" anchor="ctr"/>
          <a:lstStyle/>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YYYY-MM-DD</a:t>
            </a:r>
            <a:endParaRPr lang="en-US" sz="950" dirty="0"/>
          </a:p>
          <a:p>
            <a:pPr algn="ctr" indent="0" marL="0">
              <a:buNone/>
            </a:pPr>
            <a:r>
              <a:rPr lang="en-US" sz="950" dirty="0">
                <a:solidFill>
                  <a:srgbClr val="FFFFFF"/>
                </a:solidFill>
                <a:latin typeface="Pretendard SemiBold" pitchFamily="34" charset="0"/>
                <a:ea typeface="Pretendard SemiBold" pitchFamily="34" charset="-122"/>
                <a:cs typeface="Pretendard SemiBold" pitchFamily="34" charset="-120"/>
              </a:rPr>
              <a:t>또는 NONE</a:t>
            </a:r>
            <a:endParaRPr lang="en-US" sz="950" dirty="0"/>
          </a:p>
        </p:txBody>
      </p:sp>
      <p:sp>
        <p:nvSpPr>
          <p:cNvPr id="29" name="Text 27"/>
          <p:cNvSpPr txBox="1"/>
          <p:nvPr/>
        </p:nvSpPr>
        <p:spPr>
          <a:xfrm>
            <a:off x="274320" y="2121408"/>
            <a:ext cx="2743200" cy="228600"/>
          </a:xfrm>
          <a:prstGeom prst="rect">
            <a:avLst/>
          </a:prstGeom>
          <a:noFill/>
          <a:ln/>
        </p:spPr>
        <p:txBody>
          <a:bodyPr wrap="square" lIns="0" tIns="0" rIns="0" bIns="0" rtlCol="0" anchor="t"/>
          <a:lstStyle/>
          <a:p>
            <a:pPr indent="0" marL="0">
              <a:buNone/>
            </a:pPr>
            <a:r>
              <a:rPr lang="en-US" sz="950" dirty="0">
                <a:solidFill>
                  <a:srgbClr val="8B0000"/>
                </a:solidFill>
                <a:latin typeface="Pretendard SemiBold" pitchFamily="34" charset="0"/>
                <a:ea typeface="Pretendard SemiBold" pitchFamily="34" charset="-122"/>
                <a:cs typeface="Pretendard SemiBold" pitchFamily="34" charset="-120"/>
              </a:rPr>
              <a:t>■ </a:t>
            </a:r>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사전학습 딥러닝 모델      </a:t>
            </a:r>
            <a:endParaRPr lang="en-US" sz="950" dirty="0"/>
          </a:p>
        </p:txBody>
      </p:sp>
      <p:sp>
        <p:nvSpPr>
          <p:cNvPr id="30" name="Text 28"/>
          <p:cNvSpPr txBox="1"/>
          <p:nvPr/>
        </p:nvSpPr>
        <p:spPr>
          <a:xfrm>
            <a:off x="2011680" y="2121408"/>
            <a:ext cx="2743200" cy="228600"/>
          </a:xfrm>
          <a:prstGeom prst="rect">
            <a:avLst/>
          </a:prstGeom>
          <a:noFill/>
          <a:ln/>
        </p:spPr>
        <p:txBody>
          <a:bodyPr wrap="square" lIns="0" tIns="0" rIns="0" bIns="0" rtlCol="0" anchor="t"/>
          <a:lstStyle/>
          <a:p>
            <a:pPr indent="0" marL="0">
              <a:buNone/>
            </a:pPr>
            <a:r>
              <a:rPr lang="en-US" sz="950" dirty="0">
                <a:solidFill>
                  <a:srgbClr val="6B6B6B"/>
                </a:solidFill>
                <a:latin typeface="Pretendard SemiBold" pitchFamily="34" charset="0"/>
                <a:ea typeface="Pretendard SemiBold" pitchFamily="34" charset="-122"/>
                <a:cs typeface="Pretendard SemiBold" pitchFamily="34" charset="-120"/>
              </a:rPr>
              <a:t>■ 규칙·재인식 단계</a:t>
            </a:r>
            <a:endParaRPr lang="en-US" sz="950" dirty="0"/>
          </a:p>
        </p:txBody>
      </p:sp>
      <p:sp>
        <p:nvSpPr>
          <p:cNvPr id="31" name="Text 29"/>
          <p:cNvSpPr txBox="1"/>
          <p:nvPr/>
        </p:nvSpPr>
        <p:spPr>
          <a:xfrm>
            <a:off x="274320" y="2468880"/>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조건이 맞을 때만 동작하는 단계</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74320" y="2743200"/>
          <a:ext cx="8595360" cy="914400"/>
        </p:xfrm>
        <a:graphic>
          <a:graphicData uri="http://schemas.openxmlformats.org/drawingml/2006/table">
            <a:tbl>
              <a:tblPr/>
              <a:tblGrid>
                <a:gridCol w="1554480"/>
                <a:gridCol w="2651760"/>
                <a:gridCol w="3108960"/>
                <a:gridCol w="128016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장치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발동 조건</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동작</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효과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이웃 줄 재탐지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줄 옆에 크기 비슷한 숫자 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 주변만 원본 해상도로 다시 탐지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+5 / −1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도트 인쇄 폴백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점을 이어 붙이는 전처리 후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파인튜닝 인식기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그래도 후보 없음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우리 라벨로 학습한 인식기로 재시도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 / −0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시간 예산 가드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예상 소요 2,000초 초과</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폴백 생략 → 2패스 생략 → NONE</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완주 보장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33" name="Shape 3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4" name="Text 3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딥러닝은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"읽기"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만, 소비기한을 고르는 판단은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설명 가능한 규칙</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이 맡는다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설계 사고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오답을 "정답이 사라진 단계" 로 진단했다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8</a:t>
            </a:r>
            <a:endParaRPr lang="en-US" sz="900" dirty="0"/>
          </a:p>
        </p:txBody>
      </p:sp>
      <p:sp>
        <p:nvSpPr>
          <p:cNvPr id="6" name="Text 4"/>
          <p:cNvSpPr txBox="1"/>
          <p:nvPr/>
        </p:nvSpPr>
        <p:spPr>
          <a:xfrm>
            <a:off x="274320" y="896112"/>
            <a:ext cx="859536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예선 구성의 오답 </a:t>
            </a:r>
            <a:pPr indent="0" marL="0">
              <a:buNone/>
            </a:pPr>
            <a:r>
              <a:rPr lang="en-US" sz="1200" dirty="0">
                <a:solidFill>
                  <a:srgbClr val="8B0000"/>
                </a:solidFill>
                <a:latin typeface="Pretendard SemiBold" pitchFamily="34" charset="0"/>
                <a:ea typeface="Pretendard SemiBold" pitchFamily="34" charset="-122"/>
                <a:cs typeface="Pretendard SemiBold" pitchFamily="34" charset="-120"/>
              </a:rPr>
              <a:t>603장</a:t>
            </a:r>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 (3,352장 전체 기준) 마다, 정답 날짜가 파이프라인 어느 단계까지 살아 있었는지 추적</a:t>
            </a:r>
            <a:endParaRPr lang="en-US" sz="1200" dirty="0"/>
          </a:p>
        </p:txBody>
      </p:sp>
      <p:sp>
        <p:nvSpPr>
          <p:cNvPr id="7" name="Shape 5"/>
          <p:cNvSpPr/>
          <p:nvPr/>
        </p:nvSpPr>
        <p:spPr>
          <a:xfrm>
            <a:off x="274320" y="1298448"/>
            <a:ext cx="2066544" cy="1920240"/>
          </a:xfrm>
          <a:prstGeom prst="roundRect">
            <a:avLst>
              <a:gd name="adj" fmla="val 3810"/>
            </a:avLst>
          </a:prstGeom>
          <a:solidFill>
            <a:srgbClr val="F2F2F2"/>
          </a:solidFill>
          <a:ln w="12700">
            <a:solidFill>
              <a:srgbClr val="F2F2F2"/>
            </a:solidFill>
            <a:prstDash val="solid"/>
          </a:ln>
        </p:spPr>
      </p:sp>
      <p:sp>
        <p:nvSpPr>
          <p:cNvPr id="8" name="Text 6"/>
          <p:cNvSpPr txBox="1"/>
          <p:nvPr/>
        </p:nvSpPr>
        <p:spPr>
          <a:xfrm>
            <a:off x="411480"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183</a:t>
            </a:r>
            <a:endParaRPr lang="en-US" sz="3200" dirty="0"/>
          </a:p>
        </p:txBody>
      </p:sp>
      <p:sp>
        <p:nvSpPr>
          <p:cNvPr id="9" name="Text 7"/>
          <p:cNvSpPr txBox="1"/>
          <p:nvPr/>
        </p:nvSpPr>
        <p:spPr>
          <a:xfrm>
            <a:off x="411480"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못 읽음</a:t>
            </a:r>
            <a:endParaRPr lang="en-US" sz="1300" dirty="0"/>
          </a:p>
        </p:txBody>
      </p:sp>
      <p:sp>
        <p:nvSpPr>
          <p:cNvPr id="10" name="Text 8"/>
          <p:cNvSpPr txBox="1"/>
          <p:nvPr/>
        </p:nvSpPr>
        <p:spPr>
          <a:xfrm>
            <a:off x="411480"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탐지 실패 · 전부 미인식</a:t>
            </a:r>
            <a:endParaRPr lang="en-US" sz="1050" dirty="0"/>
          </a:p>
        </p:txBody>
      </p:sp>
      <p:sp>
        <p:nvSpPr>
          <p:cNvPr id="11" name="Text 9"/>
          <p:cNvSpPr txBox="1"/>
          <p:nvPr/>
        </p:nvSpPr>
        <p:spPr>
          <a:xfrm>
            <a:off x="411480"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원본 재탐지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작은 사진 확대</a:t>
            </a:r>
            <a:endParaRPr lang="en-US" sz="1050" dirty="0"/>
          </a:p>
        </p:txBody>
      </p:sp>
      <p:sp>
        <p:nvSpPr>
          <p:cNvPr id="12" name="Shape 10"/>
          <p:cNvSpPr/>
          <p:nvPr/>
        </p:nvSpPr>
        <p:spPr>
          <a:xfrm>
            <a:off x="2450592" y="1298448"/>
            <a:ext cx="2066544" cy="1920240"/>
          </a:xfrm>
          <a:prstGeom prst="roundRect">
            <a:avLst>
              <a:gd name="adj" fmla="val 3810"/>
            </a:avLst>
          </a:prstGeom>
          <a:solidFill>
            <a:srgbClr val="F2F2F2"/>
          </a:solidFill>
          <a:ln w="12700">
            <a:solidFill>
              <a:srgbClr val="F2F2F2"/>
            </a:solidFill>
            <a:prstDash val="solid"/>
          </a:ln>
        </p:spPr>
      </p:sp>
      <p:sp>
        <p:nvSpPr>
          <p:cNvPr id="13" name="Text 11"/>
          <p:cNvSpPr txBox="1"/>
          <p:nvPr/>
        </p:nvSpPr>
        <p:spPr>
          <a:xfrm>
            <a:off x="2587752"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290</a:t>
            </a:r>
            <a:endParaRPr lang="en-US" sz="3200" dirty="0"/>
          </a:p>
        </p:txBody>
      </p:sp>
      <p:sp>
        <p:nvSpPr>
          <p:cNvPr id="14" name="Text 12"/>
          <p:cNvSpPr txBox="1"/>
          <p:nvPr/>
        </p:nvSpPr>
        <p:spPr>
          <a:xfrm>
            <a:off x="2587752"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읽음</a:t>
            </a:r>
            <a:endParaRPr lang="en-US" sz="1300" dirty="0"/>
          </a:p>
        </p:txBody>
      </p:sp>
      <p:sp>
        <p:nvSpPr>
          <p:cNvPr id="15" name="Text 13"/>
          <p:cNvSpPr txBox="1"/>
          <p:nvPr/>
        </p:nvSpPr>
        <p:spPr>
          <a:xfrm>
            <a:off x="2587752"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인식기가 숫자를 오독</a:t>
            </a:r>
            <a:endParaRPr lang="en-US" sz="1050" dirty="0"/>
          </a:p>
        </p:txBody>
      </p:sp>
      <p:sp>
        <p:nvSpPr>
          <p:cNvPr id="16" name="Text 14"/>
          <p:cNvSpPr txBox="1"/>
          <p:nvPr/>
        </p:nvSpPr>
        <p:spPr>
          <a:xfrm>
            <a:off x="2587752"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후처리 규칙 보강</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파인튜닝 폴백</a:t>
            </a:r>
            <a:endParaRPr lang="en-US" sz="1050" dirty="0"/>
          </a:p>
        </p:txBody>
      </p:sp>
      <p:sp>
        <p:nvSpPr>
          <p:cNvPr id="17" name="Shape 15"/>
          <p:cNvSpPr/>
          <p:nvPr/>
        </p:nvSpPr>
        <p:spPr>
          <a:xfrm>
            <a:off x="4626864" y="1298448"/>
            <a:ext cx="2066544" cy="1920240"/>
          </a:xfrm>
          <a:prstGeom prst="roundRect">
            <a:avLst>
              <a:gd name="adj" fmla="val 3810"/>
            </a:avLst>
          </a:prstGeom>
          <a:solidFill>
            <a:srgbClr val="F2F2F2"/>
          </a:solidFill>
          <a:ln w="12700">
            <a:solidFill>
              <a:srgbClr val="F2F2F2"/>
            </a:solidFill>
            <a:prstDash val="solid"/>
          </a:ln>
        </p:spPr>
      </p:sp>
      <p:sp>
        <p:nvSpPr>
          <p:cNvPr id="18" name="Text 16"/>
          <p:cNvSpPr txBox="1"/>
          <p:nvPr/>
        </p:nvSpPr>
        <p:spPr>
          <a:xfrm>
            <a:off x="4764024"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111</a:t>
            </a:r>
            <a:endParaRPr lang="en-US" sz="3200" dirty="0"/>
          </a:p>
        </p:txBody>
      </p:sp>
      <p:sp>
        <p:nvSpPr>
          <p:cNvPr id="19" name="Text 17"/>
          <p:cNvSpPr txBox="1"/>
          <p:nvPr/>
        </p:nvSpPr>
        <p:spPr>
          <a:xfrm>
            <a:off x="4764024"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읽었다가 지움</a:t>
            </a:r>
            <a:endParaRPr lang="en-US" sz="1300" dirty="0"/>
          </a:p>
        </p:txBody>
      </p:sp>
      <p:sp>
        <p:nvSpPr>
          <p:cNvPr id="20" name="Text 18"/>
          <p:cNvSpPr txBox="1"/>
          <p:nvPr/>
        </p:nvSpPr>
        <p:spPr>
          <a:xfrm>
            <a:off x="4764024"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다시 읽기가 정답을 덮어씀</a:t>
            </a:r>
            <a:endParaRPr lang="en-US" sz="1050" dirty="0"/>
          </a:p>
        </p:txBody>
      </p:sp>
      <p:sp>
        <p:nvSpPr>
          <p:cNvPr id="21" name="Text 19"/>
          <p:cNvSpPr txBox="1"/>
          <p:nvPr/>
        </p:nvSpPr>
        <p:spPr>
          <a:xfrm>
            <a:off x="4764024"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"교정만, 삭제 금지"</a:t>
            </a:r>
            <a:endParaRPr lang="en-US" sz="1050" dirty="0"/>
          </a:p>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유지 규칙</a:t>
            </a:r>
            <a:endParaRPr lang="en-US" sz="1050" dirty="0"/>
          </a:p>
        </p:txBody>
      </p:sp>
      <p:sp>
        <p:nvSpPr>
          <p:cNvPr id="22" name="Shape 20"/>
          <p:cNvSpPr/>
          <p:nvPr/>
        </p:nvSpPr>
        <p:spPr>
          <a:xfrm>
            <a:off x="6803136" y="1298448"/>
            <a:ext cx="2066544" cy="1920240"/>
          </a:xfrm>
          <a:prstGeom prst="roundRect">
            <a:avLst>
              <a:gd name="adj" fmla="val 3810"/>
            </a:avLst>
          </a:prstGeom>
          <a:solidFill>
            <a:srgbClr val="F2F2F2"/>
          </a:solidFill>
          <a:ln w="12700">
            <a:solidFill>
              <a:srgbClr val="F2F2F2"/>
            </a:solidFill>
            <a:prstDash val="solid"/>
          </a:ln>
        </p:spPr>
      </p:sp>
      <p:sp>
        <p:nvSpPr>
          <p:cNvPr id="23" name="Text 21"/>
          <p:cNvSpPr txBox="1"/>
          <p:nvPr/>
        </p:nvSpPr>
        <p:spPr>
          <a:xfrm>
            <a:off x="6940296" y="1371600"/>
            <a:ext cx="1792224" cy="566928"/>
          </a:xfrm>
          <a:prstGeom prst="rect">
            <a:avLst/>
          </a:prstGeom>
          <a:noFill/>
          <a:ln/>
        </p:spPr>
        <p:txBody>
          <a:bodyPr wrap="square" lIns="0" tIns="0" rIns="0" bIns="0" rtlCol="0" anchor="ctr"/>
          <a:lstStyle/>
          <a:p>
            <a:pPr indent="0" marL="0">
              <a:buNone/>
            </a:pPr>
            <a:r>
              <a:rPr lang="en-US" sz="3200" dirty="0">
                <a:solidFill>
                  <a:srgbClr val="8B0000"/>
                </a:solidFill>
                <a:latin typeface="Pretendard SemiBold" pitchFamily="34" charset="0"/>
                <a:ea typeface="Pretendard SemiBold" pitchFamily="34" charset="-122"/>
                <a:cs typeface="Pretendard SemiBold" pitchFamily="34" charset="-120"/>
              </a:rPr>
              <a:t>19</a:t>
            </a:r>
            <a:endParaRPr lang="en-US" sz="3200" dirty="0"/>
          </a:p>
        </p:txBody>
      </p:sp>
      <p:sp>
        <p:nvSpPr>
          <p:cNvPr id="24" name="Text 22"/>
          <p:cNvSpPr txBox="1"/>
          <p:nvPr/>
        </p:nvSpPr>
        <p:spPr>
          <a:xfrm>
            <a:off x="6940296" y="1938528"/>
            <a:ext cx="1792224" cy="274320"/>
          </a:xfrm>
          <a:prstGeom prst="rect">
            <a:avLst/>
          </a:prstGeom>
          <a:noFill/>
          <a:ln/>
        </p:spPr>
        <p:txBody>
          <a:bodyPr wrap="square" lIns="0" tIns="0" rIns="0" bIns="0" rtlCol="0" anchor="t"/>
          <a:lstStyle/>
          <a:p>
            <a:pPr indent="0" marL="0">
              <a:buNone/>
            </a:pPr>
            <a:r>
              <a:rPr lang="en-US" sz="1300" dirty="0">
                <a:solidFill>
                  <a:srgbClr val="1A1A1A"/>
                </a:solidFill>
                <a:latin typeface="Pretendard SemiBold" pitchFamily="34" charset="0"/>
                <a:ea typeface="Pretendard SemiBold" pitchFamily="34" charset="-122"/>
                <a:cs typeface="Pretendard SemiBold" pitchFamily="34" charset="-120"/>
              </a:rPr>
              <a:t>잘못 고름</a:t>
            </a:r>
            <a:endParaRPr lang="en-US" sz="1300" dirty="0"/>
          </a:p>
        </p:txBody>
      </p:sp>
      <p:sp>
        <p:nvSpPr>
          <p:cNvPr id="25" name="Text 23"/>
          <p:cNvSpPr txBox="1"/>
          <p:nvPr/>
        </p:nvSpPr>
        <p:spPr>
          <a:xfrm>
            <a:off x="6940296" y="2212848"/>
            <a:ext cx="1792224" cy="41148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가짜 후보가 늦은 날짜로 승리</a:t>
            </a:r>
            <a:endParaRPr lang="en-US" sz="1050" dirty="0"/>
          </a:p>
        </p:txBody>
      </p:sp>
      <p:sp>
        <p:nvSpPr>
          <p:cNvPr id="26" name="Text 24"/>
          <p:cNvSpPr txBox="1"/>
          <p:nvPr/>
        </p:nvSpPr>
        <p:spPr>
          <a:xfrm>
            <a:off x="6940296" y="2651760"/>
            <a:ext cx="1792224" cy="50292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이중 해석 억제</a:t>
            </a:r>
            <a:endParaRPr lang="en-US" sz="1050" dirty="0"/>
          </a:p>
        </p:txBody>
      </p:sp>
      <p:sp>
        <p:nvSpPr>
          <p:cNvPr id="27" name="Text 25"/>
          <p:cNvSpPr txBox="1"/>
          <p:nvPr/>
        </p:nvSpPr>
        <p:spPr>
          <a:xfrm>
            <a:off x="274320" y="336499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단계마다 처방이 다르다</a:t>
            </a:r>
            <a:endParaRPr lang="en-US" sz="1250" dirty="0"/>
          </a:p>
        </p:txBody>
      </p:sp>
      <p:sp>
        <p:nvSpPr>
          <p:cNvPr id="28" name="Text 26"/>
          <p:cNvSpPr txBox="1"/>
          <p:nvPr/>
        </p:nvSpPr>
        <p:spPr>
          <a:xfrm>
            <a:off x="274320" y="3639312"/>
            <a:ext cx="8595360" cy="6400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"읽었다가 지움" 111장은 모델이 아니라 코드 로직의 문제 → 1차 후보를 지우지 못하게 해 +53 / −5</a:t>
            </a:r>
            <a:endParaRPr lang="en-US" sz="1100" dirty="0"/>
          </a:p>
          <a:p>
            <a:pPr marL="342900" indent="-342900">
              <a:spcAft>
                <a:spcPts val="300"/>
              </a:spcAft>
              <a:buSzPct val="100000"/>
              <a:buChar char="•"/>
            </a:pPr>
            <a:r>
              <a:rPr lang="en-US" sz="1100" dirty="0">
                <a:solidFill>
                  <a:srgbClr val="1A1A1A"/>
                </a:solidFill>
                <a:latin typeface="Pretendard SemiBold" pitchFamily="34" charset="0"/>
                <a:ea typeface="Pretendard SemiBold" pitchFamily="34" charset="-122"/>
                <a:cs typeface="Pretendard SemiBold" pitchFamily="34" charset="-120"/>
              </a:rPr>
              <a:t>"못 읽음" 은 해상도를 올려도 회복되지 않았다 (5가지 구성 전부 ±1%p, 시간만 +30~50%) → 원인은 탐지가 아니라 인식 품질</a:t>
            </a:r>
            <a:endParaRPr lang="en-US" sz="1100" dirty="0"/>
          </a:p>
        </p:txBody>
      </p:sp>
      <p:sp>
        <p:nvSpPr>
          <p:cNvPr id="29" name="Shape 2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0" name="Text 2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오답을 뭉뚱그려 "모델을 키우자" 가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원인별로 가장 싼 처방</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골랐다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후처리 규칙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소비기한을 다른 숫자와 구분하는 법</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1737360"/>
                <a:gridCol w="3246120"/>
                <a:gridCol w="2057400"/>
              </a:tblGrid>
              <a:tr h="329184">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구분 대상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실제 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규칙</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품목보고번호 · 바코드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20130628332176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9자리 이상 숫자열은 통째로 제거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앞 8자리가 완전한 날짜 형식</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영양성분표 · 중량</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78 7 5 31 / 30.4 GRAMS</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신뢰 등급 : 완전 날짜 &gt; 공백·압축 &gt; 연월 &gt; 월일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잡음이 이긴 오답 15장에서 도출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제조일자 · 유통기한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25.06.26  /  26.06.25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소비기한 ≥ 유통기한 ≥ 제조일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시각 · 로트번호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13:11  /  A03  /  L8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패턴에서 제외, 옆 글자를 '일' 자리로 읽지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도트 인쇄 제품에 흔함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연·월·일 순서</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30.07.26  /  24/12/21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년월일 우선. 무효·2028년 이후면 일월년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라벨 : 년월일 344 · 일월년 102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범위 밖 연도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2033, 2009</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2017 ~ 2031 만 인정</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전수 라벨 최소 2017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3383280"/>
            <a:ext cx="4206240" cy="822960"/>
          </a:xfrm>
          <a:prstGeom prst="roundRect">
            <a:avLst>
              <a:gd name="adj" fmla="val 8889"/>
            </a:avLst>
          </a:prstGeom>
          <a:solidFill>
            <a:srgbClr val="F2F2F2"/>
          </a:solidFill>
          <a:ln w="12700">
            <a:solidFill>
              <a:srgbClr val="F2F2F2"/>
            </a:solidFill>
            <a:prstDash val="solid"/>
          </a:ln>
        </p:spPr>
      </p:sp>
      <p:sp>
        <p:nvSpPr>
          <p:cNvPr id="8" name="Text 5"/>
          <p:cNvSpPr txBox="1"/>
          <p:nvPr/>
        </p:nvSpPr>
        <p:spPr>
          <a:xfrm>
            <a:off x="41148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미인식(NONE) 기준</a:t>
            </a:r>
            <a:endParaRPr lang="en-US" sz="1200" dirty="0"/>
          </a:p>
        </p:txBody>
      </p:sp>
      <p:sp>
        <p:nvSpPr>
          <p:cNvPr id="9" name="Text 6"/>
          <p:cNvSpPr txBox="1"/>
          <p:nvPr/>
        </p:nvSpPr>
        <p:spPr>
          <a:xfrm>
            <a:off x="41148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후보가 하나도 없으면 추측하지 않는다. 연도나 일만 없으면 그 칸만 NONE (NONE-10-14, 2027-07-NONE)</a:t>
            </a:r>
            <a:endParaRPr lang="en-US" sz="1050" dirty="0"/>
          </a:p>
        </p:txBody>
      </p:sp>
      <p:sp>
        <p:nvSpPr>
          <p:cNvPr id="10" name="Shape 7"/>
          <p:cNvSpPr/>
          <p:nvPr/>
        </p:nvSpPr>
        <p:spPr>
          <a:xfrm>
            <a:off x="4663440" y="3383280"/>
            <a:ext cx="4206240" cy="822960"/>
          </a:xfrm>
          <a:prstGeom prst="roundRect">
            <a:avLst>
              <a:gd name="adj" fmla="val 8889"/>
            </a:avLst>
          </a:prstGeom>
          <a:solidFill>
            <a:srgbClr val="F2F2F2"/>
          </a:solidFill>
          <a:ln w="12700">
            <a:solidFill>
              <a:srgbClr val="F2F2F2"/>
            </a:solidFill>
            <a:prstDash val="solid"/>
          </a:ln>
        </p:spPr>
      </p:sp>
      <p:sp>
        <p:nvSpPr>
          <p:cNvPr id="11" name="Text 8"/>
          <p:cNvSpPr txBox="1"/>
          <p:nvPr/>
        </p:nvSpPr>
        <p:spPr>
          <a:xfrm>
            <a:off x="4800600" y="3438144"/>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라벨과 모델이 같은 규칙</a:t>
            </a:r>
            <a:endParaRPr lang="en-US" sz="1200" dirty="0"/>
          </a:p>
        </p:txBody>
      </p:sp>
      <p:sp>
        <p:nvSpPr>
          <p:cNvPr id="12" name="Text 9"/>
          <p:cNvSpPr txBox="1"/>
          <p:nvPr/>
        </p:nvSpPr>
        <p:spPr>
          <a:xfrm>
            <a:off x="4800600" y="3694176"/>
            <a:ext cx="3931920" cy="475488"/>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운영진 확정 : 모호한 표기는 팀이 문서화한 규칙으로 채점. 규칙 문서 하나를 라벨링 도구와 파서가 공유</a:t>
            </a:r>
            <a:endParaRPr lang="en-US" sz="1050" dirty="0"/>
          </a:p>
        </p:txBody>
      </p:sp>
      <p:sp>
        <p:nvSpPr>
          <p:cNvPr id="13"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규칙마다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어떤 오답에서 나왔는지</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회복·퇴보 수</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가 기록돼 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4</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성능과 속도 검증</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무엇을 채택하고 무엇을 버렸는가</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정확도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봉인 500장 86.2%, 필드 평균 90.8%</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11</a:t>
            </a:r>
            <a:endParaRPr lang="en-US" sz="900" dirty="0"/>
          </a:p>
        </p:txBody>
      </p:sp>
      <p:graphicFrame>
        <p:nvGraphicFramePr>
          <p:cNvPr id="6" name="Chart 0" descr=""/>
          <p:cNvGraphicFramePr/>
          <p:nvPr/>
        </p:nvGraphicFramePr>
        <p:xfrm>
          <a:off x="274320" y="868680"/>
          <a:ext cx="5577840" cy="3154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65760" y="4069080"/>
            <a:ext cx="5486400" cy="201168"/>
          </a:xfrm>
          <a:prstGeom prst="rect">
            <a:avLst/>
          </a:prstGeom>
          <a:noFill/>
          <a:ln/>
        </p:spPr>
        <p:txBody>
          <a:bodyPr wrap="square" lIns="0" tIns="0" rIns="0" bIns="0" rtlCol="0" anchor="t"/>
          <a:lstStyle/>
          <a:p>
            <a:pPr indent="0" marL="0">
              <a:buNone/>
            </a:pPr>
            <a:r>
              <a:rPr lang="en-US" sz="850" dirty="0">
                <a:solidFill>
                  <a:srgbClr val="6B6B6B"/>
                </a:solidFill>
                <a:latin typeface="Pretendard SemiBold" pitchFamily="34" charset="0"/>
                <a:ea typeface="Pretendard SemiBold" pitchFamily="34" charset="-122"/>
                <a:cs typeface="Pretendard SemiBold" pitchFamily="34" charset="-120"/>
              </a:rPr>
              <a:t>※ 앞 세 단계는 개발용 133장, 이후는 500장 기준</a:t>
            </a:r>
            <a:endParaRPr lang="en-US" sz="850" dirty="0"/>
          </a:p>
        </p:txBody>
      </p:sp>
      <p:sp>
        <p:nvSpPr>
          <p:cNvPr id="8" name="Shape 5"/>
          <p:cNvSpPr/>
          <p:nvPr/>
        </p:nvSpPr>
        <p:spPr>
          <a:xfrm>
            <a:off x="6035040" y="868680"/>
            <a:ext cx="2834640" cy="1325880"/>
          </a:xfrm>
          <a:prstGeom prst="roundRect">
            <a:avLst>
              <a:gd name="adj" fmla="val 5517"/>
            </a:avLst>
          </a:prstGeom>
          <a:solidFill>
            <a:srgbClr val="F2F2F2"/>
          </a:solidFill>
          <a:ln w="12700">
            <a:solidFill>
              <a:srgbClr val="F2F2F2"/>
            </a:solidFill>
            <a:prstDash val="solid"/>
          </a:ln>
        </p:spPr>
      </p:sp>
      <p:sp>
        <p:nvSpPr>
          <p:cNvPr id="9" name="Text 6"/>
          <p:cNvSpPr txBox="1"/>
          <p:nvPr/>
        </p:nvSpPr>
        <p:spPr>
          <a:xfrm>
            <a:off x="6199632" y="932688"/>
            <a:ext cx="2560320" cy="237744"/>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봉인 500장 · 완전일치</a:t>
            </a:r>
            <a:endParaRPr lang="en-US" sz="1050" dirty="0"/>
          </a:p>
        </p:txBody>
      </p:sp>
      <p:sp>
        <p:nvSpPr>
          <p:cNvPr id="10" name="Text 7"/>
          <p:cNvSpPr txBox="1"/>
          <p:nvPr/>
        </p:nvSpPr>
        <p:spPr>
          <a:xfrm>
            <a:off x="6199632" y="1152144"/>
            <a:ext cx="2560320" cy="566928"/>
          </a:xfrm>
          <a:prstGeom prst="rect">
            <a:avLst/>
          </a:prstGeom>
          <a:noFill/>
          <a:ln/>
        </p:spPr>
        <p:txBody>
          <a:bodyPr wrap="square" lIns="0" tIns="0" rIns="0" bIns="0" rtlCol="0" anchor="ctr"/>
          <a:lstStyle/>
          <a:p>
            <a:pPr indent="0" marL="0">
              <a:buNone/>
            </a:pPr>
            <a:r>
              <a:rPr lang="en-US" sz="3400" dirty="0">
                <a:solidFill>
                  <a:srgbClr val="8B0000"/>
                </a:solidFill>
                <a:latin typeface="Pretendard SemiBold" pitchFamily="34" charset="0"/>
                <a:ea typeface="Pretendard SemiBold" pitchFamily="34" charset="-122"/>
                <a:cs typeface="Pretendard SemiBold" pitchFamily="34" charset="-120"/>
              </a:rPr>
              <a:t>86.2%</a:t>
            </a:r>
            <a:endParaRPr lang="en-US" sz="3400" dirty="0"/>
          </a:p>
        </p:txBody>
      </p:sp>
      <p:sp>
        <p:nvSpPr>
          <p:cNvPr id="11" name="Text 8"/>
          <p:cNvSpPr txBox="1"/>
          <p:nvPr/>
        </p:nvSpPr>
        <p:spPr>
          <a:xfrm>
            <a:off x="6199632" y="1737360"/>
            <a:ext cx="2560320" cy="365760"/>
          </a:xfrm>
          <a:prstGeom prst="rect">
            <a:avLst/>
          </a:prstGeom>
          <a:noFill/>
          <a:ln/>
        </p:spPr>
        <p:txBody>
          <a:bodyPr wrap="square" lIns="0" tIns="0" rIns="0" bIns="0" rtlCol="0" anchor="t"/>
          <a:lstStyle/>
          <a:p>
            <a:pPr indent="0" marL="0">
              <a:buNone/>
            </a:pPr>
            <a:r>
              <a:rPr lang="en-US" sz="1050" dirty="0">
                <a:solidFill>
                  <a:srgbClr val="1A1A1A"/>
                </a:solidFill>
                <a:latin typeface="Pretendard SemiBold" pitchFamily="34" charset="0"/>
                <a:ea typeface="Pretendard SemiBold" pitchFamily="34" charset="-122"/>
                <a:cs typeface="Pretendard SemiBold" pitchFamily="34" charset="-120"/>
              </a:rPr>
              <a:t>예선 제출본 84.2% → +2.0%p</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035040" y="2304288"/>
          <a:ext cx="2834640" cy="914400"/>
        </p:xfrm>
        <a:graphic>
          <a:graphicData uri="http://schemas.openxmlformats.org/drawingml/2006/table">
            <a:tbl>
              <a:tblPr/>
              <a:tblGrid>
                <a:gridCol w="1828800"/>
                <a:gridCol w="1005840"/>
              </a:tblGrid>
              <a:tr h="265176">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정확도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필드 평균 (채점 방식)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작은 사진 (≤700px)</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83.7%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중간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89.5%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큰 사진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두 날짜 병기</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78.4%</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65176">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3.0%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3" name="Shape 9"/>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4" name="Text 10"/>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판정용 2,852장에서도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82.3 → 86.7%</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튜닝에 쓴 셋과 봉인 셋이 함께 올랐다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모델·대안 비교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점수가 올라도 기각한 것들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2194560"/>
                <a:gridCol w="731520"/>
                <a:gridCol w="2926080"/>
              </a:tblGrid>
              <a:tr h="315468">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결과 (회복 / 퇴보)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판단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이유</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탐지·인식기 PP-OCRv5 mobile 로 교체</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39.1 → 67.7%, 5.8 → 1.8초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속도 한도와 정확도를 동시에 해결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다시 읽기 규칙 (1차 후보를 지우지 못하게 등)</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+63 / −5</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82.3 → 84.3%. 코드 로직 결함 수정</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해석 규칙 4개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+39 / −2</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병기 64.9 → 78.3%</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주변 재탐지 · 확대 재시도 · 파인튜닝 재시도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+25 / −1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채택</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못 읽은 사진에만 비용을 쓴다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파인튜닝 인식기를 다시 읽기에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+86 / −64</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점수가 올라도 맞던 답을 흔들면 버린다</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합성 도트 글자 3,000장 추가 학습</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정밀도 84 → 81%</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진짜 글씨를 대충 읽게 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인식기 셋 다수결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+8 / −4, 장당 +0.43초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퇴보가 회복의 1/3 초과</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탐지 해상도 상향</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±1%p, 시간 +30~50%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원인이 해상도가 아님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5468">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한국어 인식기로 한 번 더 읽기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판정용 +7 / −2, 장당 +0.3~0.7초</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기본 끔</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시간이 한도의 94% 까지 차서 여유를 택함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파인튜닝은 점수를 올렸지만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퇴보 64장</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때문에 버렸다. 채택 기준이 점수보다 먼저다</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속도·효율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한도의 55 ~ 79%, 그리고 완주 보장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13</a:t>
            </a:r>
            <a:endParaRPr lang="en-US" sz="900" dirty="0"/>
          </a:p>
        </p:txBody>
      </p:sp>
      <p:sp>
        <p:nvSpPr>
          <p:cNvPr id="6" name="Shape 4"/>
          <p:cNvSpPr/>
          <p:nvPr/>
        </p:nvSpPr>
        <p:spPr>
          <a:xfrm>
            <a:off x="274320" y="932688"/>
            <a:ext cx="2066544" cy="1188720"/>
          </a:xfrm>
          <a:prstGeom prst="roundRect">
            <a:avLst>
              <a:gd name="adj" fmla="val 6154"/>
            </a:avLst>
          </a:prstGeom>
          <a:solidFill>
            <a:srgbClr val="F2F2F2"/>
          </a:solidFill>
          <a:ln w="12700">
            <a:solidFill>
              <a:srgbClr val="F2F2F2"/>
            </a:solidFill>
            <a:prstDash val="solid"/>
          </a:ln>
        </p:spPr>
      </p:sp>
      <p:sp>
        <p:nvSpPr>
          <p:cNvPr id="7" name="Text 5"/>
          <p:cNvSpPr txBox="1"/>
          <p:nvPr/>
        </p:nvSpPr>
        <p:spPr>
          <a:xfrm>
            <a:off x="411480"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2.7 ~ 4.0초</a:t>
            </a:r>
            <a:endParaRPr lang="en-US" sz="1800" dirty="0"/>
          </a:p>
        </p:txBody>
      </p:sp>
      <p:sp>
        <p:nvSpPr>
          <p:cNvPr id="8" name="Text 6"/>
          <p:cNvSpPr txBox="1"/>
          <p:nvPr/>
        </p:nvSpPr>
        <p:spPr>
          <a:xfrm>
            <a:off x="411480"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장당 처리 시간</a:t>
            </a:r>
            <a:endParaRPr lang="en-US" sz="1150" dirty="0"/>
          </a:p>
        </p:txBody>
      </p:sp>
      <p:sp>
        <p:nvSpPr>
          <p:cNvPr id="9" name="Text 7"/>
          <p:cNvSpPr txBox="1"/>
          <p:nvPr/>
        </p:nvSpPr>
        <p:spPr>
          <a:xfrm>
            <a:off x="411480"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개발 PC 두 대, 4스레드</a:t>
            </a:r>
            <a:endParaRPr lang="en-US" sz="1000" dirty="0"/>
          </a:p>
        </p:txBody>
      </p:sp>
      <p:sp>
        <p:nvSpPr>
          <p:cNvPr id="10" name="Shape 8"/>
          <p:cNvSpPr/>
          <p:nvPr/>
        </p:nvSpPr>
        <p:spPr>
          <a:xfrm>
            <a:off x="2450592" y="932688"/>
            <a:ext cx="2066544" cy="1188720"/>
          </a:xfrm>
          <a:prstGeom prst="roundRect">
            <a:avLst>
              <a:gd name="adj" fmla="val 6154"/>
            </a:avLst>
          </a:prstGeom>
          <a:solidFill>
            <a:srgbClr val="F2F2F2"/>
          </a:solidFill>
          <a:ln w="12700">
            <a:solidFill>
              <a:srgbClr val="F2F2F2"/>
            </a:solidFill>
            <a:prstDash val="solid"/>
          </a:ln>
        </p:spPr>
      </p:sp>
      <p:sp>
        <p:nvSpPr>
          <p:cNvPr id="11" name="Text 9"/>
          <p:cNvSpPr txBox="1"/>
          <p:nvPr/>
        </p:nvSpPr>
        <p:spPr>
          <a:xfrm>
            <a:off x="2587752" y="987552"/>
            <a:ext cx="1883664" cy="502920"/>
          </a:xfrm>
          <a:prstGeom prst="rect">
            <a:avLst/>
          </a:prstGeom>
          <a:noFill/>
          <a:ln/>
        </p:spPr>
        <p:txBody>
          <a:bodyPr wrap="square" lIns="0" tIns="0" rIns="0" bIns="0" rtlCol="0" anchor="ctr"/>
          <a:lstStyle/>
          <a:p>
            <a:pPr indent="0" marL="0">
              <a:buNone/>
            </a:pPr>
            <a:r>
              <a:rPr lang="en-US" sz="1800" dirty="0">
                <a:solidFill>
                  <a:srgbClr val="8B0000"/>
                </a:solidFill>
                <a:latin typeface="Pretendard SemiBold" pitchFamily="34" charset="0"/>
                <a:ea typeface="Pretendard SemiBold" pitchFamily="34" charset="-122"/>
                <a:cs typeface="Pretendard SemiBold" pitchFamily="34" charset="-120"/>
              </a:rPr>
              <a:t>1,370 ~ 1,985초</a:t>
            </a:r>
            <a:endParaRPr lang="en-US" sz="1800" dirty="0"/>
          </a:p>
        </p:txBody>
      </p:sp>
      <p:sp>
        <p:nvSpPr>
          <p:cNvPr id="12" name="Text 10"/>
          <p:cNvSpPr txBox="1"/>
          <p:nvPr/>
        </p:nvSpPr>
        <p:spPr>
          <a:xfrm>
            <a:off x="2587752"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500장</a:t>
            </a:r>
            <a:endParaRPr lang="en-US" sz="1150" dirty="0"/>
          </a:p>
        </p:txBody>
      </p:sp>
      <p:sp>
        <p:nvSpPr>
          <p:cNvPr id="13" name="Text 11"/>
          <p:cNvSpPr txBox="1"/>
          <p:nvPr/>
        </p:nvSpPr>
        <p:spPr>
          <a:xfrm>
            <a:off x="2587752"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2,500초의 55 ~ 79%</a:t>
            </a:r>
            <a:endParaRPr lang="en-US" sz="1000" dirty="0"/>
          </a:p>
        </p:txBody>
      </p:sp>
      <p:sp>
        <p:nvSpPr>
          <p:cNvPr id="14" name="Shape 12"/>
          <p:cNvSpPr/>
          <p:nvPr/>
        </p:nvSpPr>
        <p:spPr>
          <a:xfrm>
            <a:off x="4626864" y="932688"/>
            <a:ext cx="2066544" cy="1188720"/>
          </a:xfrm>
          <a:prstGeom prst="roundRect">
            <a:avLst>
              <a:gd name="adj" fmla="val 6154"/>
            </a:avLst>
          </a:prstGeom>
          <a:solidFill>
            <a:srgbClr val="F2F2F2"/>
          </a:solidFill>
          <a:ln w="12700">
            <a:solidFill>
              <a:srgbClr val="F2F2F2"/>
            </a:solidFill>
            <a:prstDash val="solid"/>
          </a:ln>
        </p:spPr>
      </p:sp>
      <p:sp>
        <p:nvSpPr>
          <p:cNvPr id="15" name="Text 13"/>
          <p:cNvSpPr txBox="1"/>
          <p:nvPr/>
        </p:nvSpPr>
        <p:spPr>
          <a:xfrm>
            <a:off x="4764024"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1.25GB</a:t>
            </a:r>
            <a:endParaRPr lang="en-US" sz="2400" dirty="0"/>
          </a:p>
        </p:txBody>
      </p:sp>
      <p:sp>
        <p:nvSpPr>
          <p:cNvPr id="16" name="Text 14"/>
          <p:cNvSpPr txBox="1"/>
          <p:nvPr/>
        </p:nvSpPr>
        <p:spPr>
          <a:xfrm>
            <a:off x="4764024"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최대 메모리</a:t>
            </a:r>
            <a:endParaRPr lang="en-US" sz="1150" dirty="0"/>
          </a:p>
        </p:txBody>
      </p:sp>
      <p:sp>
        <p:nvSpPr>
          <p:cNvPr id="17" name="Text 15"/>
          <p:cNvSpPr txBox="1"/>
          <p:nvPr/>
        </p:nvSpPr>
        <p:spPr>
          <a:xfrm>
            <a:off x="4764024"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한도 8GB (40장 실측)</a:t>
            </a:r>
            <a:endParaRPr lang="en-US" sz="1000" dirty="0"/>
          </a:p>
        </p:txBody>
      </p:sp>
      <p:sp>
        <p:nvSpPr>
          <p:cNvPr id="18" name="Shape 16"/>
          <p:cNvSpPr/>
          <p:nvPr/>
        </p:nvSpPr>
        <p:spPr>
          <a:xfrm>
            <a:off x="6803136" y="932688"/>
            <a:ext cx="2066544" cy="1188720"/>
          </a:xfrm>
          <a:prstGeom prst="roundRect">
            <a:avLst>
              <a:gd name="adj" fmla="val 6154"/>
            </a:avLst>
          </a:prstGeom>
          <a:solidFill>
            <a:srgbClr val="F2F2F2"/>
          </a:solidFill>
          <a:ln w="12700">
            <a:solidFill>
              <a:srgbClr val="F2F2F2"/>
            </a:solidFill>
            <a:prstDash val="solid"/>
          </a:ln>
        </p:spPr>
      </p:sp>
      <p:sp>
        <p:nvSpPr>
          <p:cNvPr id="19" name="Text 17"/>
          <p:cNvSpPr txBox="1"/>
          <p:nvPr/>
        </p:nvSpPr>
        <p:spPr>
          <a:xfrm>
            <a:off x="6940296" y="987552"/>
            <a:ext cx="1883664" cy="502920"/>
          </a:xfrm>
          <a:prstGeom prst="rect">
            <a:avLst/>
          </a:prstGeom>
          <a:noFill/>
          <a:ln/>
        </p:spPr>
        <p:txBody>
          <a:bodyPr wrap="square" lIns="0" tIns="0" rIns="0" bIns="0" rtlCol="0" anchor="ctr"/>
          <a:lstStyle/>
          <a:p>
            <a:pPr indent="0" marL="0">
              <a:buNone/>
            </a:pPr>
            <a:r>
              <a:rPr lang="en-US" sz="2400" dirty="0">
                <a:solidFill>
                  <a:srgbClr val="8B0000"/>
                </a:solidFill>
                <a:latin typeface="Pretendard SemiBold" pitchFamily="34" charset="0"/>
                <a:ea typeface="Pretendard SemiBold" pitchFamily="34" charset="-122"/>
                <a:cs typeface="Pretendard SemiBold" pitchFamily="34" charset="-120"/>
              </a:rPr>
              <a:t>0원</a:t>
            </a:r>
            <a:endParaRPr lang="en-US" sz="2400" dirty="0"/>
          </a:p>
        </p:txBody>
      </p:sp>
      <p:sp>
        <p:nvSpPr>
          <p:cNvPr id="20" name="Text 18"/>
          <p:cNvSpPr txBox="1"/>
          <p:nvPr/>
        </p:nvSpPr>
        <p:spPr>
          <a:xfrm>
            <a:off x="6940296" y="1490472"/>
            <a:ext cx="1792224" cy="256032"/>
          </a:xfrm>
          <a:prstGeom prst="rect">
            <a:avLst/>
          </a:prstGeom>
          <a:noFill/>
          <a:ln/>
        </p:spPr>
        <p:txBody>
          <a:bodyPr wrap="square" lIns="0" tIns="0" rIns="0" bIns="0" rtlCol="0" anchor="t"/>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학습 비용</a:t>
            </a:r>
            <a:endParaRPr lang="en-US" sz="1150" dirty="0"/>
          </a:p>
        </p:txBody>
      </p:sp>
      <p:sp>
        <p:nvSpPr>
          <p:cNvPr id="21" name="Text 19"/>
          <p:cNvSpPr txBox="1"/>
          <p:nvPr/>
        </p:nvSpPr>
        <p:spPr>
          <a:xfrm>
            <a:off x="6940296" y="1737360"/>
            <a:ext cx="1792224" cy="27432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무료 Colab T4 만 사용</a:t>
            </a:r>
            <a:endParaRPr lang="en-US" sz="1000" dirty="0"/>
          </a:p>
        </p:txBody>
      </p:sp>
      <p:sp>
        <p:nvSpPr>
          <p:cNvPr id="22" name="Text 20"/>
          <p:cNvSpPr txBox="1"/>
          <p:nvPr/>
        </p:nvSpPr>
        <p:spPr>
          <a:xfrm>
            <a:off x="274320" y="2286000"/>
            <a:ext cx="420624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속도를 만든 결정</a:t>
            </a:r>
            <a:endParaRPr lang="en-US" sz="1250" dirty="0"/>
          </a:p>
        </p:txBody>
      </p:sp>
      <p:sp>
        <p:nvSpPr>
          <p:cNvPr id="23" name="Text 21"/>
          <p:cNvSpPr txBox="1"/>
          <p:nvPr/>
        </p:nvSpPr>
        <p:spPr>
          <a:xfrm>
            <a:off x="274320" y="2560320"/>
            <a:ext cx="4206240" cy="1463040"/>
          </a:xfrm>
          <a:prstGeom prst="rect">
            <a:avLst/>
          </a:prstGeom>
          <a:noFill/>
          <a:ln/>
        </p:spPr>
        <p:txBody>
          <a:bodyPr wrap="square" lIns="0" tIns="0" rIns="0" bIns="0" rtlCol="0" anchor="t"/>
          <a:lstStyle/>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탐지는 640px 축소본에서 장당 1회 (탐지 비용 = 픽셀 수)</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인식은 큰 글자부터, 날짜를 찾으면 잔글씨 생략</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사진의 88% 는 1.8초에 끝나고, 재시도까지 간 12% 가 시간의 절반을 쓴다</a:t>
            </a:r>
            <a:endParaRPr lang="en-US" sz="1080" dirty="0"/>
          </a:p>
          <a:p>
            <a:pPr marL="342900" indent="-342900">
              <a:spcAft>
                <a:spcPts val="4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다시 읽기는 후보 줄 크롭만, 폴백은 후보 없는 장에만</a:t>
            </a:r>
            <a:endParaRPr lang="en-US" sz="1080" dirty="0"/>
          </a:p>
        </p:txBody>
      </p:sp>
      <p:sp>
        <p:nvSpPr>
          <p:cNvPr id="24" name="Shape 22"/>
          <p:cNvSpPr/>
          <p:nvPr/>
        </p:nvSpPr>
        <p:spPr>
          <a:xfrm>
            <a:off x="4663440" y="2286000"/>
            <a:ext cx="4206240" cy="1874520"/>
          </a:xfrm>
          <a:prstGeom prst="roundRect">
            <a:avLst>
              <a:gd name="adj" fmla="val 3902"/>
            </a:avLst>
          </a:prstGeom>
          <a:solidFill>
            <a:srgbClr val="F2F2F2"/>
          </a:solidFill>
          <a:ln w="12700">
            <a:solidFill>
              <a:srgbClr val="F2F2F2"/>
            </a:solidFill>
            <a:prstDash val="solid"/>
          </a:ln>
        </p:spPr>
      </p:sp>
      <p:sp>
        <p:nvSpPr>
          <p:cNvPr id="25" name="Text 23"/>
          <p:cNvSpPr txBox="1"/>
          <p:nvPr/>
        </p:nvSpPr>
        <p:spPr>
          <a:xfrm>
            <a:off x="4800600" y="2350008"/>
            <a:ext cx="3931920" cy="274320"/>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시간 예산 가드 : 3단계 자동 경량화</a:t>
            </a:r>
            <a:endParaRPr lang="en-US" sz="1200" dirty="0"/>
          </a:p>
        </p:txBody>
      </p:sp>
      <p:sp>
        <p:nvSpPr>
          <p:cNvPr id="26" name="Text 24"/>
          <p:cNvSpPr txBox="1"/>
          <p:nvPr/>
        </p:nvSpPr>
        <p:spPr>
          <a:xfrm>
            <a:off x="4800600" y="2624328"/>
            <a:ext cx="3931920" cy="274320"/>
          </a:xfrm>
          <a:prstGeom prst="rect">
            <a:avLst/>
          </a:prstGeom>
          <a:noFill/>
          <a:ln/>
        </p:spPr>
        <p:txBody>
          <a:bodyPr wrap="square" lIns="0" tIns="0" rIns="0" bIns="0" rtlCol="0" anchor="t"/>
          <a:lstStyle/>
          <a:p>
            <a:pPr indent="0" marL="0">
              <a:buNone/>
            </a:pPr>
            <a:r>
              <a:rPr lang="en-US" sz="1050" dirty="0">
                <a:solidFill>
                  <a:srgbClr val="6B6B6B"/>
                </a:solidFill>
                <a:latin typeface="Pretendard SemiBold" pitchFamily="34" charset="0"/>
                <a:ea typeface="Pretendard SemiBold" pitchFamily="34" charset="-122"/>
                <a:cs typeface="Pretendard SemiBold" pitchFamily="34" charset="-120"/>
              </a:rPr>
              <a:t>최근 20장 속도로 총 소요를 예측, 2,000초를 넘길 것 같으면</a:t>
            </a:r>
            <a:endParaRPr lang="en-US" sz="1050" dirty="0"/>
          </a:p>
        </p:txBody>
      </p:sp>
      <p:sp>
        <p:nvSpPr>
          <p:cNvPr id="27" name="Shape 25"/>
          <p:cNvSpPr/>
          <p:nvPr/>
        </p:nvSpPr>
        <p:spPr>
          <a:xfrm>
            <a:off x="4800600" y="2971800"/>
            <a:ext cx="310896" cy="310896"/>
          </a:xfrm>
          <a:prstGeom prst="ellipse">
            <a:avLst/>
          </a:prstGeom>
          <a:solidFill>
            <a:srgbClr val="8B0000"/>
          </a:solidFill>
          <a:ln w="12700">
            <a:solidFill>
              <a:srgbClr val="8B0000"/>
            </a:solidFill>
            <a:prstDash val="solid"/>
          </a:ln>
        </p:spPr>
      </p:sp>
      <p:sp>
        <p:nvSpPr>
          <p:cNvPr id="28" name="Text 26"/>
          <p:cNvSpPr txBox="1"/>
          <p:nvPr/>
        </p:nvSpPr>
        <p:spPr>
          <a:xfrm>
            <a:off x="4800600" y="29718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1</a:t>
            </a:r>
            <a:endParaRPr lang="en-US" sz="1000" dirty="0"/>
          </a:p>
        </p:txBody>
      </p:sp>
      <p:sp>
        <p:nvSpPr>
          <p:cNvPr id="29" name="Text 27"/>
          <p:cNvSpPr txBox="1"/>
          <p:nvPr/>
        </p:nvSpPr>
        <p:spPr>
          <a:xfrm>
            <a:off x="5193792" y="297180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재시도 단계 생략</a:t>
            </a:r>
            <a:endParaRPr lang="en-US" sz="1100" dirty="0"/>
          </a:p>
        </p:txBody>
      </p:sp>
      <p:sp>
        <p:nvSpPr>
          <p:cNvPr id="30" name="Shape 28"/>
          <p:cNvSpPr/>
          <p:nvPr/>
        </p:nvSpPr>
        <p:spPr>
          <a:xfrm>
            <a:off x="4800600" y="3337560"/>
            <a:ext cx="310896" cy="310896"/>
          </a:xfrm>
          <a:prstGeom prst="ellipse">
            <a:avLst/>
          </a:prstGeom>
          <a:solidFill>
            <a:srgbClr val="8B0000"/>
          </a:solidFill>
          <a:ln w="12700">
            <a:solidFill>
              <a:srgbClr val="8B0000"/>
            </a:solidFill>
            <a:prstDash val="solid"/>
          </a:ln>
        </p:spPr>
      </p:sp>
      <p:sp>
        <p:nvSpPr>
          <p:cNvPr id="31" name="Text 29"/>
          <p:cNvSpPr txBox="1"/>
          <p:nvPr/>
        </p:nvSpPr>
        <p:spPr>
          <a:xfrm>
            <a:off x="4800600" y="333756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2</a:t>
            </a:r>
            <a:endParaRPr lang="en-US" sz="1000" dirty="0"/>
          </a:p>
        </p:txBody>
      </p:sp>
      <p:sp>
        <p:nvSpPr>
          <p:cNvPr id="32" name="Text 30"/>
          <p:cNvSpPr txBox="1"/>
          <p:nvPr/>
        </p:nvSpPr>
        <p:spPr>
          <a:xfrm>
            <a:off x="5193792" y="333756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다시 읽기 생략</a:t>
            </a:r>
            <a:endParaRPr lang="en-US" sz="1100" dirty="0"/>
          </a:p>
        </p:txBody>
      </p:sp>
      <p:sp>
        <p:nvSpPr>
          <p:cNvPr id="33" name="Shape 31"/>
          <p:cNvSpPr/>
          <p:nvPr/>
        </p:nvSpPr>
        <p:spPr>
          <a:xfrm>
            <a:off x="4800600" y="3703320"/>
            <a:ext cx="310896" cy="310896"/>
          </a:xfrm>
          <a:prstGeom prst="ellipse">
            <a:avLst/>
          </a:prstGeom>
          <a:solidFill>
            <a:srgbClr val="8B0000"/>
          </a:solidFill>
          <a:ln w="12700">
            <a:solidFill>
              <a:srgbClr val="8B0000"/>
            </a:solidFill>
            <a:prstDash val="solid"/>
          </a:ln>
        </p:spPr>
      </p:sp>
      <p:sp>
        <p:nvSpPr>
          <p:cNvPr id="34" name="Text 32"/>
          <p:cNvSpPr txBox="1"/>
          <p:nvPr/>
        </p:nvSpPr>
        <p:spPr>
          <a:xfrm>
            <a:off x="4800600" y="370332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3</a:t>
            </a:r>
            <a:endParaRPr lang="en-US" sz="1000" dirty="0"/>
          </a:p>
        </p:txBody>
      </p:sp>
      <p:sp>
        <p:nvSpPr>
          <p:cNvPr id="35" name="Text 33"/>
          <p:cNvSpPr txBox="1"/>
          <p:nvPr/>
        </p:nvSpPr>
        <p:spPr>
          <a:xfrm>
            <a:off x="5193792" y="3703320"/>
            <a:ext cx="3566160" cy="310896"/>
          </a:xfrm>
          <a:prstGeom prst="rect">
            <a:avLst/>
          </a:prstGeom>
          <a:noFill/>
          <a:ln/>
        </p:spPr>
        <p:txBody>
          <a:bodyPr wrap="square" lIns="0" tIns="0" rIns="0" bIns="0" rtlCol="0" anchor="ctr"/>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남은 장 NONE, 결과 파일은 반드시 생성</a:t>
            </a:r>
            <a:endParaRPr lang="en-US" sz="1100" dirty="0"/>
          </a:p>
        </p:txBody>
      </p:sp>
      <p:sp>
        <p:nvSpPr>
          <p:cNvPr id="36" name="Shape 3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37" name="Text 3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채점 서버 속도를 모르는 상황에서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"느리면 0점"</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을 구조로 막았다</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실행 화면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실제 파이프라인 출력</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14</a:t>
            </a:r>
            <a:endParaRPr lang="en-US" sz="900" dirty="0"/>
          </a:p>
        </p:txBody>
      </p:sp>
      <p:pic>
        <p:nvPicPr>
          <p:cNvPr id="6" name="Image 0" descr="/Users/choseoyoung/Desktop/itda3-CODE-subway/발표/src/img/demo_plain.png">    </p:cNvPr>
          <p:cNvPicPr>
            <a:picLocks noChangeAspect="1"/>
          </p:cNvPicPr>
          <p:nvPr/>
        </p:nvPicPr>
        <p:blipFill>
          <a:blip r:embed="rId1"/>
          <a:stretch>
            <a:fillRect/>
          </a:stretch>
        </p:blipFill>
        <p:spPr>
          <a:xfrm>
            <a:off x="274320" y="914400"/>
            <a:ext cx="2066544" cy="1958645"/>
          </a:xfrm>
          <a:prstGeom prst="rect">
            <a:avLst/>
          </a:prstGeom>
        </p:spPr>
      </p:pic>
      <p:sp>
        <p:nvSpPr>
          <p:cNvPr id="7" name="Text 4"/>
          <p:cNvSpPr txBox="1"/>
          <p:nvPr/>
        </p:nvSpPr>
        <p:spPr>
          <a:xfrm>
            <a:off x="274320"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일반 인쇄</a:t>
            </a:r>
            <a:endParaRPr lang="en-US" sz="1150" dirty="0"/>
          </a:p>
        </p:txBody>
      </p:sp>
      <p:pic>
        <p:nvPicPr>
          <p:cNvPr id="8" name="Image 1" descr="/Users/choseoyoung/Desktop/itda3-CODE-subway/발표/src/img/demo_two.png">    </p:cNvPr>
          <p:cNvPicPr>
            <a:picLocks noChangeAspect="1"/>
          </p:cNvPicPr>
          <p:nvPr/>
        </p:nvPicPr>
        <p:blipFill>
          <a:blip r:embed="rId2"/>
          <a:stretch>
            <a:fillRect/>
          </a:stretch>
        </p:blipFill>
        <p:spPr>
          <a:xfrm>
            <a:off x="2450592" y="914400"/>
            <a:ext cx="2066544" cy="1958645"/>
          </a:xfrm>
          <a:prstGeom prst="rect">
            <a:avLst/>
          </a:prstGeom>
        </p:spPr>
      </p:pic>
      <p:sp>
        <p:nvSpPr>
          <p:cNvPr id="9" name="Text 5"/>
          <p:cNvSpPr txBox="1"/>
          <p:nvPr/>
        </p:nvSpPr>
        <p:spPr>
          <a:xfrm>
            <a:off x="2450592"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제조·소비 병기</a:t>
            </a:r>
            <a:endParaRPr lang="en-US" sz="1150" dirty="0"/>
          </a:p>
        </p:txBody>
      </p:sp>
      <p:pic>
        <p:nvPicPr>
          <p:cNvPr id="10" name="Image 2" descr="/Users/choseoyoung/Desktop/itda3-CODE-subway/발표/src/img/demo_dot.png">    </p:cNvPr>
          <p:cNvPicPr>
            <a:picLocks noChangeAspect="1"/>
          </p:cNvPicPr>
          <p:nvPr/>
        </p:nvPicPr>
        <p:blipFill>
          <a:blip r:embed="rId3"/>
          <a:stretch>
            <a:fillRect/>
          </a:stretch>
        </p:blipFill>
        <p:spPr>
          <a:xfrm>
            <a:off x="4626864" y="914400"/>
            <a:ext cx="2066544" cy="1958645"/>
          </a:xfrm>
          <a:prstGeom prst="rect">
            <a:avLst/>
          </a:prstGeom>
        </p:spPr>
      </p:pic>
      <p:sp>
        <p:nvSpPr>
          <p:cNvPr id="11" name="Text 6"/>
          <p:cNvSpPr txBox="1"/>
          <p:nvPr/>
        </p:nvSpPr>
        <p:spPr>
          <a:xfrm>
            <a:off x="4626864"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도트 인쇄 (폴백)</a:t>
            </a:r>
            <a:endParaRPr lang="en-US" sz="1150" dirty="0"/>
          </a:p>
        </p:txBody>
      </p:sp>
      <p:pic>
        <p:nvPicPr>
          <p:cNvPr id="12" name="Image 3" descr="/Users/choseoyoung/Desktop/itda3-CODE-subway/발표/src/img/demo_none.png">    </p:cNvPr>
          <p:cNvPicPr>
            <a:picLocks noChangeAspect="1"/>
          </p:cNvPicPr>
          <p:nvPr/>
        </p:nvPicPr>
        <p:blipFill>
          <a:blip r:embed="rId4"/>
          <a:stretch>
            <a:fillRect/>
          </a:stretch>
        </p:blipFill>
        <p:spPr>
          <a:xfrm>
            <a:off x="6803136" y="914400"/>
            <a:ext cx="2066544" cy="1958645"/>
          </a:xfrm>
          <a:prstGeom prst="rect">
            <a:avLst/>
          </a:prstGeom>
        </p:spPr>
      </p:pic>
      <p:sp>
        <p:nvSpPr>
          <p:cNvPr id="13" name="Text 7"/>
          <p:cNvSpPr txBox="1"/>
          <p:nvPr/>
        </p:nvSpPr>
        <p:spPr>
          <a:xfrm>
            <a:off x="6803136" y="2926080"/>
            <a:ext cx="2066544" cy="274320"/>
          </a:xfrm>
          <a:prstGeom prst="rect">
            <a:avLst/>
          </a:prstGeom>
          <a:noFill/>
          <a:ln/>
        </p:spPr>
        <p:txBody>
          <a:bodyPr wrap="square" lIns="0" tIns="0" rIns="0" bIns="0" rtlCol="0" anchor="t"/>
          <a:lstStyle/>
          <a:p>
            <a:pPr algn="ct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미인식 → 판매자 입력</a:t>
            </a:r>
            <a:endParaRPr lang="en-US" sz="1150" dirty="0"/>
          </a:p>
        </p:txBody>
      </p:sp>
      <p:sp>
        <p:nvSpPr>
          <p:cNvPr id="14" name="Shape 8"/>
          <p:cNvSpPr/>
          <p:nvPr/>
        </p:nvSpPr>
        <p:spPr>
          <a:xfrm>
            <a:off x="274320" y="3310128"/>
            <a:ext cx="8595360" cy="914400"/>
          </a:xfrm>
          <a:prstGeom prst="roundRect">
            <a:avLst>
              <a:gd name="adj" fmla="val 8000"/>
            </a:avLst>
          </a:prstGeom>
          <a:solidFill>
            <a:srgbClr val="F2F2F2"/>
          </a:solidFill>
          <a:ln w="12700">
            <a:solidFill>
              <a:srgbClr val="F2F2F2"/>
            </a:solidFill>
            <a:prstDash val="solid"/>
          </a:ln>
        </p:spPr>
      </p:sp>
      <p:sp>
        <p:nvSpPr>
          <p:cNvPr id="15" name="Text 9"/>
          <p:cNvSpPr txBox="1"/>
          <p:nvPr/>
        </p:nvSpPr>
        <p:spPr>
          <a:xfrm>
            <a:off x="411480" y="3364992"/>
            <a:ext cx="8321040" cy="82296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빨간 상자 = 선택된 날짜 줄, 회색 상자 = 다른 후보. 아래 패널은 파이프라인이 실제로 낸 값·후보·처리 시간</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병기 사진 : 25.06.26(제조)과 26.06.25(소비)를 모두 읽고 늦은 날짜를 선택</a:t>
            </a:r>
            <a:endParaRPr lang="en-US" sz="1050" dirty="0"/>
          </a:p>
          <a:p>
            <a:pPr marL="342900" indent="-342900">
              <a:spcAft>
                <a:spcPts val="300"/>
              </a:spcAft>
              <a:buSzPct val="100000"/>
              <a:buChar char="•"/>
            </a:pPr>
            <a:r>
              <a:rPr lang="en-US" sz="1050" dirty="0">
                <a:solidFill>
                  <a:srgbClr val="1A1A1A"/>
                </a:solidFill>
                <a:latin typeface="Pretendard SemiBold" pitchFamily="34" charset="0"/>
                <a:ea typeface="Pretendard SemiBold" pitchFamily="34" charset="-122"/>
                <a:cs typeface="Pretendard SemiBold" pitchFamily="34" charset="-120"/>
              </a:rPr>
              <a:t>네 번째 : 후보가 없으면 날짜를 지어내지 않고 NONE. 게시 화면에서는 빈칸으로 두고 판매자가 입력한다</a:t>
            </a:r>
            <a:endParaRPr lang="en-US" sz="1050" dirty="0"/>
          </a:p>
        </p:txBody>
      </p:sp>
      <p:sp>
        <p:nvSpPr>
          <p:cNvPr id="16" name="Shape 10"/>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7" name="Text 11"/>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재현 : 새 환경에서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설치 → 가중치 다운로드 → Run All</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검증, Ubuntu·Python 3.10·오프라인 자동 테스트 통과</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B0000"/>
        </a:solidFill>
      </p:bgPr>
    </p:bg>
    <p:spTree>
      <p:nvGrpSpPr>
        <p:cNvPr id="1" name=""/>
        <p:cNvGrpSpPr/>
        <p:nvPr/>
      </p:nvGrpSpPr>
      <p:grpSpPr>
        <a:xfrm>
          <a:off x="0" y="0"/>
          <a:ext cx="0" cy="0"/>
          <a:chOff x="0" y="0"/>
          <a:chExt cx="0" cy="0"/>
        </a:xfrm>
      </p:grpSpPr>
      <p:sp>
        <p:nvSpPr>
          <p:cNvPr id="2" name="Text 0"/>
          <p:cNvSpPr txBox="1"/>
          <p:nvPr/>
        </p:nvSpPr>
        <p:spPr>
          <a:xfrm>
            <a:off x="4754880" y="548640"/>
            <a:ext cx="4389120" cy="4937760"/>
          </a:xfrm>
          <a:prstGeom prst="rect">
            <a:avLst/>
          </a:prstGeom>
          <a:noFill/>
          <a:ln/>
        </p:spPr>
        <p:txBody>
          <a:bodyPr wrap="square" lIns="0" tIns="0" rIns="0" bIns="0" rtlCol="0" anchor="ctr"/>
          <a:lstStyle/>
          <a:p>
            <a:pPr algn="r" indent="0" marL="0">
              <a:buNone/>
            </a:pPr>
            <a:r>
              <a:rPr lang="en-US" sz="40000" dirty="0">
                <a:solidFill>
                  <a:srgbClr val="FFFFFF"/>
                </a:solidFill>
                <a:latin typeface="Pretendard SemiBold" pitchFamily="34" charset="0"/>
                <a:ea typeface="Pretendard SemiBold" pitchFamily="34" charset="-122"/>
                <a:cs typeface="Pretendard SemiBold" pitchFamily="34" charset="-120"/>
              </a:rPr>
              <a:t>5</a:t>
            </a:r>
            <a:endParaRPr lang="en-US" sz="40000" dirty="0"/>
          </a:p>
        </p:txBody>
      </p:sp>
      <p:sp>
        <p:nvSpPr>
          <p:cNvPr id="3" name="Shape 1"/>
          <p:cNvSpPr/>
          <p:nvPr/>
        </p:nvSpPr>
        <p:spPr>
          <a:xfrm>
            <a:off x="960120" y="2788920"/>
            <a:ext cx="64008" cy="457200"/>
          </a:xfrm>
          <a:prstGeom prst="rect">
            <a:avLst/>
          </a:prstGeom>
          <a:solidFill>
            <a:srgbClr val="FFFFFF"/>
          </a:solidFill>
          <a:ln w="12700">
            <a:solidFill>
              <a:srgbClr val="FFFFFF"/>
            </a:solidFill>
            <a:prstDash val="solid"/>
          </a:ln>
        </p:spPr>
      </p:sp>
      <p:sp>
        <p:nvSpPr>
          <p:cNvPr id="4" name="Text 2"/>
          <p:cNvSpPr txBox="1"/>
          <p:nvPr/>
        </p:nvSpPr>
        <p:spPr>
          <a:xfrm>
            <a:off x="1115568" y="2724912"/>
            <a:ext cx="4572000" cy="594360"/>
          </a:xfrm>
          <a:prstGeom prst="rect">
            <a:avLst/>
          </a:prstGeom>
          <a:noFill/>
          <a:ln/>
        </p:spPr>
        <p:txBody>
          <a:bodyPr wrap="square" lIns="0" tIns="0" rIns="0" bIns="0" rtlCol="0" anchor="ctr"/>
          <a:lstStyle/>
          <a:p>
            <a:pPr indent="0" marL="0">
              <a:buNone/>
            </a:pPr>
            <a:r>
              <a:rPr lang="en-US" sz="2800" dirty="0">
                <a:solidFill>
                  <a:srgbClr val="FFFFFF"/>
                </a:solidFill>
                <a:latin typeface="Pretendard SemiBold" pitchFamily="34" charset="0"/>
                <a:ea typeface="Pretendard SemiBold" pitchFamily="34" charset="-122"/>
                <a:cs typeface="Pretendard SemiBold" pitchFamily="34" charset="-120"/>
              </a:rPr>
              <a:t>도메인 적용과 운영</a:t>
            </a:r>
            <a:endParaRPr lang="en-US" sz="2800" dirty="0"/>
          </a:p>
        </p:txBody>
      </p:sp>
      <p:sp>
        <p:nvSpPr>
          <p:cNvPr id="5" name="Text 3"/>
          <p:cNvSpPr txBox="1"/>
          <p:nvPr/>
        </p:nvSpPr>
        <p:spPr>
          <a:xfrm>
            <a:off x="1115568" y="3364992"/>
            <a:ext cx="4754880" cy="36576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중고거래 식품 게시글의 잔여기한</a:t>
            </a:r>
            <a:endParaRPr lang="en-US" sz="1200" dirty="0"/>
          </a:p>
        </p:txBody>
      </p:sp>
      <p:sp>
        <p:nvSpPr>
          <p:cNvPr id="6" name="Text 4"/>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적용 도메인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중고거래 식품·건강기능식품 게시글의 소비기한</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16</a:t>
            </a:r>
            <a:endParaRPr lang="en-US" sz="900" dirty="0"/>
          </a:p>
        </p:txBody>
      </p:sp>
      <p:sp>
        <p:nvSpPr>
          <p:cNvPr id="6" name="Text 4"/>
          <p:cNvSpPr txBox="1"/>
          <p:nvPr/>
        </p:nvSpPr>
        <p:spPr>
          <a:xfrm>
            <a:off x="274320" y="850392"/>
            <a:ext cx="8595360" cy="246888"/>
          </a:xfrm>
          <a:prstGeom prst="rect">
            <a:avLst/>
          </a:prstGeom>
          <a:noFill/>
          <a:ln/>
        </p:spPr>
        <p:txBody>
          <a:bodyPr wrap="square" lIns="0" tIns="0" rIns="0" bIns="0" rtlCol="0" anchor="t"/>
          <a:lstStyle/>
          <a:p>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소비기한은 판매자가 손으로 적는다. 적발된 위반 375건 중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211건이 사용기한 확인 불가·불일치</a:t>
            </a:r>
            <a:pPr indent="0" marL="0">
              <a:buNone/>
            </a:pPr>
            <a:r>
              <a:rPr lang="en-US" sz="1080" dirty="0">
                <a:solidFill>
                  <a:srgbClr val="1A1A1A"/>
                </a:solidFill>
                <a:latin typeface="Pretendard SemiBold" pitchFamily="34" charset="0"/>
                <a:ea typeface="Pretendard SemiBold" pitchFamily="34" charset="-122"/>
                <a:cs typeface="Pretendard SemiBold" pitchFamily="34" charset="-120"/>
              </a:rPr>
              <a:t>, 전담 모니터링 인력은 </a:t>
            </a:r>
            <a:pPr indent="0" marL="0">
              <a:buNone/>
            </a:pPr>
            <a:r>
              <a:rPr lang="en-US" sz="1080" dirty="0">
                <a:solidFill>
                  <a:srgbClr val="8B0000"/>
                </a:solidFill>
                <a:latin typeface="Pretendard SemiBold" pitchFamily="34" charset="0"/>
                <a:ea typeface="Pretendard SemiBold" pitchFamily="34" charset="-122"/>
                <a:cs typeface="Pretendard SemiBold" pitchFamily="34" charset="-120"/>
              </a:rPr>
              <a:t>5명</a:t>
            </a:r>
            <a:endParaRPr lang="en-US" sz="1080" dirty="0"/>
          </a:p>
        </p:txBody>
      </p:sp>
      <p:sp>
        <p:nvSpPr>
          <p:cNvPr id="7" name="Text 5"/>
          <p:cNvSpPr txBox="1"/>
          <p:nvPr/>
        </p:nvSpPr>
        <p:spPr>
          <a:xfrm>
            <a:off x="274320" y="1088136"/>
            <a:ext cx="8595360" cy="182880"/>
          </a:xfrm>
          <a:prstGeom prst="rect">
            <a:avLst/>
          </a:prstGeom>
          <a:noFill/>
          <a:ln/>
        </p:spPr>
        <p:txBody>
          <a:bodyPr wrap="square" lIns="0" tIns="0" rIns="0" bIns="0" rtlCol="0" anchor="t"/>
          <a:lstStyle/>
          <a:p>
            <a:pPr indent="0" marL="0">
              <a:buNone/>
            </a:pPr>
            <a:r>
              <a:rPr lang="en-US" sz="900" dirty="0">
                <a:solidFill>
                  <a:srgbClr val="6B6B6B"/>
                </a:solidFill>
                <a:latin typeface="Pretendard SemiBold" pitchFamily="34" charset="0"/>
                <a:ea typeface="Pretendard SemiBold" pitchFamily="34" charset="-122"/>
                <a:cs typeface="Pretendard SemiBold" pitchFamily="34" charset="-120"/>
              </a:rPr>
              <a:t>아래는 시연용으로 만든 서비스 화면(설계안)이며 실제 앱을 구현한 것은 아니다. 사진·판독값·확신도는 우리 파이프라인의 실제 출력이다</a:t>
            </a:r>
            <a:endParaRPr lang="en-US" sz="900" dirty="0"/>
          </a:p>
        </p:txBody>
      </p:sp>
      <p:pic>
        <p:nvPicPr>
          <p:cNvPr id="8" name="Image 0" descr="/Users/choseoyoung/Desktop/itda3-CODE-subway/발표/src/img/dash_phone1.png">    </p:cNvPr>
          <p:cNvPicPr>
            <a:picLocks noChangeAspect="1"/>
          </p:cNvPicPr>
          <p:nvPr/>
        </p:nvPicPr>
        <p:blipFill>
          <a:blip r:embed="rId1"/>
          <a:stretch>
            <a:fillRect/>
          </a:stretch>
        </p:blipFill>
        <p:spPr>
          <a:xfrm>
            <a:off x="274320" y="1298448"/>
            <a:ext cx="1309421" cy="2743200"/>
          </a:xfrm>
          <a:prstGeom prst="rect">
            <a:avLst/>
          </a:prstGeom>
        </p:spPr>
      </p:pic>
      <p:sp>
        <p:nvSpPr>
          <p:cNvPr id="9" name="Text 6"/>
          <p:cNvSpPr txBox="1"/>
          <p:nvPr/>
        </p:nvSpPr>
        <p:spPr>
          <a:xfrm>
            <a:off x="182880"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① 날짜면 촬영</a:t>
            </a:r>
            <a:endParaRPr lang="en-US" sz="950" dirty="0"/>
          </a:p>
        </p:txBody>
      </p:sp>
      <p:sp>
        <p:nvSpPr>
          <p:cNvPr id="10" name="Text 7"/>
          <p:cNvSpPr txBox="1"/>
          <p:nvPr/>
        </p:nvSpPr>
        <p:spPr>
          <a:xfrm>
            <a:off x="1583741"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1" name="Image 1" descr="/Users/choseoyoung/Desktop/itda3-CODE-subway/발표/src/img/dash_phone2.png">    </p:cNvPr>
          <p:cNvPicPr>
            <a:picLocks noChangeAspect="1"/>
          </p:cNvPicPr>
          <p:nvPr/>
        </p:nvPicPr>
        <p:blipFill>
          <a:blip r:embed="rId2"/>
          <a:stretch>
            <a:fillRect/>
          </a:stretch>
        </p:blipFill>
        <p:spPr>
          <a:xfrm>
            <a:off x="1792224" y="1298448"/>
            <a:ext cx="1309421" cy="2743200"/>
          </a:xfrm>
          <a:prstGeom prst="rect">
            <a:avLst/>
          </a:prstGeom>
        </p:spPr>
      </p:pic>
      <p:sp>
        <p:nvSpPr>
          <p:cNvPr id="12" name="Text 8"/>
          <p:cNvSpPr txBox="1"/>
          <p:nvPr/>
        </p:nvSpPr>
        <p:spPr>
          <a:xfrm>
            <a:off x="1700784"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② 확신하면 자동 입력</a:t>
            </a:r>
            <a:endParaRPr lang="en-US" sz="950" dirty="0"/>
          </a:p>
        </p:txBody>
      </p:sp>
      <p:sp>
        <p:nvSpPr>
          <p:cNvPr id="13" name="Text 9"/>
          <p:cNvSpPr txBox="1"/>
          <p:nvPr/>
        </p:nvSpPr>
        <p:spPr>
          <a:xfrm>
            <a:off x="3101645"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4" name="Image 2" descr="/Users/choseoyoung/Desktop/itda3-CODE-subway/발표/src/img/dash_phone3.png">    </p:cNvPr>
          <p:cNvPicPr>
            <a:picLocks noChangeAspect="1"/>
          </p:cNvPicPr>
          <p:nvPr/>
        </p:nvPicPr>
        <p:blipFill>
          <a:blip r:embed="rId3"/>
          <a:stretch>
            <a:fillRect/>
          </a:stretch>
        </p:blipFill>
        <p:spPr>
          <a:xfrm>
            <a:off x="3310128" y="1298448"/>
            <a:ext cx="1309421" cy="2743200"/>
          </a:xfrm>
          <a:prstGeom prst="rect">
            <a:avLst/>
          </a:prstGeom>
        </p:spPr>
      </p:pic>
      <p:sp>
        <p:nvSpPr>
          <p:cNvPr id="15" name="Text 10"/>
          <p:cNvSpPr txBox="1"/>
          <p:nvPr/>
        </p:nvSpPr>
        <p:spPr>
          <a:xfrm>
            <a:off x="3218688"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③ 확신이 낮으면 빈칸</a:t>
            </a:r>
            <a:endParaRPr lang="en-US" sz="950" dirty="0"/>
          </a:p>
        </p:txBody>
      </p:sp>
      <p:sp>
        <p:nvSpPr>
          <p:cNvPr id="16" name="Text 11"/>
          <p:cNvSpPr txBox="1"/>
          <p:nvPr/>
        </p:nvSpPr>
        <p:spPr>
          <a:xfrm>
            <a:off x="4619549" y="2532888"/>
            <a:ext cx="208483" cy="274320"/>
          </a:xfrm>
          <a:prstGeom prst="rect">
            <a:avLst/>
          </a:prstGeom>
          <a:noFill/>
          <a:ln/>
        </p:spPr>
        <p:txBody>
          <a:bodyPr wrap="square" lIns="0" tIns="0" rIns="0" bIns="0" rtlCol="0" anchor="ctr"/>
          <a:lstStyle/>
          <a:p>
            <a:pPr algn="ctr" indent="0" marL="0">
              <a:buNone/>
            </a:pPr>
            <a:r>
              <a:rPr lang="en-US" sz="900" dirty="0">
                <a:solidFill>
                  <a:srgbClr val="6B6B6B"/>
                </a:solidFill>
                <a:latin typeface="Pretendard SemiBold" pitchFamily="34" charset="0"/>
                <a:ea typeface="Pretendard SemiBold" pitchFamily="34" charset="-122"/>
                <a:cs typeface="Pretendard SemiBold" pitchFamily="34" charset="-120"/>
              </a:rPr>
              <a:t>▶</a:t>
            </a:r>
            <a:endParaRPr lang="en-US" sz="900" dirty="0"/>
          </a:p>
        </p:txBody>
      </p:sp>
      <p:pic>
        <p:nvPicPr>
          <p:cNvPr id="17" name="Image 3" descr="/Users/choseoyoung/Desktop/itda3-CODE-subway/발표/src/img/dash_phone4.png">    </p:cNvPr>
          <p:cNvPicPr>
            <a:picLocks noChangeAspect="1"/>
          </p:cNvPicPr>
          <p:nvPr/>
        </p:nvPicPr>
        <p:blipFill>
          <a:blip r:embed="rId4"/>
          <a:stretch>
            <a:fillRect/>
          </a:stretch>
        </p:blipFill>
        <p:spPr>
          <a:xfrm>
            <a:off x="4828032" y="1298448"/>
            <a:ext cx="1309421" cy="2743200"/>
          </a:xfrm>
          <a:prstGeom prst="rect">
            <a:avLst/>
          </a:prstGeom>
        </p:spPr>
      </p:pic>
      <p:sp>
        <p:nvSpPr>
          <p:cNvPr id="18" name="Text 12"/>
          <p:cNvSpPr txBox="1"/>
          <p:nvPr/>
        </p:nvSpPr>
        <p:spPr>
          <a:xfrm>
            <a:off x="4736592" y="4059936"/>
            <a:ext cx="1492301" cy="237744"/>
          </a:xfrm>
          <a:prstGeom prst="rect">
            <a:avLst/>
          </a:prstGeom>
          <a:noFill/>
          <a:ln/>
        </p:spPr>
        <p:txBody>
          <a:bodyPr wrap="square" lIns="0" tIns="0" rIns="0" bIns="0" rtlCol="0" anchor="ctr"/>
          <a:lstStyle/>
          <a:p>
            <a:pPr algn="ctr" indent="0" marL="0">
              <a:buNone/>
            </a:pPr>
            <a:r>
              <a:rPr lang="en-US" sz="950" dirty="0">
                <a:solidFill>
                  <a:srgbClr val="1A1A1A"/>
                </a:solidFill>
                <a:latin typeface="Pretendard SemiBold" pitchFamily="34" charset="0"/>
                <a:ea typeface="Pretendard SemiBold" pitchFamily="34" charset="-122"/>
                <a:cs typeface="Pretendard SemiBold" pitchFamily="34" charset="-120"/>
              </a:rPr>
              <a:t>④ 날짜·남은 일수·원본</a:t>
            </a:r>
            <a:endParaRPr lang="en-US" sz="950" dirty="0"/>
          </a:p>
        </p:txBody>
      </p:sp>
      <p:sp>
        <p:nvSpPr>
          <p:cNvPr id="19" name="Text 13"/>
          <p:cNvSpPr txBox="1"/>
          <p:nvPr/>
        </p:nvSpPr>
        <p:spPr>
          <a:xfrm>
            <a:off x="6355080" y="1298448"/>
            <a:ext cx="2514600" cy="256032"/>
          </a:xfrm>
          <a:prstGeom prst="rect">
            <a:avLst/>
          </a:prstGeom>
          <a:noFill/>
          <a:ln/>
        </p:spPr>
        <p:txBody>
          <a:bodyPr wrap="square" lIns="0" tIns="0" rIns="0" bIns="0" rtlCol="0" anchor="t"/>
          <a:lstStyle/>
          <a:p>
            <a:pPr indent="0" marL="0">
              <a:buNone/>
            </a:pPr>
            <a:r>
              <a:rPr lang="en-US" sz="1100" dirty="0">
                <a:solidFill>
                  <a:srgbClr val="1A1A1A"/>
                </a:solidFill>
                <a:latin typeface="Pretendard SemiBold" pitchFamily="34" charset="0"/>
                <a:ea typeface="Pretendard SemiBold" pitchFamily="34" charset="-122"/>
                <a:cs typeface="Pretendard SemiBold" pitchFamily="34" charset="-120"/>
              </a:rPr>
              <a:t>모델 결과별로 판매자에게 일어나는 일</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355080" y="1591056"/>
          <a:ext cx="2514600" cy="914400"/>
        </p:xfrm>
        <a:graphic>
          <a:graphicData uri="http://schemas.openxmlformats.org/drawingml/2006/table">
            <a:tbl>
              <a:tblPr/>
              <a:tblGrid>
                <a:gridCol w="868680"/>
                <a:gridCol w="1645920"/>
              </a:tblGrid>
              <a:tr h="329184">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모델 결과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880" dirty="0">
                          <a:solidFill>
                            <a:srgbClr val="FFFFFF"/>
                          </a:solidFill>
                          <a:latin typeface="Pretendard SemiBold" pitchFamily="34" charset="0"/>
                          <a:ea typeface="Pretendard SemiBold" pitchFamily="34" charset="-122"/>
                          <a:cs typeface="Pretendard SemiBold" pitchFamily="34" charset="-120"/>
                        </a:rPr>
                        <a:t>판매자에게 일어나는 일</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맞게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채워진 날짜를 확인</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못 읽음 · 확신 낮음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빈칸. 손으로 입력 (지금과 같음)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이르게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880" dirty="0">
                          <a:solidFill>
                            <a:srgbClr val="8B0000"/>
                          </a:solidFill>
                          <a:latin typeface="Pretendard SemiBold" pitchFamily="34" charset="0"/>
                          <a:ea typeface="Pretendard SemiBold" pitchFamily="34" charset="-122"/>
                          <a:cs typeface="Pretendard SemiBold" pitchFamily="34" charset="-120"/>
                        </a:rPr>
                        <a:t>늦게 읽음</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880" dirty="0">
                          <a:solidFill>
                            <a:srgbClr val="1A1A1A"/>
                          </a:solidFill>
                          <a:latin typeface="Pretendard SemiBold" pitchFamily="34" charset="0"/>
                          <a:ea typeface="Pretendard SemiBold" pitchFamily="34" charset="-122"/>
                          <a:cs typeface="Pretendard SemiBold" pitchFamily="34" charset="-120"/>
                        </a:rPr>
                        <a:t>확대본을 보고 고침. 안 고치면 남은 날이 많게 표시</a:t>
                      </a:r>
                      <a:endParaRPr lang="en-US" sz="8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21" name="Shape 14"/>
          <p:cNvSpPr/>
          <p:nvPr/>
        </p:nvSpPr>
        <p:spPr>
          <a:xfrm>
            <a:off x="6355080" y="3456432"/>
            <a:ext cx="2514600" cy="841248"/>
          </a:xfrm>
          <a:prstGeom prst="roundRect">
            <a:avLst>
              <a:gd name="adj" fmla="val 8696"/>
            </a:avLst>
          </a:prstGeom>
          <a:solidFill>
            <a:srgbClr val="F2F2F2"/>
          </a:solidFill>
          <a:ln w="12700">
            <a:solidFill>
              <a:srgbClr val="F2F2F2"/>
            </a:solidFill>
            <a:prstDash val="solid"/>
          </a:ln>
        </p:spPr>
      </p:sp>
      <p:sp>
        <p:nvSpPr>
          <p:cNvPr id="22" name="Text 15"/>
          <p:cNvSpPr txBox="1"/>
          <p:nvPr/>
        </p:nvSpPr>
        <p:spPr>
          <a:xfrm>
            <a:off x="6464808" y="3493008"/>
            <a:ext cx="2295144" cy="768096"/>
          </a:xfrm>
          <a:prstGeom prst="rect">
            <a:avLst/>
          </a:prstGeom>
          <a:noFill/>
          <a:ln/>
        </p:spPr>
        <p:txBody>
          <a:bodyPr wrap="square" lIns="0" tIns="0" rIns="0" bIns="0" rtlCol="0" anchor="ctr"/>
          <a:lstStyle/>
          <a:p>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판매자가 마지막에 확인하므로 정확도는 안전성이 아니라 </a:t>
            </a:r>
            <a:pPr indent="0" marL="0">
              <a:buNone/>
            </a:pPr>
            <a:r>
              <a:rPr lang="en-US" sz="930" dirty="0">
                <a:solidFill>
                  <a:srgbClr val="8B0000"/>
                </a:solidFill>
                <a:latin typeface="Pretendard SemiBold" pitchFamily="34" charset="0"/>
                <a:ea typeface="Pretendard SemiBold" pitchFamily="34" charset="-122"/>
                <a:cs typeface="Pretendard SemiBold" pitchFamily="34" charset="-120"/>
              </a:rPr>
              <a:t>자동 입력 비율</a:t>
            </a:r>
            <a:pPr indent="0" marL="0">
              <a:buNone/>
            </a:pPr>
            <a:r>
              <a:rPr lang="en-US" sz="930" dirty="0">
                <a:solidFill>
                  <a:srgbClr val="1A1A1A"/>
                </a:solidFill>
                <a:latin typeface="Pretendard SemiBold" pitchFamily="34" charset="0"/>
                <a:ea typeface="Pretendard SemiBold" pitchFamily="34" charset="-122"/>
                <a:cs typeface="Pretendard SemiBold" pitchFamily="34" charset="-120"/>
              </a:rPr>
              <a:t> 을 정한다. 속이려는 소수는 기존 사후 모니터링이 맡는다</a:t>
            </a:r>
            <a:endParaRPr lang="en-US" sz="930" dirty="0"/>
          </a:p>
        </p:txBody>
      </p:sp>
      <p:sp>
        <p:nvSpPr>
          <p:cNvPr id="23" name="Shape 1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4" name="Text 1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포장 판독과 사진 기반 자동 입력은 각각 이미 있다. 우리는 둘을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게시 흐름에서 잇는 빈자리</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를 채운다</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구조와 비용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건당 0.2 ~ 5.8원, 도입 이유는 규제 대응</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5120640" cy="914400"/>
        </p:xfrm>
        <a:graphic>
          <a:graphicData uri="http://schemas.openxmlformats.org/drawingml/2006/table">
            <a:tbl>
              <a:tblPr/>
              <a:tblGrid>
                <a:gridCol w="914400"/>
                <a:gridCol w="4206240"/>
              </a:tblGrid>
              <a:tr h="310896">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항목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80" dirty="0">
                          <a:solidFill>
                            <a:srgbClr val="FFFFFF"/>
                          </a:solidFill>
                          <a:latin typeface="Pretendard SemiBold" pitchFamily="34" charset="0"/>
                          <a:ea typeface="Pretendard SemiBold" pitchFamily="34" charset="-122"/>
                          <a:cs typeface="Pretendard SemiBold" pitchFamily="34" charset="-120"/>
                        </a:rPr>
                        <a:t>내용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1차 대상</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건강기능식품 카테고리 (미개봉 · 소비기한 이내 · 연 10회 이하)</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규모</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게시글 월 약 2.4만 건, 하루 약 800건 (식약처 자료)</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구조</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플랫폼 서버에서 추론. 모델 21MB, CPU 전용, 10초 제한</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서버</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하루 53분 ~ 2.4시간 = 서버 1대의 4 ~ 10%</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80" dirty="0">
                          <a:solidFill>
                            <a:srgbClr val="1A1A1A"/>
                          </a:solidFill>
                          <a:latin typeface="Pretendard SemiBold" pitchFamily="34" charset="0"/>
                          <a:ea typeface="Pretendard SemiBold" pitchFamily="34" charset="-122"/>
                          <a:cs typeface="Pretendard SemiBold" pitchFamily="34" charset="-120"/>
                        </a:rPr>
                        <a:t>비용</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80" dirty="0">
                          <a:solidFill>
                            <a:srgbClr val="8B0000"/>
                          </a:solidFill>
                          <a:latin typeface="Pretendard SemiBold" pitchFamily="34" charset="0"/>
                          <a:ea typeface="Pretendard SemiBold" pitchFamily="34" charset="-122"/>
                          <a:cs typeface="Pretendard SemiBold" pitchFamily="34" charset="-120"/>
                        </a:rPr>
                        <a:t>게시글 한 건당 0.2 ~ 5.8원. 라이선스·GPU·학습비 0원</a:t>
                      </a:r>
                      <a:endParaRPr lang="en-US" sz="98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5577840" y="914400"/>
            <a:ext cx="3291840" cy="1874520"/>
          </a:xfrm>
          <a:prstGeom prst="roundRect">
            <a:avLst>
              <a:gd name="adj" fmla="val 3902"/>
            </a:avLst>
          </a:prstGeom>
          <a:solidFill>
            <a:srgbClr val="F2F2F2"/>
          </a:solidFill>
          <a:ln w="12700">
            <a:solidFill>
              <a:srgbClr val="F2F2F2"/>
            </a:solidFill>
            <a:prstDash val="solid"/>
          </a:ln>
        </p:spPr>
      </p:sp>
      <p:sp>
        <p:nvSpPr>
          <p:cNvPr id="8" name="Text 5"/>
          <p:cNvSpPr txBox="1"/>
          <p:nvPr/>
        </p:nvSpPr>
        <p:spPr>
          <a:xfrm>
            <a:off x="5715000" y="978408"/>
            <a:ext cx="30175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도입 이유 : 비용 절감이 아니다</a:t>
            </a:r>
            <a:endParaRPr lang="en-US" sz="1200" dirty="0"/>
          </a:p>
        </p:txBody>
      </p:sp>
      <p:sp>
        <p:nvSpPr>
          <p:cNvPr id="9" name="Text 6"/>
          <p:cNvSpPr txBox="1"/>
          <p:nvPr/>
        </p:nvSpPr>
        <p:spPr>
          <a:xfrm>
            <a:off x="5715000" y="1252728"/>
            <a:ext cx="3017520" cy="1481328"/>
          </a:xfrm>
          <a:prstGeom prst="rect">
            <a:avLst/>
          </a:prstGeom>
          <a:noFill/>
          <a:ln/>
        </p:spPr>
        <p:txBody>
          <a:bodyPr wrap="square" lIns="0" tIns="0" rIns="0" bIns="0" rtlCol="0" anchor="t"/>
          <a:lstStyle/>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위반 처리비 절감으로는 본전이 안 된다 : 손익분기 780 ~ 1,900원, 사람 검토는 약 86원 (가정)</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건강기능식품 개인 간 거래는 시범사업. 게시글마다 남는 사진과 판독 기록이 관리 체계의 증거</a:t>
            </a:r>
            <a:endParaRPr lang="en-US" sz="980" dirty="0"/>
          </a:p>
          <a:p>
            <a:pPr marL="342900" indent="-342900">
              <a:spcAft>
                <a:spcPts val="300"/>
              </a:spcAft>
              <a:buSzPct val="100000"/>
              <a:buChar char="•"/>
            </a:pPr>
            <a:r>
              <a:rPr lang="en-US" sz="980" dirty="0">
                <a:solidFill>
                  <a:srgbClr val="1A1A1A"/>
                </a:solidFill>
                <a:latin typeface="Pretendard SemiBold" pitchFamily="34" charset="0"/>
                <a:ea typeface="Pretendard SemiBold" pitchFamily="34" charset="-122"/>
                <a:cs typeface="Pretendard SemiBold" pitchFamily="34" charset="-120"/>
              </a:rPr>
              <a:t>남은 일수 표시·자동 숨김은 날짜 칸만으로 되므로 OCR 효과로 세지 않았다</a:t>
            </a:r>
            <a:endParaRPr lang="en-US" sz="980" dirty="0"/>
          </a:p>
        </p:txBody>
      </p:sp>
      <p:sp>
        <p:nvSpPr>
          <p:cNvPr id="10" name="Text 7"/>
          <p:cNvSpPr txBox="1"/>
          <p:nvPr/>
        </p:nvSpPr>
        <p:spPr>
          <a:xfrm>
            <a:off x="274320" y="288036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자동 입력 기준 (직접 찍은 폰 사진 389장 실측)</a:t>
            </a:r>
            <a:endParaRPr lang="en-US" sz="12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274320" y="3136392"/>
          <a:ext cx="8595360" cy="914400"/>
        </p:xfrm>
        <a:graphic>
          <a:graphicData uri="http://schemas.openxmlformats.org/drawingml/2006/table">
            <a:tbl>
              <a:tblPr/>
              <a:tblGrid>
                <a:gridCol w="3108960"/>
                <a:gridCol w="1828800"/>
                <a:gridCol w="1828800"/>
                <a:gridCol w="1828800"/>
              </a:tblGrid>
              <a:tr h="224028">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자동 입력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채워지는 비율</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채운 값의 정확도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틀린 값을 받는 판매자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기준 없음 (읽히면 채움)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20.8%</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44.7%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77.0%</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10.3%</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0.7 이상 + 10초 제한 (운영 기준)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40.6%</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79.7%</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8.2%</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r h="224028">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확신도 0.9 이상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87.5%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2.1%</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12" name="Shape 8"/>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3" name="Text 9"/>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OCR 이 있어야 되는 것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입력값과 사진의 대조</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날짜면이 찍혔는지 확인, 자동 입력과 수정값 축적</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운영 아키텍처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서버는 지금, 온디바이스는 다음 단계</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18</a:t>
            </a:r>
            <a:endParaRPr lang="en-US" sz="900" dirty="0"/>
          </a:p>
        </p:txBody>
      </p:sp>
      <p:sp>
        <p:nvSpPr>
          <p:cNvPr id="6" name="Shape 4"/>
          <p:cNvSpPr/>
          <p:nvPr/>
        </p:nvSpPr>
        <p:spPr>
          <a:xfrm>
            <a:off x="274320" y="914400"/>
            <a:ext cx="4206240" cy="3063240"/>
          </a:xfrm>
          <a:prstGeom prst="roundRect">
            <a:avLst>
              <a:gd name="adj" fmla="val 2388"/>
            </a:avLst>
          </a:prstGeom>
          <a:solidFill>
            <a:srgbClr val="F2F2F2"/>
          </a:solidFill>
          <a:ln w="12700">
            <a:solidFill>
              <a:srgbClr val="F2F2F2"/>
            </a:solidFill>
            <a:prstDash val="solid"/>
          </a:ln>
        </p:spPr>
      </p:sp>
      <p:sp>
        <p:nvSpPr>
          <p:cNvPr id="7" name="Text 5"/>
          <p:cNvSpPr txBox="1"/>
          <p:nvPr/>
        </p:nvSpPr>
        <p:spPr>
          <a:xfrm>
            <a:off x="41148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지금 — 서버 추론</a:t>
            </a:r>
            <a:endParaRPr lang="en-US" sz="1300" dirty="0"/>
          </a:p>
        </p:txBody>
      </p:sp>
      <p:sp>
        <p:nvSpPr>
          <p:cNvPr id="8" name="Text 6"/>
          <p:cNvSpPr txBox="1"/>
          <p:nvPr/>
        </p:nvSpPr>
        <p:spPr>
          <a:xfrm>
            <a:off x="41148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판매자가 제목·가격을 쓰는 동안 서버가 사진을 읽는다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확신도 0.7 이상이고 10초 안에 읽혀야 칸을 채운다. 아니면 빈칸</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21MB라 가볍다. GPU도 외부 API도 필요 없고, 사진은 서버 밖으로 안 나간다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서버 한 대로 충분하다. 지금 쓰는 양은 그중 4 ~ 10%뿐이다</a:t>
            </a:r>
            <a:endParaRPr lang="en-US" sz="1030" dirty="0"/>
          </a:p>
        </p:txBody>
      </p:sp>
      <p:sp>
        <p:nvSpPr>
          <p:cNvPr id="9" name="Shape 7"/>
          <p:cNvSpPr/>
          <p:nvPr/>
        </p:nvSpPr>
        <p:spPr>
          <a:xfrm>
            <a:off x="4663440" y="914400"/>
            <a:ext cx="4206240" cy="3063240"/>
          </a:xfrm>
          <a:prstGeom prst="roundRect">
            <a:avLst>
              <a:gd name="adj" fmla="val 2388"/>
            </a:avLst>
          </a:prstGeom>
          <a:solidFill>
            <a:srgbClr val="F6E3E3"/>
          </a:solidFill>
          <a:ln w="12700">
            <a:solidFill>
              <a:srgbClr val="F6E3E3"/>
            </a:solidFill>
            <a:prstDash val="solid"/>
          </a:ln>
        </p:spPr>
      </p:sp>
      <p:sp>
        <p:nvSpPr>
          <p:cNvPr id="10" name="Text 8"/>
          <p:cNvSpPr txBox="1"/>
          <p:nvPr/>
        </p:nvSpPr>
        <p:spPr>
          <a:xfrm>
            <a:off x="4800600" y="1005840"/>
            <a:ext cx="3931920" cy="274320"/>
          </a:xfrm>
          <a:prstGeom prst="rect">
            <a:avLst/>
          </a:prstGeom>
          <a:noFill/>
          <a:ln/>
        </p:spPr>
        <p:txBody>
          <a:bodyPr wrap="square" lIns="0" tIns="0" rIns="0" bIns="0" rtlCol="0" anchor="t"/>
          <a:lstStyle/>
          <a:p>
            <a:pPr indent="0" marL="0">
              <a:buNone/>
            </a:pPr>
            <a:r>
              <a:rPr lang="en-US" sz="1300" dirty="0">
                <a:solidFill>
                  <a:srgbClr val="8B0000"/>
                </a:solidFill>
                <a:latin typeface="Pretendard SemiBold" pitchFamily="34" charset="0"/>
                <a:ea typeface="Pretendard SemiBold" pitchFamily="34" charset="-122"/>
                <a:cs typeface="Pretendard SemiBold" pitchFamily="34" charset="-120"/>
              </a:rPr>
              <a:t>다음 — 온디바이스 (폰 자체 추론)</a:t>
            </a:r>
            <a:endParaRPr lang="en-US" sz="1300" dirty="0"/>
          </a:p>
        </p:txBody>
      </p:sp>
      <p:sp>
        <p:nvSpPr>
          <p:cNvPr id="11" name="Text 9"/>
          <p:cNvSpPr txBox="1"/>
          <p:nvPr/>
        </p:nvSpPr>
        <p:spPr>
          <a:xfrm>
            <a:off x="4800600" y="1335024"/>
            <a:ext cx="3931920" cy="2514600"/>
          </a:xfrm>
          <a:prstGeom prst="rect">
            <a:avLst/>
          </a:prstGeom>
          <a:noFill/>
          <a:ln/>
        </p:spPr>
        <p:txBody>
          <a:bodyPr wrap="square" lIns="0" tIns="0" rIns="0" bIns="0" rtlCol="0" anchor="t"/>
          <a:lstStyle/>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폰 안에서 직접 돌리는 건 아직 안 해 봤다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모델이 작아서 될 것 같긴 하지만, 그건 추측이지 잰 값이 아니다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폰에서 장당 몇 초가 걸리는지, 배터리는 얼마나 쓰는지부터 재야 한다</a:t>
            </a:r>
            <a:endParaRPr lang="en-US" sz="1030" dirty="0"/>
          </a:p>
          <a:p>
            <a:pPr marL="342900" indent="-342900">
              <a:spcAft>
                <a:spcPts val="500"/>
              </a:spcAft>
              <a:buSzPct val="100000"/>
              <a:buChar char="•"/>
            </a:pPr>
            <a:r>
              <a:rPr lang="en-US" sz="1030" dirty="0">
                <a:solidFill>
                  <a:srgbClr val="1A1A1A"/>
                </a:solidFill>
                <a:latin typeface="Pretendard SemiBold" pitchFamily="34" charset="0"/>
                <a:ea typeface="Pretendard SemiBold" pitchFamily="34" charset="-122"/>
                <a:cs typeface="Pretendard SemiBold" pitchFamily="34" charset="-120"/>
              </a:rPr>
              <a:t>되면 서버 비용이 거의 사라지고, 사진도 폰 밖으로 안 나간다</a:t>
            </a:r>
            <a:endParaRPr lang="en-US" sz="1030" dirty="0"/>
          </a:p>
        </p:txBody>
      </p:sp>
      <p:sp>
        <p:nvSpPr>
          <p:cNvPr id="12" name="Shape 10"/>
          <p:cNvSpPr/>
          <p:nvPr/>
        </p:nvSpPr>
        <p:spPr>
          <a:xfrm>
            <a:off x="274320" y="4160520"/>
            <a:ext cx="8595360" cy="384048"/>
          </a:xfrm>
          <a:prstGeom prst="roundRect">
            <a:avLst>
              <a:gd name="adj" fmla="val 19048"/>
            </a:avLst>
          </a:prstGeom>
          <a:solidFill>
            <a:srgbClr val="F2F2F2"/>
          </a:solidFill>
          <a:ln w="12700">
            <a:solidFill>
              <a:srgbClr val="F2F2F2"/>
            </a:solidFill>
            <a:prstDash val="solid"/>
          </a:ln>
        </p:spPr>
      </p:sp>
      <p:sp>
        <p:nvSpPr>
          <p:cNvPr id="13" name="Text 11"/>
          <p:cNvSpPr txBox="1"/>
          <p:nvPr/>
        </p:nvSpPr>
        <p:spPr>
          <a:xfrm>
            <a:off x="411480" y="416052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지금 돌아가는 건 서버 추론 하나뿐이다.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온디바이스는 가능성일 뿐, 된다고 말한 적 없다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손실 절감과 ROI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비용 절감으로는 본전이 안 된다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19</a:t>
            </a:r>
            <a:endParaRPr lang="en-US" sz="900" dirty="0"/>
          </a:p>
        </p:txBody>
      </p:sp>
      <p:sp>
        <p:nvSpPr>
          <p:cNvPr id="6" name="Text 4"/>
          <p:cNvSpPr txBox="1"/>
          <p:nvPr/>
        </p:nvSpPr>
        <p:spPr>
          <a:xfrm>
            <a:off x="274320" y="91440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OCR이 있어야 되는 것 / 날짜 칸만 있으면 되는 것</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274320" y="1188720"/>
          <a:ext cx="8595360" cy="914400"/>
        </p:xfrm>
        <a:graphic>
          <a:graphicData uri="http://schemas.openxmlformats.org/drawingml/2006/table">
            <a:tbl>
              <a:tblPr/>
              <a:tblGrid>
                <a:gridCol w="2468880"/>
                <a:gridCol w="1554480"/>
                <a:gridCol w="1005840"/>
                <a:gridCol w="3566160"/>
              </a:tblGrid>
              <a:tr h="310896">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편익</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누구에게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OCR 필요?</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근거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입력값과 사진의 대조</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틀린 입력이 판독값과 우연히 같아 지나갈 확률 0.2 ~ 0.4%</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날짜면이 찍혔는지 확인</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메루카리는 이 확인을 사람이 한다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입력 편의 · 판매자 수정값 축적</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판매자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예</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폰 사진 기준 자동 입력 41 ~ 45%</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10896">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남은 일수 표시 · 기한 지난 글 자동 숨김</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구매자 · 플랫폼</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아니오</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날짜 칸만 있으면 됨 — OCR 편익으로 세지 않음</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274320" y="2834640"/>
            <a:ext cx="859536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손익분기 : 위반 처리비 절감만으로는 본전이 안 된다</a:t>
            </a:r>
            <a:endParaRPr lang="en-US" sz="12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274320" y="3090672"/>
          <a:ext cx="8595360" cy="914400"/>
        </p:xfrm>
        <a:graphic>
          <a:graphicData uri="http://schemas.openxmlformats.org/drawingml/2006/table">
            <a:tbl>
              <a:tblPr/>
              <a:tblGrid>
                <a:gridCol w="2743200"/>
                <a:gridCol w="2011680"/>
                <a:gridCol w="1828800"/>
                <a:gridCol w="2011680"/>
              </a:tblGrid>
              <a:tr h="274320">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조건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위반(가정 50% 포착)</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연간 서버비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960" dirty="0">
                          <a:solidFill>
                            <a:srgbClr val="FFFFFF"/>
                          </a:solidFill>
                          <a:latin typeface="Pretendard SemiBold" pitchFamily="34" charset="0"/>
                          <a:ea typeface="Pretendard SemiBold" pitchFamily="34" charset="-122"/>
                          <a:cs typeface="Pretendard SemiBold" pitchFamily="34" charset="-120"/>
                        </a:rPr>
                        <a:t>손익분기 1건당 처리비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20개월 평균,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435건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780원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기존 서버 여유분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17만원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약 1,900원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274320">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거래조건 강화 뒤 추정, 전용 서버</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180건</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1A1A1A"/>
                          </a:solidFill>
                          <a:latin typeface="Pretendard SemiBold" pitchFamily="34" charset="0"/>
                          <a:ea typeface="Pretendard SemiBold" pitchFamily="34" charset="-122"/>
                          <a:cs typeface="Pretendard SemiBold" pitchFamily="34" charset="-120"/>
                        </a:rPr>
                        <a:t>169만원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indent="0" marL="0">
                        <a:buNone/>
                      </a:pPr>
                      <a:r>
                        <a:rPr lang="en-US" sz="960" dirty="0">
                          <a:solidFill>
                            <a:srgbClr val="8B0000"/>
                          </a:solidFill>
                          <a:latin typeface="Pretendard SemiBold" pitchFamily="34" charset="0"/>
                          <a:ea typeface="Pretendard SemiBold" pitchFamily="34" charset="-122"/>
                          <a:cs typeface="Pretendard SemiBold" pitchFamily="34" charset="-120"/>
                        </a:rPr>
                        <a:t>약 1만 9천원</a:t>
                      </a:r>
                      <a:endParaRPr lang="en-US" sz="96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r>
            </a:tbl>
          </a:graphicData>
        </a:graphic>
      </p:graphicFrame>
      <p:sp>
        <p:nvSpPr>
          <p:cNvPr id="10" name="Shape 6"/>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7"/>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사람이 30초 검토하면 약 86원. 손익분기 처리비는 이보다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9 ~ 220배 크다</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 도입 이유는 비용 절감이 아니라 규제 대응이다</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한계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폰 사진에서는 다섯 장 중 한 장을 못 읽는다</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20</a:t>
            </a:r>
            <a:endParaRPr lang="en-US" sz="900" dirty="0"/>
          </a:p>
        </p:txBody>
      </p:sp>
      <p:sp>
        <p:nvSpPr>
          <p:cNvPr id="6" name="Shape 4"/>
          <p:cNvSpPr/>
          <p:nvPr/>
        </p:nvSpPr>
        <p:spPr>
          <a:xfrm>
            <a:off x="274320" y="914400"/>
            <a:ext cx="4206240" cy="2011680"/>
          </a:xfrm>
          <a:prstGeom prst="roundRect">
            <a:avLst>
              <a:gd name="adj" fmla="val 3636"/>
            </a:avLst>
          </a:prstGeom>
          <a:solidFill>
            <a:srgbClr val="F2F2F2"/>
          </a:solidFill>
          <a:ln w="12700">
            <a:solidFill>
              <a:srgbClr val="F2F2F2"/>
            </a:solidFill>
            <a:prstDash val="solid"/>
          </a:ln>
        </p:spPr>
      </p:sp>
      <p:sp>
        <p:nvSpPr>
          <p:cNvPr id="7" name="Text 5"/>
          <p:cNvSpPr txBox="1"/>
          <p:nvPr/>
        </p:nvSpPr>
        <p:spPr>
          <a:xfrm>
            <a:off x="41148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틀리는 방향 (직접 찍은 폰 사진 389장)</a:t>
            </a:r>
            <a:endParaRPr lang="en-US" sz="1200" dirty="0"/>
          </a:p>
        </p:txBody>
      </p:sp>
      <p:graphicFrame>
        <p:nvGraphicFramePr>
          <p:cNvPr id="8" name="Chart 0" descr=""/>
          <p:cNvGraphicFramePr/>
          <p:nvPr/>
        </p:nvGraphicFramePr>
        <p:xfrm>
          <a:off x="365760" y="1234440"/>
          <a:ext cx="4023360" cy="16459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663440" y="914400"/>
            <a:ext cx="4206240" cy="2011680"/>
          </a:xfrm>
          <a:prstGeom prst="roundRect">
            <a:avLst>
              <a:gd name="adj" fmla="val 3636"/>
            </a:avLst>
          </a:prstGeom>
          <a:solidFill>
            <a:srgbClr val="F2F2F2"/>
          </a:solidFill>
          <a:ln w="12700">
            <a:solidFill>
              <a:srgbClr val="F2F2F2"/>
            </a:solidFill>
            <a:prstDash val="solid"/>
          </a:ln>
        </p:spPr>
      </p:sp>
      <p:sp>
        <p:nvSpPr>
          <p:cNvPr id="10" name="Text 7"/>
          <p:cNvSpPr txBox="1"/>
          <p:nvPr/>
        </p:nvSpPr>
        <p:spPr>
          <a:xfrm>
            <a:off x="4800600" y="978408"/>
            <a:ext cx="393192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남은 한계</a:t>
            </a:r>
            <a:endParaRPr lang="en-US" sz="1200" dirty="0"/>
          </a:p>
        </p:txBody>
      </p:sp>
      <p:sp>
        <p:nvSpPr>
          <p:cNvPr id="11" name="Text 8"/>
          <p:cNvSpPr txBox="1"/>
          <p:nvPr/>
        </p:nvSpPr>
        <p:spPr>
          <a:xfrm>
            <a:off x="4800600" y="1252728"/>
            <a:ext cx="3931920" cy="1627632"/>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못 읽음 21.9% 는 봉인 500장(3.0%)의 약 일곱 배. 찍은 사람과 촬영 조건에 따라 크게 갈린다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389장은 어려운 유형 위주로 찍은 것. 실제 게시 사진으로 다시 재야 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조작·개봉 여부·카테고리를 바꿔 촬영을 피하는 것은 막지 못한다</a:t>
            </a:r>
            <a:endParaRPr lang="en-US" sz="1000" dirty="0"/>
          </a:p>
          <a:p>
            <a:pPr marL="342900" indent="-342900">
              <a:spcAft>
                <a:spcPts val="300"/>
              </a:spcAft>
              <a:buSzPct val="100000"/>
              <a:buChar char="•"/>
            </a:pPr>
            <a:r>
              <a:rPr lang="en-US" sz="1000" dirty="0">
                <a:solidFill>
                  <a:srgbClr val="1A1A1A"/>
                </a:solidFill>
                <a:latin typeface="Pretendard SemiBold" pitchFamily="34" charset="0"/>
                <a:ea typeface="Pretendard SemiBold" pitchFamily="34" charset="-122"/>
                <a:cs typeface="Pretendard SemiBold" pitchFamily="34" charset="-120"/>
              </a:rPr>
              <a:t>판매자가 보지 않고 확인을 누르는 비율은 재지 못했다</a:t>
            </a:r>
            <a:endParaRPr lang="en-US" sz="1000" dirty="0"/>
          </a:p>
        </p:txBody>
      </p:sp>
      <p:sp>
        <p:nvSpPr>
          <p:cNvPr id="12" name="Text 9"/>
          <p:cNvSpPr txBox="1"/>
          <p:nvPr/>
        </p:nvSpPr>
        <p:spPr>
          <a:xfrm>
            <a:off x="274320" y="3090672"/>
            <a:ext cx="8595360" cy="274320"/>
          </a:xfrm>
          <a:prstGeom prst="rect">
            <a:avLst/>
          </a:prstGeom>
          <a:noFill/>
          <a:ln/>
        </p:spPr>
        <p:txBody>
          <a:bodyPr wrap="square" lIns="0" tIns="0" rIns="0" bIns="0" rtlCol="0" anchor="t"/>
          <a:lstStyle/>
          <a:p>
            <a:pP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보완 계획</a:t>
            </a:r>
            <a:endParaRPr lang="en-US" sz="1250" dirty="0"/>
          </a:p>
        </p:txBody>
      </p:sp>
      <p:sp>
        <p:nvSpPr>
          <p:cNvPr id="13" name="Shape 10"/>
          <p:cNvSpPr/>
          <p:nvPr/>
        </p:nvSpPr>
        <p:spPr>
          <a:xfrm>
            <a:off x="274320" y="3429000"/>
            <a:ext cx="310896" cy="310896"/>
          </a:xfrm>
          <a:prstGeom prst="ellipse">
            <a:avLst/>
          </a:prstGeom>
          <a:solidFill>
            <a:srgbClr val="8B0000"/>
          </a:solidFill>
          <a:ln w="12700">
            <a:solidFill>
              <a:srgbClr val="8B0000"/>
            </a:solidFill>
            <a:prstDash val="solid"/>
          </a:ln>
        </p:spPr>
      </p:sp>
      <p:sp>
        <p:nvSpPr>
          <p:cNvPr id="14" name="Text 11"/>
          <p:cNvSpPr txBox="1"/>
          <p:nvPr/>
        </p:nvSpPr>
        <p:spPr>
          <a:xfrm>
            <a:off x="274320"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01</a:t>
            </a:r>
            <a:endParaRPr lang="en-US" sz="1000" dirty="0"/>
          </a:p>
        </p:txBody>
      </p:sp>
      <p:sp>
        <p:nvSpPr>
          <p:cNvPr id="15" name="Text 12"/>
          <p:cNvSpPr txBox="1"/>
          <p:nvPr/>
        </p:nvSpPr>
        <p:spPr>
          <a:xfrm>
            <a:off x="658368"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촬영 단계에서 막는다</a:t>
            </a:r>
            <a:endParaRPr lang="en-US" sz="1150" dirty="0"/>
          </a:p>
        </p:txBody>
      </p:sp>
      <p:sp>
        <p:nvSpPr>
          <p:cNvPr id="16" name="Text 13"/>
          <p:cNvSpPr txBox="1"/>
          <p:nvPr/>
        </p:nvSpPr>
        <p:spPr>
          <a:xfrm>
            <a:off x="658368"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촬영 안내와 해상도·흐림 검사, 미달이면 다시 촬영</a:t>
            </a:r>
            <a:endParaRPr lang="en-US" sz="1000" dirty="0"/>
          </a:p>
        </p:txBody>
      </p:sp>
      <p:sp>
        <p:nvSpPr>
          <p:cNvPr id="17" name="Shape 14"/>
          <p:cNvSpPr/>
          <p:nvPr/>
        </p:nvSpPr>
        <p:spPr>
          <a:xfrm>
            <a:off x="3182112" y="3429000"/>
            <a:ext cx="310896" cy="310896"/>
          </a:xfrm>
          <a:prstGeom prst="ellipse">
            <a:avLst/>
          </a:prstGeom>
          <a:solidFill>
            <a:srgbClr val="8B0000"/>
          </a:solidFill>
          <a:ln w="12700">
            <a:solidFill>
              <a:srgbClr val="8B0000"/>
            </a:solidFill>
            <a:prstDash val="solid"/>
          </a:ln>
        </p:spPr>
      </p:sp>
      <p:sp>
        <p:nvSpPr>
          <p:cNvPr id="18" name="Text 15"/>
          <p:cNvSpPr txBox="1"/>
          <p:nvPr/>
        </p:nvSpPr>
        <p:spPr>
          <a:xfrm>
            <a:off x="3182112"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02</a:t>
            </a:r>
            <a:endParaRPr lang="en-US" sz="1000" dirty="0"/>
          </a:p>
        </p:txBody>
      </p:sp>
      <p:sp>
        <p:nvSpPr>
          <p:cNvPr id="19" name="Text 16"/>
          <p:cNvSpPr txBox="1"/>
          <p:nvPr/>
        </p:nvSpPr>
        <p:spPr>
          <a:xfrm>
            <a:off x="3566160"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판매자 수정값으로 재학습</a:t>
            </a:r>
            <a:endParaRPr lang="en-US" sz="1150" dirty="0"/>
          </a:p>
        </p:txBody>
      </p:sp>
      <p:sp>
        <p:nvSpPr>
          <p:cNvPr id="20" name="Text 17"/>
          <p:cNvSpPr txBox="1"/>
          <p:nvPr/>
        </p:nvSpPr>
        <p:spPr>
          <a:xfrm>
            <a:off x="3566160"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고친 값을 검수해 인식기 학습 데이터로</a:t>
            </a:r>
            <a:endParaRPr lang="en-US" sz="1000" dirty="0"/>
          </a:p>
        </p:txBody>
      </p:sp>
      <p:sp>
        <p:nvSpPr>
          <p:cNvPr id="21" name="Shape 18"/>
          <p:cNvSpPr/>
          <p:nvPr/>
        </p:nvSpPr>
        <p:spPr>
          <a:xfrm>
            <a:off x="6089904" y="3429000"/>
            <a:ext cx="310896" cy="310896"/>
          </a:xfrm>
          <a:prstGeom prst="ellipse">
            <a:avLst/>
          </a:prstGeom>
          <a:solidFill>
            <a:srgbClr val="8B0000"/>
          </a:solidFill>
          <a:ln w="12700">
            <a:solidFill>
              <a:srgbClr val="8B0000"/>
            </a:solidFill>
            <a:prstDash val="solid"/>
          </a:ln>
        </p:spPr>
      </p:sp>
      <p:sp>
        <p:nvSpPr>
          <p:cNvPr id="22" name="Text 19"/>
          <p:cNvSpPr txBox="1"/>
          <p:nvPr/>
        </p:nvSpPr>
        <p:spPr>
          <a:xfrm>
            <a:off x="6089904" y="3429000"/>
            <a:ext cx="31089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Pretendard SemiBold" pitchFamily="34" charset="0"/>
                <a:ea typeface="Pretendard SemiBold" pitchFamily="34" charset="-122"/>
                <a:cs typeface="Pretendard SemiBold" pitchFamily="34" charset="-120"/>
              </a:rPr>
              <a:t>03</a:t>
            </a:r>
            <a:endParaRPr lang="en-US" sz="1000" dirty="0"/>
          </a:p>
        </p:txBody>
      </p:sp>
      <p:sp>
        <p:nvSpPr>
          <p:cNvPr id="23" name="Text 20"/>
          <p:cNvSpPr txBox="1"/>
          <p:nvPr/>
        </p:nvSpPr>
        <p:spPr>
          <a:xfrm>
            <a:off x="6473952" y="3401568"/>
            <a:ext cx="2377440" cy="274320"/>
          </a:xfrm>
          <a:prstGeom prst="rect">
            <a:avLst/>
          </a:prstGeom>
          <a:noFill/>
          <a:ln/>
        </p:spPr>
        <p:txBody>
          <a:bodyPr wrap="square" lIns="0" tIns="0" rIns="0" bIns="0" rtlCol="0" anchor="ctr"/>
          <a:lstStyle/>
          <a:p>
            <a:pPr indent="0" marL="0">
              <a:buNone/>
            </a:pPr>
            <a:r>
              <a:rPr lang="en-US" sz="1150" dirty="0">
                <a:solidFill>
                  <a:srgbClr val="1A1A1A"/>
                </a:solidFill>
                <a:latin typeface="Pretendard SemiBold" pitchFamily="34" charset="0"/>
                <a:ea typeface="Pretendard SemiBold" pitchFamily="34" charset="-122"/>
                <a:cs typeface="Pretendard SemiBold" pitchFamily="34" charset="-120"/>
              </a:rPr>
              <a:t>확인을 동작으로</a:t>
            </a:r>
            <a:endParaRPr lang="en-US" sz="1150" dirty="0"/>
          </a:p>
        </p:txBody>
      </p:sp>
      <p:sp>
        <p:nvSpPr>
          <p:cNvPr id="24" name="Text 21"/>
          <p:cNvSpPr txBox="1"/>
          <p:nvPr/>
        </p:nvSpPr>
        <p:spPr>
          <a:xfrm>
            <a:off x="6473952" y="3675888"/>
            <a:ext cx="2377440" cy="548640"/>
          </a:xfrm>
          <a:prstGeom prst="rect">
            <a:avLst/>
          </a:prstGeom>
          <a:noFill/>
          <a:ln/>
        </p:spPr>
        <p:txBody>
          <a:bodyPr wrap="square" lIns="0" tIns="0" rIns="0" bIns="0" rtlCol="0" anchor="t"/>
          <a:lstStyle/>
          <a:p>
            <a:pPr indent="0" marL="0">
              <a:buNone/>
            </a:pPr>
            <a:r>
              <a:rPr lang="en-US" sz="1000" dirty="0">
                <a:solidFill>
                  <a:srgbClr val="6B6B6B"/>
                </a:solidFill>
                <a:latin typeface="Pretendard SemiBold" pitchFamily="34" charset="0"/>
                <a:ea typeface="Pretendard SemiBold" pitchFamily="34" charset="-122"/>
                <a:cs typeface="Pretendard SemiBold" pitchFamily="34" charset="-120"/>
              </a:rPr>
              <a:t>버튼 대신 날짜의 '일' 칸을 다시 입력. 실제 수정 비율을 지표로</a:t>
            </a:r>
            <a:endParaRPr lang="en-US" sz="1000" dirty="0"/>
          </a:p>
        </p:txBody>
      </p:sp>
      <p:sp>
        <p:nvSpPr>
          <p:cNvPr id="25" name="Shape 22"/>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26" name="Text 23"/>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규칙으로 닿는 오답은 거의 다 썼다. 남은 것은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인식 품질(각인·도트)과 저해상도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다</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확장성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"제품에 찍힌 기한" 을 읽는 모든 곳</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834640"/>
                <a:gridCol w="1645920"/>
                <a:gridCol w="2194560"/>
                <a:gridCol w="1920240"/>
              </a:tblGrid>
              <a:tr h="347472">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적용 분야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읽는 값</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바꿀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10" dirty="0">
                          <a:solidFill>
                            <a:srgbClr val="FFFFFF"/>
                          </a:solidFill>
                          <a:latin typeface="Pretendard SemiBold" pitchFamily="34" charset="0"/>
                          <a:ea typeface="Pretendard SemiBold" pitchFamily="34" charset="-122"/>
                          <a:cs typeface="Pretendard SemiBold" pitchFamily="34" charset="-120"/>
                        </a:rPr>
                        <a:t>그대로 쓰는 것</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1단계 건강기능식품 → 2단계 가공식품 · 선물세트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대상 카테고리, 상품별 촬영</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파이프라인 전체</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 인식 → 제품 조회·회수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품목보고번호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9자리 숫자 마스킹 규칙 재설계</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탐지 · 인식 (정확도 미측정)</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식품공장 출하 전 날짜 인쇄 확인</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소비기한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대조 대상 (제조일 + 품목별 일수)</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놓칠 확률 한 장당 0.2%</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47472">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의약품 · 화학 제품 출하 표시물</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제조번호 · 사용기한</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표기 형식 규칙</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10" dirty="0">
                          <a:solidFill>
                            <a:srgbClr val="1A1A1A"/>
                          </a:solidFill>
                          <a:latin typeface="Pretendard SemiBold" pitchFamily="34" charset="0"/>
                          <a:ea typeface="Pretendard SemiBold" pitchFamily="34" charset="-122"/>
                          <a:cs typeface="Pretendard SemiBold" pitchFamily="34" charset="-120"/>
                        </a:rPr>
                        <a:t>읽기 · 대조 · 예외 처리</a:t>
                      </a:r>
                      <a:endParaRPr lang="en-US" sz="101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2880360"/>
            <a:ext cx="8595360" cy="1325880"/>
          </a:xfrm>
          <a:prstGeom prst="roundRect">
            <a:avLst>
              <a:gd name="adj" fmla="val 5517"/>
            </a:avLst>
          </a:prstGeom>
          <a:solidFill>
            <a:srgbClr val="F2F2F2"/>
          </a:solidFill>
          <a:ln w="12700">
            <a:solidFill>
              <a:srgbClr val="F2F2F2"/>
            </a:solidFill>
            <a:prstDash val="solid"/>
          </a:ln>
        </p:spPr>
      </p:sp>
      <p:sp>
        <p:nvSpPr>
          <p:cNvPr id="8" name="Text 5"/>
          <p:cNvSpPr txBox="1"/>
          <p:nvPr/>
        </p:nvSpPr>
        <p:spPr>
          <a:xfrm>
            <a:off x="411480" y="2944368"/>
            <a:ext cx="8321040" cy="256032"/>
          </a:xfrm>
          <a:prstGeom prst="rect">
            <a:avLst/>
          </a:prstGeom>
          <a:noFill/>
          <a:ln/>
        </p:spPr>
        <p:txBody>
          <a:bodyPr wrap="square" lIns="0" tIns="0" rIns="0" bIns="0" rtlCol="0" anchor="t"/>
          <a:lstStyle/>
          <a:p>
            <a:pPr indent="0" marL="0">
              <a:buNone/>
            </a:pPr>
            <a:r>
              <a:rPr lang="en-US" sz="1200" dirty="0">
                <a:solidFill>
                  <a:srgbClr val="1A1A1A"/>
                </a:solidFill>
                <a:latin typeface="Pretendard SemiBold" pitchFamily="34" charset="0"/>
                <a:ea typeface="Pretendard SemiBold" pitchFamily="34" charset="-122"/>
                <a:cs typeface="Pretendard SemiBold" pitchFamily="34" charset="-120"/>
              </a:rPr>
              <a:t>왜 옮겨 쓸 수 있는가</a:t>
            </a:r>
            <a:endParaRPr lang="en-US" sz="1200" dirty="0"/>
          </a:p>
        </p:txBody>
      </p:sp>
      <p:sp>
        <p:nvSpPr>
          <p:cNvPr id="9" name="Text 6"/>
          <p:cNvSpPr txBox="1"/>
          <p:nvPr/>
        </p:nvSpPr>
        <p:spPr>
          <a:xfrm>
            <a:off x="411480" y="3218688"/>
            <a:ext cx="8321040" cy="96012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딥러닝 모델은 "글자를 읽는 일" 만 하고, 도메인 지식은 전부 규칙 문서 한 장에 있다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읽기 → 기준값과 대조 → 예외만 사람에게 : 이 세 단계는 분야가 바뀌어도 같다</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사람(판매자·검수자)이 확정한 값이 다시 학습 데이터가 되는 순환 구조</a:t>
            </a:r>
            <a:endParaRPr lang="en-US" sz="1080" dirty="0"/>
          </a:p>
        </p:txBody>
      </p:sp>
      <p:sp>
        <p:nvSpPr>
          <p:cNvPr id="10" name="Shape 7"/>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11" name="Text 8"/>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규칙 계층만 바꾸면 되는 구조 :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모델을 다시 만들 필요가 없다</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8B0000"/>
        </a:solidFill>
      </p:bgPr>
    </p:bg>
    <p:spTree>
      <p:nvGrpSpPr>
        <p:cNvPr id="1" name=""/>
        <p:cNvGrpSpPr/>
        <p:nvPr/>
      </p:nvGrpSpPr>
      <p:grpSpPr>
        <a:xfrm>
          <a:off x="0" y="0"/>
          <a:ext cx="0" cy="0"/>
          <a:chOff x="0" y="0"/>
          <a:chExt cx="0" cy="0"/>
        </a:xfrm>
      </p:grpSpPr>
      <p:sp>
        <p:nvSpPr>
          <p:cNvPr id="2" name="Shape 0"/>
          <p:cNvSpPr/>
          <p:nvPr/>
        </p:nvSpPr>
        <p:spPr>
          <a:xfrm>
            <a:off x="640080" y="685800"/>
            <a:ext cx="73152" cy="502920"/>
          </a:xfrm>
          <a:prstGeom prst="rect">
            <a:avLst/>
          </a:prstGeom>
          <a:solidFill>
            <a:srgbClr val="FFFFFF"/>
          </a:solidFill>
          <a:ln w="12700">
            <a:solidFill>
              <a:srgbClr val="FFFFFF"/>
            </a:solidFill>
            <a:prstDash val="solid"/>
          </a:ln>
        </p:spPr>
      </p:sp>
      <p:sp>
        <p:nvSpPr>
          <p:cNvPr id="3" name="Text 1"/>
          <p:cNvSpPr txBox="1"/>
          <p:nvPr/>
        </p:nvSpPr>
        <p:spPr>
          <a:xfrm>
            <a:off x="868680" y="658368"/>
            <a:ext cx="7315200" cy="548640"/>
          </a:xfrm>
          <a:prstGeom prst="rect">
            <a:avLst/>
          </a:prstGeom>
          <a:noFill/>
          <a:ln/>
        </p:spPr>
        <p:txBody>
          <a:bodyPr wrap="square" lIns="0" tIns="0" rIns="0" bIns="0" rtlCol="0" anchor="ctr"/>
          <a:lstStyle/>
          <a:p>
            <a:pPr indent="0" marL="0">
              <a:buNone/>
            </a:pPr>
            <a:r>
              <a:rPr lang="en-US" sz="2600" dirty="0">
                <a:solidFill>
                  <a:srgbClr val="FFFFFF"/>
                </a:solidFill>
                <a:latin typeface="Pretendard SemiBold" pitchFamily="34" charset="0"/>
                <a:ea typeface="Pretendard SemiBold" pitchFamily="34" charset="-122"/>
                <a:cs typeface="Pretendard SemiBold" pitchFamily="34" charset="-120"/>
              </a:rPr>
              <a:t>정리</a:t>
            </a:r>
            <a:endParaRPr lang="en-US" sz="2600" dirty="0"/>
          </a:p>
        </p:txBody>
      </p:sp>
      <p:sp>
        <p:nvSpPr>
          <p:cNvPr id="4" name="Shape 2"/>
          <p:cNvSpPr/>
          <p:nvPr/>
        </p:nvSpPr>
        <p:spPr>
          <a:xfrm>
            <a:off x="868680" y="1581912"/>
            <a:ext cx="457200" cy="457200"/>
          </a:xfrm>
          <a:prstGeom prst="ellipse">
            <a:avLst/>
          </a:prstGeom>
          <a:solidFill>
            <a:srgbClr val="FFFFFF"/>
          </a:solidFill>
          <a:ln w="12700">
            <a:solidFill>
              <a:srgbClr val="FFFFFF"/>
            </a:solidFill>
            <a:prstDash val="solid"/>
          </a:ln>
        </p:spPr>
      </p:sp>
      <p:sp>
        <p:nvSpPr>
          <p:cNvPr id="5" name="Text 3"/>
          <p:cNvSpPr txBox="1"/>
          <p:nvPr/>
        </p:nvSpPr>
        <p:spPr>
          <a:xfrm>
            <a:off x="868680" y="158191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1</a:t>
            </a:r>
            <a:endParaRPr lang="en-US" sz="1600" dirty="0"/>
          </a:p>
        </p:txBody>
      </p:sp>
      <p:sp>
        <p:nvSpPr>
          <p:cNvPr id="6" name="Text 4"/>
          <p:cNvSpPr txBox="1"/>
          <p:nvPr/>
        </p:nvSpPr>
        <p:spPr>
          <a:xfrm>
            <a:off x="1508760" y="153619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제약에서 출발</a:t>
            </a:r>
            <a:endParaRPr lang="en-US" sz="1600" dirty="0"/>
          </a:p>
        </p:txBody>
      </p:sp>
      <p:sp>
        <p:nvSpPr>
          <p:cNvPr id="7" name="Text 5"/>
          <p:cNvSpPr txBox="1"/>
          <p:nvPr/>
        </p:nvSpPr>
        <p:spPr>
          <a:xfrm>
            <a:off x="1508760" y="184708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4코어 CPU · 2,500초 안에서 끝까지 돌아가는 구조. 봉인 500장 86.2%, 한도의 55 ~ 79%</a:t>
            </a:r>
            <a:endParaRPr lang="en-US" sz="1150" dirty="0"/>
          </a:p>
        </p:txBody>
      </p:sp>
      <p:sp>
        <p:nvSpPr>
          <p:cNvPr id="8" name="Shape 6"/>
          <p:cNvSpPr/>
          <p:nvPr/>
        </p:nvSpPr>
        <p:spPr>
          <a:xfrm>
            <a:off x="868680" y="2542032"/>
            <a:ext cx="457200" cy="457200"/>
          </a:xfrm>
          <a:prstGeom prst="ellipse">
            <a:avLst/>
          </a:prstGeom>
          <a:solidFill>
            <a:srgbClr val="FFFFFF"/>
          </a:solidFill>
          <a:ln w="12700">
            <a:solidFill>
              <a:srgbClr val="FFFFFF"/>
            </a:solidFill>
            <a:prstDash val="solid"/>
          </a:ln>
        </p:spPr>
      </p:sp>
      <p:sp>
        <p:nvSpPr>
          <p:cNvPr id="9" name="Text 7"/>
          <p:cNvSpPr txBox="1"/>
          <p:nvPr/>
        </p:nvSpPr>
        <p:spPr>
          <a:xfrm>
            <a:off x="868680" y="254203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2</a:t>
            </a:r>
            <a:endParaRPr lang="en-US" sz="1600" dirty="0"/>
          </a:p>
        </p:txBody>
      </p:sp>
      <p:sp>
        <p:nvSpPr>
          <p:cNvPr id="10" name="Text 8"/>
          <p:cNvSpPr txBox="1"/>
          <p:nvPr/>
        </p:nvSpPr>
        <p:spPr>
          <a:xfrm>
            <a:off x="1508760" y="249631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검증을 먼저</a:t>
            </a:r>
            <a:endParaRPr lang="en-US" sz="1600" dirty="0"/>
          </a:p>
        </p:txBody>
      </p:sp>
      <p:sp>
        <p:nvSpPr>
          <p:cNvPr id="11" name="Text 9"/>
          <p:cNvSpPr txBox="1"/>
          <p:nvPr/>
        </p:nvSpPr>
        <p:spPr>
          <a:xfrm>
            <a:off x="1508760" y="280720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전수 라벨링, 봉인 시험지, 회복·퇴보 기준. 점수가 올라도 퇴보가 크면 버렸다</a:t>
            </a:r>
            <a:endParaRPr lang="en-US" sz="1150" dirty="0"/>
          </a:p>
        </p:txBody>
      </p:sp>
      <p:sp>
        <p:nvSpPr>
          <p:cNvPr id="12" name="Shape 10"/>
          <p:cNvSpPr/>
          <p:nvPr/>
        </p:nvSpPr>
        <p:spPr>
          <a:xfrm>
            <a:off x="868680" y="3502152"/>
            <a:ext cx="457200" cy="457200"/>
          </a:xfrm>
          <a:prstGeom prst="ellipse">
            <a:avLst/>
          </a:prstGeom>
          <a:solidFill>
            <a:srgbClr val="FFFFFF"/>
          </a:solidFill>
          <a:ln w="12700">
            <a:solidFill>
              <a:srgbClr val="FFFFFF"/>
            </a:solidFill>
            <a:prstDash val="solid"/>
          </a:ln>
        </p:spPr>
      </p:sp>
      <p:sp>
        <p:nvSpPr>
          <p:cNvPr id="13" name="Text 11"/>
          <p:cNvSpPr txBox="1"/>
          <p:nvPr/>
        </p:nvSpPr>
        <p:spPr>
          <a:xfrm>
            <a:off x="868680" y="3502152"/>
            <a:ext cx="457200" cy="457200"/>
          </a:xfrm>
          <a:prstGeom prst="rect">
            <a:avLst/>
          </a:prstGeom>
          <a:noFill/>
          <a:ln/>
        </p:spPr>
        <p:txBody>
          <a:bodyPr wrap="square" lIns="0" tIns="0" rIns="0" bIns="0" rtlCol="0" anchor="ctr"/>
          <a:lstStyle/>
          <a:p>
            <a:pPr algn="ctr" indent="0" marL="0">
              <a:buNone/>
            </a:pPr>
            <a:r>
              <a:rPr lang="en-US" sz="1600" dirty="0">
                <a:solidFill>
                  <a:srgbClr val="8B0000"/>
                </a:solidFill>
                <a:latin typeface="Pretendard SemiBold" pitchFamily="34" charset="0"/>
                <a:ea typeface="Pretendard SemiBold" pitchFamily="34" charset="-122"/>
                <a:cs typeface="Pretendard SemiBold" pitchFamily="34" charset="-120"/>
              </a:rPr>
              <a:t>3</a:t>
            </a:r>
            <a:endParaRPr lang="en-US" sz="1600" dirty="0"/>
          </a:p>
        </p:txBody>
      </p:sp>
      <p:sp>
        <p:nvSpPr>
          <p:cNvPr id="14" name="Text 12"/>
          <p:cNvSpPr txBox="1"/>
          <p:nvPr/>
        </p:nvSpPr>
        <p:spPr>
          <a:xfrm>
            <a:off x="1508760" y="3456432"/>
            <a:ext cx="6949440" cy="310896"/>
          </a:xfrm>
          <a:prstGeom prst="rect">
            <a:avLst/>
          </a:prstGeom>
          <a:noFill/>
          <a:ln/>
        </p:spPr>
        <p:txBody>
          <a:bodyPr wrap="square" lIns="0" tIns="0" rIns="0" bIns="0" rtlCol="0" anchor="ctr"/>
          <a:lstStyle/>
          <a:p>
            <a:pPr indent="0" marL="0">
              <a:buNone/>
            </a:pPr>
            <a:r>
              <a:rPr lang="en-US" sz="1600" dirty="0">
                <a:solidFill>
                  <a:srgbClr val="FFFFFF"/>
                </a:solidFill>
                <a:latin typeface="Pretendard SemiBold" pitchFamily="34" charset="0"/>
                <a:ea typeface="Pretendard SemiBold" pitchFamily="34" charset="-122"/>
                <a:cs typeface="Pretendard SemiBold" pitchFamily="34" charset="-120"/>
              </a:rPr>
              <a:t>틀리는 방식을 설계</a:t>
            </a:r>
            <a:endParaRPr lang="en-US" sz="1600" dirty="0"/>
          </a:p>
        </p:txBody>
      </p:sp>
      <p:sp>
        <p:nvSpPr>
          <p:cNvPr id="15" name="Text 13"/>
          <p:cNvSpPr txBox="1"/>
          <p:nvPr/>
        </p:nvSpPr>
        <p:spPr>
          <a:xfrm>
            <a:off x="1508760" y="3767328"/>
            <a:ext cx="6949440" cy="365760"/>
          </a:xfrm>
          <a:prstGeom prst="rect">
            <a:avLst/>
          </a:prstGeom>
          <a:noFill/>
          <a:ln/>
        </p:spPr>
        <p:txBody>
          <a:bodyPr wrap="square" lIns="0" tIns="0" rIns="0" bIns="0" rtlCol="0" anchor="t"/>
          <a:lstStyle/>
          <a:p>
            <a:pPr indent="0" marL="0">
              <a:buNone/>
            </a:pPr>
            <a:r>
              <a:rPr lang="en-US" sz="1150" dirty="0">
                <a:solidFill>
                  <a:srgbClr val="FFFFFF"/>
                </a:solidFill>
                <a:latin typeface="Pretendard SemiBold" pitchFamily="34" charset="0"/>
                <a:ea typeface="Pretendard SemiBold" pitchFamily="34" charset="-122"/>
                <a:cs typeface="Pretendard SemiBold" pitchFamily="34" charset="-120"/>
              </a:rPr>
              <a:t>확신이 없으면 NONE, 판매자가 직접 입력. 정확도는 안전성이 아니라 자동 입력 비율이 된다</a:t>
            </a:r>
            <a:endParaRPr lang="en-US" sz="1150" dirty="0"/>
          </a:p>
        </p:txBody>
      </p:sp>
      <p:sp>
        <p:nvSpPr>
          <p:cNvPr id="16" name="Text 14"/>
          <p:cNvSpPr txBox="1"/>
          <p:nvPr/>
        </p:nvSpPr>
        <p:spPr>
          <a:xfrm>
            <a:off x="868680" y="4526280"/>
            <a:ext cx="7589520" cy="274320"/>
          </a:xfrm>
          <a:prstGeom prst="rect">
            <a:avLst/>
          </a:prstGeom>
          <a:noFill/>
          <a:ln/>
        </p:spPr>
        <p:txBody>
          <a:bodyPr wrap="square" lIns="0" tIns="0" rIns="0" bIns="0" rtlCol="0" anchor="t"/>
          <a:lstStyle/>
          <a:p>
            <a:pPr indent="0" marL="0">
              <a:buNone/>
            </a:pPr>
            <a:r>
              <a:rPr lang="en-US" sz="1100" dirty="0">
                <a:solidFill>
                  <a:srgbClr val="FFFFFF"/>
                </a:solidFill>
                <a:latin typeface="Pretendard SemiBold" pitchFamily="34" charset="0"/>
                <a:ea typeface="Pretendard SemiBold" pitchFamily="34" charset="-122"/>
                <a:cs typeface="Pretendard SemiBold" pitchFamily="34" charset="-120"/>
              </a:rPr>
              <a:t>감사합니다  |  github.com/LEEbyeongchul/itda3-CODE-subway</a:t>
            </a:r>
            <a:endParaRPr lang="en-US" sz="1100" dirty="0"/>
          </a:p>
        </p:txBody>
      </p:sp>
      <p:sp>
        <p:nvSpPr>
          <p:cNvPr id="17" name="Text 15"/>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FFFFFF"/>
                </a:solidFill>
                <a:latin typeface="Pretendard SemiBold" pitchFamily="34" charset="0"/>
                <a:ea typeface="Pretendard SemiBold" pitchFamily="34" charset="-122"/>
                <a:cs typeface="Pretendard SemiBold"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날짜 해석 규칙표 (모호한 표기)</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2743200"/>
                <a:gridCol w="3840480"/>
                <a:gridCol w="2011680"/>
              </a:tblGrid>
              <a:tr h="35204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상황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해석</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근거 (전수 라벨 3,352장)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4자리 연도가 앞 / 뒤</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앞이면 년/월/일, 뒤면 일/월/년. 구분자 종류는 무관</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연도 앞 2,217 · 연도 뒤 362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2자리 세 개 (26.03.20)</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우선. 무효이거나 연도 2028 이상이면 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년월일 344 : 일월년 102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유통 문구 (BBD, BEST BEFORE, EXP)</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같은 사진에 있으면 일/월/년 우선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수입품 표기 관행</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공백 구분 (30 12 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전부 수입품</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영문 월 (04-Jul-21, 22OCT2021)</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 위치 확정, 4자리는 연도</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148장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월/일/년 (06/18/23)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일/월/년이 불가능할 때만 (가운데 13 이상)</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확정 미국식 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연월만 / 월일만</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YYYY-MM-NONE / NONE-MM-DD</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운영진 확정</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5204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날짜가 여럿</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가장 좋은 등급 안에서 가장 늦은 날짜</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345장 (10.3%)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Shape 4"/>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8" name="Text 5"/>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해석 기본값은 감이 아니라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직접 단 라벨의 통계</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로 정했다</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320" y="274320"/>
            <a:ext cx="64008" cy="365760"/>
          </a:xfrm>
          <a:prstGeom prst="rect">
            <a:avLst/>
          </a:prstGeom>
          <a:solidFill>
            <a:srgbClr val="8B0000"/>
          </a:solidFill>
          <a:ln w="12700">
            <a:solidFill>
              <a:srgbClr val="8B0000"/>
            </a:solidFill>
            <a:prstDash val="solid"/>
          </a:ln>
        </p:spPr>
      </p:sp>
      <p:sp>
        <p:nvSpPr>
          <p:cNvPr id="3" name="Text 1"/>
          <p:cNvSpPr txBox="1"/>
          <p:nvPr/>
        </p:nvSpPr>
        <p:spPr>
          <a:xfrm>
            <a:off x="411480" y="228600"/>
            <a:ext cx="7955280" cy="457200"/>
          </a:xfrm>
          <a:prstGeom prst="rect">
            <a:avLst/>
          </a:prstGeom>
          <a:noFill/>
          <a:ln/>
        </p:spPr>
        <p:txBody>
          <a:bodyPr wrap="square" lIns="0" tIns="0" rIns="0" bIns="0" rtlCol="0" anchor="ctr"/>
          <a:lstStyle/>
          <a:p>
            <a:pPr indent="0" marL="0">
              <a:buNone/>
            </a:pPr>
            <a:r>
              <a:rPr lang="en-US" sz="1900" dirty="0">
                <a:solidFill>
                  <a:srgbClr val="1A1A1A"/>
                </a:solidFill>
                <a:latin typeface="Pretendard SemiBold" pitchFamily="34" charset="0"/>
                <a:ea typeface="Pretendard SemiBold" pitchFamily="34" charset="-122"/>
                <a:cs typeface="Pretendard SemiBold" pitchFamily="34" charset="-120"/>
              </a:rPr>
              <a:t>부록 : </a:t>
            </a:r>
            <a:pPr indent="0" marL="0">
              <a:buNone/>
            </a:pPr>
            <a:r>
              <a:rPr lang="en-US" sz="1900" dirty="0">
                <a:solidFill>
                  <a:srgbClr val="8B0000"/>
                </a:solidFill>
                <a:latin typeface="Pretendard SemiBold" pitchFamily="34" charset="0"/>
                <a:ea typeface="Pretendard SemiBold" pitchFamily="34" charset="-122"/>
                <a:cs typeface="Pretendard SemiBold" pitchFamily="34" charset="-120"/>
              </a:rPr>
              <a:t>측정 수치 한눈에</a:t>
            </a:r>
            <a:endParaRPr lang="en-US" sz="1900" dirty="0"/>
          </a:p>
        </p:txBody>
      </p:sp>
      <p:sp>
        <p:nvSpPr>
          <p:cNvPr id="4" name="Shape 2"/>
          <p:cNvSpPr/>
          <p:nvPr/>
        </p:nvSpPr>
        <p:spPr>
          <a:xfrm>
            <a:off x="274320" y="749808"/>
            <a:ext cx="8595360" cy="0"/>
          </a:xfrm>
          <a:prstGeom prst="line">
            <a:avLst/>
          </a:prstGeom>
          <a:noFill/>
          <a:ln w="9525">
            <a:solidFill>
              <a:srgbClr val="BFBFBF"/>
            </a:solidFill>
            <a:prstDash val="solid"/>
          </a:ln>
        </p:spPr>
      </p:sp>
      <p:sp>
        <p:nvSpPr>
          <p:cNvPr id="5" name="Text 3"/>
          <p:cNvSpPr txBox="1"/>
          <p:nvPr/>
        </p:nvSpPr>
        <p:spPr>
          <a:xfrm>
            <a:off x="8503920" y="109728"/>
            <a:ext cx="457200" cy="228600"/>
          </a:xfrm>
          <a:prstGeom prst="rect">
            <a:avLst/>
          </a:prstGeom>
          <a:noFill/>
          <a:ln/>
        </p:spPr>
        <p:txBody>
          <a:bodyPr wrap="square" lIns="0" tIns="0" rIns="0" bIns="0" rtlCol="0" anchor="ctr"/>
          <a:lstStyle/>
          <a:p>
            <a:pPr algn="r" indent="0" marL="0">
              <a:buNone/>
            </a:pPr>
            <a:r>
              <a:rPr lang="en-US" sz="900" dirty="0">
                <a:solidFill>
                  <a:srgbClr val="1A1A1A"/>
                </a:solidFill>
                <a:latin typeface="Pretendard SemiBold" pitchFamily="34" charset="0"/>
                <a:ea typeface="Pretendard SemiBold" pitchFamily="34" charset="-122"/>
                <a:cs typeface="Pretendard SemiBold"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554480"/>
                <a:gridCol w="2743200"/>
                <a:gridCol w="1097280"/>
                <a:gridCol w="1097280"/>
                <a:gridCol w="2103120"/>
              </a:tblGrid>
              <a:tr h="329184">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측정셋</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구성</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완전일치</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필드평균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indent="0" marL="0">
                        <a:buNone/>
                      </a:pPr>
                      <a:r>
                        <a:rPr lang="en-US" sz="1000" dirty="0">
                          <a:solidFill>
                            <a:srgbClr val="FFFFFF"/>
                          </a:solidFill>
                          <a:latin typeface="Pretendard SemiBold" pitchFamily="34" charset="0"/>
                          <a:ea typeface="Pretendard SemiBold" pitchFamily="34" charset="-122"/>
                          <a:cs typeface="Pretendard SemiBold" pitchFamily="34" charset="-120"/>
                        </a:rPr>
                        <a:t>비고</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제출본 (9/13)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84.2%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88.8%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봉인 500장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통합본 (9/28)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86.2%</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8B0000"/>
                          </a:solidFill>
                          <a:latin typeface="Pretendard SemiBold" pitchFamily="34" charset="0"/>
                          <a:ea typeface="Pretendard SemiBold" pitchFamily="34" charset="-122"/>
                          <a:cs typeface="Pretendard SemiBold" pitchFamily="34" charset="-120"/>
                        </a:rPr>
                        <a:t>90.8%</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15, 정밀도 88.9%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예선 구성 (지금 라벨로 채점)</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82.3%</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64.9%</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판정용 2,852장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(한국어 인식기 끔)</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86.7%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병기 78.3% · 비병기 87.7%</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직접 찍은 폰 사진 389장</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본선 최종 (운영 수치 계산용)</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A1A1A"/>
                          </a:solidFill>
                          <a:latin typeface="Pretendard SemiBold" pitchFamily="34" charset="0"/>
                          <a:ea typeface="Pretendard SemiBold" pitchFamily="34" charset="-122"/>
                          <a:cs typeface="Pretendard SemiBold" pitchFamily="34" charset="-120"/>
                        </a:rPr>
                        <a:t>미인식 21.9%, 자동 입력 41 ~ 45%</a:t>
                      </a:r>
                      <a:endParaRPr lang="en-US" sz="1000" dirty="0">
                        <a:latin typeface="Pretendard SemiBold" charset="0"/>
                        <a:ea typeface="Pretendard SemiBold" charset="0"/>
                        <a:cs typeface="Pretendard SemiBold" charset="0"/>
                      </a:endParaRPr>
                    </a:p>
                  </a:txBody>
                  <a:tcPr marL="76200" marR="76200" marT="38100" marB="381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383280"/>
            <a:ext cx="8595360" cy="868680"/>
          </a:xfrm>
          <a:prstGeom prst="rect">
            <a:avLst/>
          </a:prstGeom>
          <a:noFill/>
          <a:ln/>
        </p:spPr>
        <p:txBody>
          <a:bodyPr wrap="square" lIns="0" tIns="0" rIns="0" bIns="0" rtlCol="0" anchor="t"/>
          <a:lstStyle/>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완전일치 : 연·월·일이 모두 맞은 사진 비율</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필드평균 : 연·월·일을 따로 채점한 평균 (운영진 채점 방식)</a:t>
            </a:r>
            <a:endParaRPr lang="en-US" sz="1080" dirty="0"/>
          </a:p>
          <a:p>
            <a:pPr marL="342900" indent="-342900">
              <a:spcAft>
                <a:spcPts val="300"/>
              </a:spcAft>
              <a:buSzPct val="100000"/>
              <a:buChar char="•"/>
            </a:pPr>
            <a:r>
              <a:rPr lang="en-US" sz="1080" dirty="0">
                <a:solidFill>
                  <a:srgbClr val="1A1A1A"/>
                </a:solidFill>
                <a:latin typeface="Pretendard SemiBold" pitchFamily="34" charset="0"/>
                <a:ea typeface="Pretendard SemiBold" pitchFamily="34" charset="-122"/>
                <a:cs typeface="Pretendard SemiBold" pitchFamily="34" charset="-120"/>
              </a:rPr>
              <a:t>회복 / 퇴보 : 이전 버전 대비 새로 맞힌 장 / 새로 틀린 장</a:t>
            </a:r>
            <a:endParaRPr lang="en-US" sz="1080" dirty="0"/>
          </a:p>
        </p:txBody>
      </p:sp>
      <p:sp>
        <p:nvSpPr>
          <p:cNvPr id="8" name="Shape 5"/>
          <p:cNvSpPr/>
          <p:nvPr/>
        </p:nvSpPr>
        <p:spPr>
          <a:xfrm>
            <a:off x="274320" y="4343400"/>
            <a:ext cx="8595360" cy="384048"/>
          </a:xfrm>
          <a:prstGeom prst="roundRect">
            <a:avLst>
              <a:gd name="adj" fmla="val 19048"/>
            </a:avLst>
          </a:prstGeom>
          <a:solidFill>
            <a:srgbClr val="F2F2F2"/>
          </a:solidFill>
          <a:ln w="12700">
            <a:solidFill>
              <a:srgbClr val="F2F2F2"/>
            </a:solidFill>
            <a:prstDash val="solid"/>
          </a:ln>
        </p:spPr>
      </p:sp>
      <p:sp>
        <p:nvSpPr>
          <p:cNvPr id="9" name="Text 6"/>
          <p:cNvSpPr txBox="1"/>
          <p:nvPr/>
        </p:nvSpPr>
        <p:spPr>
          <a:xfrm>
            <a:off x="411480" y="4343400"/>
            <a:ext cx="8321040" cy="384048"/>
          </a:xfrm>
          <a:prstGeom prst="rect">
            <a:avLst/>
          </a:prstGeom>
          <a:noFill/>
          <a:ln/>
        </p:spPr>
        <p:txBody>
          <a:bodyPr wrap="square" lIns="0" tIns="0" rIns="0" bIns="0" rtlCol="0" anchor="ctr"/>
          <a:lstStyle/>
          <a:p>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모든 수치의 예측 파일과 실험 기록은 </a:t>
            </a:r>
            <a:pPr algn="ctr" indent="0" marL="0">
              <a:buNone/>
            </a:pPr>
            <a:r>
              <a:rPr lang="en-US" sz="1250" dirty="0">
                <a:solidFill>
                  <a:srgbClr val="8B0000"/>
                </a:solidFill>
                <a:latin typeface="Pretendard SemiBold" pitchFamily="34" charset="0"/>
                <a:ea typeface="Pretendard SemiBold" pitchFamily="34" charset="-122"/>
                <a:cs typeface="Pretendard SemiBold" pitchFamily="34" charset="-120"/>
              </a:rPr>
              <a:t>저장소 results/ · docs/실험_기록.md</a:t>
            </a:r>
            <a:pPr algn="ctr" indent="0" marL="0">
              <a:buNone/>
            </a:pPr>
            <a:r>
              <a:rPr lang="en-US" sz="1250" dirty="0">
                <a:solidFill>
                  <a:srgbClr val="1A1A1A"/>
                </a:solidFill>
                <a:latin typeface="Pretendard SemiBold" pitchFamily="34" charset="0"/>
                <a:ea typeface="Pretendard SemiBold" pitchFamily="34" charset="-122"/>
                <a:cs typeface="Pretendard SemiBold" pitchFamily="34" charset="-120"/>
              </a:rPr>
              <a:t> 에 있다</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[CODE]_서브웨이 본선 발표</dc:title>
  <dc:subject>PptxGenJS Presentation</dc:subject>
  <dc:creator>PptxGenJS</dc:creator>
  <cp:lastModifiedBy>PptxGenJS</cp:lastModifiedBy>
  <cp:revision>1</cp:revision>
  <dcterms:created xsi:type="dcterms:W3CDTF">2026-10-01T09:35:22Z</dcterms:created>
  <dcterms:modified xsi:type="dcterms:W3CDTF">2026-10-01T09:35:22Z</dcterms:modified>
</cp:coreProperties>
</file>