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8288000" cy="10287000"/>
  <p:notesSz cx="6858000" cy="9144000"/>
  <p:embeddedFontLst>
    <p:embeddedFont>
      <p:font typeface="프리텐다드" panose="02000503000000020004" pitchFamily="2" charset="-127"/>
      <p:regular r:id="rId27"/>
    </p:embeddedFont>
    <p:embeddedFont>
      <p:font typeface="프리텐다드 Bold" panose="02000803000000020004" pitchFamily="2" charset="-127"/>
      <p:regular r:id="rId28"/>
      <p:bold r:id="rId29"/>
    </p:embeddedFont>
    <p:embeddedFont>
      <p:font typeface="프리텐다드 Heavy" panose="02000A03000000020004" pitchFamily="2" charset="-127"/>
      <p:regular r:id="rId30"/>
      <p:bold r:id="rId31"/>
    </p:embeddedFont>
    <p:embeddedFont>
      <p:font typeface="프리텐다드 Medium" panose="02000603000000020004" pitchFamily="2" charset="-127"/>
      <p:regular r:id="rId32"/>
    </p:embeddedFont>
    <p:embeddedFont>
      <p:font typeface="프리텐다드 Ultra-Bold" panose="02000903000000020004" pitchFamily="2" charset="-127"/>
      <p:regular r:id="rId33"/>
      <p:bold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autoAdjust="0"/>
    <p:restoredTop sz="75173" autoAdjust="0"/>
  </p:normalViewPr>
  <p:slideViewPr>
    <p:cSldViewPr>
      <p:cViewPr>
        <p:scale>
          <a:sx n="73" d="100"/>
          <a:sy n="73" d="100"/>
        </p:scale>
        <p:origin x="-272"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02.10.2026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안녕하세요, CODE 서브웨이 팀입니다. 저희는 상품 뒷면 사진에서 소비기한을 읽는 OCR을 만들었습니다. 핵심은 제목 그대로, 잘 읽는 것만큼 못 읽었을 때 못 읽었다고 말하는 것입니다. 왜 그렇게 설계했고, 그것이 중고거래 서비스에서 어떤 의미인지 말씀드리겠습니다.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먼저 문제와 제약입니다.</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초기 구성은 500장에 2,905초가 걸려 이미 탈락이었습니다. 그래서 정확도보다 먼저, 끝까지 돌아가는 구조에서 출발했습니다.</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두 번째는 검증 설계입니다. 심사에서 가장 먼저 확인하실 부분이라고 생각합니다.</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정답이</a:t>
            </a:r>
            <a:r>
              <a:rPr lang="en-US" dirty="0"/>
              <a:t> </a:t>
            </a:r>
            <a:r>
              <a:rPr lang="en-US" dirty="0" err="1"/>
              <a:t>없으니</a:t>
            </a:r>
            <a:r>
              <a:rPr lang="en-US" dirty="0"/>
              <a:t> </a:t>
            </a:r>
            <a:r>
              <a:rPr lang="ko-KR" altLang="en-US" dirty="0"/>
              <a:t>정확도를 판단할 기준</a:t>
            </a:r>
            <a:r>
              <a:rPr lang="en-US" dirty="0" err="1"/>
              <a:t>부터</a:t>
            </a:r>
            <a:r>
              <a:rPr lang="en-US" dirty="0"/>
              <a:t> </a:t>
            </a:r>
            <a:r>
              <a:rPr lang="en-US" dirty="0" err="1"/>
              <a:t>만들었습니다</a:t>
            </a:r>
            <a:r>
              <a:rPr lang="en-US" dirty="0"/>
              <a:t>. </a:t>
            </a:r>
            <a:r>
              <a:rPr lang="en-US" dirty="0" err="1"/>
              <a:t>먼저</a:t>
            </a:r>
            <a:r>
              <a:rPr lang="en-US" dirty="0"/>
              <a:t> </a:t>
            </a:r>
            <a:r>
              <a:rPr lang="en-US" dirty="0" err="1"/>
              <a:t>날짜를</a:t>
            </a:r>
            <a:r>
              <a:rPr lang="en-US" dirty="0"/>
              <a:t> </a:t>
            </a:r>
            <a:r>
              <a:rPr lang="en-US" dirty="0" err="1"/>
              <a:t>어떻게</a:t>
            </a:r>
            <a:r>
              <a:rPr lang="en-US" dirty="0"/>
              <a:t> </a:t>
            </a:r>
            <a:r>
              <a:rPr lang="en-US" dirty="0" err="1"/>
              <a:t>해석할지</a:t>
            </a:r>
            <a:r>
              <a:rPr lang="en-US" dirty="0"/>
              <a:t> </a:t>
            </a:r>
            <a:r>
              <a:rPr lang="en-US" dirty="0" err="1"/>
              <a:t>규칙을</a:t>
            </a:r>
            <a:r>
              <a:rPr lang="en-US" dirty="0"/>
              <a:t> </a:t>
            </a:r>
            <a:r>
              <a:rPr lang="en-US" dirty="0" err="1"/>
              <a:t>문서로</a:t>
            </a:r>
            <a:r>
              <a:rPr lang="en-US" dirty="0"/>
              <a:t> </a:t>
            </a:r>
            <a:r>
              <a:rPr lang="en-US" dirty="0" err="1"/>
              <a:t>정하고</a:t>
            </a:r>
            <a:r>
              <a:rPr lang="en-US" dirty="0"/>
              <a:t>, 그 </a:t>
            </a:r>
            <a:r>
              <a:rPr lang="en-US" dirty="0" err="1"/>
              <a:t>규칙대로</a:t>
            </a:r>
            <a:r>
              <a:rPr lang="en-US" dirty="0"/>
              <a:t> </a:t>
            </a:r>
            <a:r>
              <a:rPr lang="en-US" dirty="0" err="1"/>
              <a:t>동작하는</a:t>
            </a:r>
            <a:r>
              <a:rPr lang="en-US" dirty="0"/>
              <a:t> </a:t>
            </a:r>
            <a:r>
              <a:rPr lang="en-US" dirty="0" err="1"/>
              <a:t>라벨링</a:t>
            </a:r>
            <a:r>
              <a:rPr lang="en-US" dirty="0"/>
              <a:t> </a:t>
            </a:r>
            <a:r>
              <a:rPr lang="en-US" dirty="0" err="1"/>
              <a:t>도구를</a:t>
            </a:r>
            <a:r>
              <a:rPr lang="en-US" dirty="0"/>
              <a:t> </a:t>
            </a:r>
            <a:r>
              <a:rPr lang="en-US" dirty="0" err="1"/>
              <a:t>만들어</a:t>
            </a:r>
            <a:r>
              <a:rPr lang="en-US" dirty="0"/>
              <a:t> 3,352장 </a:t>
            </a:r>
            <a:r>
              <a:rPr lang="en-US" dirty="0" err="1"/>
              <a:t>전부에</a:t>
            </a:r>
            <a:r>
              <a:rPr lang="en-US" dirty="0"/>
              <a:t> </a:t>
            </a:r>
            <a:r>
              <a:rPr lang="en-US" dirty="0" err="1"/>
              <a:t>다섯</a:t>
            </a:r>
            <a:r>
              <a:rPr lang="en-US" dirty="0"/>
              <a:t> </a:t>
            </a:r>
            <a:r>
              <a:rPr lang="en-US" dirty="0" err="1"/>
              <a:t>명이</a:t>
            </a:r>
            <a:r>
              <a:rPr lang="en-US" dirty="0"/>
              <a:t> </a:t>
            </a:r>
            <a:r>
              <a:rPr lang="en-US" dirty="0" err="1"/>
              <a:t>직접</a:t>
            </a:r>
            <a:r>
              <a:rPr lang="en-US" dirty="0"/>
              <a:t> </a:t>
            </a:r>
            <a:r>
              <a:rPr lang="en-US" dirty="0" err="1"/>
              <a:t>라벨을</a:t>
            </a:r>
            <a:r>
              <a:rPr lang="en-US" dirty="0"/>
              <a:t> </a:t>
            </a:r>
            <a:r>
              <a:rPr lang="en-US" dirty="0" err="1"/>
              <a:t>달았습니다</a:t>
            </a:r>
            <a:r>
              <a:rPr lang="en-US" dirty="0"/>
              <a:t>. </a:t>
            </a:r>
            <a:r>
              <a:rPr lang="en-US" dirty="0" err="1"/>
              <a:t>그중</a:t>
            </a:r>
            <a:r>
              <a:rPr lang="en-US" dirty="0"/>
              <a:t> 500장은 </a:t>
            </a:r>
            <a:r>
              <a:rPr lang="en-US" dirty="0" err="1"/>
              <a:t>따로</a:t>
            </a:r>
            <a:r>
              <a:rPr lang="en-US" dirty="0"/>
              <a:t> </a:t>
            </a:r>
            <a:r>
              <a:rPr lang="en-US" dirty="0" err="1"/>
              <a:t>봉인해서</a:t>
            </a:r>
            <a:r>
              <a:rPr lang="en-US" dirty="0"/>
              <a:t> </a:t>
            </a:r>
            <a:r>
              <a:rPr lang="en-US" dirty="0" err="1"/>
              <a:t>학습과</a:t>
            </a:r>
            <a:r>
              <a:rPr lang="en-US" dirty="0"/>
              <a:t> </a:t>
            </a:r>
            <a:r>
              <a:rPr lang="en-US" dirty="0" err="1"/>
              <a:t>규칙</a:t>
            </a:r>
            <a:r>
              <a:rPr lang="en-US" dirty="0"/>
              <a:t> </a:t>
            </a:r>
            <a:r>
              <a:rPr lang="en-US" dirty="0" err="1"/>
              <a:t>도출에</a:t>
            </a:r>
            <a:r>
              <a:rPr lang="en-US" dirty="0"/>
              <a:t> </a:t>
            </a:r>
            <a:r>
              <a:rPr lang="en-US" dirty="0" err="1"/>
              <a:t>쓰지</a:t>
            </a:r>
            <a:r>
              <a:rPr lang="en-US" dirty="0"/>
              <a:t> </a:t>
            </a:r>
            <a:r>
              <a:rPr lang="en-US" dirty="0" err="1"/>
              <a:t>않고</a:t>
            </a:r>
            <a:r>
              <a:rPr lang="en-US" dirty="0"/>
              <a:t> </a:t>
            </a:r>
            <a:r>
              <a:rPr lang="en-US" dirty="0" err="1"/>
              <a:t>측정에만</a:t>
            </a:r>
            <a:r>
              <a:rPr lang="en-US" dirty="0"/>
              <a:t> </a:t>
            </a:r>
            <a:r>
              <a:rPr lang="en-US" dirty="0" err="1"/>
              <a:t>썼고</a:t>
            </a:r>
            <a:r>
              <a:rPr lang="en-US" dirty="0"/>
              <a:t>, </a:t>
            </a:r>
            <a:r>
              <a:rPr lang="en-US" dirty="0" err="1"/>
              <a:t>오늘</a:t>
            </a:r>
            <a:r>
              <a:rPr lang="en-US" dirty="0"/>
              <a:t> </a:t>
            </a:r>
            <a:r>
              <a:rPr lang="en-US" dirty="0" err="1"/>
              <a:t>말씀드리는</a:t>
            </a:r>
            <a:r>
              <a:rPr lang="en-US" dirty="0"/>
              <a:t> </a:t>
            </a:r>
            <a:r>
              <a:rPr lang="en-US" dirty="0" err="1"/>
              <a:t>공식</a:t>
            </a:r>
            <a:r>
              <a:rPr lang="en-US" dirty="0"/>
              <a:t> </a:t>
            </a:r>
            <a:r>
              <a:rPr lang="en-US" dirty="0" err="1"/>
              <a:t>수치는</a:t>
            </a:r>
            <a:r>
              <a:rPr lang="en-US" dirty="0"/>
              <a:t> </a:t>
            </a:r>
            <a:r>
              <a:rPr lang="en-US" dirty="0" err="1"/>
              <a:t>전부</a:t>
            </a:r>
            <a:r>
              <a:rPr lang="en-US" dirty="0"/>
              <a:t> 이 500장 </a:t>
            </a:r>
            <a:r>
              <a:rPr lang="en-US" dirty="0" err="1"/>
              <a:t>기준입니다</a:t>
            </a:r>
            <a:r>
              <a:rPr lang="en-US" dirty="0"/>
              <a:t>. </a:t>
            </a:r>
            <a:r>
              <a:rPr lang="en-US" dirty="0" err="1"/>
              <a:t>기능을</a:t>
            </a:r>
            <a:r>
              <a:rPr lang="en-US" dirty="0"/>
              <a:t> </a:t>
            </a:r>
            <a:r>
              <a:rPr lang="en-US" dirty="0" err="1"/>
              <a:t>넣을지는</a:t>
            </a:r>
            <a:r>
              <a:rPr lang="en-US" dirty="0"/>
              <a:t> </a:t>
            </a:r>
            <a:r>
              <a:rPr lang="en-US" dirty="0" err="1"/>
              <a:t>나머지</a:t>
            </a:r>
            <a:r>
              <a:rPr lang="en-US" dirty="0"/>
              <a:t> 2,852장에서 </a:t>
            </a:r>
            <a:r>
              <a:rPr lang="en-US" dirty="0" err="1"/>
              <a:t>판정했고</a:t>
            </a:r>
            <a:r>
              <a:rPr lang="en-US" dirty="0"/>
              <a:t>, </a:t>
            </a:r>
            <a:r>
              <a:rPr lang="en-US" dirty="0" err="1"/>
              <a:t>새로</a:t>
            </a:r>
            <a:r>
              <a:rPr lang="en-US" dirty="0"/>
              <a:t> </a:t>
            </a:r>
            <a:r>
              <a:rPr lang="en-US" dirty="0" err="1"/>
              <a:t>맞힌</a:t>
            </a:r>
            <a:r>
              <a:rPr lang="en-US" dirty="0"/>
              <a:t> </a:t>
            </a:r>
            <a:r>
              <a:rPr lang="en-US" dirty="0" err="1"/>
              <a:t>장과</a:t>
            </a:r>
            <a:r>
              <a:rPr lang="en-US" dirty="0"/>
              <a:t> </a:t>
            </a:r>
            <a:r>
              <a:rPr lang="en-US" dirty="0" err="1"/>
              <a:t>새로</a:t>
            </a:r>
            <a:r>
              <a:rPr lang="en-US" dirty="0"/>
              <a:t> </a:t>
            </a:r>
            <a:r>
              <a:rPr lang="en-US" dirty="0" err="1"/>
              <a:t>틀린</a:t>
            </a:r>
            <a:r>
              <a:rPr lang="en-US" dirty="0"/>
              <a:t> </a:t>
            </a:r>
            <a:r>
              <a:rPr lang="en-US" dirty="0" err="1"/>
              <a:t>장을</a:t>
            </a:r>
            <a:r>
              <a:rPr lang="en-US" dirty="0"/>
              <a:t> </a:t>
            </a:r>
            <a:r>
              <a:rPr lang="en-US" dirty="0" err="1"/>
              <a:t>따로</a:t>
            </a:r>
            <a:r>
              <a:rPr lang="en-US" dirty="0"/>
              <a:t> </a:t>
            </a:r>
            <a:r>
              <a:rPr lang="en-US" dirty="0" err="1"/>
              <a:t>세어</a:t>
            </a:r>
            <a:r>
              <a:rPr lang="en-US" dirty="0"/>
              <a:t> </a:t>
            </a:r>
            <a:r>
              <a:rPr lang="en-US" dirty="0" err="1"/>
              <a:t>퇴보가</a:t>
            </a:r>
            <a:r>
              <a:rPr lang="en-US" dirty="0"/>
              <a:t> </a:t>
            </a:r>
            <a:r>
              <a:rPr lang="en-US" dirty="0" err="1"/>
              <a:t>크면</a:t>
            </a:r>
            <a:r>
              <a:rPr lang="en-US" dirty="0"/>
              <a:t> </a:t>
            </a:r>
            <a:r>
              <a:rPr lang="en-US" dirty="0" err="1"/>
              <a:t>점수가</a:t>
            </a:r>
            <a:r>
              <a:rPr lang="en-US" dirty="0"/>
              <a:t> </a:t>
            </a:r>
            <a:r>
              <a:rPr lang="en-US" dirty="0" err="1"/>
              <a:t>올라도</a:t>
            </a:r>
            <a:r>
              <a:rPr lang="en-US" dirty="0"/>
              <a:t> </a:t>
            </a:r>
            <a:r>
              <a:rPr lang="en-US" dirty="0" err="1"/>
              <a:t>버렸습니다</a:t>
            </a:r>
            <a:r>
              <a:rPr lang="en-US" dirty="0"/>
              <a:t>. </a:t>
            </a:r>
            <a:r>
              <a:rPr lang="en-US" dirty="0" err="1"/>
              <a:t>정답</a:t>
            </a:r>
            <a:r>
              <a:rPr lang="en-US" dirty="0"/>
              <a:t> </a:t>
            </a:r>
            <a:r>
              <a:rPr lang="en-US" dirty="0" err="1"/>
              <a:t>라벨도</a:t>
            </a:r>
            <a:r>
              <a:rPr lang="en-US" dirty="0"/>
              <a:t> </a:t>
            </a:r>
            <a:r>
              <a:rPr lang="en-US" dirty="0" err="1"/>
              <a:t>의심했습니다</a:t>
            </a:r>
            <a:r>
              <a:rPr lang="en-US" dirty="0"/>
              <a:t>. </a:t>
            </a:r>
            <a:r>
              <a:rPr lang="en-US" dirty="0" err="1"/>
              <a:t>오답</a:t>
            </a:r>
            <a:r>
              <a:rPr lang="en-US" dirty="0"/>
              <a:t> 446</a:t>
            </a:r>
            <a:r>
              <a:rPr lang="ko-KR" altLang="en-US" dirty="0"/>
              <a:t>장을</a:t>
            </a:r>
            <a:r>
              <a:rPr lang="en-US" dirty="0"/>
              <a:t> </a:t>
            </a:r>
            <a:r>
              <a:rPr lang="en-US" dirty="0" err="1"/>
              <a:t>다시</a:t>
            </a:r>
            <a:r>
              <a:rPr lang="en-US" dirty="0"/>
              <a:t> </a:t>
            </a:r>
            <a:r>
              <a:rPr lang="en-US" dirty="0" err="1"/>
              <a:t>보니</a:t>
            </a:r>
            <a:r>
              <a:rPr lang="en-US" dirty="0"/>
              <a:t> </a:t>
            </a:r>
            <a:r>
              <a:rPr lang="en-US" dirty="0" err="1"/>
              <a:t>라벨이</a:t>
            </a:r>
            <a:r>
              <a:rPr lang="en-US" dirty="0"/>
              <a:t> </a:t>
            </a:r>
            <a:r>
              <a:rPr lang="en-US" dirty="0" err="1"/>
              <a:t>틀린</a:t>
            </a:r>
            <a:r>
              <a:rPr lang="en-US" dirty="0"/>
              <a:t> </a:t>
            </a:r>
            <a:r>
              <a:rPr lang="en-US" dirty="0" err="1"/>
              <a:t>게</a:t>
            </a:r>
            <a:r>
              <a:rPr lang="en-US" dirty="0"/>
              <a:t> </a:t>
            </a:r>
            <a:r>
              <a:rPr lang="en-US" altLang="ko-KR" dirty="0"/>
              <a:t>16</a:t>
            </a:r>
            <a:r>
              <a:rPr lang="en-US" dirty="0"/>
              <a:t>장, </a:t>
            </a:r>
            <a:r>
              <a:rPr lang="en-US" dirty="0" err="1"/>
              <a:t>그중</a:t>
            </a:r>
            <a:r>
              <a:rPr lang="en-US" dirty="0"/>
              <a:t> 1</a:t>
            </a:r>
            <a:r>
              <a:rPr lang="en-US" altLang="ko-KR" dirty="0"/>
              <a:t>1</a:t>
            </a:r>
            <a:r>
              <a:rPr lang="en-US" dirty="0"/>
              <a:t>장은 </a:t>
            </a:r>
            <a:r>
              <a:rPr lang="en-US" dirty="0" err="1"/>
              <a:t>모델이</a:t>
            </a:r>
            <a:r>
              <a:rPr lang="en-US" dirty="0"/>
              <a:t> </a:t>
            </a:r>
            <a:r>
              <a:rPr lang="en-US" dirty="0" err="1"/>
              <a:t>맞은</a:t>
            </a:r>
            <a:r>
              <a:rPr lang="en-US" dirty="0"/>
              <a:t> </a:t>
            </a:r>
            <a:r>
              <a:rPr lang="en-US" dirty="0" err="1"/>
              <a:t>경우였습니다</a:t>
            </a:r>
            <a:r>
              <a:rPr lang="en-US" dirty="0"/>
              <a:t>.</a:t>
            </a:r>
          </a:p>
          <a:p>
            <a:r>
              <a:rPr lang="en-US" dirty="0"/>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세 번째, 아키텍처입니다.</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비용이 큰 단계는 전부 조건부입니다. 대부분의 사진은 위 한 줄로 끝나고, 어려운 사진에서만 재탐지, 도트 폴백, 파인튜닝 인식기가 차례로 동작합니다.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본선에서</a:t>
            </a:r>
            <a:r>
              <a:rPr lang="en-US" dirty="0"/>
              <a:t> </a:t>
            </a:r>
            <a:r>
              <a:rPr lang="en-US" dirty="0" err="1"/>
              <a:t>가장</a:t>
            </a:r>
            <a:r>
              <a:rPr lang="en-US" dirty="0"/>
              <a:t> </a:t>
            </a:r>
            <a:r>
              <a:rPr lang="en-US" dirty="0" err="1"/>
              <a:t>먼저</a:t>
            </a:r>
            <a:r>
              <a:rPr lang="en-US" dirty="0"/>
              <a:t> 한 </a:t>
            </a:r>
            <a:r>
              <a:rPr lang="en-US" dirty="0" err="1"/>
              <a:t>일은</a:t>
            </a:r>
            <a:r>
              <a:rPr lang="en-US" dirty="0"/>
              <a:t> </a:t>
            </a:r>
            <a:r>
              <a:rPr lang="en-US" dirty="0" err="1"/>
              <a:t>오답</a:t>
            </a:r>
            <a:r>
              <a:rPr lang="en-US" dirty="0"/>
              <a:t> </a:t>
            </a:r>
            <a:r>
              <a:rPr lang="en-US" dirty="0" err="1"/>
              <a:t>진단입니다</a:t>
            </a:r>
            <a:r>
              <a:rPr lang="en-US" dirty="0"/>
              <a:t>. </a:t>
            </a:r>
            <a:r>
              <a:rPr lang="en-US" dirty="0" err="1"/>
              <a:t>오답</a:t>
            </a:r>
            <a:r>
              <a:rPr lang="en-US" dirty="0"/>
              <a:t> 603장마다 </a:t>
            </a:r>
            <a:r>
              <a:rPr lang="en-US" dirty="0" err="1"/>
              <a:t>정답</a:t>
            </a:r>
            <a:r>
              <a:rPr lang="en-US" dirty="0"/>
              <a:t> </a:t>
            </a:r>
            <a:r>
              <a:rPr lang="en-US" dirty="0" err="1"/>
              <a:t>날짜가</a:t>
            </a:r>
            <a:r>
              <a:rPr lang="en-US" dirty="0"/>
              <a:t> </a:t>
            </a:r>
            <a:r>
              <a:rPr lang="en-US" dirty="0" err="1"/>
              <a:t>어느</a:t>
            </a:r>
            <a:r>
              <a:rPr lang="en-US" dirty="0"/>
              <a:t> </a:t>
            </a:r>
            <a:r>
              <a:rPr lang="en-US" dirty="0" err="1"/>
              <a:t>단계까지</a:t>
            </a:r>
            <a:r>
              <a:rPr lang="en-US" dirty="0"/>
              <a:t> </a:t>
            </a:r>
            <a:r>
              <a:rPr lang="en-US" dirty="0" err="1"/>
              <a:t>살아</a:t>
            </a:r>
            <a:r>
              <a:rPr lang="en-US" dirty="0"/>
              <a:t> </a:t>
            </a:r>
            <a:r>
              <a:rPr lang="en-US" dirty="0" err="1"/>
              <a:t>있었는지를</a:t>
            </a:r>
            <a:r>
              <a:rPr lang="en-US" dirty="0"/>
              <a:t> </a:t>
            </a:r>
            <a:r>
              <a:rPr lang="en-US" dirty="0" err="1"/>
              <a:t>추적했더니</a:t>
            </a:r>
            <a:r>
              <a:rPr lang="en-US" dirty="0"/>
              <a:t> 네 </a:t>
            </a:r>
            <a:r>
              <a:rPr lang="en-US" dirty="0" err="1"/>
              <a:t>가지로</a:t>
            </a:r>
            <a:r>
              <a:rPr lang="en-US" dirty="0"/>
              <a:t> </a:t>
            </a:r>
            <a:r>
              <a:rPr lang="en-US" dirty="0" err="1"/>
              <a:t>갈렸습니다</a:t>
            </a:r>
            <a:r>
              <a:rPr lang="en-US" dirty="0"/>
              <a:t>. 못 </a:t>
            </a:r>
            <a:r>
              <a:rPr lang="en-US" dirty="0" err="1"/>
              <a:t>읽은</a:t>
            </a:r>
            <a:r>
              <a:rPr lang="en-US" dirty="0"/>
              <a:t> 것 183장, </a:t>
            </a:r>
            <a:r>
              <a:rPr lang="en-US" dirty="0" err="1"/>
              <a:t>잘못</a:t>
            </a:r>
            <a:r>
              <a:rPr lang="en-US" dirty="0"/>
              <a:t> </a:t>
            </a:r>
            <a:r>
              <a:rPr lang="en-US" dirty="0" err="1"/>
              <a:t>읽은</a:t>
            </a:r>
            <a:r>
              <a:rPr lang="en-US" dirty="0"/>
              <a:t> 것 290장, </a:t>
            </a:r>
            <a:r>
              <a:rPr lang="en-US" dirty="0" err="1"/>
              <a:t>그리고</a:t>
            </a:r>
            <a:r>
              <a:rPr lang="en-US" dirty="0"/>
              <a:t> </a:t>
            </a:r>
            <a:r>
              <a:rPr lang="en-US" dirty="0" err="1"/>
              <a:t>흥미로운</a:t>
            </a:r>
            <a:r>
              <a:rPr lang="en-US" dirty="0"/>
              <a:t> 게 세 </a:t>
            </a:r>
            <a:r>
              <a:rPr lang="en-US" dirty="0" err="1"/>
              <a:t>번째입니다</a:t>
            </a:r>
            <a:r>
              <a:rPr lang="en-US" dirty="0"/>
              <a:t>. </a:t>
            </a:r>
            <a:r>
              <a:rPr lang="en-US" dirty="0" err="1"/>
              <a:t>처음엔</a:t>
            </a:r>
            <a:r>
              <a:rPr lang="en-US" dirty="0"/>
              <a:t> </a:t>
            </a:r>
            <a:r>
              <a:rPr lang="en-US" dirty="0" err="1"/>
              <a:t>맞게</a:t>
            </a:r>
            <a:r>
              <a:rPr lang="en-US" dirty="0"/>
              <a:t> </a:t>
            </a:r>
            <a:r>
              <a:rPr lang="en-US" dirty="0" err="1"/>
              <a:t>읽었는데</a:t>
            </a:r>
            <a:r>
              <a:rPr lang="en-US" dirty="0"/>
              <a:t> </a:t>
            </a:r>
            <a:r>
              <a:rPr lang="en-US" dirty="0" err="1"/>
              <a:t>다시</a:t>
            </a:r>
            <a:r>
              <a:rPr lang="en-US" dirty="0"/>
              <a:t> </a:t>
            </a:r>
            <a:r>
              <a:rPr lang="en-US" dirty="0" err="1"/>
              <a:t>읽기</a:t>
            </a:r>
            <a:r>
              <a:rPr lang="en-US" dirty="0"/>
              <a:t> </a:t>
            </a:r>
            <a:r>
              <a:rPr lang="en-US" dirty="0" err="1"/>
              <a:t>단계가</a:t>
            </a:r>
            <a:r>
              <a:rPr lang="en-US" dirty="0"/>
              <a:t> 그 </a:t>
            </a:r>
            <a:r>
              <a:rPr lang="en-US" dirty="0" err="1"/>
              <a:t>정답을</a:t>
            </a:r>
            <a:r>
              <a:rPr lang="en-US" dirty="0"/>
              <a:t> </a:t>
            </a:r>
            <a:r>
              <a:rPr lang="en-US" dirty="0" err="1"/>
              <a:t>지워</a:t>
            </a:r>
            <a:r>
              <a:rPr lang="en-US" dirty="0"/>
              <a:t> </a:t>
            </a:r>
            <a:r>
              <a:rPr lang="en-US" dirty="0" err="1"/>
              <a:t>버린</a:t>
            </a:r>
            <a:r>
              <a:rPr lang="en-US" dirty="0"/>
              <a:t> 게 111장이었습니다. </a:t>
            </a:r>
            <a:r>
              <a:rPr lang="en-US" dirty="0" err="1"/>
              <a:t>이건</a:t>
            </a:r>
            <a:r>
              <a:rPr lang="en-US" dirty="0"/>
              <a:t> </a:t>
            </a:r>
            <a:r>
              <a:rPr lang="en-US" dirty="0" err="1"/>
              <a:t>모델</a:t>
            </a:r>
            <a:r>
              <a:rPr lang="en-US" dirty="0"/>
              <a:t> </a:t>
            </a:r>
            <a:r>
              <a:rPr lang="en-US" dirty="0" err="1"/>
              <a:t>문제가</a:t>
            </a:r>
            <a:r>
              <a:rPr lang="en-US" dirty="0"/>
              <a:t> </a:t>
            </a:r>
            <a:r>
              <a:rPr lang="en-US" dirty="0" err="1"/>
              <a:t>아니라</a:t>
            </a:r>
            <a:r>
              <a:rPr lang="en-US" dirty="0"/>
              <a:t> </a:t>
            </a:r>
            <a:r>
              <a:rPr lang="en-US" dirty="0" err="1"/>
              <a:t>저희</a:t>
            </a:r>
            <a:r>
              <a:rPr lang="en-US" dirty="0"/>
              <a:t> </a:t>
            </a:r>
            <a:r>
              <a:rPr lang="en-US" dirty="0" err="1"/>
              <a:t>코드의</a:t>
            </a:r>
            <a:r>
              <a:rPr lang="en-US" dirty="0"/>
              <a:t> </a:t>
            </a:r>
            <a:r>
              <a:rPr lang="en-US" dirty="0" err="1"/>
              <a:t>문제였고</a:t>
            </a:r>
            <a:r>
              <a:rPr lang="en-US" dirty="0"/>
              <a:t>, </a:t>
            </a:r>
            <a:r>
              <a:rPr lang="en-US" dirty="0" err="1"/>
              <a:t>다시</a:t>
            </a:r>
            <a:r>
              <a:rPr lang="en-US" dirty="0"/>
              <a:t> </a:t>
            </a:r>
            <a:r>
              <a:rPr lang="en-US" dirty="0" err="1"/>
              <a:t>읽기는</a:t>
            </a:r>
            <a:r>
              <a:rPr lang="en-US" dirty="0"/>
              <a:t> </a:t>
            </a:r>
            <a:r>
              <a:rPr lang="en-US" dirty="0" err="1"/>
              <a:t>교정만</a:t>
            </a:r>
            <a:r>
              <a:rPr lang="en-US" dirty="0"/>
              <a:t> </a:t>
            </a:r>
            <a:r>
              <a:rPr lang="en-US" dirty="0" err="1"/>
              <a:t>하고</a:t>
            </a:r>
            <a:r>
              <a:rPr lang="en-US" dirty="0"/>
              <a:t> </a:t>
            </a:r>
            <a:r>
              <a:rPr lang="en-US" dirty="0" err="1"/>
              <a:t>삭제는</a:t>
            </a:r>
            <a:r>
              <a:rPr lang="en-US" dirty="0"/>
              <a:t> 못 </a:t>
            </a:r>
            <a:r>
              <a:rPr lang="en-US" dirty="0" err="1"/>
              <a:t>하게</a:t>
            </a:r>
            <a:r>
              <a:rPr lang="en-US" dirty="0"/>
              <a:t> </a:t>
            </a:r>
            <a:r>
              <a:rPr lang="en-US" dirty="0" err="1"/>
              <a:t>규칙을</a:t>
            </a:r>
            <a:r>
              <a:rPr lang="en-US" dirty="0"/>
              <a:t> </a:t>
            </a:r>
            <a:r>
              <a:rPr lang="en-US" dirty="0" err="1"/>
              <a:t>바꿔서</a:t>
            </a:r>
            <a:r>
              <a:rPr lang="en-US" dirty="0"/>
              <a:t> 53장을 </a:t>
            </a:r>
            <a:r>
              <a:rPr lang="en-US" dirty="0" err="1"/>
              <a:t>되찾았습니다</a:t>
            </a:r>
            <a:r>
              <a:rPr lang="en-US" dirty="0"/>
              <a:t>. </a:t>
            </a:r>
            <a:r>
              <a:rPr lang="en-US" dirty="0" err="1"/>
              <a:t>이렇게</a:t>
            </a:r>
            <a:r>
              <a:rPr lang="en-US" dirty="0"/>
              <a:t> </a:t>
            </a:r>
            <a:r>
              <a:rPr lang="en-US" dirty="0" err="1"/>
              <a:t>원인을</a:t>
            </a:r>
            <a:r>
              <a:rPr lang="en-US" dirty="0"/>
              <a:t> </a:t>
            </a:r>
            <a:r>
              <a:rPr lang="en-US" dirty="0" err="1"/>
              <a:t>나눠</a:t>
            </a:r>
            <a:r>
              <a:rPr lang="en-US" dirty="0"/>
              <a:t> </a:t>
            </a:r>
            <a:r>
              <a:rPr lang="en-US" dirty="0" err="1"/>
              <a:t>놓으니</a:t>
            </a:r>
            <a:r>
              <a:rPr lang="en-US" dirty="0"/>
              <a:t>, </a:t>
            </a:r>
            <a:r>
              <a:rPr lang="en-US" dirty="0" err="1"/>
              <a:t>모델을</a:t>
            </a:r>
            <a:r>
              <a:rPr lang="en-US" dirty="0"/>
              <a:t> </a:t>
            </a:r>
            <a:r>
              <a:rPr lang="en-US" dirty="0" err="1"/>
              <a:t>키우는</a:t>
            </a:r>
            <a:r>
              <a:rPr lang="en-US" dirty="0"/>
              <a:t> </a:t>
            </a:r>
            <a:r>
              <a:rPr lang="en-US" dirty="0" err="1"/>
              <a:t>대신</a:t>
            </a:r>
            <a:r>
              <a:rPr lang="en-US" dirty="0"/>
              <a:t> </a:t>
            </a:r>
            <a:r>
              <a:rPr lang="en-US" dirty="0" err="1"/>
              <a:t>원인마다</a:t>
            </a:r>
            <a:r>
              <a:rPr lang="en-US" dirty="0"/>
              <a:t> </a:t>
            </a:r>
            <a:r>
              <a:rPr lang="en-US" dirty="0" err="1"/>
              <a:t>가장</a:t>
            </a:r>
            <a:r>
              <a:rPr lang="en-US" dirty="0"/>
              <a:t> </a:t>
            </a:r>
            <a:r>
              <a:rPr lang="ko-KR" altLang="en-US" dirty="0"/>
              <a:t>간단한</a:t>
            </a:r>
            <a:r>
              <a:rPr lang="en-US" dirty="0"/>
              <a:t> </a:t>
            </a:r>
            <a:r>
              <a:rPr lang="en-US" dirty="0" err="1"/>
              <a:t>처방을</a:t>
            </a:r>
            <a:r>
              <a:rPr lang="en-US" dirty="0"/>
              <a:t> </a:t>
            </a:r>
            <a:r>
              <a:rPr lang="en-US" dirty="0" err="1"/>
              <a:t>고를</a:t>
            </a:r>
            <a:r>
              <a:rPr lang="en-US" dirty="0"/>
              <a:t> 수 </a:t>
            </a:r>
            <a:r>
              <a:rPr lang="en-US" dirty="0" err="1"/>
              <a:t>있었습니다</a:t>
            </a:r>
            <a:r>
              <a:rPr lang="en-US" dirty="0"/>
              <a:t>.</a:t>
            </a:r>
          </a:p>
          <a:p>
            <a:r>
              <a:rPr lang="en-US" dirty="0"/>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네 번째, 결과입니다.</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결과입니다</a:t>
            </a:r>
            <a:r>
              <a:rPr lang="en-US" dirty="0"/>
              <a:t>. </a:t>
            </a:r>
            <a:r>
              <a:rPr lang="en-US" dirty="0" err="1"/>
              <a:t>처음</a:t>
            </a:r>
            <a:r>
              <a:rPr lang="en-US" dirty="0"/>
              <a:t> 39%에서 </a:t>
            </a:r>
            <a:r>
              <a:rPr lang="en-US" dirty="0" err="1"/>
              <a:t>출발해서</a:t>
            </a:r>
            <a:r>
              <a:rPr lang="en-US" dirty="0"/>
              <a:t> </a:t>
            </a:r>
            <a:r>
              <a:rPr lang="en-US" dirty="0" err="1"/>
              <a:t>예선</a:t>
            </a:r>
            <a:r>
              <a:rPr lang="en-US" dirty="0"/>
              <a:t> </a:t>
            </a:r>
            <a:r>
              <a:rPr lang="en-US" dirty="0" err="1"/>
              <a:t>제출</a:t>
            </a:r>
            <a:r>
              <a:rPr lang="en-US" dirty="0"/>
              <a:t> </a:t>
            </a:r>
            <a:r>
              <a:rPr lang="en-US" dirty="0" err="1"/>
              <a:t>때</a:t>
            </a:r>
            <a:r>
              <a:rPr lang="en-US" dirty="0"/>
              <a:t> 84.2%, </a:t>
            </a:r>
            <a:r>
              <a:rPr lang="en-US" dirty="0" err="1"/>
              <a:t>본선</a:t>
            </a:r>
            <a:r>
              <a:rPr lang="en-US" dirty="0"/>
              <a:t> </a:t>
            </a:r>
            <a:r>
              <a:rPr lang="en-US" dirty="0" err="1"/>
              <a:t>통합본은</a:t>
            </a:r>
            <a:r>
              <a:rPr lang="en-US" dirty="0"/>
              <a:t> </a:t>
            </a:r>
            <a:r>
              <a:rPr lang="en-US" dirty="0" err="1"/>
              <a:t>봉인</a:t>
            </a:r>
            <a:r>
              <a:rPr lang="en-US" dirty="0"/>
              <a:t> 500장에서 86.2%입니다. </a:t>
            </a:r>
            <a:r>
              <a:rPr lang="en-US" dirty="0" err="1"/>
              <a:t>연월일을</a:t>
            </a:r>
            <a:r>
              <a:rPr lang="en-US" dirty="0"/>
              <a:t> </a:t>
            </a:r>
            <a:r>
              <a:rPr lang="en-US" dirty="0" err="1"/>
              <a:t>따로</a:t>
            </a:r>
            <a:r>
              <a:rPr lang="en-US" dirty="0"/>
              <a:t> </a:t>
            </a:r>
            <a:r>
              <a:rPr lang="en-US" dirty="0" err="1"/>
              <a:t>채점하는</a:t>
            </a:r>
            <a:r>
              <a:rPr lang="en-US" dirty="0"/>
              <a:t> </a:t>
            </a:r>
            <a:r>
              <a:rPr lang="en-US" dirty="0" err="1"/>
              <a:t>필드</a:t>
            </a:r>
            <a:r>
              <a:rPr lang="en-US" dirty="0"/>
              <a:t> </a:t>
            </a:r>
            <a:r>
              <a:rPr lang="en-US" dirty="0" err="1"/>
              <a:t>평균으로는</a:t>
            </a:r>
            <a:r>
              <a:rPr lang="en-US" dirty="0"/>
              <a:t> 90.8%입니다. </a:t>
            </a:r>
            <a:r>
              <a:rPr lang="en-US" dirty="0" err="1"/>
              <a:t>가장</a:t>
            </a:r>
            <a:r>
              <a:rPr lang="en-US" dirty="0"/>
              <a:t> </a:t>
            </a:r>
            <a:r>
              <a:rPr lang="en-US" dirty="0" err="1"/>
              <a:t>큰</a:t>
            </a:r>
            <a:r>
              <a:rPr lang="en-US" dirty="0"/>
              <a:t> </a:t>
            </a:r>
            <a:r>
              <a:rPr lang="en-US" dirty="0" err="1"/>
              <a:t>도약은</a:t>
            </a:r>
            <a:r>
              <a:rPr lang="en-US" dirty="0"/>
              <a:t> </a:t>
            </a:r>
            <a:r>
              <a:rPr lang="en-US" dirty="0" err="1"/>
              <a:t>탐지기와</a:t>
            </a:r>
            <a:r>
              <a:rPr lang="en-US" dirty="0"/>
              <a:t> </a:t>
            </a:r>
            <a:r>
              <a:rPr lang="en-US" dirty="0" err="1"/>
              <a:t>인식기를</a:t>
            </a:r>
            <a:r>
              <a:rPr lang="en-US" dirty="0"/>
              <a:t> </a:t>
            </a:r>
            <a:r>
              <a:rPr lang="en-US" dirty="0" err="1"/>
              <a:t>교체한</a:t>
            </a:r>
            <a:r>
              <a:rPr lang="en-US" dirty="0"/>
              <a:t> </a:t>
            </a:r>
            <a:r>
              <a:rPr lang="en-US" dirty="0" err="1"/>
              <a:t>구간인데</a:t>
            </a:r>
            <a:r>
              <a:rPr lang="en-US" dirty="0"/>
              <a:t>, </a:t>
            </a:r>
            <a:r>
              <a:rPr lang="en-US" dirty="0" err="1"/>
              <a:t>속도</a:t>
            </a:r>
            <a:r>
              <a:rPr lang="en-US" dirty="0"/>
              <a:t> </a:t>
            </a:r>
            <a:r>
              <a:rPr lang="en-US" dirty="0" err="1"/>
              <a:t>때문에</a:t>
            </a:r>
            <a:r>
              <a:rPr lang="en-US" dirty="0"/>
              <a:t> </a:t>
            </a:r>
            <a:r>
              <a:rPr lang="en-US" dirty="0" err="1"/>
              <a:t>한</a:t>
            </a:r>
            <a:r>
              <a:rPr lang="en-US" dirty="0"/>
              <a:t> </a:t>
            </a:r>
            <a:r>
              <a:rPr lang="en-US" dirty="0" err="1"/>
              <a:t>결정이</a:t>
            </a:r>
            <a:r>
              <a:rPr lang="en-US" dirty="0"/>
              <a:t> </a:t>
            </a:r>
            <a:r>
              <a:rPr lang="en-US" dirty="0" err="1"/>
              <a:t>정확도까지</a:t>
            </a:r>
            <a:r>
              <a:rPr lang="en-US" dirty="0"/>
              <a:t> </a:t>
            </a:r>
            <a:r>
              <a:rPr lang="en-US" dirty="0" err="1"/>
              <a:t>올린</a:t>
            </a:r>
            <a:r>
              <a:rPr lang="en-US" dirty="0"/>
              <a:t> </a:t>
            </a:r>
            <a:r>
              <a:rPr lang="en-US" dirty="0" err="1"/>
              <a:t>경우입니다</a:t>
            </a:r>
            <a:r>
              <a:rPr lang="en-US" dirty="0"/>
              <a:t>. </a:t>
            </a:r>
            <a:r>
              <a:rPr lang="en-US" dirty="0" err="1"/>
              <a:t>튜닝에</a:t>
            </a:r>
            <a:r>
              <a:rPr lang="en-US" dirty="0"/>
              <a:t> </a:t>
            </a:r>
            <a:r>
              <a:rPr lang="en-US" dirty="0" err="1"/>
              <a:t>쓴</a:t>
            </a:r>
            <a:r>
              <a:rPr lang="en-US" dirty="0"/>
              <a:t> 2,852장에서는 82.3에서 86.7로 </a:t>
            </a:r>
            <a:r>
              <a:rPr lang="en-US" dirty="0" err="1"/>
              <a:t>올랐고</a:t>
            </a:r>
            <a:r>
              <a:rPr lang="en-US" dirty="0"/>
              <a:t>, </a:t>
            </a:r>
            <a:r>
              <a:rPr lang="ko-KR" altLang="en-US" dirty="0"/>
              <a:t>채택 판정에는 쓰지 않고 점수만 추적한</a:t>
            </a:r>
            <a:r>
              <a:rPr lang="en-US" dirty="0"/>
              <a:t> </a:t>
            </a:r>
            <a:r>
              <a:rPr lang="en-US" dirty="0" err="1"/>
              <a:t>봉인</a:t>
            </a:r>
            <a:r>
              <a:rPr lang="en-US" dirty="0"/>
              <a:t> </a:t>
            </a:r>
            <a:r>
              <a:rPr lang="en-US" dirty="0" err="1"/>
              <a:t>셋에서도</a:t>
            </a:r>
            <a:r>
              <a:rPr lang="en-US" dirty="0"/>
              <a:t> </a:t>
            </a:r>
            <a:r>
              <a:rPr lang="en-US" dirty="0" err="1"/>
              <a:t>같이</a:t>
            </a:r>
            <a:r>
              <a:rPr lang="en-US" dirty="0"/>
              <a:t> </a:t>
            </a:r>
            <a:r>
              <a:rPr lang="en-US" dirty="0" err="1"/>
              <a:t>올랐기</a:t>
            </a:r>
            <a:r>
              <a:rPr lang="en-US" dirty="0"/>
              <a:t> </a:t>
            </a:r>
            <a:r>
              <a:rPr lang="en-US" dirty="0" err="1"/>
              <a:t>때문에</a:t>
            </a:r>
            <a:r>
              <a:rPr lang="en-US" dirty="0"/>
              <a:t> </a:t>
            </a:r>
            <a:r>
              <a:rPr lang="en-US" dirty="0" err="1"/>
              <a:t>튜닝</a:t>
            </a:r>
            <a:r>
              <a:rPr lang="en-US" dirty="0"/>
              <a:t> </a:t>
            </a:r>
            <a:r>
              <a:rPr lang="en-US" dirty="0" err="1"/>
              <a:t>셋에</a:t>
            </a:r>
            <a:r>
              <a:rPr lang="en-US" dirty="0"/>
              <a:t> </a:t>
            </a:r>
            <a:r>
              <a:rPr lang="en-US" dirty="0" err="1"/>
              <a:t>과적합된</a:t>
            </a:r>
            <a:r>
              <a:rPr lang="en-US" dirty="0"/>
              <a:t> </a:t>
            </a:r>
            <a:r>
              <a:rPr lang="en-US" dirty="0" err="1"/>
              <a:t>상승이</a:t>
            </a:r>
            <a:r>
              <a:rPr lang="en-US" dirty="0"/>
              <a:t> </a:t>
            </a:r>
            <a:r>
              <a:rPr lang="en-US" dirty="0" err="1"/>
              <a:t>아니라고</a:t>
            </a:r>
            <a:r>
              <a:rPr lang="en-US" dirty="0"/>
              <a:t> </a:t>
            </a:r>
            <a:r>
              <a:rPr lang="en-US" dirty="0" err="1"/>
              <a:t>판단합니다</a:t>
            </a:r>
            <a:r>
              <a:rPr lang="en-US" dirty="0"/>
              <a:t>.</a:t>
            </a:r>
          </a:p>
          <a:p>
            <a:r>
              <a:rPr lang="en-US" dirty="0"/>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저희가</a:t>
            </a:r>
            <a:r>
              <a:rPr lang="en-US" dirty="0"/>
              <a:t> </a:t>
            </a:r>
            <a:r>
              <a:rPr lang="en-US" dirty="0" err="1"/>
              <a:t>시도한</a:t>
            </a:r>
            <a:r>
              <a:rPr lang="en-US" dirty="0"/>
              <a:t> 것 중 </a:t>
            </a:r>
            <a:r>
              <a:rPr lang="en-US" dirty="0" err="1"/>
              <a:t>절반은</a:t>
            </a:r>
            <a:r>
              <a:rPr lang="en-US" dirty="0"/>
              <a:t> </a:t>
            </a:r>
            <a:r>
              <a:rPr lang="en-US" dirty="0" err="1"/>
              <a:t>버렸습니다</a:t>
            </a:r>
            <a:r>
              <a:rPr lang="en-US" dirty="0"/>
              <a:t>. </a:t>
            </a:r>
            <a:r>
              <a:rPr lang="en-US" dirty="0" err="1"/>
              <a:t>대표적인</a:t>
            </a:r>
            <a:r>
              <a:rPr lang="en-US" dirty="0"/>
              <a:t> 게 </a:t>
            </a:r>
            <a:r>
              <a:rPr lang="en-US" dirty="0" err="1"/>
              <a:t>파인튜닝입니다</a:t>
            </a:r>
            <a:r>
              <a:rPr lang="en-US" dirty="0"/>
              <a:t>. </a:t>
            </a:r>
            <a:r>
              <a:rPr lang="en-US" dirty="0" err="1"/>
              <a:t>저희</a:t>
            </a:r>
            <a:r>
              <a:rPr lang="en-US" dirty="0"/>
              <a:t> </a:t>
            </a:r>
            <a:r>
              <a:rPr lang="en-US" dirty="0" err="1"/>
              <a:t>라벨로</a:t>
            </a:r>
            <a:r>
              <a:rPr lang="en-US" dirty="0"/>
              <a:t> </a:t>
            </a:r>
            <a:r>
              <a:rPr lang="en-US" dirty="0" err="1"/>
              <a:t>학습시킨</a:t>
            </a:r>
            <a:r>
              <a:rPr lang="en-US" dirty="0"/>
              <a:t> </a:t>
            </a:r>
            <a:r>
              <a:rPr lang="en-US" dirty="0" err="1"/>
              <a:t>인식기를</a:t>
            </a:r>
            <a:r>
              <a:rPr lang="en-US" dirty="0"/>
              <a:t> </a:t>
            </a:r>
            <a:r>
              <a:rPr lang="en-US" dirty="0" err="1"/>
              <a:t>다시</a:t>
            </a:r>
            <a:r>
              <a:rPr lang="en-US" dirty="0"/>
              <a:t> </a:t>
            </a:r>
            <a:r>
              <a:rPr lang="en-US" dirty="0" err="1"/>
              <a:t>읽기</a:t>
            </a:r>
            <a:r>
              <a:rPr lang="en-US" dirty="0"/>
              <a:t> </a:t>
            </a:r>
            <a:r>
              <a:rPr lang="en-US" dirty="0" err="1"/>
              <a:t>단계에</a:t>
            </a:r>
            <a:r>
              <a:rPr lang="en-US" dirty="0"/>
              <a:t> </a:t>
            </a:r>
            <a:r>
              <a:rPr lang="en-US" dirty="0" err="1"/>
              <a:t>썼더니</a:t>
            </a:r>
            <a:r>
              <a:rPr lang="en-US" dirty="0"/>
              <a:t> </a:t>
            </a:r>
            <a:r>
              <a:rPr lang="en-US" dirty="0" err="1"/>
              <a:t>점수는</a:t>
            </a:r>
            <a:r>
              <a:rPr lang="en-US" dirty="0"/>
              <a:t> </a:t>
            </a:r>
            <a:r>
              <a:rPr lang="en-US" dirty="0" err="1"/>
              <a:t>올랐습니다</a:t>
            </a:r>
            <a:r>
              <a:rPr lang="en-US" dirty="0"/>
              <a:t>. </a:t>
            </a:r>
            <a:r>
              <a:rPr lang="en-US" dirty="0" err="1"/>
              <a:t>그런데</a:t>
            </a:r>
            <a:r>
              <a:rPr lang="en-US" dirty="0"/>
              <a:t> </a:t>
            </a:r>
            <a:r>
              <a:rPr lang="en-US" dirty="0" err="1"/>
              <a:t>새로</a:t>
            </a:r>
            <a:r>
              <a:rPr lang="en-US" dirty="0"/>
              <a:t> </a:t>
            </a:r>
            <a:r>
              <a:rPr lang="en-US" dirty="0" err="1"/>
              <a:t>맞힌</a:t>
            </a:r>
            <a:r>
              <a:rPr lang="en-US" dirty="0"/>
              <a:t> 게 86장, </a:t>
            </a:r>
            <a:r>
              <a:rPr lang="en-US" dirty="0" err="1"/>
              <a:t>새로</a:t>
            </a:r>
            <a:r>
              <a:rPr lang="en-US" dirty="0"/>
              <a:t> </a:t>
            </a:r>
            <a:r>
              <a:rPr lang="en-US" dirty="0" err="1"/>
              <a:t>틀린</a:t>
            </a:r>
            <a:r>
              <a:rPr lang="en-US" dirty="0"/>
              <a:t> 게 64장이었습니다. </a:t>
            </a:r>
            <a:r>
              <a:rPr lang="en-US" dirty="0" err="1"/>
              <a:t>전체</a:t>
            </a:r>
            <a:r>
              <a:rPr lang="en-US" dirty="0"/>
              <a:t> </a:t>
            </a:r>
            <a:r>
              <a:rPr lang="en-US" dirty="0" err="1"/>
              <a:t>점수는</a:t>
            </a:r>
            <a:r>
              <a:rPr lang="en-US" dirty="0"/>
              <a:t> </a:t>
            </a:r>
            <a:r>
              <a:rPr lang="en-US" dirty="0" err="1"/>
              <a:t>올랐지만</a:t>
            </a:r>
            <a:r>
              <a:rPr lang="en-US" dirty="0"/>
              <a:t> 잘 </a:t>
            </a:r>
            <a:r>
              <a:rPr lang="en-US" dirty="0" err="1"/>
              <a:t>맞히던</a:t>
            </a:r>
            <a:r>
              <a:rPr lang="en-US" dirty="0"/>
              <a:t> </a:t>
            </a:r>
            <a:r>
              <a:rPr lang="en-US" dirty="0" err="1"/>
              <a:t>사진</a:t>
            </a:r>
            <a:r>
              <a:rPr lang="en-US" dirty="0"/>
              <a:t> 64장을 </a:t>
            </a:r>
            <a:r>
              <a:rPr lang="en-US" dirty="0" err="1"/>
              <a:t>망가뜨린</a:t>
            </a:r>
            <a:r>
              <a:rPr lang="en-US" dirty="0"/>
              <a:t> </a:t>
            </a:r>
            <a:r>
              <a:rPr lang="en-US" dirty="0" err="1"/>
              <a:t>겁니다</a:t>
            </a:r>
            <a:r>
              <a:rPr lang="en-US" dirty="0"/>
              <a:t>. </a:t>
            </a:r>
            <a:r>
              <a:rPr lang="en-US" dirty="0" err="1"/>
              <a:t>그래서</a:t>
            </a:r>
            <a:r>
              <a:rPr lang="en-US" dirty="0"/>
              <a:t> </a:t>
            </a:r>
            <a:r>
              <a:rPr lang="en-US" dirty="0" err="1"/>
              <a:t>기각했고</a:t>
            </a:r>
            <a:r>
              <a:rPr lang="en-US" dirty="0"/>
              <a:t>, </a:t>
            </a:r>
            <a:r>
              <a:rPr lang="en-US" dirty="0" err="1"/>
              <a:t>기존</a:t>
            </a:r>
            <a:r>
              <a:rPr lang="en-US" dirty="0"/>
              <a:t> </a:t>
            </a:r>
            <a:r>
              <a:rPr lang="en-US" dirty="0" err="1"/>
              <a:t>인식기가</a:t>
            </a:r>
            <a:r>
              <a:rPr lang="en-US" dirty="0"/>
              <a:t> 못 </a:t>
            </a:r>
            <a:r>
              <a:rPr lang="en-US" dirty="0" err="1"/>
              <a:t>읽은</a:t>
            </a:r>
            <a:r>
              <a:rPr lang="en-US" dirty="0"/>
              <a:t> </a:t>
            </a:r>
            <a:r>
              <a:rPr lang="en-US" dirty="0" err="1"/>
              <a:t>사진에만</a:t>
            </a:r>
            <a:r>
              <a:rPr lang="en-US" dirty="0"/>
              <a:t> </a:t>
            </a:r>
            <a:r>
              <a:rPr lang="en-US" dirty="0" err="1"/>
              <a:t>쓰는</a:t>
            </a:r>
            <a:r>
              <a:rPr lang="en-US" dirty="0"/>
              <a:t> </a:t>
            </a:r>
            <a:r>
              <a:rPr lang="en-US" dirty="0" err="1"/>
              <a:t>방식으로</a:t>
            </a:r>
            <a:r>
              <a:rPr lang="en-US" dirty="0"/>
              <a:t> </a:t>
            </a:r>
            <a:r>
              <a:rPr lang="en-US" dirty="0" err="1"/>
              <a:t>넣어</a:t>
            </a:r>
            <a:r>
              <a:rPr lang="en-US" dirty="0"/>
              <a:t> </a:t>
            </a:r>
            <a:r>
              <a:rPr lang="en-US" dirty="0" err="1"/>
              <a:t>퇴보</a:t>
            </a:r>
            <a:r>
              <a:rPr lang="en-US" dirty="0"/>
              <a:t> </a:t>
            </a:r>
            <a:r>
              <a:rPr lang="en-US" dirty="0" err="1"/>
              <a:t>없이</a:t>
            </a:r>
            <a:r>
              <a:rPr lang="en-US" dirty="0"/>
              <a:t> 7장을 </a:t>
            </a:r>
            <a:r>
              <a:rPr lang="en-US" dirty="0" err="1"/>
              <a:t>얻었습니다</a:t>
            </a:r>
            <a:r>
              <a:rPr lang="en-US" dirty="0"/>
              <a:t>. </a:t>
            </a:r>
            <a:r>
              <a:rPr lang="en-US" dirty="0" err="1"/>
              <a:t>합성</a:t>
            </a:r>
            <a:r>
              <a:rPr lang="en-US" dirty="0"/>
              <a:t> </a:t>
            </a:r>
            <a:r>
              <a:rPr lang="en-US" dirty="0" err="1"/>
              <a:t>데이터도</a:t>
            </a:r>
            <a:r>
              <a:rPr lang="en-US" dirty="0"/>
              <a:t>, </a:t>
            </a:r>
            <a:r>
              <a:rPr lang="en-US" dirty="0" err="1"/>
              <a:t>해상도</a:t>
            </a:r>
            <a:r>
              <a:rPr lang="en-US" dirty="0"/>
              <a:t> </a:t>
            </a:r>
            <a:r>
              <a:rPr lang="en-US" dirty="0" err="1"/>
              <a:t>상향도</a:t>
            </a:r>
            <a:r>
              <a:rPr lang="en-US" dirty="0"/>
              <a:t> </a:t>
            </a:r>
            <a:r>
              <a:rPr lang="en-US" dirty="0" err="1"/>
              <a:t>같은</a:t>
            </a:r>
            <a:r>
              <a:rPr lang="en-US" dirty="0"/>
              <a:t> </a:t>
            </a:r>
            <a:r>
              <a:rPr lang="en-US" dirty="0" err="1"/>
              <a:t>기준으로</a:t>
            </a:r>
            <a:r>
              <a:rPr lang="en-US" dirty="0"/>
              <a:t> </a:t>
            </a:r>
            <a:r>
              <a:rPr lang="en-US" dirty="0" err="1"/>
              <a:t>버렸습니다</a:t>
            </a:r>
            <a:r>
              <a:rPr lang="en-US" dirty="0"/>
              <a:t>.</a:t>
            </a:r>
          </a:p>
          <a:p>
            <a:r>
              <a:rPr lang="en-US" dirty="0"/>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속도입니다. 개발 PC 두 대에서 스레드를 4개로 제한해 쟀을 때 장당 2.7초에서 4초, 500장에 한도의 55에서 79퍼센트입니다. 메모리는 2기가, 학습은 무료 코랩만 써서 비용이 0원입니다.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마지막으로 서비스 적용입니다.</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적용 대상은 중고거래 플랫폼의 식품과 건강기능식품 게시글입니다. 소비기한은 판매자가 손으로 적고 구매자는 확인할 방법이 없습니다. 적발된 위반 중 가장 많은 유형이 사용기한 확인 불가였고, 전담 모니터링 인력은 다섯 명으로 보도됐습니다. 화면은 시연용 설계안입니다. 판매자가 날짜면을 찍으면 서버가 읽고, 확신할 때만 날짜 칸을 채웁니다. 확신이 낮으면 읽은 값을 보여 주지 않고 빈칸으로 둡니다. 게시글에는 읽은 날짜와 남은 일수, 날짜면 원본이 붙습니다. 판매자가 마지막에 확인하므로 모델이 틀려도 한 번 고치면 끝나고, 못 읽으면 빈칸이니 지금보다 나빠지지 않습니다. 그래서 정확도는 안전성이 아니라 자동 입력 비율을 정합니다. 사진으로 글을 자동으로 써 주는 기능은 이미 있고, 저희는 소비기한 판독을 그 흐름에 잇습니다.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1차 대상은 위반 통계가 공개된 건강기능식품 카테고리이고, 게시글은 하루 800건 정도입니다. 서버 한 대의 4에서 10퍼센트면 되고, 게시글 한 건당 0.2원에서 5.8원입니다. 아래 표는 직접 찍은 폰 사진 389장으로 잰 값입니다. 읽히는 대로 채우면 판매자 다섯 명 중 한 명이 틀린 값을 받습니다. 모델이 스스로 매긴 확신도가 0.7 이상이고 10초 안에 읽힌 것만 채우면 41퍼센트가 자동으로 채워지고 틀린 값은 8퍼센트로 줄어듭니다. 이익은 부풀리지 않았습니다. 위반 처리비 절감만으로는 본전이 되지 않는다는 계산을 먼저 공개합니다. 플랫폼이 도입할 이유는 규제 대응입니다. 건강기능식품 개인 간 거래는 아직 시범사업이고, 게시글마다 남는 날짜 사진과 판독 기록이 관리 체계의 증거가 됩니다.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운영</a:t>
            </a:r>
            <a:r>
              <a:rPr lang="en-US" dirty="0"/>
              <a:t> </a:t>
            </a:r>
            <a:r>
              <a:rPr lang="en-US" dirty="0" err="1"/>
              <a:t>아키텍처입니다</a:t>
            </a:r>
            <a:r>
              <a:rPr lang="en-US" dirty="0"/>
              <a:t>. </a:t>
            </a:r>
            <a:r>
              <a:rPr lang="en-US" dirty="0" err="1"/>
              <a:t>지금은</a:t>
            </a:r>
            <a:r>
              <a:rPr lang="en-US" dirty="0"/>
              <a:t> </a:t>
            </a:r>
            <a:r>
              <a:rPr lang="en-US" dirty="0" err="1"/>
              <a:t>서버</a:t>
            </a:r>
            <a:r>
              <a:rPr lang="en-US" dirty="0"/>
              <a:t> </a:t>
            </a:r>
            <a:r>
              <a:rPr lang="en-US" dirty="0" err="1"/>
              <a:t>추론</a:t>
            </a:r>
            <a:r>
              <a:rPr lang="en-US" dirty="0"/>
              <a:t> </a:t>
            </a:r>
            <a:r>
              <a:rPr lang="en-US" dirty="0" err="1"/>
              <a:t>하나만</a:t>
            </a:r>
            <a:r>
              <a:rPr lang="en-US" dirty="0"/>
              <a:t> </a:t>
            </a:r>
            <a:r>
              <a:rPr lang="en-US" dirty="0" err="1"/>
              <a:t>돌아갑니다</a:t>
            </a:r>
            <a:r>
              <a:rPr lang="en-US" dirty="0"/>
              <a:t>. </a:t>
            </a:r>
            <a:r>
              <a:rPr lang="en-US" dirty="0" err="1"/>
              <a:t>모델이</a:t>
            </a:r>
            <a:r>
              <a:rPr lang="en-US" dirty="0"/>
              <a:t> 21메가바이트로 </a:t>
            </a:r>
            <a:r>
              <a:rPr lang="en-US" dirty="0" err="1"/>
              <a:t>작아</a:t>
            </a:r>
            <a:r>
              <a:rPr lang="en-US" dirty="0"/>
              <a:t> 폰 </a:t>
            </a:r>
            <a:r>
              <a:rPr lang="en-US" dirty="0" err="1"/>
              <a:t>안에서</a:t>
            </a:r>
            <a:r>
              <a:rPr lang="en-US" dirty="0"/>
              <a:t> </a:t>
            </a:r>
            <a:r>
              <a:rPr lang="en-US" dirty="0" err="1"/>
              <a:t>직접</a:t>
            </a:r>
            <a:r>
              <a:rPr lang="en-US" dirty="0"/>
              <a:t> </a:t>
            </a:r>
            <a:r>
              <a:rPr lang="en-US" dirty="0" err="1"/>
              <a:t>돌리는</a:t>
            </a:r>
            <a:r>
              <a:rPr lang="en-US" dirty="0"/>
              <a:t> </a:t>
            </a:r>
            <a:r>
              <a:rPr lang="en-US" dirty="0" err="1"/>
              <a:t>온디바이스도</a:t>
            </a:r>
            <a:r>
              <a:rPr lang="en-US" dirty="0"/>
              <a:t> </a:t>
            </a:r>
            <a:r>
              <a:rPr lang="en-US" dirty="0" err="1"/>
              <a:t>가능할</a:t>
            </a:r>
            <a:r>
              <a:rPr lang="en-US" dirty="0"/>
              <a:t> </a:t>
            </a:r>
            <a:r>
              <a:rPr lang="en-US" dirty="0" err="1"/>
              <a:t>걸로</a:t>
            </a:r>
            <a:r>
              <a:rPr lang="en-US" dirty="0"/>
              <a:t> </a:t>
            </a:r>
            <a:r>
              <a:rPr lang="en-US" dirty="0" err="1"/>
              <a:t>보지만</a:t>
            </a:r>
            <a:r>
              <a:rPr lang="en-US" dirty="0"/>
              <a:t>, </a:t>
            </a:r>
            <a:r>
              <a:rPr lang="en-US" dirty="0" err="1"/>
              <a:t>아직</a:t>
            </a:r>
            <a:r>
              <a:rPr lang="en-US" dirty="0"/>
              <a:t> 재 </a:t>
            </a:r>
            <a:r>
              <a:rPr lang="en-US" dirty="0" err="1"/>
              <a:t>보지</a:t>
            </a:r>
            <a:r>
              <a:rPr lang="en-US" dirty="0"/>
              <a:t> </a:t>
            </a:r>
            <a:r>
              <a:rPr lang="en-US" dirty="0" err="1"/>
              <a:t>않아</a:t>
            </a:r>
            <a:r>
              <a:rPr lang="en-US" dirty="0"/>
              <a:t> </a:t>
            </a:r>
            <a:r>
              <a:rPr lang="en-US" dirty="0" err="1"/>
              <a:t>다음</a:t>
            </a:r>
            <a:r>
              <a:rPr lang="en-US" dirty="0"/>
              <a:t> </a:t>
            </a:r>
            <a:r>
              <a:rPr lang="en-US" dirty="0" err="1"/>
              <a:t>단계로</a:t>
            </a:r>
            <a:r>
              <a:rPr lang="en-US" dirty="0"/>
              <a:t> </a:t>
            </a:r>
            <a:r>
              <a:rPr lang="en-US" dirty="0" err="1"/>
              <a:t>남겨</a:t>
            </a:r>
            <a:r>
              <a:rPr lang="en-US" dirty="0"/>
              <a:t> </a:t>
            </a:r>
            <a:r>
              <a:rPr lang="en-US" dirty="0" err="1"/>
              <a:t>뒀습니다</a:t>
            </a:r>
            <a:r>
              <a:rPr lang="en-US" dirty="0"/>
              <a:t>.</a:t>
            </a:r>
          </a:p>
          <a:p>
            <a:r>
              <a:rPr lang="en-US" dirty="0"/>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손실</a:t>
            </a:r>
            <a:r>
              <a:rPr lang="en-US" dirty="0"/>
              <a:t> </a:t>
            </a:r>
            <a:r>
              <a:rPr lang="en-US" dirty="0" err="1"/>
              <a:t>절감과</a:t>
            </a:r>
            <a:r>
              <a:rPr lang="en-US" dirty="0"/>
              <a:t> </a:t>
            </a:r>
            <a:r>
              <a:rPr lang="en-US" dirty="0" err="1"/>
              <a:t>ROI입니다</a:t>
            </a:r>
            <a:r>
              <a:rPr lang="en-US" dirty="0"/>
              <a:t>. </a:t>
            </a:r>
            <a:r>
              <a:rPr lang="en-US" dirty="0" err="1"/>
              <a:t>손익분기</a:t>
            </a:r>
            <a:r>
              <a:rPr lang="en-US" dirty="0"/>
              <a:t> </a:t>
            </a:r>
            <a:r>
              <a:rPr lang="en-US" dirty="0" err="1"/>
              <a:t>처리비가</a:t>
            </a:r>
            <a:r>
              <a:rPr lang="en-US" dirty="0"/>
              <a:t> </a:t>
            </a:r>
            <a:r>
              <a:rPr lang="en-US" dirty="0" err="1"/>
              <a:t>사람</a:t>
            </a:r>
            <a:r>
              <a:rPr lang="en-US" dirty="0"/>
              <a:t> </a:t>
            </a:r>
            <a:r>
              <a:rPr lang="en-US" dirty="0" err="1"/>
              <a:t>검토</a:t>
            </a:r>
            <a:r>
              <a:rPr lang="en-US" dirty="0"/>
              <a:t> </a:t>
            </a:r>
            <a:r>
              <a:rPr lang="en-US" dirty="0" err="1"/>
              <a:t>비용</a:t>
            </a:r>
            <a:r>
              <a:rPr lang="en-US" dirty="0"/>
              <a:t> 86원의 9배에서 220배라, </a:t>
            </a:r>
            <a:r>
              <a:rPr lang="en-US" dirty="0" err="1"/>
              <a:t>저희는</a:t>
            </a:r>
            <a:r>
              <a:rPr lang="en-US" dirty="0"/>
              <a:t> </a:t>
            </a:r>
            <a:r>
              <a:rPr lang="en-US" dirty="0" err="1"/>
              <a:t>비용</a:t>
            </a:r>
            <a:r>
              <a:rPr lang="en-US" dirty="0"/>
              <a:t> </a:t>
            </a:r>
            <a:r>
              <a:rPr lang="en-US" dirty="0" err="1"/>
              <a:t>절감이</a:t>
            </a:r>
            <a:r>
              <a:rPr lang="en-US" dirty="0"/>
              <a:t> </a:t>
            </a:r>
            <a:r>
              <a:rPr lang="en-US" dirty="0" err="1"/>
              <a:t>아니라</a:t>
            </a:r>
            <a:r>
              <a:rPr lang="en-US" dirty="0"/>
              <a:t> </a:t>
            </a:r>
            <a:r>
              <a:rPr lang="en-US" dirty="0" err="1"/>
              <a:t>규제</a:t>
            </a:r>
            <a:r>
              <a:rPr lang="en-US" dirty="0"/>
              <a:t> </a:t>
            </a:r>
            <a:r>
              <a:rPr lang="en-US" dirty="0" err="1"/>
              <a:t>대응을</a:t>
            </a:r>
            <a:r>
              <a:rPr lang="en-US" dirty="0"/>
              <a:t> </a:t>
            </a:r>
            <a:r>
              <a:rPr lang="en-US" dirty="0" err="1"/>
              <a:t>도입</a:t>
            </a:r>
            <a:r>
              <a:rPr lang="en-US" dirty="0"/>
              <a:t> </a:t>
            </a:r>
            <a:r>
              <a:rPr lang="en-US" dirty="0" err="1"/>
              <a:t>이유로</a:t>
            </a:r>
            <a:r>
              <a:rPr lang="en-US" dirty="0"/>
              <a:t> </a:t>
            </a:r>
            <a:r>
              <a:rPr lang="en-US" dirty="0" err="1"/>
              <a:t>듭니다</a:t>
            </a:r>
            <a:r>
              <a:rPr lang="en-US" dirty="0"/>
              <a:t>.</a:t>
            </a:r>
          </a:p>
          <a:p>
            <a:r>
              <a:rPr lang="en-US" dirty="0"/>
              <a:t>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한계입니다</a:t>
            </a:r>
            <a:r>
              <a:rPr lang="en-US" dirty="0"/>
              <a:t>. </a:t>
            </a:r>
            <a:r>
              <a:rPr lang="ko-KR" altLang="en-US" dirty="0"/>
              <a:t>어려운 조건의 폰 </a:t>
            </a:r>
            <a:r>
              <a:rPr lang="en-US" dirty="0" err="1"/>
              <a:t>사진이</a:t>
            </a:r>
            <a:r>
              <a:rPr lang="en-US" dirty="0"/>
              <a:t> </a:t>
            </a:r>
            <a:r>
              <a:rPr lang="en-US" dirty="0" err="1"/>
              <a:t>저희</a:t>
            </a:r>
            <a:r>
              <a:rPr lang="en-US" dirty="0"/>
              <a:t> </a:t>
            </a:r>
            <a:r>
              <a:rPr lang="en-US" dirty="0" err="1"/>
              <a:t>약점입니다</a:t>
            </a:r>
            <a:r>
              <a:rPr lang="en-US" dirty="0"/>
              <a:t>. </a:t>
            </a:r>
            <a:r>
              <a:rPr lang="en-US" dirty="0" err="1"/>
              <a:t>팀원</a:t>
            </a:r>
            <a:r>
              <a:rPr lang="en-US" dirty="0"/>
              <a:t> </a:t>
            </a:r>
            <a:r>
              <a:rPr lang="en-US" dirty="0" err="1"/>
              <a:t>네</a:t>
            </a:r>
            <a:r>
              <a:rPr lang="en-US" dirty="0"/>
              <a:t> </a:t>
            </a:r>
            <a:r>
              <a:rPr lang="en-US" dirty="0" err="1"/>
              <a:t>명이</a:t>
            </a:r>
            <a:r>
              <a:rPr lang="en-US" dirty="0"/>
              <a:t> </a:t>
            </a:r>
            <a:r>
              <a:rPr lang="en-US" dirty="0" err="1"/>
              <a:t>어려운</a:t>
            </a:r>
            <a:r>
              <a:rPr lang="en-US" dirty="0"/>
              <a:t> </a:t>
            </a:r>
            <a:r>
              <a:rPr lang="en-US" dirty="0" err="1"/>
              <a:t>유형</a:t>
            </a:r>
            <a:r>
              <a:rPr lang="en-US" dirty="0"/>
              <a:t> </a:t>
            </a:r>
            <a:r>
              <a:rPr lang="en-US" dirty="0" err="1"/>
              <a:t>위주로</a:t>
            </a:r>
            <a:r>
              <a:rPr lang="en-US" dirty="0"/>
              <a:t> 389장을 </a:t>
            </a:r>
            <a:r>
              <a:rPr lang="en-US" dirty="0" err="1"/>
              <a:t>직접</a:t>
            </a:r>
            <a:r>
              <a:rPr lang="en-US" dirty="0"/>
              <a:t> </a:t>
            </a:r>
            <a:r>
              <a:rPr lang="en-US" dirty="0" err="1"/>
              <a:t>찍어</a:t>
            </a:r>
            <a:r>
              <a:rPr lang="en-US" dirty="0"/>
              <a:t> </a:t>
            </a:r>
            <a:r>
              <a:rPr lang="en-US" dirty="0" err="1"/>
              <a:t>돌렸더니</a:t>
            </a:r>
            <a:r>
              <a:rPr lang="en-US" dirty="0"/>
              <a:t> </a:t>
            </a:r>
            <a:r>
              <a:rPr lang="en-US" dirty="0" err="1"/>
              <a:t>다섯</a:t>
            </a:r>
            <a:r>
              <a:rPr lang="en-US" dirty="0"/>
              <a:t> </a:t>
            </a:r>
            <a:r>
              <a:rPr lang="en-US" dirty="0" err="1"/>
              <a:t>장</a:t>
            </a:r>
            <a:r>
              <a:rPr lang="en-US" dirty="0"/>
              <a:t> </a:t>
            </a:r>
            <a:r>
              <a:rPr lang="en-US" dirty="0" err="1"/>
              <a:t>중</a:t>
            </a:r>
            <a:r>
              <a:rPr lang="en-US" dirty="0"/>
              <a:t> </a:t>
            </a:r>
            <a:r>
              <a:rPr lang="en-US" dirty="0" err="1"/>
              <a:t>한</a:t>
            </a:r>
            <a:r>
              <a:rPr lang="en-US" dirty="0"/>
              <a:t> </a:t>
            </a:r>
            <a:r>
              <a:rPr lang="en-US" dirty="0" err="1"/>
              <a:t>장은</a:t>
            </a:r>
            <a:r>
              <a:rPr lang="en-US" dirty="0"/>
              <a:t> </a:t>
            </a:r>
            <a:r>
              <a:rPr lang="en-US" dirty="0" err="1"/>
              <a:t>읽지</a:t>
            </a:r>
            <a:r>
              <a:rPr lang="en-US" dirty="0"/>
              <a:t> </a:t>
            </a:r>
            <a:r>
              <a:rPr lang="en-US" dirty="0" err="1"/>
              <a:t>못했습니다</a:t>
            </a:r>
            <a:r>
              <a:rPr lang="en-US" dirty="0"/>
              <a:t>. </a:t>
            </a:r>
            <a:r>
              <a:rPr lang="en-US" dirty="0" err="1"/>
              <a:t>봉인</a:t>
            </a:r>
            <a:r>
              <a:rPr lang="en-US" dirty="0"/>
              <a:t> 500장의 </a:t>
            </a:r>
            <a:r>
              <a:rPr lang="en-US" dirty="0" err="1"/>
              <a:t>일곱</a:t>
            </a:r>
            <a:r>
              <a:rPr lang="en-US" dirty="0"/>
              <a:t> </a:t>
            </a:r>
            <a:r>
              <a:rPr lang="en-US" dirty="0" err="1"/>
              <a:t>배입니다</a:t>
            </a:r>
            <a:r>
              <a:rPr lang="en-US" dirty="0"/>
              <a:t>. </a:t>
            </a:r>
            <a:r>
              <a:rPr lang="en-US" dirty="0" err="1"/>
              <a:t>가장</a:t>
            </a:r>
            <a:r>
              <a:rPr lang="en-US" dirty="0"/>
              <a:t> </a:t>
            </a:r>
            <a:r>
              <a:rPr lang="en-US" dirty="0" err="1"/>
              <a:t>위험한</a:t>
            </a:r>
            <a:r>
              <a:rPr lang="en-US" dirty="0"/>
              <a:t> </a:t>
            </a:r>
            <a:r>
              <a:rPr lang="en-US" dirty="0" err="1"/>
              <a:t>것은</a:t>
            </a:r>
            <a:r>
              <a:rPr lang="en-US" dirty="0"/>
              <a:t> </a:t>
            </a:r>
            <a:r>
              <a:rPr lang="en-US" dirty="0" err="1"/>
              <a:t>늦게</a:t>
            </a:r>
            <a:r>
              <a:rPr lang="en-US" dirty="0"/>
              <a:t> </a:t>
            </a:r>
            <a:r>
              <a:rPr lang="en-US" dirty="0" err="1"/>
              <a:t>읽어서</a:t>
            </a:r>
            <a:r>
              <a:rPr lang="en-US" dirty="0"/>
              <a:t> </a:t>
            </a:r>
            <a:r>
              <a:rPr lang="en-US" dirty="0" err="1"/>
              <a:t>남은</a:t>
            </a:r>
            <a:r>
              <a:rPr lang="en-US" dirty="0"/>
              <a:t> </a:t>
            </a:r>
            <a:r>
              <a:rPr lang="en-US" dirty="0" err="1"/>
              <a:t>날이</a:t>
            </a:r>
            <a:r>
              <a:rPr lang="en-US" dirty="0"/>
              <a:t> </a:t>
            </a:r>
            <a:r>
              <a:rPr lang="en-US" dirty="0" err="1"/>
              <a:t>많게</a:t>
            </a:r>
            <a:r>
              <a:rPr lang="en-US" dirty="0"/>
              <a:t> </a:t>
            </a:r>
            <a:r>
              <a:rPr lang="en-US" dirty="0" err="1"/>
              <a:t>표시되는</a:t>
            </a:r>
            <a:r>
              <a:rPr lang="en-US" dirty="0"/>
              <a:t> </a:t>
            </a:r>
            <a:r>
              <a:rPr lang="en-US" dirty="0" err="1"/>
              <a:t>경우로</a:t>
            </a:r>
            <a:r>
              <a:rPr lang="en-US" dirty="0"/>
              <a:t> 4.9퍼센트입니다. </a:t>
            </a:r>
            <a:r>
              <a:rPr lang="en-US" dirty="0" err="1"/>
              <a:t>그래서</a:t>
            </a:r>
            <a:r>
              <a:rPr lang="en-US" dirty="0"/>
              <a:t> </a:t>
            </a:r>
            <a:r>
              <a:rPr lang="en-US" dirty="0" err="1"/>
              <a:t>채운</a:t>
            </a:r>
            <a:r>
              <a:rPr lang="en-US" dirty="0"/>
              <a:t> </a:t>
            </a:r>
            <a:r>
              <a:rPr lang="en-US" dirty="0" err="1"/>
              <a:t>값</a:t>
            </a:r>
            <a:r>
              <a:rPr lang="en-US" dirty="0"/>
              <a:t> </a:t>
            </a:r>
            <a:r>
              <a:rPr lang="en-US" dirty="0" err="1"/>
              <a:t>옆에</a:t>
            </a:r>
            <a:r>
              <a:rPr lang="en-US" dirty="0"/>
              <a:t> </a:t>
            </a:r>
            <a:r>
              <a:rPr lang="en-US" dirty="0" err="1"/>
              <a:t>늘</a:t>
            </a:r>
            <a:r>
              <a:rPr lang="en-US" dirty="0"/>
              <a:t> </a:t>
            </a:r>
            <a:r>
              <a:rPr lang="en-US" dirty="0" err="1"/>
              <a:t>날짜</a:t>
            </a:r>
            <a:r>
              <a:rPr lang="en-US" dirty="0"/>
              <a:t> </a:t>
            </a:r>
            <a:r>
              <a:rPr lang="en-US" dirty="0" err="1"/>
              <a:t>확대본을</a:t>
            </a:r>
            <a:r>
              <a:rPr lang="en-US" dirty="0"/>
              <a:t> </a:t>
            </a:r>
            <a:r>
              <a:rPr lang="en-US" dirty="0" err="1"/>
              <a:t>보여</a:t>
            </a:r>
            <a:r>
              <a:rPr lang="en-US" dirty="0"/>
              <a:t> </a:t>
            </a:r>
            <a:r>
              <a:rPr lang="en-US" dirty="0" err="1"/>
              <a:t>주고</a:t>
            </a:r>
            <a:r>
              <a:rPr lang="en-US" dirty="0"/>
              <a:t>, </a:t>
            </a:r>
            <a:r>
              <a:rPr lang="en-US" dirty="0" err="1"/>
              <a:t>읽은</a:t>
            </a:r>
            <a:r>
              <a:rPr lang="en-US" dirty="0"/>
              <a:t> </a:t>
            </a:r>
            <a:r>
              <a:rPr lang="en-US" dirty="0" err="1"/>
              <a:t>값만으로</a:t>
            </a:r>
            <a:r>
              <a:rPr lang="en-US" dirty="0"/>
              <a:t> </a:t>
            </a:r>
            <a:r>
              <a:rPr lang="en-US" dirty="0" err="1"/>
              <a:t>게시를</a:t>
            </a:r>
            <a:r>
              <a:rPr lang="en-US" dirty="0"/>
              <a:t> </a:t>
            </a:r>
            <a:r>
              <a:rPr lang="en-US" dirty="0" err="1"/>
              <a:t>막지</a:t>
            </a:r>
            <a:r>
              <a:rPr lang="en-US" dirty="0"/>
              <a:t> </a:t>
            </a:r>
            <a:r>
              <a:rPr lang="en-US" dirty="0" err="1"/>
              <a:t>않습니다</a:t>
            </a:r>
            <a:r>
              <a:rPr lang="en-US" dirty="0"/>
              <a:t>. </a:t>
            </a:r>
            <a:r>
              <a:rPr lang="en-US" dirty="0" err="1"/>
              <a:t>조작과</a:t>
            </a:r>
            <a:r>
              <a:rPr lang="en-US" dirty="0"/>
              <a:t> </a:t>
            </a:r>
            <a:r>
              <a:rPr lang="en-US" dirty="0" err="1"/>
              <a:t>개봉</a:t>
            </a:r>
            <a:r>
              <a:rPr lang="en-US" dirty="0"/>
              <a:t> </a:t>
            </a:r>
            <a:r>
              <a:rPr lang="en-US" dirty="0" err="1"/>
              <a:t>여부는</a:t>
            </a:r>
            <a:r>
              <a:rPr lang="en-US" dirty="0"/>
              <a:t> </a:t>
            </a:r>
            <a:r>
              <a:rPr lang="en-US" dirty="0" err="1"/>
              <a:t>막지</a:t>
            </a:r>
            <a:r>
              <a:rPr lang="en-US" dirty="0"/>
              <a:t> </a:t>
            </a:r>
            <a:r>
              <a:rPr lang="en-US" dirty="0" err="1"/>
              <a:t>못하고</a:t>
            </a:r>
            <a:r>
              <a:rPr lang="en-US" dirty="0"/>
              <a:t>, </a:t>
            </a:r>
            <a:r>
              <a:rPr lang="en-US" dirty="0" err="1"/>
              <a:t>판매자가</a:t>
            </a:r>
            <a:r>
              <a:rPr lang="en-US" dirty="0"/>
              <a:t> </a:t>
            </a:r>
            <a:r>
              <a:rPr lang="en-US" dirty="0" err="1"/>
              <a:t>보지</a:t>
            </a:r>
            <a:r>
              <a:rPr lang="en-US" dirty="0"/>
              <a:t> </a:t>
            </a:r>
            <a:r>
              <a:rPr lang="en-US" dirty="0" err="1"/>
              <a:t>않고</a:t>
            </a:r>
            <a:r>
              <a:rPr lang="en-US" dirty="0"/>
              <a:t> </a:t>
            </a:r>
            <a:r>
              <a:rPr lang="en-US" dirty="0" err="1"/>
              <a:t>확인을</a:t>
            </a:r>
            <a:r>
              <a:rPr lang="en-US" dirty="0"/>
              <a:t> </a:t>
            </a:r>
            <a:r>
              <a:rPr lang="en-US" dirty="0" err="1"/>
              <a:t>누르는</a:t>
            </a:r>
            <a:r>
              <a:rPr lang="en-US" dirty="0"/>
              <a:t> </a:t>
            </a:r>
            <a:r>
              <a:rPr lang="en-US" dirty="0" err="1"/>
              <a:t>비율은</a:t>
            </a:r>
            <a:r>
              <a:rPr lang="en-US" dirty="0"/>
              <a:t> </a:t>
            </a:r>
            <a:r>
              <a:rPr lang="en-US" dirty="0" err="1"/>
              <a:t>재지</a:t>
            </a:r>
            <a:r>
              <a:rPr lang="en-US" dirty="0"/>
              <a:t> </a:t>
            </a:r>
            <a:r>
              <a:rPr lang="en-US" dirty="0" err="1"/>
              <a:t>못했습니다</a:t>
            </a:r>
            <a:r>
              <a:rPr lang="en-US" dirty="0"/>
              <a:t>.</a:t>
            </a:r>
          </a:p>
          <a:p>
            <a:r>
              <a:rPr lang="en-US" dirty="0"/>
              <a:t>20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확장입니다. 뼈대는 읽은 값을 기준값과 대조하고 예외만 사람에게 넘기는 것입니다.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p>
          <a:p>
            <a:r>
              <a:rPr lang="en-US"/>
              <a:t>21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정리하겠습니다. 첫째, 제약에서 출발해 봉인 500장 86.2퍼센트를 제한 시간 안에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p>
          <a:p>
            <a:r>
              <a:rPr lang="en-US"/>
              <a:t>22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질의응답용 부록입니다. 모호한 날짜 표기를 어떻게 해석하는지와 그 근거입니다.</a:t>
            </a:r>
          </a:p>
          <a:p>
            <a:r>
              <a:rPr lang="en-US"/>
              <a:t>23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질의응답용 부록입니다. 측정셋별 수치 전체입니다.</a:t>
            </a:r>
          </a:p>
          <a:p>
            <a:r>
              <a:rPr lang="en-US"/>
              <a:t>24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1028700" y="2434276"/>
            <a:ext cx="201260" cy="2709224"/>
            <a:chOff x="0" y="0"/>
            <a:chExt cx="228943" cy="3081871"/>
          </a:xfrm>
        </p:grpSpPr>
        <p:sp>
          <p:nvSpPr>
            <p:cNvPr id="3" name="Freeform 3"/>
            <p:cNvSpPr/>
            <p:nvPr/>
          </p:nvSpPr>
          <p:spPr>
            <a:xfrm>
              <a:off x="0" y="0"/>
              <a:ext cx="228981" cy="3081909"/>
            </a:xfrm>
            <a:custGeom>
              <a:avLst/>
              <a:gdLst/>
              <a:ahLst/>
              <a:cxnLst/>
              <a:rect l="l" t="t" r="r" b="b"/>
              <a:pathLst>
                <a:path w="228981" h="3081909">
                  <a:moveTo>
                    <a:pt x="0" y="0"/>
                  </a:moveTo>
                  <a:lnTo>
                    <a:pt x="228981" y="0"/>
                  </a:lnTo>
                  <a:lnTo>
                    <a:pt x="228981" y="3081909"/>
                  </a:lnTo>
                  <a:lnTo>
                    <a:pt x="0" y="30819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4" name="Group 4"/>
          <p:cNvGrpSpPr/>
          <p:nvPr/>
        </p:nvGrpSpPr>
        <p:grpSpPr>
          <a:xfrm>
            <a:off x="1645920" y="2377126"/>
            <a:ext cx="15727680" cy="1284572"/>
            <a:chOff x="0" y="0"/>
            <a:chExt cx="20970240" cy="1712763"/>
          </a:xfrm>
        </p:grpSpPr>
        <p:sp>
          <p:nvSpPr>
            <p:cNvPr id="5" name="Freeform 5"/>
            <p:cNvSpPr/>
            <p:nvPr/>
          </p:nvSpPr>
          <p:spPr>
            <a:xfrm>
              <a:off x="0" y="0"/>
              <a:ext cx="20970239" cy="1712763"/>
            </a:xfrm>
            <a:custGeom>
              <a:avLst/>
              <a:gdLst/>
              <a:ahLst/>
              <a:cxnLst/>
              <a:rect l="l" t="t" r="r" b="b"/>
              <a:pathLst>
                <a:path w="20970239" h="1712763">
                  <a:moveTo>
                    <a:pt x="0" y="0"/>
                  </a:moveTo>
                  <a:lnTo>
                    <a:pt x="20970239" y="0"/>
                  </a:lnTo>
                  <a:lnTo>
                    <a:pt x="20970239" y="1712763"/>
                  </a:lnTo>
                  <a:lnTo>
                    <a:pt x="0" y="1712763"/>
                  </a:lnTo>
                  <a:close/>
                </a:path>
              </a:pathLst>
            </a:custGeom>
            <a:blipFill>
              <a:blip r:embed="rId3">
                <a:alphaModFix amt="0"/>
              </a:blip>
              <a:stretch>
                <a:fillRect t="-188737" b="-188393"/>
              </a:stretch>
            </a:blipFill>
          </p:spPr>
          <p:txBody>
            <a:bodyPr/>
            <a:lstStyle/>
            <a:p>
              <a:endParaRPr lang="ko-KR" altLang="en-US"/>
            </a:p>
          </p:txBody>
        </p:sp>
        <p:sp>
          <p:nvSpPr>
            <p:cNvPr id="6" name="TextBox 6"/>
            <p:cNvSpPr txBox="1"/>
            <p:nvPr/>
          </p:nvSpPr>
          <p:spPr>
            <a:xfrm>
              <a:off x="0" y="-9525"/>
              <a:ext cx="20970240" cy="1722288"/>
            </a:xfrm>
            <a:prstGeom prst="rect">
              <a:avLst/>
            </a:prstGeom>
          </p:spPr>
          <p:txBody>
            <a:bodyPr lIns="0" tIns="0" rIns="0" bIns="0" rtlCol="0" anchor="ctr"/>
            <a:lstStyle/>
            <a:p>
              <a:pPr algn="l">
                <a:lnSpc>
                  <a:spcPts val="7559"/>
                </a:lnSpc>
              </a:pPr>
              <a:r>
                <a:rPr lang="ko-KR" altLang="en-US" sz="6299" b="1" dirty="0">
                  <a:solidFill>
                    <a:srgbClr val="FFFFFF"/>
                  </a:solidFill>
                  <a:latin typeface="프리텐다드 Bold"/>
                  <a:ea typeface="프리텐다드 Bold"/>
                  <a:cs typeface="프리텐다드 Bold"/>
                  <a:sym typeface="프리텐다드 Bold"/>
                </a:rPr>
                <a:t>맞히는 </a:t>
              </a:r>
              <a:r>
                <a:rPr lang="en-US" altLang="ko-KR" sz="6299" b="1" dirty="0">
                  <a:solidFill>
                    <a:srgbClr val="FFFFFF"/>
                  </a:solidFill>
                  <a:latin typeface="프리텐다드 Bold"/>
                  <a:ea typeface="프리텐다드 Bold"/>
                  <a:cs typeface="프리텐다드 Bold"/>
                  <a:sym typeface="프리텐다드 Bold"/>
                </a:rPr>
                <a:t>OCR</a:t>
              </a:r>
              <a:r>
                <a:rPr lang="ko-KR" altLang="en-US" sz="6299" b="1" dirty="0">
                  <a:solidFill>
                    <a:srgbClr val="FFFFFF"/>
                  </a:solidFill>
                  <a:latin typeface="프리텐다드 Bold"/>
                  <a:ea typeface="프리텐다드 Bold"/>
                  <a:cs typeface="프리텐다드 Bold"/>
                  <a:sym typeface="프리텐다드 Bold"/>
                </a:rPr>
                <a:t>에서</a:t>
              </a:r>
              <a:r>
                <a:rPr lang="en-US" altLang="ko-KR" sz="6299" b="1" dirty="0">
                  <a:solidFill>
                    <a:srgbClr val="FFFFFF"/>
                  </a:solidFill>
                  <a:latin typeface="프리텐다드 Bold"/>
                  <a:ea typeface="프리텐다드 Bold"/>
                  <a:cs typeface="프리텐다드 Bold"/>
                  <a:sym typeface="프리텐다드 Bold"/>
                </a:rPr>
                <a:t>, </a:t>
              </a:r>
              <a:r>
                <a:rPr lang="ko-KR" altLang="en-US" sz="6299" b="1" dirty="0">
                  <a:solidFill>
                    <a:srgbClr val="FFFFFF"/>
                  </a:solidFill>
                  <a:latin typeface="프리텐다드 Bold"/>
                  <a:ea typeface="프리텐다드 Bold"/>
                  <a:cs typeface="프리텐다드 Bold"/>
                  <a:sym typeface="프리텐다드 Bold"/>
                </a:rPr>
                <a:t>믿을 수 있는 </a:t>
              </a:r>
              <a:r>
                <a:rPr lang="en-US" altLang="ko-KR" sz="6299" b="1" dirty="0">
                  <a:solidFill>
                    <a:srgbClr val="FFFFFF"/>
                  </a:solidFill>
                  <a:latin typeface="프리텐다드 Bold"/>
                  <a:ea typeface="프리텐다드 Bold"/>
                  <a:cs typeface="프리텐다드 Bold"/>
                  <a:sym typeface="프리텐다드 Bold"/>
                </a:rPr>
                <a:t>OCR</a:t>
              </a:r>
              <a:r>
                <a:rPr lang="ko-KR" altLang="en-US" sz="6299" b="1" dirty="0">
                  <a:solidFill>
                    <a:srgbClr val="FFFFFF"/>
                  </a:solidFill>
                  <a:latin typeface="프리텐다드 Bold"/>
                  <a:ea typeface="프리텐다드 Bold"/>
                  <a:cs typeface="프리텐다드 Bold"/>
                  <a:sym typeface="프리텐다드 Bold"/>
                </a:rPr>
                <a:t>로</a:t>
              </a:r>
              <a:endParaRPr lang="en-US" sz="6299" b="1" dirty="0">
                <a:solidFill>
                  <a:srgbClr val="FFFFFF"/>
                </a:solidFill>
                <a:latin typeface="프리텐다드 Bold"/>
                <a:ea typeface="프리텐다드 Bold"/>
                <a:cs typeface="프리텐다드 Bold"/>
                <a:sym typeface="프리텐다드 Bold"/>
              </a:endParaRPr>
            </a:p>
          </p:txBody>
        </p:sp>
      </p:grpSp>
      <p:grpSp>
        <p:nvGrpSpPr>
          <p:cNvPr id="7" name="Group 7"/>
          <p:cNvGrpSpPr/>
          <p:nvPr/>
        </p:nvGrpSpPr>
        <p:grpSpPr>
          <a:xfrm>
            <a:off x="1645920" y="3438144"/>
            <a:ext cx="15727680" cy="1005840"/>
            <a:chOff x="0" y="0"/>
            <a:chExt cx="20970240" cy="1341120"/>
          </a:xfrm>
        </p:grpSpPr>
        <p:sp>
          <p:nvSpPr>
            <p:cNvPr id="8" name="Freeform 8"/>
            <p:cNvSpPr/>
            <p:nvPr/>
          </p:nvSpPr>
          <p:spPr>
            <a:xfrm>
              <a:off x="0" y="0"/>
              <a:ext cx="20970239" cy="1341120"/>
            </a:xfrm>
            <a:custGeom>
              <a:avLst/>
              <a:gdLst/>
              <a:ahLst/>
              <a:cxnLst/>
              <a:rect l="l" t="t" r="r" b="b"/>
              <a:pathLst>
                <a:path w="20970239" h="1341120">
                  <a:moveTo>
                    <a:pt x="0" y="0"/>
                  </a:moveTo>
                  <a:lnTo>
                    <a:pt x="20970239" y="0"/>
                  </a:lnTo>
                  <a:lnTo>
                    <a:pt x="20970239" y="1341120"/>
                  </a:lnTo>
                  <a:lnTo>
                    <a:pt x="0" y="1341120"/>
                  </a:lnTo>
                  <a:close/>
                </a:path>
              </a:pathLst>
            </a:custGeom>
            <a:blipFill>
              <a:blip r:embed="rId3">
                <a:alphaModFix amt="0"/>
              </a:blip>
              <a:stretch>
                <a:fillRect t="-254675" b="-254675"/>
              </a:stretch>
            </a:blipFill>
          </p:spPr>
          <p:txBody>
            <a:bodyPr/>
            <a:lstStyle/>
            <a:p>
              <a:endParaRPr lang="ko-KR" altLang="en-US"/>
            </a:p>
          </p:txBody>
        </p:sp>
        <p:sp>
          <p:nvSpPr>
            <p:cNvPr id="9" name="TextBox 9"/>
            <p:cNvSpPr txBox="1"/>
            <p:nvPr/>
          </p:nvSpPr>
          <p:spPr>
            <a:xfrm>
              <a:off x="0" y="0"/>
              <a:ext cx="20970240" cy="1341120"/>
            </a:xfrm>
            <a:prstGeom prst="rect">
              <a:avLst/>
            </a:prstGeom>
          </p:spPr>
          <p:txBody>
            <a:bodyPr lIns="0" tIns="0" rIns="0" bIns="0" rtlCol="0" anchor="ctr"/>
            <a:lstStyle/>
            <a:p>
              <a:pPr algn="l">
                <a:lnSpc>
                  <a:spcPts val="4799"/>
                </a:lnSpc>
              </a:pPr>
              <a:r>
                <a:rPr lang="en-US" sz="3999" b="1">
                  <a:solidFill>
                    <a:srgbClr val="FFFFFF"/>
                  </a:solidFill>
                  <a:latin typeface="프리텐다드 Medium"/>
                  <a:ea typeface="프리텐다드 Medium"/>
                  <a:cs typeface="프리텐다드 Medium"/>
                  <a:sym typeface="프리텐다드 Medium"/>
                </a:rPr>
                <a:t>소비기한 추출 파이프라인과 중고거래 게시글 적용</a:t>
              </a:r>
            </a:p>
          </p:txBody>
        </p:sp>
      </p:grpSp>
      <p:sp>
        <p:nvSpPr>
          <p:cNvPr id="10" name="TextBox 10"/>
          <p:cNvSpPr txBox="1"/>
          <p:nvPr/>
        </p:nvSpPr>
        <p:spPr>
          <a:xfrm>
            <a:off x="1645920" y="4434459"/>
            <a:ext cx="9126901" cy="400050"/>
          </a:xfrm>
          <a:prstGeom prst="rect">
            <a:avLst/>
          </a:prstGeom>
        </p:spPr>
        <p:txBody>
          <a:bodyPr lIns="0" tIns="0" rIns="0" bIns="0" rtlCol="0" anchor="t">
            <a:spAutoFit/>
          </a:bodyPr>
          <a:lstStyle/>
          <a:p>
            <a:pPr algn="l">
              <a:lnSpc>
                <a:spcPts val="3120"/>
              </a:lnSpc>
            </a:pPr>
            <a:r>
              <a:rPr lang="en-US" sz="2600">
                <a:solidFill>
                  <a:srgbClr val="FFFFFF"/>
                </a:solidFill>
                <a:latin typeface="프리텐다드"/>
                <a:ea typeface="프리텐다드"/>
                <a:cs typeface="프리텐다드"/>
                <a:sym typeface="프리텐다드"/>
              </a:rPr>
              <a:t>4코어 CPU · GPU 없음 · 오프라인 환경에서의 경량 OCR 설계와 검증</a:t>
            </a:r>
          </a:p>
        </p:txBody>
      </p:sp>
      <p:grpSp>
        <p:nvGrpSpPr>
          <p:cNvPr id="11" name="Group 11"/>
          <p:cNvGrpSpPr/>
          <p:nvPr/>
        </p:nvGrpSpPr>
        <p:grpSpPr>
          <a:xfrm>
            <a:off x="685800" y="8877300"/>
            <a:ext cx="9525000" cy="714375"/>
            <a:chOff x="0" y="0"/>
            <a:chExt cx="20238720" cy="1054100"/>
          </a:xfrm>
        </p:grpSpPr>
        <p:sp>
          <p:nvSpPr>
            <p:cNvPr id="12" name="TextBox 12"/>
            <p:cNvSpPr txBox="1"/>
            <p:nvPr/>
          </p:nvSpPr>
          <p:spPr>
            <a:xfrm>
              <a:off x="0" y="0"/>
              <a:ext cx="20238720" cy="535982"/>
            </a:xfrm>
            <a:prstGeom prst="rect">
              <a:avLst/>
            </a:prstGeom>
          </p:spPr>
          <p:txBody>
            <a:bodyPr lIns="0" tIns="0" rIns="0" bIns="0" rtlCol="0" anchor="t">
              <a:spAutoFit/>
            </a:bodyPr>
            <a:lstStyle/>
            <a:p>
              <a:pPr algn="l">
                <a:lnSpc>
                  <a:spcPts val="2999"/>
                </a:lnSpc>
              </a:pPr>
              <a:r>
                <a:rPr lang="en-US" sz="2400" dirty="0">
                  <a:solidFill>
                    <a:srgbClr val="FFFFFF"/>
                  </a:solidFill>
                  <a:latin typeface="프리텐다드"/>
                  <a:ea typeface="프리텐다드"/>
                  <a:cs typeface="프리텐다드"/>
                  <a:sym typeface="프리텐다드"/>
                </a:rPr>
                <a:t>제3회 ITDA </a:t>
              </a:r>
              <a:r>
                <a:rPr lang="en-US" sz="2400" dirty="0" err="1">
                  <a:solidFill>
                    <a:srgbClr val="FFFFFF"/>
                  </a:solidFill>
                  <a:latin typeface="프리텐다드"/>
                  <a:ea typeface="프리텐다드"/>
                  <a:cs typeface="프리텐다드"/>
                  <a:sym typeface="프리텐다드"/>
                </a:rPr>
                <a:t>연합학술제</a:t>
              </a:r>
              <a:r>
                <a:rPr lang="en-US" sz="2400" dirty="0">
                  <a:solidFill>
                    <a:srgbClr val="FFFFFF"/>
                  </a:solidFill>
                  <a:latin typeface="프리텐다드"/>
                  <a:ea typeface="프리텐다드"/>
                  <a:cs typeface="프리텐다드"/>
                  <a:sym typeface="프리텐다드"/>
                </a:rPr>
                <a:t> </a:t>
              </a:r>
              <a:r>
                <a:rPr lang="en-US" sz="2400" dirty="0" err="1">
                  <a:solidFill>
                    <a:srgbClr val="FFFFFF"/>
                  </a:solidFill>
                  <a:latin typeface="프리텐다드"/>
                  <a:ea typeface="프리텐다드"/>
                  <a:cs typeface="프리텐다드"/>
                  <a:sym typeface="프리텐다드"/>
                </a:rPr>
                <a:t>본선</a:t>
              </a:r>
              <a:r>
                <a:rPr lang="en-US" sz="2400" dirty="0">
                  <a:solidFill>
                    <a:srgbClr val="FFFFFF"/>
                  </a:solidFill>
                  <a:latin typeface="프리텐다드"/>
                  <a:ea typeface="프리텐다드"/>
                  <a:cs typeface="프리텐다드"/>
                  <a:sym typeface="프리텐다드"/>
                </a:rPr>
                <a:t>  |  [CODE]_</a:t>
              </a:r>
              <a:r>
                <a:rPr lang="en-US" sz="2400" dirty="0" err="1">
                  <a:solidFill>
                    <a:srgbClr val="FFFFFF"/>
                  </a:solidFill>
                  <a:latin typeface="프리텐다드"/>
                  <a:ea typeface="프리텐다드"/>
                  <a:cs typeface="프리텐다드"/>
                  <a:sym typeface="프리텐다드"/>
                </a:rPr>
                <a:t>서브웨이</a:t>
              </a:r>
              <a:endParaRPr lang="en-US" sz="2400" dirty="0">
                <a:solidFill>
                  <a:srgbClr val="FFFFFF"/>
                </a:solidFill>
                <a:latin typeface="프리텐다드"/>
                <a:ea typeface="프리텐다드"/>
                <a:cs typeface="프리텐다드"/>
                <a:sym typeface="프리텐다드"/>
              </a:endParaRPr>
            </a:p>
          </p:txBody>
        </p:sp>
        <p:sp>
          <p:nvSpPr>
            <p:cNvPr id="13" name="TextBox 13"/>
            <p:cNvSpPr txBox="1"/>
            <p:nvPr/>
          </p:nvSpPr>
          <p:spPr>
            <a:xfrm>
              <a:off x="0" y="558800"/>
              <a:ext cx="20238720" cy="495300"/>
            </a:xfrm>
            <a:prstGeom prst="rect">
              <a:avLst/>
            </a:prstGeom>
          </p:spPr>
          <p:txBody>
            <a:bodyPr lIns="0" tIns="0" rIns="0" bIns="0" rtlCol="0" anchor="t">
              <a:spAutoFit/>
            </a:bodyPr>
            <a:lstStyle/>
            <a:p>
              <a:pPr algn="l">
                <a:lnSpc>
                  <a:spcPts val="2999"/>
                </a:lnSpc>
              </a:pPr>
              <a:r>
                <a:rPr lang="en-US" sz="2499" dirty="0" err="1">
                  <a:solidFill>
                    <a:srgbClr val="FFFFFF"/>
                  </a:solidFill>
                  <a:latin typeface="프리텐다드"/>
                  <a:ea typeface="프리텐다드"/>
                  <a:cs typeface="프리텐다드"/>
                  <a:sym typeface="프리텐다드"/>
                </a:rPr>
                <a:t>민섭</a:t>
              </a:r>
              <a:r>
                <a:rPr lang="en-US" sz="2499" dirty="0">
                  <a:solidFill>
                    <a:srgbClr val="FFFFFF"/>
                  </a:solidFill>
                  <a:latin typeface="프리텐다드"/>
                  <a:ea typeface="프리텐다드"/>
                  <a:cs typeface="프리텐다드"/>
                  <a:sym typeface="프리텐다드"/>
                </a:rPr>
                <a:t> · </a:t>
              </a:r>
              <a:r>
                <a:rPr lang="en-US" sz="2499" dirty="0" err="1">
                  <a:solidFill>
                    <a:srgbClr val="FFFFFF"/>
                  </a:solidFill>
                  <a:latin typeface="프리텐다드"/>
                  <a:ea typeface="프리텐다드"/>
                  <a:cs typeface="프리텐다드"/>
                  <a:sym typeface="프리텐다드"/>
                </a:rPr>
                <a:t>서현</a:t>
              </a:r>
              <a:r>
                <a:rPr lang="en-US" sz="2499" dirty="0">
                  <a:solidFill>
                    <a:srgbClr val="FFFFFF"/>
                  </a:solidFill>
                  <a:latin typeface="프리텐다드"/>
                  <a:ea typeface="프리텐다드"/>
                  <a:cs typeface="프리텐다드"/>
                  <a:sym typeface="프리텐다드"/>
                </a:rPr>
                <a:t> · </a:t>
              </a:r>
              <a:r>
                <a:rPr lang="en-US" sz="2499" dirty="0" err="1">
                  <a:solidFill>
                    <a:srgbClr val="FFFFFF"/>
                  </a:solidFill>
                  <a:latin typeface="프리텐다드"/>
                  <a:ea typeface="프리텐다드"/>
                  <a:cs typeface="프리텐다드"/>
                  <a:sym typeface="프리텐다드"/>
                </a:rPr>
                <a:t>병철</a:t>
              </a:r>
              <a:r>
                <a:rPr lang="en-US" sz="2499" dirty="0">
                  <a:solidFill>
                    <a:srgbClr val="FFFFFF"/>
                  </a:solidFill>
                  <a:latin typeface="프리텐다드"/>
                  <a:ea typeface="프리텐다드"/>
                  <a:cs typeface="프리텐다드"/>
                  <a:sym typeface="프리텐다드"/>
                </a:rPr>
                <a:t> · 승아 · </a:t>
              </a:r>
              <a:r>
                <a:rPr lang="en-US" sz="2499" dirty="0" err="1">
                  <a:solidFill>
                    <a:srgbClr val="FFFFFF"/>
                  </a:solidFill>
                  <a:latin typeface="프리텐다드"/>
                  <a:ea typeface="프리텐다드"/>
                  <a:cs typeface="프리텐다드"/>
                  <a:sym typeface="프리텐다드"/>
                </a:rPr>
                <a:t>서영</a:t>
              </a:r>
              <a:endParaRPr lang="en-US" sz="2499" dirty="0">
                <a:solidFill>
                  <a:srgbClr val="FFFFFF"/>
                </a:solidFill>
                <a:latin typeface="프리텐다드"/>
                <a:ea typeface="프리텐다드"/>
                <a:cs typeface="프리텐다드"/>
                <a:sym typeface="프리텐다드"/>
              </a:endParaRPr>
            </a:p>
          </p:txBody>
        </p:sp>
      </p:grpSp>
      <p:grpSp>
        <p:nvGrpSpPr>
          <p:cNvPr id="14" name="Group 14"/>
          <p:cNvGrpSpPr/>
          <p:nvPr/>
        </p:nvGrpSpPr>
        <p:grpSpPr>
          <a:xfrm>
            <a:off x="17007840" y="219456"/>
            <a:ext cx="914400" cy="457200"/>
            <a:chOff x="0" y="0"/>
            <a:chExt cx="1219200" cy="609600"/>
          </a:xfrm>
        </p:grpSpPr>
        <p:sp>
          <p:nvSpPr>
            <p:cNvPr id="15" name="Freeform 15"/>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6" name="TextBox 16"/>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1</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231136" y="5442680"/>
            <a:ext cx="9144000" cy="1195864"/>
            <a:chOff x="0" y="-9525"/>
            <a:chExt cx="12192000" cy="1594485"/>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276352" y="-9525"/>
              <a:ext cx="6778752"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문제</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정의</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9736" y="6631400"/>
            <a:ext cx="9808464" cy="738664"/>
            <a:chOff x="0" y="-9525"/>
            <a:chExt cx="13077952" cy="984885"/>
          </a:xfrm>
        </p:grpSpPr>
        <p:sp>
          <p:nvSpPr>
            <p:cNvPr id="11" name="Freeform 11"/>
            <p:cNvSpPr/>
            <p:nvPr/>
          </p:nvSpPr>
          <p:spPr>
            <a:xfrm>
              <a:off x="398272"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dirty="0" err="1">
                  <a:solidFill>
                    <a:srgbClr val="FFFFFF"/>
                  </a:solidFill>
                  <a:latin typeface="프리텐다드 Bold"/>
                  <a:ea typeface="프리텐다드 Bold"/>
                  <a:cs typeface="프리텐다드 Bold"/>
                  <a:sym typeface="프리텐다드 Bold"/>
                </a:rPr>
                <a:t>무엇을</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어떤</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제약</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아래에서</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풀었는가</a:t>
              </a:r>
              <a:endParaRPr lang="en-US" sz="2400" b="1" dirty="0">
                <a:solidFill>
                  <a:srgbClr val="FFFFFF"/>
                </a:solidFill>
                <a:latin typeface="프리텐다드 Bold"/>
                <a:ea typeface="프리텐다드 Bold"/>
                <a:cs typeface="프리텐다드 Bold"/>
                <a:sym typeface="프리텐다드 Bold"/>
              </a:endParaRP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2</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출발점 : </a:t>
              </a:r>
              <a:r>
                <a:rPr lang="en-US" sz="3800" b="1">
                  <a:solidFill>
                    <a:srgbClr val="8B0000"/>
                  </a:solidFill>
                  <a:latin typeface="프리텐다드 Bold"/>
                  <a:ea typeface="프리텐다드 Bold"/>
                  <a:cs typeface="프리텐다드 Bold"/>
                  <a:sym typeface="프리텐다드 Bold"/>
                </a:rPr>
                <a:t>제약이 설계를 결정했습니다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3</a:t>
              </a:r>
            </a:p>
          </p:txBody>
        </p:sp>
      </p:grpSp>
      <p:grpSp>
        <p:nvGrpSpPr>
          <p:cNvPr id="11" name="Group 11"/>
          <p:cNvGrpSpPr/>
          <p:nvPr/>
        </p:nvGrpSpPr>
        <p:grpSpPr>
          <a:xfrm>
            <a:off x="535943" y="1907543"/>
            <a:ext cx="5584955" cy="4505963"/>
            <a:chOff x="0" y="0"/>
            <a:chExt cx="7446607" cy="6007951"/>
          </a:xfrm>
        </p:grpSpPr>
        <p:sp>
          <p:nvSpPr>
            <p:cNvPr id="12" name="Freeform 12"/>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3" name="Group 13"/>
          <p:cNvGrpSpPr/>
          <p:nvPr/>
        </p:nvGrpSpPr>
        <p:grpSpPr>
          <a:xfrm>
            <a:off x="914400" y="2231136"/>
            <a:ext cx="4828032" cy="1387128"/>
            <a:chOff x="0" y="0"/>
            <a:chExt cx="6437376" cy="1849504"/>
          </a:xfrm>
        </p:grpSpPr>
        <p:sp>
          <p:nvSpPr>
            <p:cNvPr id="14" name="Freeform 14"/>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15" name="TextBox 15"/>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3,352장</a:t>
              </a:r>
            </a:p>
          </p:txBody>
        </p:sp>
      </p:grpSp>
      <p:sp>
        <p:nvSpPr>
          <p:cNvPr id="16" name="TextBox 16"/>
          <p:cNvSpPr txBox="1"/>
          <p:nvPr/>
        </p:nvSpPr>
        <p:spPr>
          <a:xfrm>
            <a:off x="914400"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정답 라벨 없음</a:t>
            </a:r>
          </a:p>
        </p:txBody>
      </p:sp>
      <p:sp>
        <p:nvSpPr>
          <p:cNvPr id="17" name="TextBox 17"/>
          <p:cNvSpPr txBox="1"/>
          <p:nvPr/>
        </p:nvSpPr>
        <p:spPr>
          <a:xfrm>
            <a:off x="914400" y="4379595"/>
            <a:ext cx="4828032" cy="1097416"/>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상품</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뒷면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사진만</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제공</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정확도를</a:t>
            </a:r>
            <a:r>
              <a:rPr lang="en-US" sz="2400" dirty="0">
                <a:solidFill>
                  <a:srgbClr val="6B6B6B"/>
                </a:solidFill>
                <a:latin typeface="프리텐다드"/>
                <a:ea typeface="프리텐다드"/>
                <a:cs typeface="프리텐다드"/>
                <a:sym typeface="프리텐다드"/>
              </a:rPr>
              <a:t> 잴 </a:t>
            </a:r>
            <a:r>
              <a:rPr lang="en-US" sz="2400" dirty="0" err="1">
                <a:solidFill>
                  <a:srgbClr val="6B6B6B"/>
                </a:solidFill>
                <a:latin typeface="프리텐다드"/>
                <a:ea typeface="프리텐다드"/>
                <a:cs typeface="프리텐다드"/>
                <a:sym typeface="프리텐다드"/>
              </a:rPr>
              <a:t>기준부터</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직접</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만들어야</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했습니다</a:t>
            </a:r>
            <a:r>
              <a:rPr lang="en-US" sz="2400" dirty="0">
                <a:solidFill>
                  <a:srgbClr val="6B6B6B"/>
                </a:solidFill>
                <a:latin typeface="프리텐다드"/>
                <a:ea typeface="프리텐다드"/>
                <a:cs typeface="프리텐다드"/>
                <a:sym typeface="프리텐다드"/>
              </a:rPr>
              <a:t>.</a:t>
            </a:r>
          </a:p>
        </p:txBody>
      </p:sp>
      <p:grpSp>
        <p:nvGrpSpPr>
          <p:cNvPr id="18" name="Group 18"/>
          <p:cNvGrpSpPr/>
          <p:nvPr/>
        </p:nvGrpSpPr>
        <p:grpSpPr>
          <a:xfrm>
            <a:off x="6351527" y="1907543"/>
            <a:ext cx="5584955" cy="4505963"/>
            <a:chOff x="0" y="0"/>
            <a:chExt cx="7446607" cy="6007951"/>
          </a:xfrm>
        </p:grpSpPr>
        <p:sp>
          <p:nvSpPr>
            <p:cNvPr id="19" name="Freeform 19"/>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0" name="Group 20"/>
          <p:cNvGrpSpPr/>
          <p:nvPr/>
        </p:nvGrpSpPr>
        <p:grpSpPr>
          <a:xfrm>
            <a:off x="6729984" y="2231136"/>
            <a:ext cx="4828032" cy="1387128"/>
            <a:chOff x="0" y="0"/>
            <a:chExt cx="6437376" cy="1849504"/>
          </a:xfrm>
        </p:grpSpPr>
        <p:sp>
          <p:nvSpPr>
            <p:cNvPr id="21" name="Freeform 21"/>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22" name="TextBox 22"/>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4코어 CPU</a:t>
              </a:r>
            </a:p>
          </p:txBody>
        </p:sp>
      </p:grpSp>
      <p:sp>
        <p:nvSpPr>
          <p:cNvPr id="23" name="TextBox 23"/>
          <p:cNvSpPr txBox="1"/>
          <p:nvPr/>
        </p:nvSpPr>
        <p:spPr>
          <a:xfrm>
            <a:off x="6729984"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GPU 없음 · 오프라인</a:t>
            </a:r>
          </a:p>
        </p:txBody>
      </p:sp>
      <p:sp>
        <p:nvSpPr>
          <p:cNvPr id="24" name="TextBox 24"/>
          <p:cNvSpPr txBox="1"/>
          <p:nvPr/>
        </p:nvSpPr>
        <p:spPr>
          <a:xfrm>
            <a:off x="6729984" y="4379595"/>
            <a:ext cx="4828032" cy="733425"/>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채점</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서버</a:t>
            </a:r>
            <a:r>
              <a:rPr lang="en-US" sz="2400" dirty="0">
                <a:solidFill>
                  <a:srgbClr val="6B6B6B"/>
                </a:solidFill>
                <a:latin typeface="프리텐다드"/>
                <a:ea typeface="프리텐다드"/>
                <a:cs typeface="프리텐다드"/>
                <a:sym typeface="프리텐다드"/>
              </a:rPr>
              <a:t> Ubuntu 22.04, RAM 8GB </a:t>
            </a:r>
            <a:r>
              <a:rPr lang="en-US" sz="2400" dirty="0" err="1">
                <a:solidFill>
                  <a:srgbClr val="6B6B6B"/>
                </a:solidFill>
                <a:latin typeface="프리텐다드"/>
                <a:ea typeface="프리텐다드"/>
                <a:cs typeface="프리텐다드"/>
                <a:sym typeface="프리텐다드"/>
              </a:rPr>
              <a:t>무거운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모델·외부</a:t>
            </a:r>
            <a:r>
              <a:rPr lang="en-US" sz="2400" dirty="0">
                <a:solidFill>
                  <a:srgbClr val="6B6B6B"/>
                </a:solidFill>
                <a:latin typeface="프리텐다드"/>
                <a:ea typeface="프리텐다드"/>
                <a:cs typeface="프리텐다드"/>
                <a:sym typeface="프리텐다드"/>
              </a:rPr>
              <a:t> API </a:t>
            </a:r>
            <a:r>
              <a:rPr lang="en-US" sz="2400" dirty="0" err="1">
                <a:solidFill>
                  <a:srgbClr val="6B6B6B"/>
                </a:solidFill>
                <a:latin typeface="프리텐다드"/>
                <a:ea typeface="프리텐다드"/>
                <a:cs typeface="프리텐다드"/>
                <a:sym typeface="프리텐다드"/>
              </a:rPr>
              <a:t>사용</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불가</a:t>
            </a:r>
            <a:endParaRPr lang="en-US" sz="2400" dirty="0">
              <a:solidFill>
                <a:srgbClr val="6B6B6B"/>
              </a:solidFill>
              <a:latin typeface="프리텐다드"/>
              <a:ea typeface="프리텐다드"/>
              <a:cs typeface="프리텐다드"/>
              <a:sym typeface="프리텐다드"/>
            </a:endParaRPr>
          </a:p>
        </p:txBody>
      </p:sp>
      <p:grpSp>
        <p:nvGrpSpPr>
          <p:cNvPr id="25" name="Group 25"/>
          <p:cNvGrpSpPr/>
          <p:nvPr/>
        </p:nvGrpSpPr>
        <p:grpSpPr>
          <a:xfrm>
            <a:off x="12167111" y="1907543"/>
            <a:ext cx="5584955" cy="4505963"/>
            <a:chOff x="0" y="0"/>
            <a:chExt cx="7446607" cy="6007951"/>
          </a:xfrm>
        </p:grpSpPr>
        <p:sp>
          <p:nvSpPr>
            <p:cNvPr id="26" name="Freeform 26"/>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7" name="Group 27"/>
          <p:cNvGrpSpPr/>
          <p:nvPr/>
        </p:nvGrpSpPr>
        <p:grpSpPr>
          <a:xfrm>
            <a:off x="12545568" y="2231136"/>
            <a:ext cx="4828032" cy="1387128"/>
            <a:chOff x="0" y="0"/>
            <a:chExt cx="6437376" cy="1849504"/>
          </a:xfrm>
        </p:grpSpPr>
        <p:sp>
          <p:nvSpPr>
            <p:cNvPr id="28" name="Freeform 28"/>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29" name="TextBox 29"/>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2,500초</a:t>
              </a:r>
            </a:p>
          </p:txBody>
        </p:sp>
      </p:grpSp>
      <p:sp>
        <p:nvSpPr>
          <p:cNvPr id="30" name="TextBox 30"/>
          <p:cNvSpPr txBox="1"/>
          <p:nvPr/>
        </p:nvSpPr>
        <p:spPr>
          <a:xfrm>
            <a:off x="12545568"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500장 제한 시간</a:t>
            </a:r>
          </a:p>
        </p:txBody>
      </p:sp>
      <p:sp>
        <p:nvSpPr>
          <p:cNvPr id="31" name="TextBox 31"/>
          <p:cNvSpPr txBox="1"/>
          <p:nvPr/>
        </p:nvSpPr>
        <p:spPr>
          <a:xfrm>
            <a:off x="12545568" y="4379595"/>
            <a:ext cx="4828032" cy="733425"/>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초과하면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결과</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파일이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나오지</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않아</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정확도까지</a:t>
            </a:r>
            <a:r>
              <a:rPr lang="en-US" sz="2400" dirty="0">
                <a:solidFill>
                  <a:srgbClr val="6B6B6B"/>
                </a:solidFill>
                <a:latin typeface="프리텐다드"/>
                <a:ea typeface="프리텐다드"/>
                <a:cs typeface="프리텐다드"/>
                <a:sym typeface="프리텐다드"/>
              </a:rPr>
              <a:t> 0점. </a:t>
            </a:r>
            <a:r>
              <a:rPr lang="en-US" sz="2400" dirty="0" err="1">
                <a:solidFill>
                  <a:srgbClr val="6B6B6B"/>
                </a:solidFill>
                <a:latin typeface="프리텐다드"/>
                <a:ea typeface="프리텐다드"/>
                <a:cs typeface="프리텐다드"/>
                <a:sym typeface="프리텐다드"/>
              </a:rPr>
              <a:t>장당</a:t>
            </a:r>
            <a:r>
              <a:rPr lang="en-US" sz="2400" dirty="0">
                <a:solidFill>
                  <a:srgbClr val="6B6B6B"/>
                </a:solidFill>
                <a:latin typeface="프리텐다드"/>
                <a:ea typeface="프리텐다드"/>
                <a:cs typeface="프리텐다드"/>
                <a:sym typeface="프리텐다드"/>
              </a:rPr>
              <a:t> 5초가 </a:t>
            </a:r>
            <a:r>
              <a:rPr lang="en-US" sz="2400" dirty="0" err="1">
                <a:solidFill>
                  <a:srgbClr val="6B6B6B"/>
                </a:solidFill>
                <a:latin typeface="프리텐다드"/>
                <a:ea typeface="프리텐다드"/>
                <a:cs typeface="프리텐다드"/>
                <a:sym typeface="프리텐다드"/>
              </a:rPr>
              <a:t>상한</a:t>
            </a:r>
            <a:r>
              <a:rPr lang="en-US" sz="2400" dirty="0">
                <a:solidFill>
                  <a:srgbClr val="6B6B6B"/>
                </a:solidFill>
                <a:latin typeface="프리텐다드"/>
                <a:ea typeface="프리텐다드"/>
                <a:cs typeface="프리텐다드"/>
                <a:sym typeface="프리텐다드"/>
              </a:rPr>
              <a:t>.</a:t>
            </a:r>
          </a:p>
        </p:txBody>
      </p:sp>
      <p:sp>
        <p:nvSpPr>
          <p:cNvPr id="32" name="TextBox 32"/>
          <p:cNvSpPr txBox="1"/>
          <p:nvPr/>
        </p:nvSpPr>
        <p:spPr>
          <a:xfrm>
            <a:off x="548640" y="7040880"/>
            <a:ext cx="17190720" cy="371475"/>
          </a:xfrm>
          <a:prstGeom prst="rect">
            <a:avLst/>
          </a:prstGeom>
        </p:spPr>
        <p:txBody>
          <a:bodyPr lIns="0" tIns="0" rIns="0" bIns="0" rtlCol="0" anchor="t">
            <a:spAutoFit/>
          </a:bodyPr>
          <a:lstStyle/>
          <a:p>
            <a:pPr algn="ctr">
              <a:lnSpc>
                <a:spcPts val="2999"/>
              </a:lnSpc>
            </a:pPr>
            <a:r>
              <a:rPr lang="en-US" sz="2499" dirty="0" err="1">
                <a:solidFill>
                  <a:srgbClr val="1A1A1A"/>
                </a:solidFill>
                <a:latin typeface="프리텐다드"/>
                <a:ea typeface="프리텐다드"/>
                <a:cs typeface="프리텐다드"/>
                <a:sym typeface="프리텐다드"/>
              </a:rPr>
              <a:t>EasyOCR</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탐지기를</a:t>
            </a:r>
            <a:r>
              <a:rPr lang="en-US" sz="2499" dirty="0">
                <a:solidFill>
                  <a:srgbClr val="1A1A1A"/>
                </a:solidFill>
                <a:latin typeface="프리텐다드"/>
                <a:ea typeface="프리텐다드"/>
                <a:cs typeface="프리텐다드"/>
                <a:sym typeface="프리텐다드"/>
              </a:rPr>
              <a:t> 쓴 </a:t>
            </a:r>
            <a:r>
              <a:rPr lang="en-US" sz="2499" dirty="0" err="1">
                <a:solidFill>
                  <a:srgbClr val="1A1A1A"/>
                </a:solidFill>
                <a:latin typeface="프리텐다드"/>
                <a:ea typeface="프리텐다드"/>
                <a:cs typeface="프리텐다드"/>
                <a:sym typeface="프리텐다드"/>
              </a:rPr>
              <a:t>초기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구성은</a:t>
            </a:r>
            <a:r>
              <a:rPr lang="en-US" sz="2499" dirty="0">
                <a:solidFill>
                  <a:srgbClr val="1A1A1A"/>
                </a:solidFill>
                <a:latin typeface="프리텐다드"/>
                <a:ea typeface="프리텐다드"/>
                <a:cs typeface="프리텐다드"/>
                <a:sym typeface="프리텐다드"/>
              </a:rPr>
              <a:t> 4코어에서 </a:t>
            </a:r>
            <a:r>
              <a:rPr lang="en-US" sz="2499" b="1" dirty="0" err="1">
                <a:solidFill>
                  <a:srgbClr val="8B0000"/>
                </a:solidFill>
                <a:latin typeface="프리텐다드 Bold"/>
                <a:ea typeface="프리텐다드 Bold"/>
                <a:cs typeface="프리텐다드 Bold"/>
                <a:sym typeface="프리텐다드 Bold"/>
              </a:rPr>
              <a:t>장당</a:t>
            </a:r>
            <a:r>
              <a:rPr lang="en-US" sz="2499" b="1" dirty="0">
                <a:solidFill>
                  <a:srgbClr val="8B0000"/>
                </a:solidFill>
                <a:latin typeface="프리텐다드 Bold"/>
                <a:ea typeface="프리텐다드 Bold"/>
                <a:cs typeface="프리텐다드 Bold"/>
                <a:sym typeface="프리텐다드 Bold"/>
              </a:rPr>
              <a:t> 5.8초, 500장 2,905초</a:t>
            </a:r>
            <a:r>
              <a:rPr lang="en-US" sz="2499" dirty="0">
                <a:solidFill>
                  <a:srgbClr val="1A1A1A"/>
                </a:solidFill>
                <a:latin typeface="프리텐다드"/>
                <a:ea typeface="프리텐다드"/>
                <a:cs typeface="프리텐다드"/>
                <a:sym typeface="프리텐다드"/>
              </a:rPr>
              <a:t> 로 </a:t>
            </a:r>
            <a:r>
              <a:rPr lang="en-US" sz="2499" dirty="0" err="1">
                <a:solidFill>
                  <a:srgbClr val="1A1A1A"/>
                </a:solidFill>
                <a:latin typeface="프리텐다드"/>
                <a:ea typeface="프리텐다드"/>
                <a:cs typeface="프리텐다드"/>
                <a:sym typeface="프리텐다드"/>
              </a:rPr>
              <a:t>한도를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넘겼습니다</a:t>
            </a:r>
            <a:r>
              <a:rPr lang="en-US" sz="2499" dirty="0">
                <a:solidFill>
                  <a:srgbClr val="1A1A1A"/>
                </a:solidFill>
                <a:latin typeface="프리텐다드"/>
                <a:ea typeface="프리텐다드"/>
                <a:cs typeface="프리텐다드"/>
                <a:sym typeface="프리텐다드"/>
              </a:rPr>
              <a:t>.</a:t>
            </a:r>
          </a:p>
        </p:txBody>
      </p:sp>
      <p:sp>
        <p:nvSpPr>
          <p:cNvPr id="33" name="TextBox 33"/>
          <p:cNvSpPr txBox="1"/>
          <p:nvPr/>
        </p:nvSpPr>
        <p:spPr>
          <a:xfrm>
            <a:off x="548640" y="7680960"/>
            <a:ext cx="17190720" cy="371475"/>
          </a:xfrm>
          <a:prstGeom prst="rect">
            <a:avLst/>
          </a:prstGeom>
        </p:spPr>
        <p:txBody>
          <a:bodyPr lIns="0" tIns="0" rIns="0" bIns="0" rtlCol="0" anchor="t">
            <a:spAutoFit/>
          </a:bodyPr>
          <a:lstStyle/>
          <a:p>
            <a:pPr algn="ctr">
              <a:lnSpc>
                <a:spcPts val="2999"/>
              </a:lnSpc>
            </a:pPr>
            <a:r>
              <a:rPr lang="en-US" sz="2499" dirty="0" err="1">
                <a:solidFill>
                  <a:srgbClr val="1A1A1A"/>
                </a:solidFill>
                <a:latin typeface="프리텐다드"/>
                <a:ea typeface="프리텐다드"/>
                <a:cs typeface="프리텐다드"/>
                <a:sym typeface="프리텐다드"/>
              </a:rPr>
              <a:t>정확도를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올리기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전에</a:t>
            </a:r>
            <a:r>
              <a:rPr lang="en-US" sz="2499" dirty="0">
                <a:solidFill>
                  <a:srgbClr val="1A1A1A"/>
                </a:solidFill>
                <a:latin typeface="프리텐다드"/>
                <a:ea typeface="프리텐다드"/>
                <a:cs typeface="프리텐다드"/>
                <a:sym typeface="프리텐다드"/>
              </a:rPr>
              <a:t> </a:t>
            </a:r>
            <a:r>
              <a:rPr lang="en-US" sz="2499" b="1" dirty="0">
                <a:solidFill>
                  <a:srgbClr val="8B0000"/>
                </a:solidFill>
                <a:latin typeface="프리텐다드 Bold"/>
                <a:ea typeface="프리텐다드 Bold"/>
                <a:cs typeface="프리텐다드 Bold"/>
                <a:sym typeface="프리텐다드 Bold"/>
              </a:rPr>
              <a:t>“</a:t>
            </a:r>
            <a:r>
              <a:rPr lang="en-US" sz="2499" b="1" dirty="0" err="1">
                <a:solidFill>
                  <a:srgbClr val="8B0000"/>
                </a:solidFill>
                <a:latin typeface="프리텐다드 Bold"/>
                <a:ea typeface="프리텐다드 Bold"/>
                <a:cs typeface="프리텐다드 Bold"/>
                <a:sym typeface="프리텐다드 Bold"/>
              </a:rPr>
              <a:t>끝까지</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돌아가는가”</a:t>
            </a:r>
            <a:r>
              <a:rPr lang="en-US" sz="2499" dirty="0" err="1">
                <a:solidFill>
                  <a:srgbClr val="1A1A1A"/>
                </a:solidFill>
                <a:latin typeface="프리텐다드"/>
                <a:ea typeface="프리텐다드"/>
                <a:cs typeface="프리텐다드"/>
                <a:sym typeface="프리텐다드"/>
              </a:rPr>
              <a:t>부터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풀어야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하는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문제였습니다</a:t>
            </a:r>
            <a:r>
              <a:rPr lang="en-US" sz="2499" dirty="0">
                <a:solidFill>
                  <a:srgbClr val="1A1A1A"/>
                </a:solidFill>
                <a:latin typeface="프리텐다드"/>
                <a:ea typeface="프리텐다드"/>
                <a:cs typeface="프리텐다드"/>
                <a:sym typeface="프리텐다드"/>
              </a:rPr>
              <a:t>.</a:t>
            </a:r>
          </a:p>
        </p:txBody>
      </p:sp>
      <p:grpSp>
        <p:nvGrpSpPr>
          <p:cNvPr id="34" name="Group 34"/>
          <p:cNvGrpSpPr/>
          <p:nvPr/>
        </p:nvGrpSpPr>
        <p:grpSpPr>
          <a:xfrm>
            <a:off x="535943" y="8674103"/>
            <a:ext cx="17216123" cy="793499"/>
            <a:chOff x="0" y="0"/>
            <a:chExt cx="22954831" cy="1057999"/>
          </a:xfrm>
        </p:grpSpPr>
        <p:sp>
          <p:nvSpPr>
            <p:cNvPr id="35" name="Freeform 35"/>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6" name="Group 36"/>
          <p:cNvGrpSpPr/>
          <p:nvPr/>
        </p:nvGrpSpPr>
        <p:grpSpPr>
          <a:xfrm>
            <a:off x="822960" y="8686800"/>
            <a:ext cx="16642080" cy="768096"/>
            <a:chOff x="0" y="0"/>
            <a:chExt cx="22189440" cy="1024128"/>
          </a:xfrm>
        </p:grpSpPr>
        <p:sp>
          <p:nvSpPr>
            <p:cNvPr id="37" name="Freeform 37"/>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38" name="TextBox 38"/>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그래서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설계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결정에</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정확도와</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시간을</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함께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기록했습니다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3060905"/>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2</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383536" y="5442680"/>
            <a:ext cx="9351264" cy="1195864"/>
            <a:chOff x="0" y="-9525"/>
            <a:chExt cx="12468352" cy="1594485"/>
          </a:xfrm>
        </p:grpSpPr>
        <p:sp>
          <p:nvSpPr>
            <p:cNvPr id="8" name="Freeform 8"/>
            <p:cNvSpPr/>
            <p:nvPr/>
          </p:nvSpPr>
          <p:spPr>
            <a:xfrm>
              <a:off x="276352"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데이터와</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검증</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설계</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3774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정답이 없는 데이터에서 정확도를 재는 법</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4</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검증 설계 : </a:t>
              </a:r>
              <a:r>
                <a:rPr lang="en-US" sz="3800" b="1">
                  <a:solidFill>
                    <a:srgbClr val="8B0000"/>
                  </a:solidFill>
                  <a:latin typeface="프리텐다드 Bold"/>
                  <a:ea typeface="프리텐다드 Bold"/>
                  <a:cs typeface="프리텐다드 Bold"/>
                  <a:sym typeface="프리텐다드 Bold"/>
                </a:rPr>
                <a:t>규칙을 먼저 정하고, 시험지를 봉인했습니다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5</a:t>
              </a:r>
            </a:p>
          </p:txBody>
        </p:sp>
      </p:grpSp>
      <p:grpSp>
        <p:nvGrpSpPr>
          <p:cNvPr id="11" name="Group 11"/>
          <p:cNvGrpSpPr/>
          <p:nvPr/>
        </p:nvGrpSpPr>
        <p:grpSpPr>
          <a:xfrm>
            <a:off x="535943" y="1907543"/>
            <a:ext cx="647195" cy="647195"/>
            <a:chOff x="0" y="0"/>
            <a:chExt cx="862927" cy="862927"/>
          </a:xfrm>
        </p:grpSpPr>
        <p:sp>
          <p:nvSpPr>
            <p:cNvPr id="12" name="Freeform 12"/>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13" name="Group 13"/>
          <p:cNvGrpSpPr/>
          <p:nvPr/>
        </p:nvGrpSpPr>
        <p:grpSpPr>
          <a:xfrm>
            <a:off x="548640" y="1920240"/>
            <a:ext cx="621792" cy="621792"/>
            <a:chOff x="0" y="0"/>
            <a:chExt cx="829056" cy="829056"/>
          </a:xfrm>
        </p:grpSpPr>
        <p:sp>
          <p:nvSpPr>
            <p:cNvPr id="14" name="Freeform 14"/>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15" name="TextBox 15"/>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01</a:t>
              </a:r>
            </a:p>
          </p:txBody>
        </p:sp>
      </p:grpSp>
      <p:grpSp>
        <p:nvGrpSpPr>
          <p:cNvPr id="16" name="Group 16"/>
          <p:cNvGrpSpPr/>
          <p:nvPr/>
        </p:nvGrpSpPr>
        <p:grpSpPr>
          <a:xfrm>
            <a:off x="1371600" y="1866900"/>
            <a:ext cx="7315200" cy="621792"/>
            <a:chOff x="0" y="0"/>
            <a:chExt cx="9753600" cy="829056"/>
          </a:xfrm>
        </p:grpSpPr>
        <p:sp>
          <p:nvSpPr>
            <p:cNvPr id="17" name="Freeform 17"/>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18" name="TextBox 18"/>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err="1">
                  <a:solidFill>
                    <a:srgbClr val="1A1A1A"/>
                  </a:solidFill>
                  <a:latin typeface="프리텐다드 Bold"/>
                  <a:ea typeface="프리텐다드 Bold"/>
                  <a:cs typeface="프리텐다드 Bold"/>
                  <a:sym typeface="프리텐다드 Bold"/>
                </a:rPr>
                <a:t>해석</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규칙을</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먼저</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문서로</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확정</a:t>
              </a:r>
              <a:endParaRPr lang="en-US" sz="2600" b="1" dirty="0">
                <a:solidFill>
                  <a:srgbClr val="1A1A1A"/>
                </a:solidFill>
                <a:latin typeface="프리텐다드 Bold"/>
                <a:ea typeface="프리텐다드 Bold"/>
                <a:cs typeface="프리텐다드 Bold"/>
                <a:sym typeface="프리텐다드 Bold"/>
              </a:endParaRPr>
            </a:p>
          </p:txBody>
        </p:sp>
      </p:grpSp>
      <p:sp>
        <p:nvSpPr>
          <p:cNvPr id="19" name="TextBox 19"/>
          <p:cNvSpPr txBox="1"/>
          <p:nvPr/>
        </p:nvSpPr>
        <p:spPr>
          <a:xfrm>
            <a:off x="1295400" y="2497455"/>
            <a:ext cx="6989064" cy="1000274"/>
          </a:xfrm>
          <a:prstGeom prst="rect">
            <a:avLst/>
          </a:prstGeom>
        </p:spPr>
        <p:txBody>
          <a:bodyPr wrap="square"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라벨러는</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포장에</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찍힌</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그대로만</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입력</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해석</a:t>
            </a:r>
            <a:r>
              <a:rPr lang="en-US" sz="2199" dirty="0">
                <a:solidFill>
                  <a:srgbClr val="6B6B6B"/>
                </a:solidFill>
                <a:latin typeface="프리텐다드"/>
                <a:ea typeface="프리텐다드"/>
                <a:cs typeface="프리텐다드"/>
                <a:sym typeface="프리텐다드"/>
              </a:rPr>
              <a:t>(</a:t>
            </a:r>
            <a:r>
              <a:rPr lang="en-US" sz="2199" dirty="0" err="1">
                <a:solidFill>
                  <a:srgbClr val="6B6B6B"/>
                </a:solidFill>
                <a:latin typeface="프리텐다드"/>
                <a:ea typeface="프리텐다드"/>
                <a:cs typeface="프리텐다드"/>
                <a:sym typeface="프리텐다드"/>
              </a:rPr>
              <a:t>연·월·일</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순서</a:t>
            </a:r>
            <a:r>
              <a:rPr lang="en-US" sz="2199" dirty="0">
                <a:solidFill>
                  <a:srgbClr val="6B6B6B"/>
                </a:solidFill>
                <a:latin typeface="프리텐다드"/>
                <a:ea typeface="프리텐다드"/>
                <a:cs typeface="프리텐다드"/>
                <a:sym typeface="프리텐다드"/>
              </a:rPr>
              <a:t>, 2자리 </a:t>
            </a:r>
            <a:r>
              <a:rPr lang="en-US" sz="2199" dirty="0" err="1">
                <a:solidFill>
                  <a:srgbClr val="6B6B6B"/>
                </a:solidFill>
                <a:latin typeface="프리텐다드"/>
                <a:ea typeface="프리텐다드"/>
                <a:cs typeface="프리텐다드"/>
                <a:sym typeface="프리텐다드"/>
              </a:rPr>
              <a:t>연도</a:t>
            </a:r>
            <a:r>
              <a:rPr lang="en-US" sz="2199" dirty="0">
                <a:solidFill>
                  <a:srgbClr val="6B6B6B"/>
                </a:solidFill>
                <a:latin typeface="프리텐다드"/>
                <a:ea typeface="프리텐다드"/>
                <a:cs typeface="프리텐다드"/>
                <a:sym typeface="프리텐다드"/>
              </a:rPr>
              <a:t>)은 </a:t>
            </a:r>
            <a:r>
              <a:rPr lang="en-US" sz="2199" dirty="0" err="1">
                <a:solidFill>
                  <a:srgbClr val="6B6B6B"/>
                </a:solidFill>
                <a:latin typeface="프리텐다드"/>
                <a:ea typeface="프리텐다드"/>
                <a:cs typeface="프리텐다드"/>
                <a:sym typeface="프리텐다드"/>
              </a:rPr>
              <a:t>도구가</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규칙으로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처리</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 </a:t>
            </a:r>
            <a:r>
              <a:rPr lang="en-US" sz="2199" dirty="0" err="1">
                <a:solidFill>
                  <a:srgbClr val="6B6B6B"/>
                </a:solidFill>
                <a:latin typeface="프리텐다드"/>
                <a:ea typeface="프리텐다드"/>
                <a:cs typeface="프리텐다드"/>
                <a:sym typeface="프리텐다드"/>
              </a:rPr>
              <a:t>라벨과</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모델이</a:t>
            </a:r>
            <a:r>
              <a:rPr lang="en-US" sz="2199" dirty="0">
                <a:solidFill>
                  <a:srgbClr val="6B6B6B"/>
                </a:solidFill>
                <a:latin typeface="프리텐다드"/>
                <a:ea typeface="프리텐다드"/>
                <a:cs typeface="프리텐다드"/>
                <a:sym typeface="프리텐다드"/>
              </a:rPr>
              <a:t> </a:t>
            </a:r>
            <a:r>
              <a:rPr lang="ko-KR" altLang="en-US" sz="2199" dirty="0">
                <a:solidFill>
                  <a:srgbClr val="6B6B6B"/>
                </a:solidFill>
                <a:latin typeface="프리텐다드"/>
                <a:ea typeface="프리텐다드"/>
                <a:cs typeface="프리텐다드"/>
                <a:sym typeface="프리텐다드"/>
              </a:rPr>
              <a:t>동일한 규칙 공유</a:t>
            </a:r>
            <a:endParaRPr lang="en-US" sz="2199" dirty="0">
              <a:solidFill>
                <a:srgbClr val="6B6B6B"/>
              </a:solidFill>
              <a:latin typeface="프리텐다드"/>
              <a:ea typeface="프리텐다드"/>
              <a:cs typeface="프리텐다드"/>
              <a:sym typeface="프리텐다드"/>
            </a:endParaRPr>
          </a:p>
        </p:txBody>
      </p:sp>
      <p:grpSp>
        <p:nvGrpSpPr>
          <p:cNvPr id="20" name="Group 20"/>
          <p:cNvGrpSpPr/>
          <p:nvPr/>
        </p:nvGrpSpPr>
        <p:grpSpPr>
          <a:xfrm>
            <a:off x="535943" y="4193543"/>
            <a:ext cx="647195" cy="647195"/>
            <a:chOff x="0" y="0"/>
            <a:chExt cx="862927" cy="862927"/>
          </a:xfrm>
        </p:grpSpPr>
        <p:sp>
          <p:nvSpPr>
            <p:cNvPr id="21" name="Freeform 21"/>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2" name="Group 22"/>
          <p:cNvGrpSpPr/>
          <p:nvPr/>
        </p:nvGrpSpPr>
        <p:grpSpPr>
          <a:xfrm>
            <a:off x="548640" y="4206240"/>
            <a:ext cx="621792" cy="621792"/>
            <a:chOff x="0" y="0"/>
            <a:chExt cx="829056" cy="829056"/>
          </a:xfrm>
        </p:grpSpPr>
        <p:sp>
          <p:nvSpPr>
            <p:cNvPr id="23" name="Freeform 23"/>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24" name="TextBox 24"/>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02</a:t>
              </a:r>
            </a:p>
          </p:txBody>
        </p:sp>
      </p:grpSp>
      <p:grpSp>
        <p:nvGrpSpPr>
          <p:cNvPr id="25" name="Group 25"/>
          <p:cNvGrpSpPr/>
          <p:nvPr/>
        </p:nvGrpSpPr>
        <p:grpSpPr>
          <a:xfrm>
            <a:off x="1371600" y="4152900"/>
            <a:ext cx="7315200" cy="621792"/>
            <a:chOff x="0" y="0"/>
            <a:chExt cx="9753600" cy="829056"/>
          </a:xfrm>
        </p:grpSpPr>
        <p:sp>
          <p:nvSpPr>
            <p:cNvPr id="26" name="Freeform 26"/>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27" name="TextBox 27"/>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a:solidFill>
                    <a:srgbClr val="1A1A1A"/>
                  </a:solidFill>
                  <a:latin typeface="프리텐다드 Bold"/>
                  <a:ea typeface="프리텐다드 Bold"/>
                  <a:cs typeface="프리텐다드 Bold"/>
                  <a:sym typeface="프리텐다드 Bold"/>
                </a:rPr>
                <a:t>3,352장 </a:t>
              </a:r>
              <a:r>
                <a:rPr lang="en-US" sz="2600" b="1" dirty="0" err="1">
                  <a:solidFill>
                    <a:srgbClr val="1A1A1A"/>
                  </a:solidFill>
                  <a:latin typeface="프리텐다드 Bold"/>
                  <a:ea typeface="프리텐다드 Bold"/>
                  <a:cs typeface="프리텐다드 Bold"/>
                  <a:sym typeface="프리텐다드 Bold"/>
                </a:rPr>
                <a:t>전수</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직접</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라벨링</a:t>
              </a:r>
              <a:endParaRPr lang="en-US" sz="2600" b="1" dirty="0">
                <a:solidFill>
                  <a:srgbClr val="1A1A1A"/>
                </a:solidFill>
                <a:latin typeface="프리텐다드 Bold"/>
                <a:ea typeface="프리텐다드 Bold"/>
                <a:cs typeface="프리텐다드 Bold"/>
                <a:sym typeface="프리텐다드 Bold"/>
              </a:endParaRPr>
            </a:p>
          </p:txBody>
        </p:sp>
      </p:grpSp>
      <p:sp>
        <p:nvSpPr>
          <p:cNvPr id="28" name="TextBox 28"/>
          <p:cNvSpPr txBox="1"/>
          <p:nvPr/>
        </p:nvSpPr>
        <p:spPr>
          <a:xfrm>
            <a:off x="1295400" y="4783455"/>
            <a:ext cx="7315200" cy="676275"/>
          </a:xfrm>
          <a:prstGeom prst="rect">
            <a:avLst/>
          </a:prstGeom>
        </p:spPr>
        <p:txBody>
          <a:bodyPr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- 5명 </a:t>
            </a:r>
            <a:r>
              <a:rPr lang="en-US" sz="2199" dirty="0" err="1">
                <a:solidFill>
                  <a:srgbClr val="6B6B6B"/>
                </a:solidFill>
                <a:latin typeface="프리텐다드"/>
                <a:ea typeface="프리텐다드"/>
                <a:cs typeface="프리텐다드"/>
                <a:sym typeface="프리텐다드"/>
              </a:rPr>
              <a:t>분담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자체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제작</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라벨링</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도구</a:t>
            </a:r>
            <a:r>
              <a:rPr lang="en-US" sz="2199" dirty="0">
                <a:solidFill>
                  <a:srgbClr val="6B6B6B"/>
                </a:solidFill>
                <a:latin typeface="프리텐다드"/>
                <a:ea typeface="프리텐다드"/>
                <a:cs typeface="프리텐다드"/>
                <a:sym typeface="프리텐다드"/>
              </a:rPr>
              <a:t> </a:t>
            </a:r>
            <a:r>
              <a:rPr lang="ko-KR" altLang="en-US" sz="2199" dirty="0">
                <a:solidFill>
                  <a:srgbClr val="6B6B6B"/>
                </a:solidFill>
                <a:latin typeface="프리텐다드"/>
                <a:ea typeface="프리텐다드"/>
                <a:cs typeface="프리텐다드"/>
                <a:sym typeface="프리텐다드"/>
              </a:rPr>
              <a:t>활용</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오답</a:t>
            </a:r>
            <a:r>
              <a:rPr lang="en-US" sz="2199" dirty="0">
                <a:solidFill>
                  <a:srgbClr val="6B6B6B"/>
                </a:solidFill>
                <a:latin typeface="프리텐다드"/>
                <a:ea typeface="프리텐다드"/>
                <a:cs typeface="프리텐다드"/>
                <a:sym typeface="프리텐다드"/>
              </a:rPr>
              <a:t> 446장을 </a:t>
            </a:r>
            <a:r>
              <a:rPr lang="en-US" sz="2199" dirty="0" err="1">
                <a:solidFill>
                  <a:srgbClr val="6B6B6B"/>
                </a:solidFill>
                <a:latin typeface="프리텐다드"/>
                <a:ea typeface="프리텐다드"/>
                <a:cs typeface="프리텐다드"/>
                <a:sym typeface="프리텐다드"/>
              </a:rPr>
              <a:t>사람이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다시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보고</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오류</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수정</a:t>
            </a:r>
            <a:endParaRPr lang="en-US" sz="2199" dirty="0">
              <a:solidFill>
                <a:srgbClr val="6B6B6B"/>
              </a:solidFill>
              <a:latin typeface="프리텐다드"/>
              <a:ea typeface="프리텐다드"/>
              <a:cs typeface="프리텐다드"/>
              <a:sym typeface="프리텐다드"/>
            </a:endParaRPr>
          </a:p>
        </p:txBody>
      </p:sp>
      <p:grpSp>
        <p:nvGrpSpPr>
          <p:cNvPr id="29" name="Group 29"/>
          <p:cNvGrpSpPr/>
          <p:nvPr/>
        </p:nvGrpSpPr>
        <p:grpSpPr>
          <a:xfrm>
            <a:off x="535943" y="6296663"/>
            <a:ext cx="647195" cy="647195"/>
            <a:chOff x="0" y="0"/>
            <a:chExt cx="862927" cy="862927"/>
          </a:xfrm>
        </p:grpSpPr>
        <p:sp>
          <p:nvSpPr>
            <p:cNvPr id="30" name="Freeform 30"/>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1" name="Group 31"/>
          <p:cNvGrpSpPr/>
          <p:nvPr/>
        </p:nvGrpSpPr>
        <p:grpSpPr>
          <a:xfrm>
            <a:off x="548640" y="6309360"/>
            <a:ext cx="621792" cy="621792"/>
            <a:chOff x="0" y="0"/>
            <a:chExt cx="829056" cy="829056"/>
          </a:xfrm>
        </p:grpSpPr>
        <p:sp>
          <p:nvSpPr>
            <p:cNvPr id="32" name="Freeform 32"/>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33" name="TextBox 33"/>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03</a:t>
              </a:r>
            </a:p>
          </p:txBody>
        </p:sp>
      </p:grpSp>
      <p:grpSp>
        <p:nvGrpSpPr>
          <p:cNvPr id="34" name="Group 34"/>
          <p:cNvGrpSpPr/>
          <p:nvPr/>
        </p:nvGrpSpPr>
        <p:grpSpPr>
          <a:xfrm>
            <a:off x="1371600" y="6309360"/>
            <a:ext cx="7315200" cy="621792"/>
            <a:chOff x="0" y="0"/>
            <a:chExt cx="9753600" cy="829056"/>
          </a:xfrm>
        </p:grpSpPr>
        <p:sp>
          <p:nvSpPr>
            <p:cNvPr id="35" name="Freeform 35"/>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36" name="TextBox 36"/>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err="1">
                  <a:solidFill>
                    <a:srgbClr val="1A1A1A"/>
                  </a:solidFill>
                  <a:latin typeface="프리텐다드 Bold"/>
                  <a:ea typeface="프리텐다드 Bold"/>
                  <a:cs typeface="프리텐다드 Bold"/>
                  <a:sym typeface="프리텐다드 Bold"/>
                </a:rPr>
                <a:t>약점</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유형만</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골라</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추가</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촬영</a:t>
              </a:r>
              <a:endParaRPr lang="en-US" sz="2600" b="1" dirty="0">
                <a:solidFill>
                  <a:srgbClr val="1A1A1A"/>
                </a:solidFill>
                <a:latin typeface="프리텐다드 Bold"/>
                <a:ea typeface="프리텐다드 Bold"/>
                <a:cs typeface="프리텐다드 Bold"/>
                <a:sym typeface="프리텐다드 Bold"/>
              </a:endParaRPr>
            </a:p>
          </p:txBody>
        </p:sp>
      </p:grpSp>
      <p:sp>
        <p:nvSpPr>
          <p:cNvPr id="37" name="TextBox 37"/>
          <p:cNvSpPr txBox="1"/>
          <p:nvPr/>
        </p:nvSpPr>
        <p:spPr>
          <a:xfrm>
            <a:off x="1316736" y="6939915"/>
            <a:ext cx="7315200" cy="676275"/>
          </a:xfrm>
          <a:prstGeom prst="rect">
            <a:avLst/>
          </a:prstGeom>
        </p:spPr>
        <p:txBody>
          <a:bodyPr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도트</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인쇄·각인·두</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날짜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병기</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위주</a:t>
            </a:r>
            <a:r>
              <a:rPr lang="ko-KR" altLang="en-US" sz="2199" dirty="0">
                <a:solidFill>
                  <a:srgbClr val="6B6B6B"/>
                </a:solidFill>
                <a:latin typeface="프리텐다드"/>
                <a:ea typeface="프리텐다드"/>
                <a:cs typeface="프리텐다드"/>
                <a:sym typeface="프리텐다드"/>
              </a:rPr>
              <a:t>의 </a:t>
            </a:r>
            <a:r>
              <a:rPr lang="en-US" sz="2199" dirty="0">
                <a:solidFill>
                  <a:srgbClr val="6B6B6B"/>
                </a:solidFill>
                <a:latin typeface="프리텐다드"/>
                <a:ea typeface="프리텐다드"/>
                <a:cs typeface="프리텐다드"/>
                <a:sym typeface="프리텐다드"/>
              </a:rPr>
              <a:t>389장 </a:t>
            </a:r>
            <a:r>
              <a:rPr lang="ko-KR" altLang="en-US" sz="2199" dirty="0">
                <a:solidFill>
                  <a:srgbClr val="6B6B6B"/>
                </a:solidFill>
                <a:latin typeface="프리텐다드"/>
                <a:ea typeface="프리텐다드"/>
                <a:cs typeface="프리텐다드"/>
                <a:sym typeface="프리텐다드"/>
              </a:rPr>
              <a:t>추가 </a:t>
            </a:r>
            <a:r>
              <a:rPr lang="en-US" sz="2199" dirty="0" err="1">
                <a:solidFill>
                  <a:srgbClr val="6B6B6B"/>
                </a:solidFill>
                <a:latin typeface="프리텐다드"/>
                <a:ea typeface="프리텐다드"/>
                <a:cs typeface="프리텐다드"/>
                <a:sym typeface="프리텐다드"/>
              </a:rPr>
              <a:t>촬영</a:t>
            </a:r>
            <a:r>
              <a:rPr lang="en-US" sz="2199" dirty="0">
                <a:solidFill>
                  <a:srgbClr val="6B6B6B"/>
                </a:solidFill>
                <a:latin typeface="프리텐다드"/>
                <a:ea typeface="프리텐다드"/>
                <a:cs typeface="프리텐다드"/>
                <a:sym typeface="프리텐다드"/>
              </a:rPr>
              <a:t> 및 </a:t>
            </a:r>
            <a:r>
              <a:rPr lang="en-US" sz="2199" dirty="0" err="1">
                <a:solidFill>
                  <a:srgbClr val="6B6B6B"/>
                </a:solidFill>
                <a:latin typeface="프리텐다드"/>
                <a:ea typeface="프리텐다드"/>
                <a:cs typeface="프리텐다드"/>
                <a:sym typeface="프리텐다드"/>
              </a:rPr>
              <a:t>라벨링</a:t>
            </a:r>
            <a:r>
              <a:rPr lang="en-US" sz="2199" dirty="0">
                <a:solidFill>
                  <a:srgbClr val="6B6B6B"/>
                </a:solidFill>
                <a:latin typeface="프리텐다드"/>
                <a:ea typeface="프리텐다드"/>
                <a:cs typeface="프리텐다드"/>
                <a:sym typeface="프리텐다드"/>
              </a:rPr>
              <a:t> </a:t>
            </a:r>
          </a:p>
          <a:p>
            <a:pPr algn="l">
              <a:lnSpc>
                <a:spcPts val="2639"/>
              </a:lnSpc>
            </a:pPr>
            <a:r>
              <a:rPr lang="en-US" sz="2199" dirty="0">
                <a:solidFill>
                  <a:srgbClr val="6B6B6B"/>
                </a:solidFill>
                <a:latin typeface="프리텐다드"/>
                <a:ea typeface="프리텐다드"/>
                <a:cs typeface="프리텐다드"/>
                <a:sym typeface="프리텐다드"/>
              </a:rPr>
              <a:t>- 한 </a:t>
            </a:r>
            <a:r>
              <a:rPr lang="en-US" sz="2199" dirty="0" err="1">
                <a:solidFill>
                  <a:srgbClr val="6B6B6B"/>
                </a:solidFill>
                <a:latin typeface="프리텐다드"/>
                <a:ea typeface="프리텐다드"/>
                <a:cs typeface="프리텐다드"/>
                <a:sym typeface="프리텐다드"/>
              </a:rPr>
              <a:t>번도</a:t>
            </a:r>
            <a:r>
              <a:rPr lang="en-US" sz="2199" dirty="0">
                <a:solidFill>
                  <a:srgbClr val="6B6B6B"/>
                </a:solidFill>
                <a:latin typeface="프리텐다드"/>
                <a:ea typeface="프리텐다드"/>
                <a:cs typeface="프리텐다드"/>
                <a:sym typeface="프리텐다드"/>
              </a:rPr>
              <a:t> 본 적 </a:t>
            </a:r>
            <a:r>
              <a:rPr lang="en-US" sz="2199" dirty="0" err="1">
                <a:solidFill>
                  <a:srgbClr val="6B6B6B"/>
                </a:solidFill>
                <a:latin typeface="프리텐다드"/>
                <a:ea typeface="프리텐다드"/>
                <a:cs typeface="프리텐다드"/>
                <a:sym typeface="프리텐다드"/>
              </a:rPr>
              <a:t>없는</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시험지로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사용</a:t>
            </a:r>
            <a:endParaRPr lang="en-US" sz="2199" dirty="0">
              <a:solidFill>
                <a:srgbClr val="6B6B6B"/>
              </a:solidFill>
              <a:latin typeface="프리텐다드"/>
              <a:ea typeface="프리텐다드"/>
              <a:cs typeface="프리텐다드"/>
              <a:sym typeface="프리텐다드"/>
            </a:endParaRPr>
          </a:p>
        </p:txBody>
      </p:sp>
      <p:grpSp>
        <p:nvGrpSpPr>
          <p:cNvPr id="38" name="Group 38"/>
          <p:cNvGrpSpPr/>
          <p:nvPr/>
        </p:nvGrpSpPr>
        <p:grpSpPr>
          <a:xfrm>
            <a:off x="9131303" y="1907543"/>
            <a:ext cx="8620763" cy="6426203"/>
            <a:chOff x="0" y="0"/>
            <a:chExt cx="11494351" cy="8568271"/>
          </a:xfrm>
        </p:grpSpPr>
        <p:sp>
          <p:nvSpPr>
            <p:cNvPr id="39" name="Freeform 39"/>
            <p:cNvSpPr/>
            <p:nvPr/>
          </p:nvSpPr>
          <p:spPr>
            <a:xfrm>
              <a:off x="0" y="0"/>
              <a:ext cx="11494262" cy="8568182"/>
            </a:xfrm>
            <a:custGeom>
              <a:avLst/>
              <a:gdLst/>
              <a:ahLst/>
              <a:cxnLst/>
              <a:rect l="l" t="t" r="r" b="b"/>
              <a:pathLst>
                <a:path w="11494262" h="8568182">
                  <a:moveTo>
                    <a:pt x="0" y="195834"/>
                  </a:moveTo>
                  <a:cubicBezTo>
                    <a:pt x="0" y="87757"/>
                    <a:pt x="87757" y="0"/>
                    <a:pt x="195834" y="0"/>
                  </a:cubicBezTo>
                  <a:lnTo>
                    <a:pt x="11298428" y="0"/>
                  </a:lnTo>
                  <a:cubicBezTo>
                    <a:pt x="11406632" y="0"/>
                    <a:pt x="11494262" y="87757"/>
                    <a:pt x="11494262" y="195834"/>
                  </a:cubicBezTo>
                  <a:lnTo>
                    <a:pt x="11494262" y="8372348"/>
                  </a:lnTo>
                  <a:cubicBezTo>
                    <a:pt x="11494262" y="8480552"/>
                    <a:pt x="11406505" y="8568182"/>
                    <a:pt x="11298428" y="8568182"/>
                  </a:cubicBezTo>
                  <a:lnTo>
                    <a:pt x="195834" y="8568182"/>
                  </a:lnTo>
                  <a:cubicBezTo>
                    <a:pt x="87757" y="8568309"/>
                    <a:pt x="0" y="8480552"/>
                    <a:pt x="0" y="8372348"/>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40" name="TextBox 40"/>
          <p:cNvSpPr txBox="1"/>
          <p:nvPr/>
        </p:nvSpPr>
        <p:spPr>
          <a:xfrm>
            <a:off x="9509760" y="2231136"/>
            <a:ext cx="786384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데이터 분리</a:t>
            </a:r>
          </a:p>
        </p:txBody>
      </p:sp>
      <p:grpSp>
        <p:nvGrpSpPr>
          <p:cNvPr id="41" name="Group 41"/>
          <p:cNvGrpSpPr/>
          <p:nvPr/>
        </p:nvGrpSpPr>
        <p:grpSpPr>
          <a:xfrm>
            <a:off x="9497063" y="2821943"/>
            <a:ext cx="1195835" cy="1031243"/>
            <a:chOff x="0" y="0"/>
            <a:chExt cx="1594447" cy="1374991"/>
          </a:xfrm>
        </p:grpSpPr>
        <p:sp>
          <p:nvSpPr>
            <p:cNvPr id="42" name="Freeform 42"/>
            <p:cNvSpPr/>
            <p:nvPr/>
          </p:nvSpPr>
          <p:spPr>
            <a:xfrm>
              <a:off x="0" y="0"/>
              <a:ext cx="1594485" cy="1375029"/>
            </a:xfrm>
            <a:custGeom>
              <a:avLst/>
              <a:gdLst/>
              <a:ahLst/>
              <a:cxnLst/>
              <a:rect l="l" t="t" r="r" b="b"/>
              <a:pathLst>
                <a:path w="1594485" h="1375029">
                  <a:moveTo>
                    <a:pt x="0" y="0"/>
                  </a:moveTo>
                  <a:lnTo>
                    <a:pt x="1594485" y="0"/>
                  </a:lnTo>
                  <a:lnTo>
                    <a:pt x="1594485" y="1375029"/>
                  </a:lnTo>
                  <a:lnTo>
                    <a:pt x="0" y="137502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3" name="Group 43"/>
          <p:cNvGrpSpPr/>
          <p:nvPr/>
        </p:nvGrpSpPr>
        <p:grpSpPr>
          <a:xfrm>
            <a:off x="10667495" y="2821943"/>
            <a:ext cx="6718811" cy="1031243"/>
            <a:chOff x="0" y="0"/>
            <a:chExt cx="8958415" cy="1374991"/>
          </a:xfrm>
        </p:grpSpPr>
        <p:sp>
          <p:nvSpPr>
            <p:cNvPr id="44" name="Freeform 44"/>
            <p:cNvSpPr/>
            <p:nvPr/>
          </p:nvSpPr>
          <p:spPr>
            <a:xfrm>
              <a:off x="0" y="0"/>
              <a:ext cx="8958453" cy="1375029"/>
            </a:xfrm>
            <a:custGeom>
              <a:avLst/>
              <a:gdLst/>
              <a:ahLst/>
              <a:cxnLst/>
              <a:rect l="l" t="t" r="r" b="b"/>
              <a:pathLst>
                <a:path w="8958453" h="1375029">
                  <a:moveTo>
                    <a:pt x="0" y="0"/>
                  </a:moveTo>
                  <a:lnTo>
                    <a:pt x="8958453" y="0"/>
                  </a:lnTo>
                  <a:lnTo>
                    <a:pt x="8958453" y="1375029"/>
                  </a:lnTo>
                  <a:lnTo>
                    <a:pt x="0" y="1375029"/>
                  </a:lnTo>
                  <a:close/>
                </a:path>
              </a:pathLst>
            </a:custGeom>
            <a:solidFill>
              <a:srgbClr val="BDBDBD"/>
            </a:solidFill>
            <a:ln w="25400" cap="sq">
              <a:solidFill>
                <a:srgbClr val="BDBDBD"/>
              </a:solidFill>
              <a:prstDash val="solid"/>
              <a:miter/>
            </a:ln>
          </p:spPr>
          <p:txBody>
            <a:bodyPr/>
            <a:lstStyle/>
            <a:p>
              <a:endParaRPr lang="ko-KR" altLang="en-US"/>
            </a:p>
          </p:txBody>
        </p:sp>
      </p:grpSp>
      <p:grpSp>
        <p:nvGrpSpPr>
          <p:cNvPr id="45" name="Group 45"/>
          <p:cNvGrpSpPr/>
          <p:nvPr/>
        </p:nvGrpSpPr>
        <p:grpSpPr>
          <a:xfrm>
            <a:off x="9509760" y="2834640"/>
            <a:ext cx="1170432" cy="1005840"/>
            <a:chOff x="0" y="0"/>
            <a:chExt cx="1560576" cy="1341120"/>
          </a:xfrm>
        </p:grpSpPr>
        <p:sp>
          <p:nvSpPr>
            <p:cNvPr id="46" name="Freeform 46"/>
            <p:cNvSpPr/>
            <p:nvPr/>
          </p:nvSpPr>
          <p:spPr>
            <a:xfrm>
              <a:off x="0" y="0"/>
              <a:ext cx="1560576" cy="1341120"/>
            </a:xfrm>
            <a:custGeom>
              <a:avLst/>
              <a:gdLst/>
              <a:ahLst/>
              <a:cxnLst/>
              <a:rect l="l" t="t" r="r" b="b"/>
              <a:pathLst>
                <a:path w="1560576" h="1341120">
                  <a:moveTo>
                    <a:pt x="0" y="0"/>
                  </a:moveTo>
                  <a:lnTo>
                    <a:pt x="1560576" y="0"/>
                  </a:lnTo>
                  <a:lnTo>
                    <a:pt x="1560576" y="1341120"/>
                  </a:lnTo>
                  <a:lnTo>
                    <a:pt x="0" y="1341120"/>
                  </a:lnTo>
                  <a:close/>
                </a:path>
              </a:pathLst>
            </a:custGeom>
            <a:blipFill>
              <a:blip r:embed="rId3">
                <a:alphaModFix amt="0"/>
              </a:blip>
              <a:stretch>
                <a:fillRect l="-60260" r="-60260"/>
              </a:stretch>
            </a:blipFill>
          </p:spPr>
          <p:txBody>
            <a:bodyPr/>
            <a:lstStyle/>
            <a:p>
              <a:endParaRPr lang="ko-KR" altLang="en-US"/>
            </a:p>
          </p:txBody>
        </p:sp>
        <p:sp>
          <p:nvSpPr>
            <p:cNvPr id="47" name="TextBox 47"/>
            <p:cNvSpPr txBox="1"/>
            <p:nvPr/>
          </p:nvSpPr>
          <p:spPr>
            <a:xfrm>
              <a:off x="0" y="-9525"/>
              <a:ext cx="1560576" cy="1350645"/>
            </a:xfrm>
            <a:prstGeom prst="rect">
              <a:avLst/>
            </a:prstGeom>
          </p:spPr>
          <p:txBody>
            <a:bodyPr lIns="0" tIns="0" rIns="0" bIns="0" rtlCol="0" anchor="ctr"/>
            <a:lstStyle/>
            <a:p>
              <a:pPr algn="ctr">
                <a:lnSpc>
                  <a:spcPts val="2879"/>
                </a:lnSpc>
              </a:pPr>
              <a:r>
                <a:rPr lang="en-US" sz="2400">
                  <a:solidFill>
                    <a:srgbClr val="FFFFFF"/>
                  </a:solidFill>
                  <a:latin typeface="프리텐다드"/>
                  <a:ea typeface="프리텐다드"/>
                  <a:cs typeface="프리텐다드"/>
                  <a:sym typeface="프리텐다드"/>
                </a:rPr>
                <a:t>500</a:t>
              </a:r>
            </a:p>
          </p:txBody>
        </p:sp>
      </p:grpSp>
      <p:grpSp>
        <p:nvGrpSpPr>
          <p:cNvPr id="48" name="Group 48"/>
          <p:cNvGrpSpPr/>
          <p:nvPr/>
        </p:nvGrpSpPr>
        <p:grpSpPr>
          <a:xfrm>
            <a:off x="10680192" y="2834640"/>
            <a:ext cx="6693408" cy="1005840"/>
            <a:chOff x="0" y="0"/>
            <a:chExt cx="8924544" cy="1341120"/>
          </a:xfrm>
        </p:grpSpPr>
        <p:sp>
          <p:nvSpPr>
            <p:cNvPr id="49" name="Freeform 49"/>
            <p:cNvSpPr/>
            <p:nvPr/>
          </p:nvSpPr>
          <p:spPr>
            <a:xfrm>
              <a:off x="0" y="0"/>
              <a:ext cx="8924544" cy="1341120"/>
            </a:xfrm>
            <a:custGeom>
              <a:avLst/>
              <a:gdLst/>
              <a:ahLst/>
              <a:cxnLst/>
              <a:rect l="l" t="t" r="r" b="b"/>
              <a:pathLst>
                <a:path w="8924544" h="1341120">
                  <a:moveTo>
                    <a:pt x="0" y="0"/>
                  </a:moveTo>
                  <a:lnTo>
                    <a:pt x="8924544" y="0"/>
                  </a:lnTo>
                  <a:lnTo>
                    <a:pt x="8924544" y="1341120"/>
                  </a:lnTo>
                  <a:lnTo>
                    <a:pt x="0" y="1341120"/>
                  </a:lnTo>
                  <a:close/>
                </a:path>
              </a:pathLst>
            </a:custGeom>
            <a:blipFill>
              <a:blip r:embed="rId3">
                <a:alphaModFix amt="0"/>
              </a:blip>
              <a:stretch>
                <a:fillRect t="-79664" b="-79664"/>
              </a:stretch>
            </a:blipFill>
          </p:spPr>
          <p:txBody>
            <a:bodyPr/>
            <a:lstStyle/>
            <a:p>
              <a:endParaRPr lang="ko-KR" altLang="en-US"/>
            </a:p>
          </p:txBody>
        </p:sp>
        <p:sp>
          <p:nvSpPr>
            <p:cNvPr id="50" name="TextBox 50"/>
            <p:cNvSpPr txBox="1"/>
            <p:nvPr/>
          </p:nvSpPr>
          <p:spPr>
            <a:xfrm>
              <a:off x="0" y="-9525"/>
              <a:ext cx="8924544" cy="1350645"/>
            </a:xfrm>
            <a:prstGeom prst="rect">
              <a:avLst/>
            </a:prstGeom>
          </p:spPr>
          <p:txBody>
            <a:bodyPr lIns="0" tIns="0" rIns="0" bIns="0" rtlCol="0" anchor="ctr"/>
            <a:lstStyle/>
            <a:p>
              <a:pPr algn="ctr">
                <a:lnSpc>
                  <a:spcPts val="2879"/>
                </a:lnSpc>
              </a:pPr>
              <a:r>
                <a:rPr lang="en-US" sz="2400">
                  <a:solidFill>
                    <a:srgbClr val="1A1A1A"/>
                  </a:solidFill>
                  <a:latin typeface="프리텐다드"/>
                  <a:ea typeface="프리텐다드"/>
                  <a:cs typeface="프리텐다드"/>
                  <a:sym typeface="프리텐다드"/>
                </a:rPr>
                <a:t>2,852</a:t>
              </a:r>
            </a:p>
          </p:txBody>
        </p:sp>
      </p:grpSp>
      <p:sp>
        <p:nvSpPr>
          <p:cNvPr id="51" name="TextBox 51"/>
          <p:cNvSpPr txBox="1"/>
          <p:nvPr/>
        </p:nvSpPr>
        <p:spPr>
          <a:xfrm>
            <a:off x="9509760" y="4013835"/>
            <a:ext cx="7863840" cy="342900"/>
          </a:xfrm>
          <a:prstGeom prst="rect">
            <a:avLst/>
          </a:prstGeom>
        </p:spPr>
        <p:txBody>
          <a:bodyPr lIns="0" tIns="0" rIns="0" bIns="0" rtlCol="0" anchor="t">
            <a:spAutoFit/>
          </a:bodyPr>
          <a:lstStyle/>
          <a:p>
            <a:pPr algn="l">
              <a:lnSpc>
                <a:spcPts val="2639"/>
              </a:lnSpc>
            </a:pPr>
            <a:r>
              <a:rPr lang="en-US" sz="2199" b="1" dirty="0" err="1">
                <a:solidFill>
                  <a:srgbClr val="8B0000"/>
                </a:solidFill>
                <a:latin typeface="프리텐다드 Bold"/>
                <a:ea typeface="프리텐다드 Bold"/>
                <a:cs typeface="프리텐다드 Bold"/>
                <a:sym typeface="프리텐다드 Bold"/>
              </a:rPr>
              <a:t>봉인</a:t>
            </a:r>
            <a:r>
              <a:rPr lang="en-US" sz="2199" b="1" dirty="0">
                <a:solidFill>
                  <a:srgbClr val="8B0000"/>
                </a:solidFill>
                <a:latin typeface="프리텐다드 Bold"/>
                <a:ea typeface="프리텐다드 Bold"/>
                <a:cs typeface="프리텐다드 Bold"/>
                <a:sym typeface="프리텐다드 Bold"/>
              </a:rPr>
              <a:t> 500장</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학습·규칙</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도출에</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쓰지</a:t>
            </a:r>
            <a:r>
              <a:rPr lang="en-US" sz="2199" dirty="0">
                <a:solidFill>
                  <a:srgbClr val="1A1A1A"/>
                </a:solidFill>
                <a:latin typeface="프리텐다드"/>
                <a:ea typeface="프리텐다드"/>
                <a:cs typeface="프리텐다드"/>
                <a:sym typeface="프리텐다드"/>
              </a:rPr>
              <a:t> 않</a:t>
            </a:r>
            <a:r>
              <a:rPr lang="ko-KR" altLang="en-US" sz="2199" dirty="0">
                <a:solidFill>
                  <a:srgbClr val="1A1A1A"/>
                </a:solidFill>
                <a:latin typeface="프리텐다드"/>
                <a:ea typeface="프리텐다드"/>
                <a:cs typeface="프리텐다드"/>
                <a:sym typeface="프리텐다드"/>
              </a:rPr>
              <a:t>고 측정 전용으로 사용</a:t>
            </a:r>
            <a:endParaRPr lang="en-US" sz="2199" dirty="0">
              <a:solidFill>
                <a:srgbClr val="1A1A1A"/>
              </a:solidFill>
              <a:latin typeface="프리텐다드"/>
              <a:ea typeface="프리텐다드"/>
              <a:cs typeface="프리텐다드"/>
              <a:sym typeface="프리텐다드"/>
            </a:endParaRPr>
          </a:p>
        </p:txBody>
      </p:sp>
      <p:sp>
        <p:nvSpPr>
          <p:cNvPr id="52" name="TextBox 52"/>
          <p:cNvSpPr txBox="1"/>
          <p:nvPr/>
        </p:nvSpPr>
        <p:spPr>
          <a:xfrm>
            <a:off x="9509760" y="4447861"/>
            <a:ext cx="7863840" cy="342900"/>
          </a:xfrm>
          <a:prstGeom prst="rect">
            <a:avLst/>
          </a:prstGeom>
        </p:spPr>
        <p:txBody>
          <a:bodyPr lIns="0" tIns="0" rIns="0" bIns="0" rtlCol="0" anchor="t">
            <a:spAutoFit/>
          </a:bodyPr>
          <a:lstStyle/>
          <a:p>
            <a:pPr algn="l">
              <a:lnSpc>
                <a:spcPts val="2639"/>
              </a:lnSpc>
            </a:pPr>
            <a:r>
              <a:rPr lang="en-US" sz="2199" b="1">
                <a:solidFill>
                  <a:srgbClr val="8B0000"/>
                </a:solidFill>
                <a:latin typeface="프리텐다드 Bold"/>
                <a:ea typeface="프리텐다드 Bold"/>
                <a:cs typeface="프리텐다드 Bold"/>
                <a:sym typeface="프리텐다드 Bold"/>
              </a:rPr>
              <a:t>판정용 2,852장</a:t>
            </a:r>
            <a:r>
              <a:rPr lang="en-US" sz="2199">
                <a:solidFill>
                  <a:srgbClr val="1A1A1A"/>
                </a:solidFill>
                <a:latin typeface="프리텐다드"/>
                <a:ea typeface="프리텐다드"/>
                <a:cs typeface="프리텐다드"/>
                <a:sym typeface="프리텐다드"/>
              </a:rPr>
              <a:t>  모든 채택·기각 판정</a:t>
            </a:r>
          </a:p>
        </p:txBody>
      </p:sp>
      <p:sp>
        <p:nvSpPr>
          <p:cNvPr id="53" name="TextBox 53"/>
          <p:cNvSpPr txBox="1"/>
          <p:nvPr/>
        </p:nvSpPr>
        <p:spPr>
          <a:xfrm>
            <a:off x="9509760" y="5394960"/>
            <a:ext cx="786384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채택 기준</a:t>
            </a:r>
          </a:p>
        </p:txBody>
      </p:sp>
      <p:sp>
        <p:nvSpPr>
          <p:cNvPr id="54" name="TextBox 54"/>
          <p:cNvSpPr txBox="1"/>
          <p:nvPr/>
        </p:nvSpPr>
        <p:spPr>
          <a:xfrm>
            <a:off x="9509760" y="5970651"/>
            <a:ext cx="7863840" cy="1009650"/>
          </a:xfrm>
          <a:prstGeom prst="rect">
            <a:avLst/>
          </a:prstGeom>
        </p:spPr>
        <p:txBody>
          <a:bodyPr lIns="0" tIns="0" rIns="0" bIns="0" rtlCol="0" anchor="t">
            <a:spAutoFit/>
          </a:bodyPr>
          <a:lstStyle/>
          <a:p>
            <a:pPr marL="530859" lvl="1" indent="-265430" algn="l">
              <a:lnSpc>
                <a:spcPts val="2639"/>
              </a:lnSpc>
              <a:buFont typeface="Arial"/>
              <a:buChar char="•"/>
            </a:pPr>
            <a:r>
              <a:rPr lang="en-US" sz="2199" dirty="0" err="1">
                <a:solidFill>
                  <a:srgbClr val="1A1A1A"/>
                </a:solidFill>
                <a:latin typeface="프리텐다드"/>
                <a:ea typeface="프리텐다드"/>
                <a:cs typeface="프리텐다드"/>
                <a:sym typeface="프리텐다드"/>
              </a:rPr>
              <a:t>새로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맞힌</a:t>
            </a:r>
            <a:r>
              <a:rPr lang="en-US" sz="2199" dirty="0">
                <a:solidFill>
                  <a:srgbClr val="1A1A1A"/>
                </a:solidFill>
                <a:latin typeface="프리텐다드"/>
                <a:ea typeface="프리텐다드"/>
                <a:cs typeface="프리텐다드"/>
                <a:sym typeface="프리텐다드"/>
              </a:rPr>
              <a:t> 장(</a:t>
            </a:r>
            <a:r>
              <a:rPr lang="en-US" sz="2199" dirty="0" err="1">
                <a:solidFill>
                  <a:srgbClr val="1A1A1A"/>
                </a:solidFill>
                <a:latin typeface="프리텐다드"/>
                <a:ea typeface="프리텐다드"/>
                <a:cs typeface="프리텐다드"/>
                <a:sym typeface="프리텐다드"/>
              </a:rPr>
              <a:t>회복</a:t>
            </a:r>
            <a:r>
              <a:rPr lang="en-US" sz="2199" dirty="0">
                <a:solidFill>
                  <a:srgbClr val="1A1A1A"/>
                </a:solidFill>
                <a:latin typeface="프리텐다드"/>
                <a:ea typeface="프리텐다드"/>
                <a:cs typeface="프리텐다드"/>
                <a:sym typeface="프리텐다드"/>
              </a:rPr>
              <a:t>)과 </a:t>
            </a:r>
            <a:r>
              <a:rPr lang="en-US" sz="2199" dirty="0" err="1">
                <a:solidFill>
                  <a:srgbClr val="1A1A1A"/>
                </a:solidFill>
                <a:latin typeface="프리텐다드"/>
                <a:ea typeface="프리텐다드"/>
                <a:cs typeface="프리텐다드"/>
                <a:sym typeface="프리텐다드"/>
              </a:rPr>
              <a:t>새로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틀린</a:t>
            </a:r>
            <a:r>
              <a:rPr lang="en-US" sz="2199" dirty="0">
                <a:solidFill>
                  <a:srgbClr val="1A1A1A"/>
                </a:solidFill>
                <a:latin typeface="프리텐다드"/>
                <a:ea typeface="프리텐다드"/>
                <a:cs typeface="프리텐다드"/>
                <a:sym typeface="프리텐다드"/>
              </a:rPr>
              <a:t> 장(</a:t>
            </a:r>
            <a:r>
              <a:rPr lang="en-US" sz="2199" dirty="0" err="1">
                <a:solidFill>
                  <a:srgbClr val="1A1A1A"/>
                </a:solidFill>
                <a:latin typeface="프리텐다드"/>
                <a:ea typeface="프리텐다드"/>
                <a:cs typeface="프리텐다드"/>
                <a:sym typeface="프리텐다드"/>
              </a:rPr>
              <a:t>퇴보</a:t>
            </a:r>
            <a:r>
              <a:rPr lang="en-US" sz="2199" dirty="0">
                <a:solidFill>
                  <a:srgbClr val="1A1A1A"/>
                </a:solidFill>
                <a:latin typeface="프리텐다드"/>
                <a:ea typeface="프리텐다드"/>
                <a:cs typeface="프리텐다드"/>
                <a:sym typeface="프리텐다드"/>
              </a:rPr>
              <a:t>)을 </a:t>
            </a:r>
            <a:r>
              <a:rPr lang="ko-KR" altLang="en-US" sz="2199" dirty="0">
                <a:solidFill>
                  <a:srgbClr val="1A1A1A"/>
                </a:solidFill>
                <a:latin typeface="프리텐다드"/>
                <a:ea typeface="프리텐다드"/>
                <a:cs typeface="프리텐다드"/>
                <a:sym typeface="프리텐다드"/>
              </a:rPr>
              <a:t>각각 산정</a:t>
            </a:r>
            <a:endParaRPr lang="en-US" sz="2199" dirty="0">
              <a:solidFill>
                <a:srgbClr val="1A1A1A"/>
              </a:solidFill>
              <a:latin typeface="프리텐다드"/>
              <a:ea typeface="프리텐다드"/>
              <a:cs typeface="프리텐다드"/>
              <a:sym typeface="프리텐다드"/>
            </a:endParaRPr>
          </a:p>
          <a:p>
            <a:pPr marL="530859" lvl="1" indent="-265430" algn="l">
              <a:lnSpc>
                <a:spcPts val="2639"/>
              </a:lnSpc>
              <a:buFont typeface="Arial"/>
              <a:buChar char="•"/>
            </a:pPr>
            <a:r>
              <a:rPr lang="en-US" sz="2199" dirty="0" err="1">
                <a:solidFill>
                  <a:srgbClr val="1A1A1A"/>
                </a:solidFill>
                <a:latin typeface="프리텐다드"/>
                <a:ea typeface="프리텐다드"/>
                <a:cs typeface="프리텐다드"/>
                <a:sym typeface="프리텐다드"/>
              </a:rPr>
              <a:t>퇴보가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회복의</a:t>
            </a:r>
            <a:r>
              <a:rPr lang="en-US" sz="2199" dirty="0">
                <a:solidFill>
                  <a:srgbClr val="1A1A1A"/>
                </a:solidFill>
                <a:latin typeface="프리텐다드"/>
                <a:ea typeface="프리텐다드"/>
                <a:cs typeface="프리텐다드"/>
                <a:sym typeface="프리텐다드"/>
              </a:rPr>
              <a:t> 1/3을 </a:t>
            </a:r>
            <a:r>
              <a:rPr lang="en-US" sz="2199" dirty="0" err="1">
                <a:solidFill>
                  <a:srgbClr val="1A1A1A"/>
                </a:solidFill>
                <a:latin typeface="프리텐다드"/>
                <a:ea typeface="프리텐다드"/>
                <a:cs typeface="프리텐다드"/>
                <a:sym typeface="프리텐다드"/>
              </a:rPr>
              <a:t>넘으면</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점수가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올라도</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기각</a:t>
            </a:r>
            <a:endParaRPr lang="en-US" sz="2199" dirty="0">
              <a:solidFill>
                <a:srgbClr val="1A1A1A"/>
              </a:solidFill>
              <a:latin typeface="프리텐다드"/>
              <a:ea typeface="프리텐다드"/>
              <a:cs typeface="프리텐다드"/>
              <a:sym typeface="프리텐다드"/>
            </a:endParaRPr>
          </a:p>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±1%p는 </a:t>
            </a:r>
            <a:r>
              <a:rPr lang="en-US" sz="2199" dirty="0" err="1">
                <a:solidFill>
                  <a:srgbClr val="1A1A1A"/>
                </a:solidFill>
                <a:latin typeface="프리텐다드"/>
                <a:ea typeface="프리텐다드"/>
                <a:cs typeface="프리텐다드"/>
                <a:sym typeface="프리텐다드"/>
              </a:rPr>
              <a:t>잡음으로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보고</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근거로</a:t>
            </a:r>
            <a:r>
              <a:rPr lang="en-US" sz="2199" dirty="0">
                <a:solidFill>
                  <a:srgbClr val="1A1A1A"/>
                </a:solidFill>
                <a:latin typeface="프리텐다드"/>
                <a:ea typeface="프리텐다드"/>
                <a:cs typeface="프리텐다드"/>
                <a:sym typeface="프리텐다드"/>
              </a:rPr>
              <a:t> </a:t>
            </a:r>
            <a:r>
              <a:rPr lang="ko-KR" altLang="en-US" sz="2199" dirty="0">
                <a:solidFill>
                  <a:srgbClr val="1A1A1A"/>
                </a:solidFill>
                <a:latin typeface="프리텐다드"/>
                <a:ea typeface="프리텐다드"/>
                <a:cs typeface="프리텐다드"/>
                <a:sym typeface="프리텐다드"/>
              </a:rPr>
              <a:t>사용하지 않음</a:t>
            </a:r>
            <a:endParaRPr lang="en-US" sz="2199" dirty="0">
              <a:solidFill>
                <a:srgbClr val="1A1A1A"/>
              </a:solidFill>
              <a:latin typeface="프리텐다드"/>
              <a:ea typeface="프리텐다드"/>
              <a:cs typeface="프리텐다드"/>
              <a:sym typeface="프리텐다드"/>
            </a:endParaRPr>
          </a:p>
        </p:txBody>
      </p:sp>
      <p:grpSp>
        <p:nvGrpSpPr>
          <p:cNvPr id="55" name="Group 55"/>
          <p:cNvGrpSpPr/>
          <p:nvPr/>
        </p:nvGrpSpPr>
        <p:grpSpPr>
          <a:xfrm>
            <a:off x="535943" y="8674103"/>
            <a:ext cx="17216123" cy="793499"/>
            <a:chOff x="0" y="0"/>
            <a:chExt cx="22954831" cy="1057999"/>
          </a:xfrm>
        </p:grpSpPr>
        <p:sp>
          <p:nvSpPr>
            <p:cNvPr id="56" name="Freeform 5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7" name="Group 57"/>
          <p:cNvGrpSpPr/>
          <p:nvPr/>
        </p:nvGrpSpPr>
        <p:grpSpPr>
          <a:xfrm>
            <a:off x="822960" y="8686800"/>
            <a:ext cx="16642080" cy="768096"/>
            <a:chOff x="0" y="0"/>
            <a:chExt cx="22189440" cy="1024128"/>
          </a:xfrm>
        </p:grpSpPr>
        <p:sp>
          <p:nvSpPr>
            <p:cNvPr id="58" name="Freeform 5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9" name="TextBox 5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정답</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라벨도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검증</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대상</a:t>
              </a:r>
              <a:r>
                <a:rPr lang="en-US" sz="2499" dirty="0">
                  <a:solidFill>
                    <a:srgbClr val="1A1A1A"/>
                  </a:solidFill>
                  <a:latin typeface="프리텐다드"/>
                  <a:ea typeface="프리텐다드"/>
                  <a:cs typeface="프리텐다드"/>
                  <a:sym typeface="프리텐다드"/>
                </a:rPr>
                <a:t> : </a:t>
              </a:r>
              <a:r>
                <a:rPr lang="en-US" sz="2499" dirty="0" err="1">
                  <a:solidFill>
                    <a:srgbClr val="1A1A1A"/>
                  </a:solidFill>
                  <a:latin typeface="프리텐다드"/>
                  <a:ea typeface="프리텐다드"/>
                  <a:cs typeface="프리텐다드"/>
                  <a:sym typeface="프리텐다드"/>
                </a:rPr>
                <a:t>고친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라벨</a:t>
              </a:r>
              <a:r>
                <a:rPr lang="en-US" sz="2499" dirty="0">
                  <a:solidFill>
                    <a:srgbClr val="1A1A1A"/>
                  </a:solidFill>
                  <a:latin typeface="프리텐다드"/>
                  <a:ea typeface="프리텐다드"/>
                  <a:cs typeface="프리텐다드"/>
                  <a:sym typeface="프리텐다드"/>
                </a:rPr>
                <a:t> 16장 중 </a:t>
              </a:r>
              <a:r>
                <a:rPr lang="en-US" sz="2499" b="1" dirty="0">
                  <a:solidFill>
                    <a:srgbClr val="8B0000"/>
                  </a:solidFill>
                  <a:latin typeface="프리텐다드 Bold"/>
                  <a:ea typeface="프리텐다드 Bold"/>
                  <a:cs typeface="프리텐다드 Bold"/>
                  <a:sym typeface="프리텐다드 Bold"/>
                </a:rPr>
                <a:t>11장은 </a:t>
              </a:r>
              <a:r>
                <a:rPr lang="en-US" sz="2499" b="1" dirty="0" err="1">
                  <a:solidFill>
                    <a:srgbClr val="8B0000"/>
                  </a:solidFill>
                  <a:latin typeface="프리텐다드 Bold"/>
                  <a:ea typeface="프리텐다드 Bold"/>
                  <a:cs typeface="프리텐다드 Bold"/>
                  <a:sym typeface="프리텐다드 Bold"/>
                </a:rPr>
                <a:t>모델이</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맞은</a:t>
              </a:r>
              <a:r>
                <a:rPr lang="en-US" sz="2499" b="1" dirty="0">
                  <a:solidFill>
                    <a:srgbClr val="8B0000"/>
                  </a:solidFill>
                  <a:latin typeface="프리텐다드 Bold"/>
                  <a:ea typeface="프리텐다드 Bold"/>
                  <a:cs typeface="프리텐다드 Bold"/>
                  <a:sym typeface="프리텐다드 Bold"/>
                </a:rPr>
                <a:t> 쪽</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3</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아키텍처</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설계</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왜 이 구조인가</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6</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전체 파이프라인 : </a:t>
              </a:r>
              <a:r>
                <a:rPr lang="en-US" sz="3800" b="1">
                  <a:solidFill>
                    <a:srgbClr val="8B0000"/>
                  </a:solidFill>
                  <a:latin typeface="프리텐다드 Bold"/>
                  <a:ea typeface="프리텐다드 Bold"/>
                  <a:cs typeface="프리텐다드 Bold"/>
                  <a:sym typeface="프리텐다드 Bold"/>
                </a:rPr>
                <a:t>쉬운 사진은 한 번에, 어려운 사진에만 비용을</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7</a:t>
              </a:r>
            </a:p>
          </p:txBody>
        </p:sp>
      </p:grpSp>
      <p:grpSp>
        <p:nvGrpSpPr>
          <p:cNvPr id="11" name="Group 11"/>
          <p:cNvGrpSpPr/>
          <p:nvPr/>
        </p:nvGrpSpPr>
        <p:grpSpPr>
          <a:xfrm>
            <a:off x="535943" y="1998983"/>
            <a:ext cx="2585723" cy="2128523"/>
            <a:chOff x="0" y="0"/>
            <a:chExt cx="3447631" cy="2838031"/>
          </a:xfrm>
        </p:grpSpPr>
        <p:sp>
          <p:nvSpPr>
            <p:cNvPr id="12" name="Freeform 12"/>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13" name="Group 13"/>
          <p:cNvGrpSpPr/>
          <p:nvPr/>
        </p:nvGrpSpPr>
        <p:grpSpPr>
          <a:xfrm>
            <a:off x="739114" y="2290579"/>
            <a:ext cx="2179382" cy="585216"/>
            <a:chOff x="0" y="0"/>
            <a:chExt cx="2905843" cy="780288"/>
          </a:xfrm>
        </p:grpSpPr>
        <p:sp>
          <p:nvSpPr>
            <p:cNvPr id="14" name="Freeform 14"/>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15" name="TextBox 15"/>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입력</a:t>
              </a:r>
            </a:p>
          </p:txBody>
        </p:sp>
      </p:grpSp>
      <p:grpSp>
        <p:nvGrpSpPr>
          <p:cNvPr id="16" name="Group 16"/>
          <p:cNvGrpSpPr/>
          <p:nvPr/>
        </p:nvGrpSpPr>
        <p:grpSpPr>
          <a:xfrm>
            <a:off x="739114" y="2555750"/>
            <a:ext cx="2023712" cy="1280160"/>
            <a:chOff x="0" y="0"/>
            <a:chExt cx="2698282" cy="1706880"/>
          </a:xfrm>
        </p:grpSpPr>
        <p:sp>
          <p:nvSpPr>
            <p:cNvPr id="17" name="Freeform 17"/>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8" name="TextBox 18"/>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EXIF 보정</a:t>
              </a:r>
            </a:p>
            <a:p>
              <a:pPr algn="l">
                <a:lnSpc>
                  <a:spcPts val="2279"/>
                </a:lnSpc>
              </a:pPr>
              <a:r>
                <a:rPr lang="en-US" sz="1899">
                  <a:solidFill>
                    <a:srgbClr val="FFFFFF"/>
                  </a:solidFill>
                  <a:latin typeface="프리텐다드"/>
                  <a:ea typeface="프리텐다드"/>
                  <a:cs typeface="프리텐다드"/>
                  <a:sym typeface="프리텐다드"/>
                </a:rPr>
                <a:t>640px 축소</a:t>
              </a:r>
            </a:p>
          </p:txBody>
        </p:sp>
      </p:grpSp>
      <p:grpSp>
        <p:nvGrpSpPr>
          <p:cNvPr id="19" name="Group 19"/>
          <p:cNvGrpSpPr/>
          <p:nvPr/>
        </p:nvGrpSpPr>
        <p:grpSpPr>
          <a:xfrm>
            <a:off x="3108960" y="2743200"/>
            <a:ext cx="365760" cy="548640"/>
            <a:chOff x="0" y="0"/>
            <a:chExt cx="487680" cy="731520"/>
          </a:xfrm>
        </p:grpSpPr>
        <p:sp>
          <p:nvSpPr>
            <p:cNvPr id="20" name="Freeform 20"/>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21" name="TextBox 21"/>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22" name="Group 22"/>
          <p:cNvGrpSpPr/>
          <p:nvPr/>
        </p:nvGrpSpPr>
        <p:grpSpPr>
          <a:xfrm>
            <a:off x="3462023" y="1998983"/>
            <a:ext cx="2585723" cy="2128523"/>
            <a:chOff x="0" y="0"/>
            <a:chExt cx="3447631" cy="2838031"/>
          </a:xfrm>
        </p:grpSpPr>
        <p:sp>
          <p:nvSpPr>
            <p:cNvPr id="23" name="Freeform 23"/>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4" name="Group 24"/>
          <p:cNvGrpSpPr/>
          <p:nvPr/>
        </p:nvGrpSpPr>
        <p:grpSpPr>
          <a:xfrm>
            <a:off x="4182857" y="2139696"/>
            <a:ext cx="1144056" cy="585216"/>
            <a:chOff x="0" y="0"/>
            <a:chExt cx="1525408" cy="780288"/>
          </a:xfrm>
        </p:grpSpPr>
        <p:sp>
          <p:nvSpPr>
            <p:cNvPr id="25" name="Freeform 25"/>
            <p:cNvSpPr/>
            <p:nvPr/>
          </p:nvSpPr>
          <p:spPr>
            <a:xfrm>
              <a:off x="0" y="0"/>
              <a:ext cx="1525408" cy="780288"/>
            </a:xfrm>
            <a:custGeom>
              <a:avLst/>
              <a:gdLst/>
              <a:ahLst/>
              <a:cxnLst/>
              <a:rect l="l" t="t" r="r" b="b"/>
              <a:pathLst>
                <a:path w="1525408" h="780288">
                  <a:moveTo>
                    <a:pt x="0" y="0"/>
                  </a:moveTo>
                  <a:lnTo>
                    <a:pt x="1525408" y="0"/>
                  </a:lnTo>
                  <a:lnTo>
                    <a:pt x="1525408" y="780288"/>
                  </a:lnTo>
                  <a:lnTo>
                    <a:pt x="0" y="780288"/>
                  </a:lnTo>
                  <a:close/>
                </a:path>
              </a:pathLst>
            </a:custGeom>
            <a:blipFill>
              <a:blip r:embed="rId3">
                <a:alphaModFix amt="0"/>
              </a:blip>
              <a:stretch>
                <a:fillRect t="-35247" r="-123793" b="-35247"/>
              </a:stretch>
            </a:blipFill>
          </p:spPr>
          <p:txBody>
            <a:bodyPr/>
            <a:lstStyle/>
            <a:p>
              <a:endParaRPr lang="ko-KR" altLang="en-US"/>
            </a:p>
          </p:txBody>
        </p:sp>
        <p:sp>
          <p:nvSpPr>
            <p:cNvPr id="26" name="TextBox 26"/>
            <p:cNvSpPr txBox="1"/>
            <p:nvPr/>
          </p:nvSpPr>
          <p:spPr>
            <a:xfrm>
              <a:off x="0" y="-9525"/>
              <a:ext cx="1525408" cy="789813"/>
            </a:xfrm>
            <a:prstGeom prst="rect">
              <a:avLst/>
            </a:prstGeom>
          </p:spPr>
          <p:txBody>
            <a:bodyPr lIns="0" tIns="0" rIns="0" bIns="0" rtlCol="0" anchor="ctr"/>
            <a:lstStyle/>
            <a:p>
              <a:pPr algn="ctr">
                <a:lnSpc>
                  <a:spcPts val="2879"/>
                </a:lnSpc>
              </a:pPr>
              <a:endParaRPr/>
            </a:p>
          </p:txBody>
        </p:sp>
      </p:grpSp>
      <p:grpSp>
        <p:nvGrpSpPr>
          <p:cNvPr id="27" name="Group 27"/>
          <p:cNvGrpSpPr/>
          <p:nvPr/>
        </p:nvGrpSpPr>
        <p:grpSpPr>
          <a:xfrm>
            <a:off x="3566160" y="2743200"/>
            <a:ext cx="2377440" cy="1280160"/>
            <a:chOff x="0" y="0"/>
            <a:chExt cx="3169920" cy="1706880"/>
          </a:xfrm>
        </p:grpSpPr>
        <p:sp>
          <p:nvSpPr>
            <p:cNvPr id="28" name="Freeform 28"/>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29" name="TextBox 29"/>
            <p:cNvSpPr txBox="1"/>
            <p:nvPr/>
          </p:nvSpPr>
          <p:spPr>
            <a:xfrm>
              <a:off x="0" y="0"/>
              <a:ext cx="3169920" cy="1706880"/>
            </a:xfrm>
            <a:prstGeom prst="rect">
              <a:avLst/>
            </a:prstGeom>
          </p:spPr>
          <p:txBody>
            <a:bodyPr lIns="0" tIns="0" rIns="0" bIns="0" rtlCol="0" anchor="ctr"/>
            <a:lstStyle/>
            <a:p>
              <a:pPr algn="l">
                <a:lnSpc>
                  <a:spcPts val="2279"/>
                </a:lnSpc>
              </a:pPr>
              <a:endParaRPr/>
            </a:p>
          </p:txBody>
        </p:sp>
      </p:grpSp>
      <p:grpSp>
        <p:nvGrpSpPr>
          <p:cNvPr id="30" name="Group 30"/>
          <p:cNvGrpSpPr/>
          <p:nvPr/>
        </p:nvGrpSpPr>
        <p:grpSpPr>
          <a:xfrm>
            <a:off x="6035040" y="2743200"/>
            <a:ext cx="365760" cy="548640"/>
            <a:chOff x="0" y="0"/>
            <a:chExt cx="487680" cy="731520"/>
          </a:xfrm>
        </p:grpSpPr>
        <p:sp>
          <p:nvSpPr>
            <p:cNvPr id="31" name="Freeform 31"/>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32" name="TextBox 32"/>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33" name="Group 33"/>
          <p:cNvGrpSpPr/>
          <p:nvPr/>
        </p:nvGrpSpPr>
        <p:grpSpPr>
          <a:xfrm>
            <a:off x="6388103" y="1998983"/>
            <a:ext cx="2585723" cy="2128523"/>
            <a:chOff x="0" y="0"/>
            <a:chExt cx="3447631" cy="2838031"/>
          </a:xfrm>
        </p:grpSpPr>
        <p:sp>
          <p:nvSpPr>
            <p:cNvPr id="34" name="Freeform 34"/>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5" name="Group 35"/>
          <p:cNvGrpSpPr/>
          <p:nvPr/>
        </p:nvGrpSpPr>
        <p:grpSpPr>
          <a:xfrm>
            <a:off x="6400805" y="2139696"/>
            <a:ext cx="2560320" cy="585216"/>
            <a:chOff x="0" y="0"/>
            <a:chExt cx="3413760" cy="780288"/>
          </a:xfrm>
        </p:grpSpPr>
        <p:sp>
          <p:nvSpPr>
            <p:cNvPr id="36" name="Freeform 36"/>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37" name="TextBox 37"/>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38" name="Group 38"/>
          <p:cNvGrpSpPr/>
          <p:nvPr/>
        </p:nvGrpSpPr>
        <p:grpSpPr>
          <a:xfrm>
            <a:off x="6492240" y="2743200"/>
            <a:ext cx="2377440" cy="1280160"/>
            <a:chOff x="0" y="0"/>
            <a:chExt cx="3169920" cy="1706880"/>
          </a:xfrm>
        </p:grpSpPr>
        <p:sp>
          <p:nvSpPr>
            <p:cNvPr id="39" name="Freeform 39"/>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40" name="TextBox 40"/>
            <p:cNvSpPr txBox="1"/>
            <p:nvPr/>
          </p:nvSpPr>
          <p:spPr>
            <a:xfrm>
              <a:off x="0" y="0"/>
              <a:ext cx="3169920" cy="1706880"/>
            </a:xfrm>
            <a:prstGeom prst="rect">
              <a:avLst/>
            </a:prstGeom>
          </p:spPr>
          <p:txBody>
            <a:bodyPr lIns="0" tIns="0" rIns="0" bIns="0" rtlCol="0" anchor="ctr"/>
            <a:lstStyle/>
            <a:p>
              <a:pPr algn="l">
                <a:lnSpc>
                  <a:spcPts val="2279"/>
                </a:lnSpc>
              </a:pPr>
              <a:endParaRPr/>
            </a:p>
          </p:txBody>
        </p:sp>
      </p:grpSp>
      <p:grpSp>
        <p:nvGrpSpPr>
          <p:cNvPr id="41" name="Group 41"/>
          <p:cNvGrpSpPr/>
          <p:nvPr/>
        </p:nvGrpSpPr>
        <p:grpSpPr>
          <a:xfrm>
            <a:off x="8961120" y="2743200"/>
            <a:ext cx="365760" cy="548640"/>
            <a:chOff x="0" y="0"/>
            <a:chExt cx="487680" cy="731520"/>
          </a:xfrm>
        </p:grpSpPr>
        <p:sp>
          <p:nvSpPr>
            <p:cNvPr id="42" name="Freeform 42"/>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43" name="TextBox 43"/>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44" name="Group 44"/>
          <p:cNvGrpSpPr/>
          <p:nvPr/>
        </p:nvGrpSpPr>
        <p:grpSpPr>
          <a:xfrm>
            <a:off x="9314183" y="1998983"/>
            <a:ext cx="2585723" cy="2128523"/>
            <a:chOff x="0" y="0"/>
            <a:chExt cx="3447631" cy="2838031"/>
          </a:xfrm>
        </p:grpSpPr>
        <p:sp>
          <p:nvSpPr>
            <p:cNvPr id="45" name="Freeform 45"/>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46" name="Group 46"/>
          <p:cNvGrpSpPr/>
          <p:nvPr/>
        </p:nvGrpSpPr>
        <p:grpSpPr>
          <a:xfrm>
            <a:off x="9326885" y="2139696"/>
            <a:ext cx="2560320" cy="585216"/>
            <a:chOff x="0" y="0"/>
            <a:chExt cx="3413760" cy="780288"/>
          </a:xfrm>
        </p:grpSpPr>
        <p:sp>
          <p:nvSpPr>
            <p:cNvPr id="47" name="Freeform 47"/>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48" name="TextBox 48"/>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49" name="Group 49"/>
          <p:cNvGrpSpPr/>
          <p:nvPr/>
        </p:nvGrpSpPr>
        <p:grpSpPr>
          <a:xfrm>
            <a:off x="9418320" y="2743200"/>
            <a:ext cx="2377440" cy="1280160"/>
            <a:chOff x="0" y="0"/>
            <a:chExt cx="3169920" cy="1706880"/>
          </a:xfrm>
        </p:grpSpPr>
        <p:sp>
          <p:nvSpPr>
            <p:cNvPr id="50" name="Freeform 50"/>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51" name="TextBox 51"/>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grpSp>
        <p:nvGrpSpPr>
          <p:cNvPr id="52" name="Group 52"/>
          <p:cNvGrpSpPr/>
          <p:nvPr/>
        </p:nvGrpSpPr>
        <p:grpSpPr>
          <a:xfrm>
            <a:off x="11887200" y="2743200"/>
            <a:ext cx="365760" cy="548640"/>
            <a:chOff x="0" y="0"/>
            <a:chExt cx="487680" cy="731520"/>
          </a:xfrm>
        </p:grpSpPr>
        <p:sp>
          <p:nvSpPr>
            <p:cNvPr id="53" name="Freeform 53"/>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54" name="TextBox 54"/>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55" name="Group 55"/>
          <p:cNvGrpSpPr/>
          <p:nvPr/>
        </p:nvGrpSpPr>
        <p:grpSpPr>
          <a:xfrm>
            <a:off x="12240263" y="1998983"/>
            <a:ext cx="2585723" cy="2128523"/>
            <a:chOff x="0" y="0"/>
            <a:chExt cx="3447631" cy="2838031"/>
          </a:xfrm>
        </p:grpSpPr>
        <p:sp>
          <p:nvSpPr>
            <p:cNvPr id="56" name="Freeform 56"/>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57" name="Group 57"/>
          <p:cNvGrpSpPr/>
          <p:nvPr/>
        </p:nvGrpSpPr>
        <p:grpSpPr>
          <a:xfrm>
            <a:off x="12252965" y="2139696"/>
            <a:ext cx="2560320" cy="585216"/>
            <a:chOff x="0" y="0"/>
            <a:chExt cx="3413760" cy="780288"/>
          </a:xfrm>
        </p:grpSpPr>
        <p:sp>
          <p:nvSpPr>
            <p:cNvPr id="58" name="Freeform 58"/>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59" name="TextBox 59"/>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60" name="Group 60"/>
          <p:cNvGrpSpPr/>
          <p:nvPr/>
        </p:nvGrpSpPr>
        <p:grpSpPr>
          <a:xfrm>
            <a:off x="12344400" y="2743200"/>
            <a:ext cx="2377440" cy="1280160"/>
            <a:chOff x="0" y="0"/>
            <a:chExt cx="3169920" cy="1706880"/>
          </a:xfrm>
        </p:grpSpPr>
        <p:sp>
          <p:nvSpPr>
            <p:cNvPr id="61" name="Freeform 61"/>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62" name="TextBox 62"/>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grpSp>
        <p:nvGrpSpPr>
          <p:cNvPr id="63" name="Group 63"/>
          <p:cNvGrpSpPr/>
          <p:nvPr/>
        </p:nvGrpSpPr>
        <p:grpSpPr>
          <a:xfrm>
            <a:off x="14813280" y="2743200"/>
            <a:ext cx="365760" cy="548640"/>
            <a:chOff x="0" y="0"/>
            <a:chExt cx="487680" cy="731520"/>
          </a:xfrm>
        </p:grpSpPr>
        <p:sp>
          <p:nvSpPr>
            <p:cNvPr id="64" name="Freeform 64"/>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65" name="TextBox 65"/>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66" name="Group 66"/>
          <p:cNvGrpSpPr/>
          <p:nvPr/>
        </p:nvGrpSpPr>
        <p:grpSpPr>
          <a:xfrm>
            <a:off x="15166343" y="1998983"/>
            <a:ext cx="2585723" cy="2128523"/>
            <a:chOff x="0" y="0"/>
            <a:chExt cx="3447631" cy="2838031"/>
          </a:xfrm>
        </p:grpSpPr>
        <p:sp>
          <p:nvSpPr>
            <p:cNvPr id="67" name="Freeform 67"/>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68" name="Group 68"/>
          <p:cNvGrpSpPr/>
          <p:nvPr/>
        </p:nvGrpSpPr>
        <p:grpSpPr>
          <a:xfrm>
            <a:off x="15270480" y="2743200"/>
            <a:ext cx="2377440" cy="1280160"/>
            <a:chOff x="0" y="0"/>
            <a:chExt cx="3169920" cy="1706880"/>
          </a:xfrm>
        </p:grpSpPr>
        <p:sp>
          <p:nvSpPr>
            <p:cNvPr id="69" name="Freeform 69"/>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70" name="TextBox 70"/>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sp>
        <p:nvSpPr>
          <p:cNvPr id="71" name="TextBox 71"/>
          <p:cNvSpPr txBox="1"/>
          <p:nvPr/>
        </p:nvSpPr>
        <p:spPr>
          <a:xfrm>
            <a:off x="535943" y="4323083"/>
            <a:ext cx="5486400" cy="285750"/>
          </a:xfrm>
          <a:prstGeom prst="rect">
            <a:avLst/>
          </a:prstGeom>
        </p:spPr>
        <p:txBody>
          <a:bodyPr lIns="0" tIns="0" rIns="0" bIns="0" rtlCol="0" anchor="t">
            <a:spAutoFit/>
          </a:bodyPr>
          <a:lstStyle/>
          <a:p>
            <a:pPr algn="l">
              <a:lnSpc>
                <a:spcPts val="2279"/>
              </a:lnSpc>
            </a:pPr>
            <a:r>
              <a:rPr lang="en-US" sz="1899">
                <a:solidFill>
                  <a:srgbClr val="8B0000"/>
                </a:solidFill>
                <a:latin typeface="프리텐다드"/>
                <a:ea typeface="프리텐다드"/>
                <a:cs typeface="프리텐다드"/>
                <a:sym typeface="프리텐다드"/>
              </a:rPr>
              <a:t>■ </a:t>
            </a:r>
            <a:r>
              <a:rPr lang="en-US" sz="1899">
                <a:solidFill>
                  <a:srgbClr val="6B6B6B"/>
                </a:solidFill>
                <a:latin typeface="프리텐다드"/>
                <a:ea typeface="프리텐다드"/>
                <a:cs typeface="프리텐다드"/>
                <a:sym typeface="프리텐다드"/>
              </a:rPr>
              <a:t>사전학습 딥러닝 모델      </a:t>
            </a:r>
          </a:p>
        </p:txBody>
      </p:sp>
      <p:sp>
        <p:nvSpPr>
          <p:cNvPr id="72" name="TextBox 72"/>
          <p:cNvSpPr txBox="1"/>
          <p:nvPr/>
        </p:nvSpPr>
        <p:spPr>
          <a:xfrm>
            <a:off x="3017520" y="4323083"/>
            <a:ext cx="5486400" cy="285750"/>
          </a:xfrm>
          <a:prstGeom prst="rect">
            <a:avLst/>
          </a:prstGeom>
        </p:spPr>
        <p:txBody>
          <a:bodyPr lIns="0" tIns="0" rIns="0" bIns="0" rtlCol="0" anchor="t">
            <a:spAutoFit/>
          </a:bodyPr>
          <a:lstStyle/>
          <a:p>
            <a:pPr algn="l">
              <a:lnSpc>
                <a:spcPts val="2279"/>
              </a:lnSpc>
            </a:pPr>
            <a:r>
              <a:rPr lang="en-US" sz="1899">
                <a:solidFill>
                  <a:srgbClr val="6B6B6B"/>
                </a:solidFill>
                <a:latin typeface="프리텐다드"/>
                <a:ea typeface="프리텐다드"/>
                <a:cs typeface="프리텐다드"/>
                <a:sym typeface="프리텐다드"/>
              </a:rPr>
              <a:t>■ 규칙·재인식 단계</a:t>
            </a:r>
          </a:p>
        </p:txBody>
      </p:sp>
      <p:sp>
        <p:nvSpPr>
          <p:cNvPr id="73" name="TextBox 73"/>
          <p:cNvSpPr txBox="1"/>
          <p:nvPr/>
        </p:nvSpPr>
        <p:spPr>
          <a:xfrm>
            <a:off x="548640" y="4937760"/>
            <a:ext cx="1719072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조건이 맞을 때만 동작하는 단계</a:t>
            </a:r>
          </a:p>
        </p:txBody>
      </p:sp>
      <p:graphicFrame>
        <p:nvGraphicFramePr>
          <p:cNvPr id="74" name="Table 74"/>
          <p:cNvGraphicFramePr>
            <a:graphicFrameLocks noGrp="1"/>
          </p:cNvGraphicFramePr>
          <p:nvPr>
            <p:extLst>
              <p:ext uri="{D42A27DB-BD31-4B8C-83A1-F6EECF244321}">
                <p14:modId xmlns:p14="http://schemas.microsoft.com/office/powerpoint/2010/main" val="1866058091"/>
              </p:ext>
            </p:extLst>
          </p:nvPr>
        </p:nvGraphicFramePr>
        <p:xfrm>
          <a:off x="548640" y="5486400"/>
          <a:ext cx="17119599" cy="2863850"/>
        </p:xfrm>
        <a:graphic>
          <a:graphicData uri="http://schemas.openxmlformats.org/drawingml/2006/table">
            <a:tbl>
              <a:tblPr/>
              <a:tblGrid>
                <a:gridCol w="3103053">
                  <a:extLst>
                    <a:ext uri="{9D8B030D-6E8A-4147-A177-3AD203B41FA5}">
                      <a16:colId xmlns:a16="http://schemas.microsoft.com/office/drawing/2014/main" val="20000"/>
                    </a:ext>
                  </a:extLst>
                </a:gridCol>
                <a:gridCol w="5275693">
                  <a:extLst>
                    <a:ext uri="{9D8B030D-6E8A-4147-A177-3AD203B41FA5}">
                      <a16:colId xmlns:a16="http://schemas.microsoft.com/office/drawing/2014/main" val="20001"/>
                    </a:ext>
                  </a:extLst>
                </a:gridCol>
                <a:gridCol w="6180960">
                  <a:extLst>
                    <a:ext uri="{9D8B030D-6E8A-4147-A177-3AD203B41FA5}">
                      <a16:colId xmlns:a16="http://schemas.microsoft.com/office/drawing/2014/main" val="20002"/>
                    </a:ext>
                  </a:extLst>
                </a:gridCol>
                <a:gridCol w="2559893">
                  <a:extLst>
                    <a:ext uri="{9D8B030D-6E8A-4147-A177-3AD203B41FA5}">
                      <a16:colId xmlns:a16="http://schemas.microsoft.com/office/drawing/2014/main" val="20003"/>
                    </a:ext>
                  </a:extLst>
                </a:gridCol>
              </a:tblGrid>
              <a:tr h="572770">
                <a:tc>
                  <a:txBody>
                    <a:bodyPr/>
                    <a:lstStyle/>
                    <a:p>
                      <a:pPr algn="l">
                        <a:lnSpc>
                          <a:spcPts val="2400"/>
                        </a:lnSpc>
                        <a:defRPr/>
                      </a:pPr>
                      <a:r>
                        <a:rPr lang="en-US" sz="2000">
                          <a:solidFill>
                            <a:srgbClr val="FFFFFF"/>
                          </a:solidFill>
                          <a:latin typeface="프리텐다드"/>
                          <a:ea typeface="프리텐다드"/>
                          <a:cs typeface="프리텐다드"/>
                          <a:sym typeface="프리텐다드"/>
                        </a:rPr>
                        <a:t>장치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발동 조건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동작</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dirty="0" err="1">
                          <a:solidFill>
                            <a:srgbClr val="FFFFFF"/>
                          </a:solidFill>
                          <a:latin typeface="프리텐다드"/>
                          <a:ea typeface="프리텐다드"/>
                          <a:cs typeface="프리텐다드"/>
                          <a:sym typeface="프리텐다드"/>
                        </a:rPr>
                        <a:t>효과</a:t>
                      </a:r>
                      <a:r>
                        <a:rPr lang="en-US" sz="2000" dirty="0">
                          <a:solidFill>
                            <a:srgbClr val="FFFFFF"/>
                          </a:solidFill>
                          <a:latin typeface="프리텐다드"/>
                          <a:ea typeface="프리텐다드"/>
                          <a:cs typeface="프리텐다드"/>
                          <a:sym typeface="프리텐다드"/>
                        </a:rPr>
                        <a:t> (</a:t>
                      </a:r>
                      <a:r>
                        <a:rPr lang="ko-KR" altLang="en-US" sz="2000" dirty="0">
                          <a:solidFill>
                            <a:srgbClr val="FFFFFF"/>
                          </a:solidFill>
                          <a:latin typeface="프리텐다드"/>
                          <a:ea typeface="프리텐다드"/>
                          <a:cs typeface="프리텐다드"/>
                          <a:sym typeface="프리텐다드"/>
                        </a:rPr>
                        <a:t>회복 </a:t>
                      </a:r>
                      <a:r>
                        <a:rPr lang="en-US" altLang="ko-KR" sz="2000" dirty="0">
                          <a:solidFill>
                            <a:srgbClr val="FFFFFF"/>
                          </a:solidFill>
                          <a:latin typeface="프리텐다드"/>
                          <a:ea typeface="프리텐다드"/>
                          <a:cs typeface="프리텐다드"/>
                          <a:sym typeface="프리텐다드"/>
                        </a:rPr>
                        <a:t>/ </a:t>
                      </a:r>
                      <a:r>
                        <a:rPr lang="ko-KR" altLang="en-US" sz="2000" dirty="0">
                          <a:solidFill>
                            <a:srgbClr val="FFFFFF"/>
                          </a:solidFill>
                          <a:latin typeface="프리텐다드"/>
                          <a:ea typeface="프리텐다드"/>
                          <a:cs typeface="프리텐다드"/>
                          <a:sym typeface="프리텐다드"/>
                        </a:rPr>
                        <a:t>퇴보</a:t>
                      </a:r>
                      <a:r>
                        <a:rPr lang="en-US" altLang="ko-KR" sz="2000" dirty="0">
                          <a:solidFill>
                            <a:srgbClr val="FFFFFF"/>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이웃 줄 재탐지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후보 줄 옆에 크기 비슷한 숫자 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그 주변만 원본 해상도로 다시 탐지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+5 / −1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2770">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도트</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인쇄</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폴백</a:t>
                      </a:r>
                      <a:r>
                        <a:rPr lang="en-US" sz="2000" dirty="0">
                          <a:solidFill>
                            <a:srgbClr val="1A1A1A"/>
                          </a:solidFill>
                          <a:latin typeface="프리텐다드"/>
                          <a:ea typeface="프리텐다드"/>
                          <a:cs typeface="프리텐다드"/>
                          <a:sym typeface="프리텐다드"/>
                        </a:rPr>
                        <a:t>(</a:t>
                      </a:r>
                      <a:r>
                        <a:rPr lang="ko-KR" altLang="en-US" sz="2000" dirty="0">
                          <a:solidFill>
                            <a:srgbClr val="1A1A1A"/>
                          </a:solidFill>
                          <a:latin typeface="프리텐다드"/>
                          <a:ea typeface="프리텐다드"/>
                          <a:cs typeface="프리텐다드"/>
                          <a:sym typeface="프리텐다드"/>
                        </a:rPr>
                        <a:t>대체 경로</a:t>
                      </a:r>
                      <a:r>
                        <a:rPr lang="en-US" altLang="ko-KR" sz="2000" dirty="0">
                          <a:solidFill>
                            <a:srgbClr val="1A1A1A"/>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후보 없음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점을 이어 붙이는 전처리 후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+17 / −0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파인튜닝 인식기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그래도 후보 없음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우리 라벨로 학습한 인식기로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+7 / −0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시간 예산 가드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예상</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소요</a:t>
                      </a:r>
                      <a:r>
                        <a:rPr lang="en-US" sz="2000" dirty="0">
                          <a:solidFill>
                            <a:srgbClr val="1A1A1A"/>
                          </a:solidFill>
                          <a:latin typeface="프리텐다드"/>
                          <a:ea typeface="프리텐다드"/>
                          <a:cs typeface="프리텐다드"/>
                          <a:sym typeface="프리텐다드"/>
                        </a:rPr>
                        <a:t> 2,000초 </a:t>
                      </a:r>
                      <a:r>
                        <a:rPr lang="en-US" sz="2000" dirty="0" err="1">
                          <a:solidFill>
                            <a:srgbClr val="1A1A1A"/>
                          </a:solidFill>
                          <a:latin typeface="프리텐다드"/>
                          <a:ea typeface="프리텐다드"/>
                          <a:cs typeface="프리텐다드"/>
                          <a:sym typeface="프리텐다드"/>
                        </a:rPr>
                        <a:t>초과</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폴백</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생략</a:t>
                      </a:r>
                      <a:r>
                        <a:rPr lang="en-US" sz="2000" dirty="0">
                          <a:solidFill>
                            <a:srgbClr val="1A1A1A"/>
                          </a:solidFill>
                          <a:latin typeface="프리텐다드"/>
                          <a:ea typeface="프리텐다드"/>
                          <a:cs typeface="프리텐다드"/>
                          <a:sym typeface="프리텐다드"/>
                        </a:rPr>
                        <a:t> → 2패스 </a:t>
                      </a:r>
                      <a:r>
                        <a:rPr lang="en-US" sz="2000" dirty="0" err="1">
                          <a:solidFill>
                            <a:srgbClr val="1A1A1A"/>
                          </a:solidFill>
                          <a:latin typeface="프리텐다드"/>
                          <a:ea typeface="프리텐다드"/>
                          <a:cs typeface="프리텐다드"/>
                          <a:sym typeface="프리텐다드"/>
                        </a:rPr>
                        <a:t>생략</a:t>
                      </a:r>
                      <a:r>
                        <a:rPr lang="en-US" sz="2000" dirty="0">
                          <a:solidFill>
                            <a:srgbClr val="1A1A1A"/>
                          </a:solidFill>
                          <a:latin typeface="프리텐다드"/>
                          <a:ea typeface="프리텐다드"/>
                          <a:cs typeface="프리텐다드"/>
                          <a:sym typeface="프리텐다드"/>
                        </a:rPr>
                        <a:t> → NONE</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완주</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보장</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114" name="Group 113">
            <a:extLst>
              <a:ext uri="{FF2B5EF4-FFF2-40B4-BE49-F238E27FC236}">
                <a16:creationId xmlns:a16="http://schemas.microsoft.com/office/drawing/2014/main" id="{21B0EDD8-1578-7BB7-92E0-9F98F0FD214F}"/>
              </a:ext>
            </a:extLst>
          </p:cNvPr>
          <p:cNvGrpSpPr/>
          <p:nvPr/>
        </p:nvGrpSpPr>
        <p:grpSpPr>
          <a:xfrm>
            <a:off x="552248" y="8957558"/>
            <a:ext cx="17216123" cy="793499"/>
            <a:chOff x="535943" y="8674103"/>
            <a:chExt cx="17216123" cy="793499"/>
          </a:xfrm>
        </p:grpSpPr>
        <p:grpSp>
          <p:nvGrpSpPr>
            <p:cNvPr id="75" name="Group 75"/>
            <p:cNvGrpSpPr/>
            <p:nvPr/>
          </p:nvGrpSpPr>
          <p:grpSpPr>
            <a:xfrm>
              <a:off x="535943" y="8674103"/>
              <a:ext cx="17216123" cy="793499"/>
              <a:chOff x="0" y="0"/>
              <a:chExt cx="22954831" cy="1057999"/>
            </a:xfrm>
          </p:grpSpPr>
          <p:sp>
            <p:nvSpPr>
              <p:cNvPr id="76" name="Freeform 7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77" name="Group 77"/>
            <p:cNvGrpSpPr/>
            <p:nvPr/>
          </p:nvGrpSpPr>
          <p:grpSpPr>
            <a:xfrm>
              <a:off x="822960" y="8686800"/>
              <a:ext cx="16642080" cy="768096"/>
              <a:chOff x="0" y="0"/>
              <a:chExt cx="22189440" cy="1024128"/>
            </a:xfrm>
          </p:grpSpPr>
          <p:sp>
            <p:nvSpPr>
              <p:cNvPr id="78" name="Freeform 7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79" name="TextBox 7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딥러닝은</a:t>
                </a:r>
                <a:r>
                  <a:rPr lang="en-US" sz="2499" dirty="0">
                    <a:solidFill>
                      <a:srgbClr val="1A1A1A"/>
                    </a:solidFill>
                    <a:latin typeface="프리텐다드"/>
                    <a:ea typeface="프리텐다드"/>
                    <a:cs typeface="프리텐다드"/>
                    <a:sym typeface="프리텐다드"/>
                  </a:rPr>
                  <a:t> </a:t>
                </a:r>
                <a:r>
                  <a:rPr lang="en-US" sz="2499" b="1" dirty="0">
                    <a:solidFill>
                      <a:srgbClr val="8B0000"/>
                    </a:solidFill>
                    <a:latin typeface="프리텐다드 Bold"/>
                    <a:ea typeface="프리텐다드 Bold"/>
                    <a:cs typeface="프리텐다드 Bold"/>
                    <a:sym typeface="프리텐다드 Bold"/>
                  </a:rPr>
                  <a:t>“</a:t>
                </a:r>
                <a:r>
                  <a:rPr lang="ko-KR" altLang="en-US" sz="2499" b="1" dirty="0">
                    <a:solidFill>
                      <a:srgbClr val="8B0000"/>
                    </a:solidFill>
                    <a:latin typeface="프리텐다드 Bold"/>
                    <a:ea typeface="프리텐다드 Bold"/>
                    <a:cs typeface="프리텐다드 Bold"/>
                    <a:sym typeface="프리텐다드 Bold"/>
                  </a:rPr>
                  <a:t>읽기</a:t>
                </a:r>
                <a:r>
                  <a:rPr lang="en-US" altLang="ko-KR" sz="2499" b="1" dirty="0">
                    <a:solidFill>
                      <a:srgbClr val="8B0000"/>
                    </a:solidFill>
                    <a:latin typeface="프리텐다드 Bold"/>
                    <a:ea typeface="프리텐다드 Bold"/>
                    <a:cs typeface="프리텐다드 Bold"/>
                    <a:sym typeface="프리텐다드 Bold"/>
                  </a:rPr>
                  <a:t>” </a:t>
                </a:r>
                <a:r>
                  <a:rPr lang="en-US" sz="2499" dirty="0">
                    <a:solidFill>
                      <a:srgbClr val="1A1A1A"/>
                    </a:solidFill>
                    <a:latin typeface="프리텐다드"/>
                    <a:ea typeface="프리텐다드"/>
                    <a:cs typeface="프리텐다드"/>
                    <a:sym typeface="프리텐다드"/>
                  </a:rPr>
                  <a:t>만, </a:t>
                </a:r>
                <a:r>
                  <a:rPr lang="en-US" sz="2499" dirty="0" err="1">
                    <a:solidFill>
                      <a:srgbClr val="1A1A1A"/>
                    </a:solidFill>
                    <a:latin typeface="프리텐다드"/>
                    <a:ea typeface="프리텐다드"/>
                    <a:cs typeface="프리텐다드"/>
                    <a:sym typeface="프리텐다드"/>
                  </a:rPr>
                  <a:t>소비기한을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고르는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판단은</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설명</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가능한</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규칙</a:t>
                </a:r>
                <a:r>
                  <a:rPr lang="en-US" sz="2499" dirty="0">
                    <a:solidFill>
                      <a:srgbClr val="1A1A1A"/>
                    </a:solidFill>
                    <a:latin typeface="프리텐다드"/>
                    <a:ea typeface="프리텐다드"/>
                    <a:cs typeface="프리텐다드"/>
                    <a:sym typeface="프리텐다드"/>
                  </a:rPr>
                  <a:t> 이 </a:t>
                </a:r>
                <a:r>
                  <a:rPr lang="en-US" sz="2499" dirty="0" err="1">
                    <a:solidFill>
                      <a:srgbClr val="1A1A1A"/>
                    </a:solidFill>
                    <a:latin typeface="프리텐다드"/>
                    <a:ea typeface="프리텐다드"/>
                    <a:cs typeface="프리텐다드"/>
                    <a:sym typeface="프리텐다드"/>
                  </a:rPr>
                  <a:t>맡습니다</a:t>
                </a:r>
                <a:r>
                  <a:rPr lang="en-US" sz="2499" dirty="0">
                    <a:solidFill>
                      <a:srgbClr val="1A1A1A"/>
                    </a:solidFill>
                    <a:latin typeface="프리텐다드"/>
                    <a:ea typeface="프리텐다드"/>
                    <a:cs typeface="프리텐다드"/>
                    <a:sym typeface="프리텐다드"/>
                  </a:rPr>
                  <a:t>.</a:t>
                </a:r>
              </a:p>
            </p:txBody>
          </p:sp>
        </p:grpSp>
      </p:grpSp>
      <p:grpSp>
        <p:nvGrpSpPr>
          <p:cNvPr id="80" name="Group 80"/>
          <p:cNvGrpSpPr/>
          <p:nvPr/>
        </p:nvGrpSpPr>
        <p:grpSpPr>
          <a:xfrm>
            <a:off x="3665189" y="2290579"/>
            <a:ext cx="2179382" cy="585216"/>
            <a:chOff x="0" y="0"/>
            <a:chExt cx="2905843" cy="780288"/>
          </a:xfrm>
        </p:grpSpPr>
        <p:sp>
          <p:nvSpPr>
            <p:cNvPr id="81" name="Freeform 81"/>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82" name="TextBox 82"/>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① 탐지</a:t>
              </a:r>
            </a:p>
          </p:txBody>
        </p:sp>
      </p:grpSp>
      <p:grpSp>
        <p:nvGrpSpPr>
          <p:cNvPr id="83" name="Group 83"/>
          <p:cNvGrpSpPr/>
          <p:nvPr/>
        </p:nvGrpSpPr>
        <p:grpSpPr>
          <a:xfrm>
            <a:off x="3668428" y="2875795"/>
            <a:ext cx="2023712" cy="972188"/>
            <a:chOff x="0" y="0"/>
            <a:chExt cx="2698282" cy="1296251"/>
          </a:xfrm>
        </p:grpSpPr>
        <p:sp>
          <p:nvSpPr>
            <p:cNvPr id="84" name="Freeform 84"/>
            <p:cNvSpPr/>
            <p:nvPr/>
          </p:nvSpPr>
          <p:spPr>
            <a:xfrm>
              <a:off x="0" y="0"/>
              <a:ext cx="2698283" cy="1296251"/>
            </a:xfrm>
            <a:custGeom>
              <a:avLst/>
              <a:gdLst/>
              <a:ahLst/>
              <a:cxnLst/>
              <a:rect l="l" t="t" r="r" b="b"/>
              <a:pathLst>
                <a:path w="2698283" h="1296251">
                  <a:moveTo>
                    <a:pt x="0" y="0"/>
                  </a:moveTo>
                  <a:lnTo>
                    <a:pt x="2698283" y="0"/>
                  </a:lnTo>
                  <a:lnTo>
                    <a:pt x="2698283" y="1296251"/>
                  </a:lnTo>
                  <a:lnTo>
                    <a:pt x="0" y="1296251"/>
                  </a:lnTo>
                  <a:close/>
                </a:path>
              </a:pathLst>
            </a:custGeom>
            <a:blipFill>
              <a:blip r:embed="rId3">
                <a:alphaModFix amt="0"/>
              </a:blip>
              <a:stretch>
                <a:fillRect l="-22422" r="-39901" b="-31678"/>
              </a:stretch>
            </a:blipFill>
          </p:spPr>
          <p:txBody>
            <a:bodyPr/>
            <a:lstStyle/>
            <a:p>
              <a:endParaRPr lang="ko-KR" altLang="en-US"/>
            </a:p>
          </p:txBody>
        </p:sp>
        <p:sp>
          <p:nvSpPr>
            <p:cNvPr id="85" name="TextBox 85"/>
            <p:cNvSpPr txBox="1"/>
            <p:nvPr/>
          </p:nvSpPr>
          <p:spPr>
            <a:xfrm>
              <a:off x="0" y="0"/>
              <a:ext cx="2698282" cy="1296251"/>
            </a:xfrm>
            <a:prstGeom prst="rect">
              <a:avLst/>
            </a:prstGeom>
          </p:spPr>
          <p:txBody>
            <a:bodyPr lIns="0" tIns="0" rIns="0" bIns="0" rtlCol="0" anchor="ctr"/>
            <a:lstStyle/>
            <a:p>
              <a:pPr algn="l">
                <a:lnSpc>
                  <a:spcPts val="2279"/>
                </a:lnSpc>
              </a:pPr>
              <a:endParaRPr/>
            </a:p>
          </p:txBody>
        </p:sp>
      </p:grpSp>
      <p:grpSp>
        <p:nvGrpSpPr>
          <p:cNvPr id="86" name="Group 86"/>
          <p:cNvGrpSpPr/>
          <p:nvPr/>
        </p:nvGrpSpPr>
        <p:grpSpPr>
          <a:xfrm>
            <a:off x="6591269" y="2290579"/>
            <a:ext cx="2179382" cy="1545331"/>
            <a:chOff x="0" y="0"/>
            <a:chExt cx="2905843" cy="2060442"/>
          </a:xfrm>
        </p:grpSpPr>
        <p:grpSp>
          <p:nvGrpSpPr>
            <p:cNvPr id="87" name="Group 87"/>
            <p:cNvGrpSpPr/>
            <p:nvPr/>
          </p:nvGrpSpPr>
          <p:grpSpPr>
            <a:xfrm>
              <a:off x="0" y="0"/>
              <a:ext cx="2905843" cy="780288"/>
              <a:chOff x="0" y="0"/>
              <a:chExt cx="2905843" cy="780288"/>
            </a:xfrm>
          </p:grpSpPr>
          <p:sp>
            <p:nvSpPr>
              <p:cNvPr id="88" name="Freeform 88"/>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89" name="TextBox 89"/>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② 인식</a:t>
                </a:r>
              </a:p>
            </p:txBody>
          </p:sp>
        </p:grpSp>
        <p:grpSp>
          <p:nvGrpSpPr>
            <p:cNvPr id="90" name="Group 90"/>
            <p:cNvGrpSpPr/>
            <p:nvPr/>
          </p:nvGrpSpPr>
          <p:grpSpPr>
            <a:xfrm>
              <a:off x="0" y="353562"/>
              <a:ext cx="2698282" cy="1706880"/>
              <a:chOff x="0" y="0"/>
              <a:chExt cx="2698282" cy="1706880"/>
            </a:xfrm>
          </p:grpSpPr>
          <p:sp>
            <p:nvSpPr>
              <p:cNvPr id="91" name="Freeform 91"/>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92" name="TextBox 92"/>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PP-OCRv5 rec</a:t>
                </a:r>
              </a:p>
              <a:p>
                <a:pPr algn="l">
                  <a:lnSpc>
                    <a:spcPts val="2279"/>
                  </a:lnSpc>
                </a:pPr>
                <a:r>
                  <a:rPr lang="en-US" sz="1899">
                    <a:solidFill>
                      <a:srgbClr val="FFFFFF"/>
                    </a:solidFill>
                    <a:latin typeface="프리텐다드"/>
                    <a:ea typeface="프리텐다드"/>
                    <a:cs typeface="프리텐다드"/>
                    <a:sym typeface="프리텐다드"/>
                  </a:rPr>
                  <a:t>큰 글자부터</a:t>
                </a:r>
              </a:p>
            </p:txBody>
          </p:sp>
        </p:grpSp>
      </p:grpSp>
      <p:grpSp>
        <p:nvGrpSpPr>
          <p:cNvPr id="93" name="Group 93"/>
          <p:cNvGrpSpPr/>
          <p:nvPr/>
        </p:nvGrpSpPr>
        <p:grpSpPr>
          <a:xfrm>
            <a:off x="9517380" y="2290579"/>
            <a:ext cx="2179382" cy="585216"/>
            <a:chOff x="0" y="0"/>
            <a:chExt cx="2905843" cy="780288"/>
          </a:xfrm>
        </p:grpSpPr>
        <p:sp>
          <p:nvSpPr>
            <p:cNvPr id="94" name="Freeform 94"/>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95" name="TextBox 95"/>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③ 다시 읽기</a:t>
              </a:r>
            </a:p>
          </p:txBody>
        </p:sp>
      </p:grpSp>
      <p:grpSp>
        <p:nvGrpSpPr>
          <p:cNvPr id="96" name="Group 96"/>
          <p:cNvGrpSpPr/>
          <p:nvPr/>
        </p:nvGrpSpPr>
        <p:grpSpPr>
          <a:xfrm>
            <a:off x="12443460" y="2290579"/>
            <a:ext cx="2179382" cy="585216"/>
            <a:chOff x="0" y="0"/>
            <a:chExt cx="2905843" cy="780288"/>
          </a:xfrm>
        </p:grpSpPr>
        <p:sp>
          <p:nvSpPr>
            <p:cNvPr id="97" name="Freeform 97"/>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98" name="TextBox 98"/>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④ 규칙 해석</a:t>
              </a:r>
            </a:p>
          </p:txBody>
        </p:sp>
      </p:grpSp>
      <p:grpSp>
        <p:nvGrpSpPr>
          <p:cNvPr id="99" name="Group 99"/>
          <p:cNvGrpSpPr/>
          <p:nvPr/>
        </p:nvGrpSpPr>
        <p:grpSpPr>
          <a:xfrm>
            <a:off x="15369540" y="2290579"/>
            <a:ext cx="2179382" cy="585216"/>
            <a:chOff x="0" y="0"/>
            <a:chExt cx="2905843" cy="780288"/>
          </a:xfrm>
        </p:grpSpPr>
        <p:sp>
          <p:nvSpPr>
            <p:cNvPr id="100" name="Freeform 100"/>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101" name="TextBox 101"/>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출력</a:t>
              </a:r>
            </a:p>
          </p:txBody>
        </p:sp>
      </p:grpSp>
      <p:grpSp>
        <p:nvGrpSpPr>
          <p:cNvPr id="102" name="Group 102"/>
          <p:cNvGrpSpPr/>
          <p:nvPr/>
        </p:nvGrpSpPr>
        <p:grpSpPr>
          <a:xfrm>
            <a:off x="3665189" y="2555750"/>
            <a:ext cx="2023712" cy="1280160"/>
            <a:chOff x="0" y="0"/>
            <a:chExt cx="2698282" cy="1706880"/>
          </a:xfrm>
        </p:grpSpPr>
        <p:sp>
          <p:nvSpPr>
            <p:cNvPr id="103" name="Freeform 103"/>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04" name="TextBox 104"/>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PP-OCRv5 det</a:t>
              </a:r>
            </a:p>
            <a:p>
              <a:pPr algn="l">
                <a:lnSpc>
                  <a:spcPts val="2279"/>
                </a:lnSpc>
              </a:pPr>
              <a:r>
                <a:rPr lang="en-US" sz="1899">
                  <a:solidFill>
                    <a:srgbClr val="FFFFFF"/>
                  </a:solidFill>
                  <a:latin typeface="프리텐다드"/>
                  <a:ea typeface="프리텐다드"/>
                  <a:cs typeface="프리텐다드"/>
                  <a:sym typeface="프리텐다드"/>
                </a:rPr>
                <a:t>5MB · 장당 1회</a:t>
              </a:r>
            </a:p>
          </p:txBody>
        </p:sp>
      </p:grpSp>
      <p:grpSp>
        <p:nvGrpSpPr>
          <p:cNvPr id="105" name="Group 105"/>
          <p:cNvGrpSpPr/>
          <p:nvPr/>
        </p:nvGrpSpPr>
        <p:grpSpPr>
          <a:xfrm>
            <a:off x="9520588" y="2555750"/>
            <a:ext cx="2023712" cy="1280160"/>
            <a:chOff x="0" y="0"/>
            <a:chExt cx="2698282" cy="1706880"/>
          </a:xfrm>
        </p:grpSpPr>
        <p:sp>
          <p:nvSpPr>
            <p:cNvPr id="106" name="Freeform 106"/>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07" name="TextBox 107"/>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후보 줄만 원본으로</a:t>
              </a:r>
            </a:p>
            <a:p>
              <a:pPr algn="l">
                <a:lnSpc>
                  <a:spcPts val="2279"/>
                </a:lnSpc>
              </a:pPr>
              <a:r>
                <a:rPr lang="en-US" sz="1899">
                  <a:solidFill>
                    <a:srgbClr val="FFFFFF"/>
                  </a:solidFill>
                  <a:latin typeface="프리텐다드"/>
                  <a:ea typeface="프리텐다드"/>
                  <a:cs typeface="프리텐다드"/>
                  <a:sym typeface="프리텐다드"/>
                </a:rPr>
                <a:t>3표 다수결</a:t>
              </a:r>
            </a:p>
          </p:txBody>
        </p:sp>
      </p:grpSp>
      <p:grpSp>
        <p:nvGrpSpPr>
          <p:cNvPr id="108" name="Group 108"/>
          <p:cNvGrpSpPr/>
          <p:nvPr/>
        </p:nvGrpSpPr>
        <p:grpSpPr>
          <a:xfrm>
            <a:off x="12443460" y="2555750"/>
            <a:ext cx="2023712" cy="1280160"/>
            <a:chOff x="0" y="0"/>
            <a:chExt cx="2698282" cy="1706880"/>
          </a:xfrm>
        </p:grpSpPr>
        <p:sp>
          <p:nvSpPr>
            <p:cNvPr id="109" name="Freeform 109"/>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10" name="TextBox 110"/>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형식 정규화</a:t>
              </a:r>
            </a:p>
            <a:p>
              <a:pPr algn="l">
                <a:lnSpc>
                  <a:spcPts val="2279"/>
                </a:lnSpc>
              </a:pPr>
              <a:r>
                <a:rPr lang="en-US" sz="1899">
                  <a:solidFill>
                    <a:srgbClr val="FFFFFF"/>
                  </a:solidFill>
                  <a:latin typeface="프리텐다드"/>
                  <a:ea typeface="프리텐다드"/>
                  <a:cs typeface="프리텐다드"/>
                  <a:sym typeface="프리텐다드"/>
                </a:rPr>
                <a:t>잡음 제거 · 선택</a:t>
              </a:r>
            </a:p>
          </p:txBody>
        </p:sp>
      </p:grpSp>
      <p:grpSp>
        <p:nvGrpSpPr>
          <p:cNvPr id="111" name="Group 111"/>
          <p:cNvGrpSpPr/>
          <p:nvPr/>
        </p:nvGrpSpPr>
        <p:grpSpPr>
          <a:xfrm>
            <a:off x="15369540" y="2555750"/>
            <a:ext cx="2023712" cy="1280160"/>
            <a:chOff x="0" y="0"/>
            <a:chExt cx="2698282" cy="1706880"/>
          </a:xfrm>
        </p:grpSpPr>
        <p:sp>
          <p:nvSpPr>
            <p:cNvPr id="112" name="Freeform 112"/>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13" name="TextBox 113"/>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YYYY-MM-DD</a:t>
              </a:r>
            </a:p>
            <a:p>
              <a:pPr algn="l">
                <a:lnSpc>
                  <a:spcPts val="2279"/>
                </a:lnSpc>
              </a:pPr>
              <a:r>
                <a:rPr lang="en-US" sz="1899">
                  <a:solidFill>
                    <a:srgbClr val="FFFFFF"/>
                  </a:solidFill>
                  <a:latin typeface="프리텐다드"/>
                  <a:ea typeface="프리텐다드"/>
                  <a:cs typeface="프리텐다드"/>
                  <a:sym typeface="프리텐다드"/>
                </a:rPr>
                <a:t>또는 NONE</a:t>
              </a:r>
            </a:p>
          </p:txBody>
        </p:sp>
      </p:grpSp>
      <p:sp>
        <p:nvSpPr>
          <p:cNvPr id="116" name="TextBox 115">
            <a:extLst>
              <a:ext uri="{FF2B5EF4-FFF2-40B4-BE49-F238E27FC236}">
                <a16:creationId xmlns:a16="http://schemas.microsoft.com/office/drawing/2014/main" id="{58D28986-38DB-53B5-92BA-60E06E963C73}"/>
              </a:ext>
            </a:extLst>
          </p:cNvPr>
          <p:cNvSpPr txBox="1"/>
          <p:nvPr/>
        </p:nvSpPr>
        <p:spPr>
          <a:xfrm>
            <a:off x="548640" y="8501035"/>
            <a:ext cx="9144000" cy="353943"/>
          </a:xfrm>
          <a:prstGeom prst="rect">
            <a:avLst/>
          </a:prstGeom>
          <a:noFill/>
        </p:spPr>
        <p:txBody>
          <a:bodyPr wrap="square">
            <a:spAutoFit/>
          </a:bodyPr>
          <a:lstStyle/>
          <a:p>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위 세 수치는 각각 따로 측정한 개별 효과이며 단순 합산이 아님</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endParaRPr lang="en-K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설계</a:t>
              </a:r>
              <a:r>
                <a:rPr lang="en-US" sz="3800" b="1" dirty="0">
                  <a:solidFill>
                    <a:srgbClr val="1A1A1A"/>
                  </a:solidFill>
                  <a:latin typeface="프리텐다드 Bold"/>
                  <a:ea typeface="프리텐다드 Bold"/>
                  <a:cs typeface="프리텐다드 Bold"/>
                  <a:sym typeface="프리텐다드 Bold"/>
                </a:rPr>
                <a:t> </a:t>
              </a:r>
              <a:r>
                <a:rPr lang="en-US" sz="3800" b="1" dirty="0" err="1">
                  <a:solidFill>
                    <a:srgbClr val="1A1A1A"/>
                  </a:solidFill>
                  <a:latin typeface="프리텐다드 Bold"/>
                  <a:ea typeface="프리텐다드 Bold"/>
                  <a:cs typeface="프리텐다드 Bold"/>
                  <a:sym typeface="프리텐다드 Bold"/>
                </a:rPr>
                <a:t>사고</a:t>
              </a:r>
              <a:r>
                <a:rPr lang="en-US" sz="3800" b="1" dirty="0">
                  <a:solidFill>
                    <a:srgbClr val="1A1A1A"/>
                  </a:solidFill>
                  <a:latin typeface="프리텐다드 Bold"/>
                  <a:ea typeface="프리텐다드 Bold"/>
                  <a:cs typeface="프리텐다드 Bold"/>
                  <a:sym typeface="프리텐다드 Bold"/>
                </a:rPr>
                <a:t> : </a:t>
              </a:r>
              <a:r>
                <a:rPr lang="en-US" sz="3800" b="1" dirty="0" err="1">
                  <a:solidFill>
                    <a:srgbClr val="8B0000"/>
                  </a:solidFill>
                  <a:latin typeface="프리텐다드 Bold"/>
                  <a:ea typeface="프리텐다드 Bold"/>
                  <a:cs typeface="프리텐다드 Bold"/>
                  <a:sym typeface="프리텐다드 Bold"/>
                </a:rPr>
                <a:t>오답을</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정답이</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사라진</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단계</a:t>
              </a:r>
              <a:r>
                <a:rPr lang="en-US" sz="3800" b="1" dirty="0">
                  <a:solidFill>
                    <a:srgbClr val="8B0000"/>
                  </a:solidFill>
                  <a:latin typeface="프리텐다드 Bold"/>
                  <a:ea typeface="프리텐다드 Bold"/>
                  <a:cs typeface="프리텐다드 Bold"/>
                  <a:sym typeface="프리텐다드 Bold"/>
                </a:rPr>
                <a:t>” 로 </a:t>
              </a:r>
              <a:r>
                <a:rPr lang="en-US" sz="3800" b="1" dirty="0" err="1">
                  <a:solidFill>
                    <a:srgbClr val="8B0000"/>
                  </a:solidFill>
                  <a:latin typeface="프리텐다드 Bold"/>
                  <a:ea typeface="프리텐다드 Bold"/>
                  <a:cs typeface="프리텐다드 Bold"/>
                  <a:sym typeface="프리텐다드 Bold"/>
                </a:rPr>
                <a:t>진단했습니다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8</a:t>
              </a:r>
            </a:p>
          </p:txBody>
        </p:sp>
      </p:grpSp>
      <p:sp>
        <p:nvSpPr>
          <p:cNvPr id="11" name="TextBox 11"/>
          <p:cNvSpPr txBox="1"/>
          <p:nvPr/>
        </p:nvSpPr>
        <p:spPr>
          <a:xfrm>
            <a:off x="548640" y="1858520"/>
            <a:ext cx="17190720" cy="353623"/>
          </a:xfrm>
          <a:prstGeom prst="rect">
            <a:avLst/>
          </a:prstGeom>
        </p:spPr>
        <p:txBody>
          <a:bodyPr lIns="0" tIns="0" rIns="0" bIns="0" rtlCol="0" anchor="t">
            <a:spAutoFit/>
          </a:bodyPr>
          <a:lstStyle/>
          <a:p>
            <a:pPr algn="ctr">
              <a:lnSpc>
                <a:spcPts val="2879"/>
              </a:lnSpc>
            </a:pPr>
            <a:r>
              <a:rPr lang="en-US" sz="2400" dirty="0" err="1">
                <a:solidFill>
                  <a:srgbClr val="1A1A1A"/>
                </a:solidFill>
                <a:latin typeface="프리텐다드"/>
                <a:ea typeface="프리텐다드"/>
                <a:cs typeface="프리텐다드"/>
                <a:sym typeface="프리텐다드"/>
              </a:rPr>
              <a:t>예선</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구성의</a:t>
            </a:r>
            <a:r>
              <a:rPr lang="en-US" sz="2400" dirty="0">
                <a:solidFill>
                  <a:srgbClr val="1A1A1A"/>
                </a:solidFill>
                <a:latin typeface="프리텐다드"/>
                <a:ea typeface="프리텐다드"/>
                <a:cs typeface="프리텐다드"/>
                <a:sym typeface="프리텐다드"/>
              </a:rPr>
              <a:t> </a:t>
            </a:r>
            <a:r>
              <a:rPr lang="ko-KR" altLang="en-US" sz="2400" dirty="0">
                <a:solidFill>
                  <a:srgbClr val="1A1A1A"/>
                </a:solidFill>
                <a:latin typeface="프리텐다드"/>
                <a:ea typeface="프리텐다드"/>
                <a:cs typeface="프리텐다드"/>
                <a:sym typeface="프리텐다드"/>
              </a:rPr>
              <a:t>전체 </a:t>
            </a:r>
            <a:r>
              <a:rPr lang="en-US" sz="2400" dirty="0" err="1">
                <a:solidFill>
                  <a:srgbClr val="1A1A1A"/>
                </a:solidFill>
                <a:latin typeface="프리텐다드"/>
                <a:ea typeface="프리텐다드"/>
                <a:cs typeface="프리텐다드"/>
                <a:sym typeface="프리텐다드"/>
              </a:rPr>
              <a:t>오답</a:t>
            </a:r>
            <a:r>
              <a:rPr lang="en-US" sz="2400" dirty="0">
                <a:solidFill>
                  <a:srgbClr val="1A1A1A"/>
                </a:solidFill>
                <a:latin typeface="프리텐다드"/>
                <a:ea typeface="프리텐다드"/>
                <a:cs typeface="프리텐다드"/>
                <a:sym typeface="프리텐다드"/>
              </a:rPr>
              <a:t> </a:t>
            </a:r>
            <a:r>
              <a:rPr lang="en-US" sz="2400" b="1" dirty="0">
                <a:solidFill>
                  <a:srgbClr val="8B0000"/>
                </a:solidFill>
                <a:latin typeface="프리텐다드 Bold"/>
                <a:ea typeface="프리텐다드 Bold"/>
                <a:cs typeface="프리텐다드 Bold"/>
                <a:sym typeface="프리텐다드 Bold"/>
              </a:rPr>
              <a:t>603장</a:t>
            </a:r>
            <a:r>
              <a:rPr lang="en-US" altLang="ko-KR" sz="1200" dirty="0">
                <a:solidFill>
                  <a:srgbClr val="1A1A1A"/>
                </a:solidFill>
                <a:latin typeface="프리텐다드"/>
                <a:ea typeface="프리텐다드"/>
                <a:cs typeface="프리텐다드"/>
                <a:sym typeface="프리텐다드"/>
              </a:rPr>
              <a:t>(</a:t>
            </a:r>
            <a:r>
              <a:rPr lang="ko-KR" altLang="en-US" sz="1200" dirty="0">
                <a:solidFill>
                  <a:srgbClr val="1A1A1A"/>
                </a:solidFill>
                <a:latin typeface="프리텐다드"/>
                <a:ea typeface="프리텐다드"/>
                <a:cs typeface="프리텐다드"/>
                <a:sym typeface="프리텐다드"/>
              </a:rPr>
              <a:t>봉인 </a:t>
            </a:r>
            <a:r>
              <a:rPr lang="en-US" altLang="ko-KR" sz="1200" dirty="0">
                <a:solidFill>
                  <a:srgbClr val="1A1A1A"/>
                </a:solidFill>
                <a:latin typeface="프리텐다드"/>
                <a:ea typeface="프리텐다드"/>
                <a:cs typeface="프리텐다드"/>
                <a:sym typeface="프리텐다드"/>
              </a:rPr>
              <a:t>500</a:t>
            </a:r>
            <a:r>
              <a:rPr lang="ko-KR" altLang="en-US" sz="1200" dirty="0">
                <a:solidFill>
                  <a:srgbClr val="1A1A1A"/>
                </a:solidFill>
                <a:latin typeface="프리텐다드"/>
                <a:ea typeface="프리텐다드"/>
                <a:cs typeface="프리텐다드"/>
                <a:sym typeface="프리텐다드"/>
              </a:rPr>
              <a:t>장 포함</a:t>
            </a:r>
            <a:r>
              <a:rPr lang="en-US" altLang="ko-KR" sz="1200" dirty="0">
                <a:solidFill>
                  <a:srgbClr val="1A1A1A"/>
                </a:solidFill>
                <a:latin typeface="프리텐다드"/>
                <a:ea typeface="프리텐다드"/>
                <a:cs typeface="프리텐다드"/>
                <a:sym typeface="프리텐다드"/>
              </a:rPr>
              <a:t>,</a:t>
            </a:r>
            <a:r>
              <a:rPr lang="ko-KR" altLang="en-US" sz="1200" dirty="0">
                <a:solidFill>
                  <a:srgbClr val="1A1A1A"/>
                </a:solidFill>
                <a:latin typeface="프리텐다드"/>
                <a:ea typeface="프리텐다드"/>
                <a:cs typeface="프리텐다드"/>
                <a:sym typeface="프리텐다드"/>
              </a:rPr>
              <a:t> 예선 시점 진단</a:t>
            </a:r>
            <a:r>
              <a:rPr lang="en-US" altLang="ko-KR" sz="1200" dirty="0">
                <a:solidFill>
                  <a:srgbClr val="1A1A1A"/>
                </a:solidFill>
                <a:latin typeface="프리텐다드"/>
                <a:ea typeface="프리텐다드"/>
                <a:cs typeface="프리텐다드"/>
                <a:sym typeface="프리텐다드"/>
              </a:rPr>
              <a:t>)</a:t>
            </a:r>
            <a:r>
              <a:rPr lang="en-US" sz="2400" dirty="0" err="1">
                <a:solidFill>
                  <a:srgbClr val="1A1A1A"/>
                </a:solidFill>
                <a:latin typeface="프리텐다드"/>
                <a:ea typeface="프리텐다드"/>
                <a:cs typeface="프리텐다드"/>
                <a:sym typeface="프리텐다드"/>
              </a:rPr>
              <a:t>마다</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정답</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날짜가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파이프라인</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어느</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단계까지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살아</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있었는지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추적</a:t>
            </a:r>
            <a:endParaRPr lang="en-US" sz="2400" dirty="0">
              <a:solidFill>
                <a:srgbClr val="1A1A1A"/>
              </a:solidFill>
              <a:latin typeface="프리텐다드"/>
              <a:ea typeface="프리텐다드"/>
              <a:cs typeface="프리텐다드"/>
              <a:sym typeface="프리텐다드"/>
            </a:endParaRPr>
          </a:p>
        </p:txBody>
      </p:sp>
      <p:grpSp>
        <p:nvGrpSpPr>
          <p:cNvPr id="12" name="Group 12"/>
          <p:cNvGrpSpPr/>
          <p:nvPr/>
        </p:nvGrpSpPr>
        <p:grpSpPr>
          <a:xfrm>
            <a:off x="535943" y="2584199"/>
            <a:ext cx="4158491" cy="3865883"/>
            <a:chOff x="0" y="0"/>
            <a:chExt cx="5544655" cy="5154511"/>
          </a:xfrm>
        </p:grpSpPr>
        <p:sp>
          <p:nvSpPr>
            <p:cNvPr id="13" name="Freeform 13"/>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2743200"/>
            <a:ext cx="3584448" cy="1308894"/>
            <a:chOff x="0" y="0"/>
            <a:chExt cx="4779264" cy="1745191"/>
          </a:xfrm>
        </p:grpSpPr>
        <p:sp>
          <p:nvSpPr>
            <p:cNvPr id="15" name="Freeform 15"/>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16" name="TextBox 16"/>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183</a:t>
              </a:r>
            </a:p>
          </p:txBody>
        </p:sp>
      </p:grpSp>
      <p:sp>
        <p:nvSpPr>
          <p:cNvPr id="17" name="TextBox 17"/>
          <p:cNvSpPr txBox="1"/>
          <p:nvPr/>
        </p:nvSpPr>
        <p:spPr>
          <a:xfrm>
            <a:off x="822960"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못 읽음</a:t>
            </a:r>
          </a:p>
        </p:txBody>
      </p:sp>
      <p:sp>
        <p:nvSpPr>
          <p:cNvPr id="18" name="TextBox 18"/>
          <p:cNvSpPr txBox="1"/>
          <p:nvPr/>
        </p:nvSpPr>
        <p:spPr>
          <a:xfrm>
            <a:off x="822960"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탐지 실패 · 전부 미인식</a:t>
            </a:r>
          </a:p>
        </p:txBody>
      </p:sp>
      <p:sp>
        <p:nvSpPr>
          <p:cNvPr id="19" name="TextBox 19"/>
          <p:cNvSpPr txBox="1"/>
          <p:nvPr/>
        </p:nvSpPr>
        <p:spPr>
          <a:xfrm>
            <a:off x="822960" y="5172298"/>
            <a:ext cx="3584448" cy="961802"/>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원본</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재탐지</a:t>
            </a:r>
            <a:endParaRPr lang="en-US" sz="2100" dirty="0">
              <a:solidFill>
                <a:srgbClr val="1A1A1A"/>
              </a:solidFill>
              <a:latin typeface="프리텐다드"/>
              <a:ea typeface="프리텐다드"/>
              <a:cs typeface="프리텐다드"/>
              <a:sym typeface="프리텐다드"/>
            </a:endParaRPr>
          </a:p>
          <a:p>
            <a:pPr algn="l">
              <a:lnSpc>
                <a:spcPts val="2520"/>
              </a:lnSpc>
            </a:pPr>
            <a:r>
              <a:rPr lang="en-US" sz="2100" dirty="0" err="1">
                <a:solidFill>
                  <a:srgbClr val="1A1A1A"/>
                </a:solidFill>
                <a:latin typeface="프리텐다드"/>
                <a:ea typeface="프리텐다드"/>
                <a:cs typeface="프리텐다드"/>
                <a:sym typeface="프리텐다드"/>
              </a:rPr>
              <a:t>작은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확대</a:t>
            </a:r>
            <a:endParaRPr lang="en-US" sz="2100" dirty="0">
              <a:solidFill>
                <a:srgbClr val="1A1A1A"/>
              </a:solidFill>
              <a:latin typeface="프리텐다드"/>
              <a:ea typeface="프리텐다드"/>
              <a:cs typeface="프리텐다드"/>
              <a:sym typeface="프리텐다드"/>
            </a:endParaRPr>
          </a:p>
          <a:p>
            <a:pPr algn="l">
              <a:lnSpc>
                <a:spcPts val="2520"/>
              </a:lnSpc>
            </a:pPr>
            <a:r>
              <a:rPr lang="ko-KR" altLang="en-US" sz="2100" dirty="0" err="1">
                <a:solidFill>
                  <a:srgbClr val="1A1A1A"/>
                </a:solidFill>
                <a:latin typeface="프리텐다드"/>
                <a:ea typeface="프리텐다드"/>
                <a:cs typeface="프리텐다드"/>
                <a:sym typeface="프리텐다드"/>
              </a:rPr>
              <a:t>파인튜닝</a:t>
            </a:r>
            <a:r>
              <a:rPr lang="ko-KR" altLang="en-US" sz="2100" dirty="0">
                <a:solidFill>
                  <a:srgbClr val="1A1A1A"/>
                </a:solidFill>
                <a:latin typeface="프리텐다드"/>
                <a:ea typeface="프리텐다드"/>
                <a:cs typeface="프리텐다드"/>
                <a:sym typeface="프리텐다드"/>
              </a:rPr>
              <a:t> </a:t>
            </a:r>
            <a:r>
              <a:rPr lang="ko-KR" altLang="en-US" sz="2100" dirty="0" err="1">
                <a:solidFill>
                  <a:srgbClr val="1A1A1A"/>
                </a:solidFill>
                <a:latin typeface="프리텐다드"/>
                <a:ea typeface="프리텐다드"/>
                <a:cs typeface="프리텐다드"/>
                <a:sym typeface="프리텐다드"/>
              </a:rPr>
              <a:t>폴백</a:t>
            </a:r>
            <a:endParaRPr lang="en-US" sz="2100" dirty="0">
              <a:solidFill>
                <a:srgbClr val="1A1A1A"/>
              </a:solidFill>
              <a:latin typeface="프리텐다드"/>
              <a:ea typeface="프리텐다드"/>
              <a:cs typeface="프리텐다드"/>
              <a:sym typeface="프리텐다드"/>
            </a:endParaRPr>
          </a:p>
        </p:txBody>
      </p:sp>
      <p:grpSp>
        <p:nvGrpSpPr>
          <p:cNvPr id="20" name="Group 20"/>
          <p:cNvGrpSpPr/>
          <p:nvPr/>
        </p:nvGrpSpPr>
        <p:grpSpPr>
          <a:xfrm>
            <a:off x="4888487" y="2584199"/>
            <a:ext cx="4158491" cy="3865883"/>
            <a:chOff x="0" y="0"/>
            <a:chExt cx="5544655" cy="5154511"/>
          </a:xfrm>
        </p:grpSpPr>
        <p:sp>
          <p:nvSpPr>
            <p:cNvPr id="21" name="Freeform 21"/>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2" name="Group 22"/>
          <p:cNvGrpSpPr/>
          <p:nvPr/>
        </p:nvGrpSpPr>
        <p:grpSpPr>
          <a:xfrm>
            <a:off x="5175504" y="2743200"/>
            <a:ext cx="3584448" cy="1308894"/>
            <a:chOff x="0" y="0"/>
            <a:chExt cx="4779264" cy="1745191"/>
          </a:xfrm>
        </p:grpSpPr>
        <p:sp>
          <p:nvSpPr>
            <p:cNvPr id="23" name="Freeform 23"/>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24" name="TextBox 24"/>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290</a:t>
              </a:r>
            </a:p>
          </p:txBody>
        </p:sp>
      </p:grpSp>
      <p:sp>
        <p:nvSpPr>
          <p:cNvPr id="25" name="TextBox 25"/>
          <p:cNvSpPr txBox="1"/>
          <p:nvPr/>
        </p:nvSpPr>
        <p:spPr>
          <a:xfrm>
            <a:off x="5175504"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잘못 읽음</a:t>
            </a:r>
          </a:p>
        </p:txBody>
      </p:sp>
      <p:sp>
        <p:nvSpPr>
          <p:cNvPr id="26" name="TextBox 26"/>
          <p:cNvSpPr txBox="1"/>
          <p:nvPr/>
        </p:nvSpPr>
        <p:spPr>
          <a:xfrm>
            <a:off x="5175504"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인식기가 숫자를 오독</a:t>
            </a:r>
          </a:p>
        </p:txBody>
      </p:sp>
      <p:sp>
        <p:nvSpPr>
          <p:cNvPr id="27" name="TextBox 27"/>
          <p:cNvSpPr txBox="1"/>
          <p:nvPr/>
        </p:nvSpPr>
        <p:spPr>
          <a:xfrm>
            <a:off x="5175504" y="5172298"/>
            <a:ext cx="3584448" cy="320601"/>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후처리</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규칙</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보강</a:t>
            </a:r>
            <a:endParaRPr lang="en-US" sz="2100" dirty="0">
              <a:solidFill>
                <a:srgbClr val="1A1A1A"/>
              </a:solidFill>
              <a:latin typeface="프리텐다드"/>
              <a:ea typeface="프리텐다드"/>
              <a:cs typeface="프리텐다드"/>
              <a:sym typeface="프리텐다드"/>
            </a:endParaRPr>
          </a:p>
        </p:txBody>
      </p:sp>
      <p:grpSp>
        <p:nvGrpSpPr>
          <p:cNvPr id="28" name="Group 28"/>
          <p:cNvGrpSpPr/>
          <p:nvPr/>
        </p:nvGrpSpPr>
        <p:grpSpPr>
          <a:xfrm>
            <a:off x="9241031" y="2584199"/>
            <a:ext cx="4158491" cy="3865883"/>
            <a:chOff x="0" y="0"/>
            <a:chExt cx="5544655" cy="5154511"/>
          </a:xfrm>
        </p:grpSpPr>
        <p:sp>
          <p:nvSpPr>
            <p:cNvPr id="29" name="Freeform 29"/>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0" name="Group 30"/>
          <p:cNvGrpSpPr/>
          <p:nvPr/>
        </p:nvGrpSpPr>
        <p:grpSpPr>
          <a:xfrm>
            <a:off x="9528048" y="2743200"/>
            <a:ext cx="3584448" cy="1308894"/>
            <a:chOff x="0" y="0"/>
            <a:chExt cx="4779264" cy="1745191"/>
          </a:xfrm>
        </p:grpSpPr>
        <p:sp>
          <p:nvSpPr>
            <p:cNvPr id="31" name="Freeform 31"/>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32" name="TextBox 32"/>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111</a:t>
              </a:r>
            </a:p>
          </p:txBody>
        </p:sp>
      </p:grpSp>
      <p:sp>
        <p:nvSpPr>
          <p:cNvPr id="33" name="TextBox 33"/>
          <p:cNvSpPr txBox="1"/>
          <p:nvPr/>
        </p:nvSpPr>
        <p:spPr>
          <a:xfrm>
            <a:off x="9528048"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읽었다가 지움</a:t>
            </a:r>
          </a:p>
        </p:txBody>
      </p:sp>
      <p:sp>
        <p:nvSpPr>
          <p:cNvPr id="34" name="TextBox 34"/>
          <p:cNvSpPr txBox="1"/>
          <p:nvPr/>
        </p:nvSpPr>
        <p:spPr>
          <a:xfrm>
            <a:off x="9528048"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다시 읽기가 정답을 덮어씀</a:t>
            </a:r>
          </a:p>
        </p:txBody>
      </p:sp>
      <p:sp>
        <p:nvSpPr>
          <p:cNvPr id="35" name="TextBox 35"/>
          <p:cNvSpPr txBox="1"/>
          <p:nvPr/>
        </p:nvSpPr>
        <p:spPr>
          <a:xfrm>
            <a:off x="9528048" y="5172298"/>
            <a:ext cx="3584448" cy="638175"/>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교정만</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삭제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금지</a:t>
            </a:r>
            <a:endParaRPr lang="en-US" sz="2100" dirty="0">
              <a:solidFill>
                <a:srgbClr val="1A1A1A"/>
              </a:solidFill>
              <a:latin typeface="프리텐다드"/>
              <a:ea typeface="프리텐다드"/>
              <a:cs typeface="프리텐다드"/>
              <a:sym typeface="프리텐다드"/>
            </a:endParaRPr>
          </a:p>
          <a:p>
            <a:pPr algn="l">
              <a:lnSpc>
                <a:spcPts val="2520"/>
              </a:lnSpc>
            </a:pPr>
            <a:r>
              <a:rPr lang="en-US" sz="2100" dirty="0" err="1">
                <a:solidFill>
                  <a:srgbClr val="1A1A1A"/>
                </a:solidFill>
                <a:latin typeface="프리텐다드"/>
                <a:ea typeface="프리텐다드"/>
                <a:cs typeface="프리텐다드"/>
                <a:sym typeface="프리텐다드"/>
              </a:rPr>
              <a:t>유지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규칙</a:t>
            </a:r>
            <a:endParaRPr lang="en-US" sz="2100" dirty="0">
              <a:solidFill>
                <a:srgbClr val="1A1A1A"/>
              </a:solidFill>
              <a:latin typeface="프리텐다드"/>
              <a:ea typeface="프리텐다드"/>
              <a:cs typeface="프리텐다드"/>
              <a:sym typeface="프리텐다드"/>
            </a:endParaRPr>
          </a:p>
        </p:txBody>
      </p:sp>
      <p:grpSp>
        <p:nvGrpSpPr>
          <p:cNvPr id="36" name="Group 36"/>
          <p:cNvGrpSpPr/>
          <p:nvPr/>
        </p:nvGrpSpPr>
        <p:grpSpPr>
          <a:xfrm>
            <a:off x="13593575" y="2584199"/>
            <a:ext cx="4158491" cy="3865883"/>
            <a:chOff x="0" y="0"/>
            <a:chExt cx="5544655" cy="5154511"/>
          </a:xfrm>
        </p:grpSpPr>
        <p:sp>
          <p:nvSpPr>
            <p:cNvPr id="37" name="Freeform 37"/>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8" name="Group 38"/>
          <p:cNvGrpSpPr/>
          <p:nvPr/>
        </p:nvGrpSpPr>
        <p:grpSpPr>
          <a:xfrm>
            <a:off x="13880592" y="2743200"/>
            <a:ext cx="3584448" cy="1308894"/>
            <a:chOff x="0" y="0"/>
            <a:chExt cx="4779264" cy="1745191"/>
          </a:xfrm>
        </p:grpSpPr>
        <p:sp>
          <p:nvSpPr>
            <p:cNvPr id="39" name="Freeform 39"/>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40" name="TextBox 40"/>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19</a:t>
              </a:r>
            </a:p>
          </p:txBody>
        </p:sp>
      </p:grpSp>
      <p:sp>
        <p:nvSpPr>
          <p:cNvPr id="41" name="TextBox 41"/>
          <p:cNvSpPr txBox="1"/>
          <p:nvPr/>
        </p:nvSpPr>
        <p:spPr>
          <a:xfrm>
            <a:off x="13880592"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잘못 고름</a:t>
            </a:r>
          </a:p>
        </p:txBody>
      </p:sp>
      <p:sp>
        <p:nvSpPr>
          <p:cNvPr id="42" name="TextBox 42"/>
          <p:cNvSpPr txBox="1"/>
          <p:nvPr/>
        </p:nvSpPr>
        <p:spPr>
          <a:xfrm>
            <a:off x="13880592"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가짜 후보가 늦은 날짜로 승리</a:t>
            </a:r>
          </a:p>
        </p:txBody>
      </p:sp>
      <p:sp>
        <p:nvSpPr>
          <p:cNvPr id="43" name="TextBox 43"/>
          <p:cNvSpPr txBox="1"/>
          <p:nvPr/>
        </p:nvSpPr>
        <p:spPr>
          <a:xfrm>
            <a:off x="13880592" y="5172298"/>
            <a:ext cx="3584448" cy="323850"/>
          </a:xfrm>
          <a:prstGeom prst="rect">
            <a:avLst/>
          </a:prstGeom>
        </p:spPr>
        <p:txBody>
          <a:bodyPr lIns="0" tIns="0" rIns="0" bIns="0" rtlCol="0" anchor="t">
            <a:spAutoFit/>
          </a:bodyPr>
          <a:lstStyle/>
          <a:p>
            <a:pPr algn="l">
              <a:lnSpc>
                <a:spcPts val="2520"/>
              </a:lnSpc>
            </a:pPr>
            <a:r>
              <a:rPr lang="en-US" sz="2100">
                <a:solidFill>
                  <a:srgbClr val="1A1A1A"/>
                </a:solidFill>
                <a:latin typeface="프리텐다드"/>
                <a:ea typeface="프리텐다드"/>
                <a:cs typeface="프리텐다드"/>
                <a:sym typeface="프리텐다드"/>
              </a:rPr>
              <a:t>이중 해석 억제</a:t>
            </a:r>
          </a:p>
        </p:txBody>
      </p:sp>
      <p:sp>
        <p:nvSpPr>
          <p:cNvPr id="44" name="TextBox 44"/>
          <p:cNvSpPr txBox="1"/>
          <p:nvPr/>
        </p:nvSpPr>
        <p:spPr>
          <a:xfrm>
            <a:off x="548640" y="6729984"/>
            <a:ext cx="1719072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단계마다 처방이 다릅니다</a:t>
            </a:r>
          </a:p>
        </p:txBody>
      </p:sp>
      <p:sp>
        <p:nvSpPr>
          <p:cNvPr id="45" name="TextBox 45"/>
          <p:cNvSpPr txBox="1"/>
          <p:nvPr/>
        </p:nvSpPr>
        <p:spPr>
          <a:xfrm>
            <a:off x="548640" y="7269099"/>
            <a:ext cx="17190720" cy="676275"/>
          </a:xfrm>
          <a:prstGeom prst="rect">
            <a:avLst/>
          </a:prstGeom>
        </p:spPr>
        <p:txBody>
          <a:bodyPr lIns="0" tIns="0" rIns="0" bIns="0" rtlCol="0" anchor="t">
            <a:spAutoFit/>
          </a:bodyPr>
          <a:lstStyle/>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a:t>
            </a:r>
            <a:r>
              <a:rPr lang="ko-KR" altLang="en-US" sz="2199" dirty="0">
                <a:solidFill>
                  <a:srgbClr val="1A1A1A"/>
                </a:solidFill>
                <a:latin typeface="프리텐다드"/>
                <a:ea typeface="프리텐다드"/>
                <a:cs typeface="프리텐다드"/>
                <a:sym typeface="프리텐다드"/>
              </a:rPr>
              <a:t>읽었다가 지운 경우</a:t>
            </a:r>
            <a:r>
              <a:rPr lang="en-US" altLang="ko-KR" sz="2199" dirty="0">
                <a:solidFill>
                  <a:srgbClr val="1A1A1A"/>
                </a:solidFill>
                <a:latin typeface="프리텐다드"/>
                <a:ea typeface="프리텐다드"/>
                <a:cs typeface="프리텐다드"/>
                <a:sym typeface="프리텐다드"/>
              </a:rPr>
              <a:t>”</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모델이</a:t>
            </a:r>
            <a:r>
              <a:rPr lang="en-US" sz="2199" dirty="0">
                <a:solidFill>
                  <a:srgbClr val="1A1A1A"/>
                </a:solidFill>
                <a:latin typeface="프리텐다드"/>
                <a:ea typeface="프리텐다드"/>
                <a:cs typeface="프리텐다드"/>
                <a:sym typeface="프리텐다드"/>
              </a:rPr>
              <a:t> 아</a:t>
            </a:r>
            <a:r>
              <a:rPr lang="ko-KR" altLang="en-US" sz="2199" dirty="0" err="1">
                <a:solidFill>
                  <a:srgbClr val="1A1A1A"/>
                </a:solidFill>
                <a:latin typeface="프리텐다드"/>
                <a:ea typeface="프리텐다드"/>
                <a:cs typeface="프리텐다드"/>
                <a:sym typeface="프리텐다드"/>
              </a:rPr>
              <a:t>닌</a:t>
            </a:r>
            <a:r>
              <a:rPr lang="ko-KR" alt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코드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로직의</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문제</a:t>
            </a:r>
            <a:r>
              <a:rPr lang="en-US" sz="2199" dirty="0">
                <a:solidFill>
                  <a:srgbClr val="1A1A1A"/>
                </a:solidFill>
                <a:latin typeface="프리텐다드"/>
                <a:ea typeface="프리텐다드"/>
                <a:cs typeface="프리텐다드"/>
                <a:sym typeface="프리텐다드"/>
              </a:rPr>
              <a:t> → 1차 </a:t>
            </a:r>
            <a:r>
              <a:rPr lang="en-US" sz="2199" dirty="0" err="1">
                <a:solidFill>
                  <a:srgbClr val="1A1A1A"/>
                </a:solidFill>
                <a:latin typeface="프리텐다드"/>
                <a:ea typeface="프리텐다드"/>
                <a:cs typeface="프리텐다드"/>
                <a:sym typeface="프리텐다드"/>
              </a:rPr>
              <a:t>후보를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지우지</a:t>
            </a:r>
            <a:r>
              <a:rPr lang="en-US" sz="2199" dirty="0">
                <a:solidFill>
                  <a:srgbClr val="1A1A1A"/>
                </a:solidFill>
                <a:latin typeface="프리텐다드"/>
                <a:ea typeface="프리텐다드"/>
                <a:cs typeface="프리텐다드"/>
                <a:sym typeface="프리텐다드"/>
              </a:rPr>
              <a:t> 못</a:t>
            </a:r>
            <a:r>
              <a:rPr lang="ko-KR" altLang="en-US" sz="2199" dirty="0">
                <a:solidFill>
                  <a:srgbClr val="1A1A1A"/>
                </a:solidFill>
                <a:latin typeface="프리텐다드"/>
                <a:ea typeface="프리텐다드"/>
                <a:cs typeface="프리텐다드"/>
                <a:sym typeface="프리텐다드"/>
              </a:rPr>
              <a:t>하도록 처리</a:t>
            </a:r>
            <a:r>
              <a:rPr lang="en-US" sz="2199" dirty="0">
                <a:solidFill>
                  <a:srgbClr val="1A1A1A"/>
                </a:solidFill>
                <a:latin typeface="프리텐다드"/>
                <a:ea typeface="프리텐다드"/>
                <a:cs typeface="프리텐다드"/>
                <a:sym typeface="프리텐다드"/>
              </a:rPr>
              <a:t> (+53 / −5)</a:t>
            </a:r>
          </a:p>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a:t>
            </a:r>
            <a:r>
              <a:rPr lang="ko-KR" altLang="en-US" sz="2199" dirty="0">
                <a:solidFill>
                  <a:srgbClr val="1A1A1A"/>
                </a:solidFill>
                <a:latin typeface="프리텐다드"/>
                <a:ea typeface="프리텐다드"/>
                <a:cs typeface="프리텐다드"/>
                <a:sym typeface="프리텐다드"/>
              </a:rPr>
              <a:t>못 읽은 경우</a:t>
            </a:r>
            <a:r>
              <a:rPr lang="en-US" altLang="ko-KR"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해상도를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올려도</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회복되지</a:t>
            </a:r>
            <a:r>
              <a:rPr lang="en-US" sz="2199" dirty="0">
                <a:solidFill>
                  <a:srgbClr val="1A1A1A"/>
                </a:solidFill>
                <a:latin typeface="프리텐다드"/>
                <a:ea typeface="프리텐다드"/>
                <a:cs typeface="프리텐다드"/>
                <a:sym typeface="프리텐다드"/>
              </a:rPr>
              <a:t> 않</a:t>
            </a:r>
            <a:r>
              <a:rPr lang="ko-KR" altLang="en-US" sz="2199" dirty="0">
                <a:solidFill>
                  <a:srgbClr val="1A1A1A"/>
                </a:solidFill>
                <a:latin typeface="프리텐다드"/>
                <a:ea typeface="프리텐다드"/>
                <a:cs typeface="프리텐다드"/>
                <a:sym typeface="프리텐다드"/>
              </a:rPr>
              <a:t>음</a:t>
            </a:r>
            <a:r>
              <a:rPr lang="en-US" sz="2199" dirty="0">
                <a:solidFill>
                  <a:srgbClr val="1A1A1A"/>
                </a:solidFill>
                <a:latin typeface="프리텐다드"/>
                <a:ea typeface="프리텐다드"/>
                <a:cs typeface="프리텐다드"/>
                <a:sym typeface="프리텐다드"/>
              </a:rPr>
              <a:t> (5가지 </a:t>
            </a:r>
            <a:r>
              <a:rPr lang="en-US" sz="2199" dirty="0" err="1">
                <a:solidFill>
                  <a:srgbClr val="1A1A1A"/>
                </a:solidFill>
                <a:latin typeface="프리텐다드"/>
                <a:ea typeface="프리텐다드"/>
                <a:cs typeface="프리텐다드"/>
                <a:sym typeface="프리텐다드"/>
              </a:rPr>
              <a:t>구성</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전부</a:t>
            </a:r>
            <a:r>
              <a:rPr lang="en-US" sz="2199" dirty="0">
                <a:solidFill>
                  <a:srgbClr val="1A1A1A"/>
                </a:solidFill>
                <a:latin typeface="프리텐다드"/>
                <a:ea typeface="프리텐다드"/>
                <a:cs typeface="프리텐다드"/>
                <a:sym typeface="프리텐다드"/>
              </a:rPr>
              <a:t> ±1%p, </a:t>
            </a:r>
            <a:r>
              <a:rPr lang="en-US" sz="2199" dirty="0" err="1">
                <a:solidFill>
                  <a:srgbClr val="1A1A1A"/>
                </a:solidFill>
                <a:latin typeface="프리텐다드"/>
                <a:ea typeface="프리텐다드"/>
                <a:cs typeface="프리텐다드"/>
                <a:sym typeface="프리텐다드"/>
              </a:rPr>
              <a:t>시간만</a:t>
            </a:r>
            <a:r>
              <a:rPr lang="en-US" sz="2199" dirty="0">
                <a:solidFill>
                  <a:srgbClr val="1A1A1A"/>
                </a:solidFill>
                <a:latin typeface="프리텐다드"/>
                <a:ea typeface="프리텐다드"/>
                <a:cs typeface="프리텐다드"/>
                <a:sym typeface="프리텐다드"/>
              </a:rPr>
              <a:t> +30~50%) → </a:t>
            </a:r>
            <a:r>
              <a:rPr lang="en-US" sz="2199" dirty="0" err="1">
                <a:solidFill>
                  <a:srgbClr val="1A1A1A"/>
                </a:solidFill>
                <a:latin typeface="프리텐다드"/>
                <a:ea typeface="프리텐다드"/>
                <a:cs typeface="프리텐다드"/>
                <a:sym typeface="프리텐다드"/>
              </a:rPr>
              <a:t>원인은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탐지가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아니라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인식</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품질</a:t>
            </a:r>
            <a:endParaRPr lang="en-US" sz="2199" dirty="0">
              <a:solidFill>
                <a:srgbClr val="1A1A1A"/>
              </a:solidFill>
              <a:latin typeface="프리텐다드"/>
              <a:ea typeface="프리텐다드"/>
              <a:cs typeface="프리텐다드"/>
              <a:sym typeface="프리텐다드"/>
            </a:endParaRPr>
          </a:p>
        </p:txBody>
      </p:sp>
      <p:grpSp>
        <p:nvGrpSpPr>
          <p:cNvPr id="46" name="Group 46"/>
          <p:cNvGrpSpPr/>
          <p:nvPr/>
        </p:nvGrpSpPr>
        <p:grpSpPr>
          <a:xfrm>
            <a:off x="535943" y="8674103"/>
            <a:ext cx="17216123" cy="793499"/>
            <a:chOff x="0" y="0"/>
            <a:chExt cx="22954831" cy="1057999"/>
          </a:xfrm>
        </p:grpSpPr>
        <p:sp>
          <p:nvSpPr>
            <p:cNvPr id="47" name="Freeform 4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8" name="Group 48"/>
          <p:cNvGrpSpPr/>
          <p:nvPr/>
        </p:nvGrpSpPr>
        <p:grpSpPr>
          <a:xfrm>
            <a:off x="822960" y="8686800"/>
            <a:ext cx="16642080" cy="768096"/>
            <a:chOff x="0" y="0"/>
            <a:chExt cx="22189440" cy="1024128"/>
          </a:xfrm>
        </p:grpSpPr>
        <p:sp>
          <p:nvSpPr>
            <p:cNvPr id="49" name="Freeform 4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0" name="TextBox 5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오답을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뭉뚱그려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모델을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키우자</a:t>
              </a:r>
              <a:r>
                <a:rPr lang="en-US" sz="2499" dirty="0">
                  <a:solidFill>
                    <a:srgbClr val="1A1A1A"/>
                  </a:solidFill>
                  <a:latin typeface="프리텐다드"/>
                  <a:ea typeface="프리텐다드"/>
                  <a:cs typeface="프리텐다드"/>
                  <a:sym typeface="프리텐다드"/>
                </a:rPr>
                <a:t>” 가 </a:t>
              </a:r>
              <a:r>
                <a:rPr lang="en-US" sz="2499" dirty="0" err="1">
                  <a:solidFill>
                    <a:srgbClr val="1A1A1A"/>
                  </a:solidFill>
                  <a:latin typeface="프리텐다드"/>
                  <a:ea typeface="프리텐다드"/>
                  <a:cs typeface="프리텐다드"/>
                  <a:sym typeface="프리텐다드"/>
                </a:rPr>
                <a:t>아니라</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원인별로</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가장</a:t>
              </a:r>
              <a:r>
                <a:rPr lang="en-US" sz="2499" b="1" dirty="0">
                  <a:solidFill>
                    <a:srgbClr val="8B0000"/>
                  </a:solidFill>
                  <a:latin typeface="프리텐다드 Bold"/>
                  <a:ea typeface="프리텐다드 Bold"/>
                  <a:cs typeface="프리텐다드 Bold"/>
                  <a:sym typeface="프리텐다드 Bold"/>
                </a:rPr>
                <a:t> </a:t>
              </a:r>
              <a:r>
                <a:rPr lang="ko-KR" altLang="en-US" sz="2499" b="1" dirty="0">
                  <a:solidFill>
                    <a:srgbClr val="8B0000"/>
                  </a:solidFill>
                  <a:latin typeface="프리텐다드 Bold"/>
                  <a:ea typeface="프리텐다드 Bold"/>
                  <a:cs typeface="프리텐다드 Bold"/>
                  <a:sym typeface="프리텐다드 Bold"/>
                </a:rPr>
                <a:t>가벼운</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처방</a:t>
              </a:r>
              <a:r>
                <a:rPr lang="en-US" sz="2499" dirty="0">
                  <a:solidFill>
                    <a:srgbClr val="1A1A1A"/>
                  </a:solidFill>
                  <a:latin typeface="프리텐다드"/>
                  <a:ea typeface="프리텐다드"/>
                  <a:cs typeface="프리텐다드"/>
                  <a:sym typeface="프리텐다드"/>
                </a:rPr>
                <a:t> 을 </a:t>
              </a:r>
              <a:r>
                <a:rPr lang="en-US" sz="2499" dirty="0" err="1">
                  <a:solidFill>
                    <a:srgbClr val="1A1A1A"/>
                  </a:solidFill>
                  <a:latin typeface="프리텐다드"/>
                  <a:ea typeface="프리텐다드"/>
                  <a:cs typeface="프리텐다드"/>
                  <a:sym typeface="프리텐다드"/>
                </a:rPr>
                <a:t>골랐습니다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후처리 규칙 : </a:t>
              </a:r>
              <a:r>
                <a:rPr lang="en-US" sz="3800" b="1">
                  <a:solidFill>
                    <a:srgbClr val="8B0000"/>
                  </a:solidFill>
                  <a:latin typeface="프리텐다드 Bold"/>
                  <a:ea typeface="프리텐다드 Bold"/>
                  <a:cs typeface="프리텐다드 Bold"/>
                  <a:sym typeface="프리텐다드 Bold"/>
                </a:rPr>
                <a:t>소비기한을 다른 숫자와 구분하는 법</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9</a:t>
              </a:r>
            </a:p>
          </p:txBody>
        </p:sp>
      </p:grpSp>
      <p:graphicFrame>
        <p:nvGraphicFramePr>
          <p:cNvPr id="11" name="Table 11"/>
          <p:cNvGraphicFramePr>
            <a:graphicFrameLocks noGrp="1"/>
          </p:cNvGraphicFramePr>
          <p:nvPr/>
        </p:nvGraphicFramePr>
        <p:xfrm>
          <a:off x="548640" y="1828800"/>
          <a:ext cx="17145000" cy="4445000"/>
        </p:xfrm>
        <a:graphic>
          <a:graphicData uri="http://schemas.openxmlformats.org/drawingml/2006/table">
            <a:tbl>
              <a:tblPr/>
              <a:tblGrid>
                <a:gridCol w="3107657">
                  <a:extLst>
                    <a:ext uri="{9D8B030D-6E8A-4147-A177-3AD203B41FA5}">
                      <a16:colId xmlns:a16="http://schemas.microsoft.com/office/drawing/2014/main" val="20000"/>
                    </a:ext>
                  </a:extLst>
                </a:gridCol>
                <a:gridCol w="3470301">
                  <a:extLst>
                    <a:ext uri="{9D8B030D-6E8A-4147-A177-3AD203B41FA5}">
                      <a16:colId xmlns:a16="http://schemas.microsoft.com/office/drawing/2014/main" val="20001"/>
                    </a:ext>
                  </a:extLst>
                </a:gridCol>
                <a:gridCol w="6462114">
                  <a:extLst>
                    <a:ext uri="{9D8B030D-6E8A-4147-A177-3AD203B41FA5}">
                      <a16:colId xmlns:a16="http://schemas.microsoft.com/office/drawing/2014/main" val="20002"/>
                    </a:ext>
                  </a:extLst>
                </a:gridCol>
                <a:gridCol w="4104928">
                  <a:extLst>
                    <a:ext uri="{9D8B030D-6E8A-4147-A177-3AD203B41FA5}">
                      <a16:colId xmlns:a16="http://schemas.microsoft.com/office/drawing/2014/main" val="20003"/>
                    </a:ext>
                  </a:extLst>
                </a:gridCol>
              </a:tblGrid>
              <a:tr h="635000">
                <a:tc>
                  <a:txBody>
                    <a:bodyPr/>
                    <a:lstStyle/>
                    <a:p>
                      <a:pPr algn="l">
                        <a:lnSpc>
                          <a:spcPts val="2304"/>
                        </a:lnSpc>
                        <a:defRPr/>
                      </a:pPr>
                      <a:r>
                        <a:rPr lang="en-US" sz="1920">
                          <a:solidFill>
                            <a:srgbClr val="FFFFFF"/>
                          </a:solidFill>
                          <a:latin typeface="프리텐다드"/>
                          <a:ea typeface="프리텐다드"/>
                          <a:cs typeface="프리텐다드"/>
                          <a:sym typeface="프리텐다드"/>
                        </a:rPr>
                        <a:t>구분 대상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실제 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규칙</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근거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품목보고번호 · 바코드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20130628332176</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9자리 이상 숫자열은 통째로 제거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앞 8자리가 완전한 날짜 형식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영양성분표 · 중량</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78 7 5 31 / 30.4 GRAMS</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신뢰 등급 : 완전 날짜 &gt; 공백·압축 &gt; 연월 &gt; 월일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잡음이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이긴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오답</a:t>
                      </a:r>
                      <a:r>
                        <a:rPr lang="en-US" sz="1920" dirty="0">
                          <a:solidFill>
                            <a:srgbClr val="1A1A1A"/>
                          </a:solidFill>
                          <a:latin typeface="프리텐다드"/>
                          <a:ea typeface="프리텐다드"/>
                          <a:cs typeface="프리텐다드"/>
                          <a:sym typeface="프리텐다드"/>
                        </a:rPr>
                        <a:t> 15장에서 </a:t>
                      </a:r>
                      <a:r>
                        <a:rPr lang="en-US" sz="1920" dirty="0" err="1">
                          <a:solidFill>
                            <a:srgbClr val="1A1A1A"/>
                          </a:solidFill>
                          <a:latin typeface="프리텐다드"/>
                          <a:ea typeface="프리텐다드"/>
                          <a:cs typeface="프리텐다드"/>
                          <a:sym typeface="프리텐다드"/>
                        </a:rPr>
                        <a:t>도출</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제조일자 · 유통기한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25.06.26  /  26.06.25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가장 좋은 등급 안에서 가장 늦은 날짜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소비기한 ≥ 유통기한 ≥ 제조일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시각 · 로트번호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13:11  /  A03  /  L8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날짜 패턴에서 제외, 옆 글자를 '일' 자리로 읽지 않음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도트 인쇄 제품에 흔함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연·월·일 순서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30.07.26  /  24/12/21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년월일 우선. 무효·2028년 이후면 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라벨 : 년월일 344 · 일월년 102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범위 밖 연도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2033, 2009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2017 ~ 2031 만 인정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전수</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라벨</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최소</a:t>
                      </a:r>
                      <a:r>
                        <a:rPr lang="en-US" sz="1920" dirty="0">
                          <a:solidFill>
                            <a:srgbClr val="1A1A1A"/>
                          </a:solidFill>
                          <a:latin typeface="프리텐다드"/>
                          <a:ea typeface="프리텐다드"/>
                          <a:cs typeface="프리텐다드"/>
                          <a:sym typeface="프리텐다드"/>
                        </a:rPr>
                        <a:t> 2017</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12" name="Group 12"/>
          <p:cNvGrpSpPr/>
          <p:nvPr/>
        </p:nvGrpSpPr>
        <p:grpSpPr>
          <a:xfrm>
            <a:off x="535943" y="6753863"/>
            <a:ext cx="8437883" cy="1671323"/>
            <a:chOff x="0" y="0"/>
            <a:chExt cx="11250511" cy="2228431"/>
          </a:xfrm>
        </p:grpSpPr>
        <p:sp>
          <p:nvSpPr>
            <p:cNvPr id="13" name="Freeform 13"/>
            <p:cNvSpPr/>
            <p:nvPr/>
          </p:nvSpPr>
          <p:spPr>
            <a:xfrm>
              <a:off x="0" y="0"/>
              <a:ext cx="11250549" cy="2228469"/>
            </a:xfrm>
            <a:custGeom>
              <a:avLst/>
              <a:gdLst/>
              <a:ahLst/>
              <a:cxnLst/>
              <a:rect l="l" t="t" r="r" b="b"/>
              <a:pathLst>
                <a:path w="11250549" h="2228469">
                  <a:moveTo>
                    <a:pt x="0" y="198120"/>
                  </a:moveTo>
                  <a:cubicBezTo>
                    <a:pt x="0" y="88646"/>
                    <a:pt x="88646" y="0"/>
                    <a:pt x="198120" y="0"/>
                  </a:cubicBezTo>
                  <a:lnTo>
                    <a:pt x="11052429" y="0"/>
                  </a:lnTo>
                  <a:cubicBezTo>
                    <a:pt x="11161776" y="0"/>
                    <a:pt x="11250549" y="88646"/>
                    <a:pt x="11250549" y="198120"/>
                  </a:cubicBezTo>
                  <a:lnTo>
                    <a:pt x="11250549" y="2030349"/>
                  </a:lnTo>
                  <a:cubicBezTo>
                    <a:pt x="11250549" y="2139696"/>
                    <a:pt x="11161903" y="2228469"/>
                    <a:pt x="11052429" y="2228469"/>
                  </a:cubicBezTo>
                  <a:lnTo>
                    <a:pt x="198120" y="2228469"/>
                  </a:lnTo>
                  <a:cubicBezTo>
                    <a:pt x="88773" y="2228469"/>
                    <a:pt x="0" y="2139823"/>
                    <a:pt x="0" y="2030349"/>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822960" y="7016877"/>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미인식(NONE) 기준</a:t>
            </a:r>
          </a:p>
        </p:txBody>
      </p:sp>
      <p:sp>
        <p:nvSpPr>
          <p:cNvPr id="15" name="TextBox 15"/>
          <p:cNvSpPr txBox="1"/>
          <p:nvPr/>
        </p:nvSpPr>
        <p:spPr>
          <a:xfrm>
            <a:off x="822960" y="7426452"/>
            <a:ext cx="7863840" cy="638175"/>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후보가 하나도 없으면 추측하지 않습니다. </a:t>
            </a:r>
          </a:p>
          <a:p>
            <a:pPr algn="l">
              <a:lnSpc>
                <a:spcPts val="2520"/>
              </a:lnSpc>
            </a:pPr>
            <a:r>
              <a:rPr lang="en-US" sz="2100">
                <a:solidFill>
                  <a:srgbClr val="6B6B6B"/>
                </a:solidFill>
                <a:latin typeface="프리텐다드"/>
                <a:ea typeface="프리텐다드"/>
                <a:cs typeface="프리텐다드"/>
                <a:sym typeface="프리텐다드"/>
              </a:rPr>
              <a:t>연도나 일만 없으면 그 칸만 NONE (NONE-10-14, 2027-07-NONE)</a:t>
            </a:r>
          </a:p>
        </p:txBody>
      </p:sp>
      <p:grpSp>
        <p:nvGrpSpPr>
          <p:cNvPr id="16" name="Group 16"/>
          <p:cNvGrpSpPr/>
          <p:nvPr/>
        </p:nvGrpSpPr>
        <p:grpSpPr>
          <a:xfrm>
            <a:off x="9314183" y="6753863"/>
            <a:ext cx="8437883" cy="1671323"/>
            <a:chOff x="0" y="0"/>
            <a:chExt cx="11250511" cy="2228431"/>
          </a:xfrm>
        </p:grpSpPr>
        <p:sp>
          <p:nvSpPr>
            <p:cNvPr id="17" name="Freeform 17"/>
            <p:cNvSpPr/>
            <p:nvPr/>
          </p:nvSpPr>
          <p:spPr>
            <a:xfrm>
              <a:off x="0" y="0"/>
              <a:ext cx="11250549" cy="2228469"/>
            </a:xfrm>
            <a:custGeom>
              <a:avLst/>
              <a:gdLst/>
              <a:ahLst/>
              <a:cxnLst/>
              <a:rect l="l" t="t" r="r" b="b"/>
              <a:pathLst>
                <a:path w="11250549" h="2228469">
                  <a:moveTo>
                    <a:pt x="0" y="198120"/>
                  </a:moveTo>
                  <a:cubicBezTo>
                    <a:pt x="0" y="88646"/>
                    <a:pt x="88646" y="0"/>
                    <a:pt x="198120" y="0"/>
                  </a:cubicBezTo>
                  <a:lnTo>
                    <a:pt x="11052429" y="0"/>
                  </a:lnTo>
                  <a:cubicBezTo>
                    <a:pt x="11161776" y="0"/>
                    <a:pt x="11250549" y="88646"/>
                    <a:pt x="11250549" y="198120"/>
                  </a:cubicBezTo>
                  <a:lnTo>
                    <a:pt x="11250549" y="2030349"/>
                  </a:lnTo>
                  <a:cubicBezTo>
                    <a:pt x="11250549" y="2139696"/>
                    <a:pt x="11161903" y="2228469"/>
                    <a:pt x="11052429" y="2228469"/>
                  </a:cubicBezTo>
                  <a:lnTo>
                    <a:pt x="198120" y="2228469"/>
                  </a:lnTo>
                  <a:cubicBezTo>
                    <a:pt x="88773" y="2228469"/>
                    <a:pt x="0" y="2139823"/>
                    <a:pt x="0" y="2030349"/>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8" name="TextBox 18"/>
          <p:cNvSpPr txBox="1"/>
          <p:nvPr/>
        </p:nvSpPr>
        <p:spPr>
          <a:xfrm>
            <a:off x="9601200" y="7016877"/>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라벨과 모델이 같은 규칙</a:t>
            </a:r>
          </a:p>
        </p:txBody>
      </p:sp>
      <p:sp>
        <p:nvSpPr>
          <p:cNvPr id="19" name="TextBox 19"/>
          <p:cNvSpPr txBox="1"/>
          <p:nvPr/>
        </p:nvSpPr>
        <p:spPr>
          <a:xfrm>
            <a:off x="9601200" y="7426452"/>
            <a:ext cx="7863840" cy="638175"/>
          </a:xfrm>
          <a:prstGeom prst="rect">
            <a:avLst/>
          </a:prstGeom>
        </p:spPr>
        <p:txBody>
          <a:bodyPr lIns="0" tIns="0" rIns="0" bIns="0" rtlCol="0" anchor="t">
            <a:spAutoFit/>
          </a:bodyPr>
          <a:lstStyle/>
          <a:p>
            <a:pPr algn="l">
              <a:lnSpc>
                <a:spcPts val="2520"/>
              </a:lnSpc>
            </a:pPr>
            <a:r>
              <a:rPr lang="en-US" sz="2100" dirty="0" err="1">
                <a:solidFill>
                  <a:srgbClr val="6B6B6B"/>
                </a:solidFill>
                <a:latin typeface="프리텐다드"/>
                <a:ea typeface="프리텐다드"/>
                <a:cs typeface="프리텐다드"/>
                <a:sym typeface="프리텐다드"/>
              </a:rPr>
              <a:t>운영진</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확정</a:t>
            </a:r>
            <a:r>
              <a:rPr lang="en-US" sz="2100" dirty="0">
                <a:solidFill>
                  <a:srgbClr val="6B6B6B"/>
                </a:solidFill>
                <a:latin typeface="프리텐다드"/>
                <a:ea typeface="프리텐다드"/>
                <a:cs typeface="프리텐다드"/>
                <a:sym typeface="프리텐다드"/>
              </a:rPr>
              <a:t> : </a:t>
            </a:r>
            <a:r>
              <a:rPr lang="en-US" sz="2100" dirty="0" err="1">
                <a:solidFill>
                  <a:srgbClr val="6B6B6B"/>
                </a:solidFill>
                <a:latin typeface="프리텐다드"/>
                <a:ea typeface="프리텐다드"/>
                <a:cs typeface="프리텐다드"/>
                <a:sym typeface="프리텐다드"/>
              </a:rPr>
              <a:t>모호한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표기는</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팀이</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문서화한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규칙으로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채점</a:t>
            </a:r>
            <a:r>
              <a:rPr lang="en-US" sz="2100" dirty="0">
                <a:solidFill>
                  <a:srgbClr val="6B6B6B"/>
                </a:solidFill>
                <a:latin typeface="프리텐다드"/>
                <a:ea typeface="프리텐다드"/>
                <a:cs typeface="프리텐다드"/>
                <a:sym typeface="프리텐다드"/>
              </a:rPr>
              <a:t>,</a:t>
            </a:r>
          </a:p>
          <a:p>
            <a:pPr algn="l">
              <a:lnSpc>
                <a:spcPts val="2520"/>
              </a:lnSpc>
            </a:pPr>
            <a:r>
              <a:rPr lang="en-US" sz="2100" dirty="0" err="1">
                <a:solidFill>
                  <a:srgbClr val="6B6B6B"/>
                </a:solidFill>
                <a:latin typeface="프리텐다드"/>
                <a:ea typeface="프리텐다드"/>
                <a:cs typeface="프리텐다드"/>
                <a:sym typeface="프리텐다드"/>
              </a:rPr>
              <a:t>규칙</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문서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하나를</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라벨링</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도구와</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파서</a:t>
            </a:r>
            <a:r>
              <a:rPr lang="en-US" sz="2100" dirty="0">
                <a:solidFill>
                  <a:srgbClr val="6B6B6B"/>
                </a:solidFill>
                <a:latin typeface="프리텐다드"/>
                <a:ea typeface="프리텐다드"/>
                <a:cs typeface="프리텐다드"/>
                <a:sym typeface="프리텐다드"/>
              </a:rPr>
              <a:t>(parser)가 </a:t>
            </a:r>
            <a:r>
              <a:rPr lang="en-US" sz="2100" dirty="0" err="1">
                <a:solidFill>
                  <a:srgbClr val="6B6B6B"/>
                </a:solidFill>
                <a:latin typeface="프리텐다드"/>
                <a:ea typeface="프리텐다드"/>
                <a:cs typeface="프리텐다드"/>
                <a:sym typeface="프리텐다드"/>
              </a:rPr>
              <a:t>공유</a:t>
            </a:r>
            <a:endParaRPr lang="en-US" sz="2100" dirty="0">
              <a:solidFill>
                <a:srgbClr val="6B6B6B"/>
              </a:solidFill>
              <a:latin typeface="프리텐다드"/>
              <a:ea typeface="프리텐다드"/>
              <a:cs typeface="프리텐다드"/>
              <a:sym typeface="프리텐다드"/>
            </a:endParaRPr>
          </a:p>
        </p:txBody>
      </p:sp>
      <p:grpSp>
        <p:nvGrpSpPr>
          <p:cNvPr id="20" name="Group 20"/>
          <p:cNvGrpSpPr/>
          <p:nvPr/>
        </p:nvGrpSpPr>
        <p:grpSpPr>
          <a:xfrm>
            <a:off x="535943" y="8674103"/>
            <a:ext cx="17216123" cy="793499"/>
            <a:chOff x="0" y="0"/>
            <a:chExt cx="22954831" cy="1057999"/>
          </a:xfrm>
        </p:grpSpPr>
        <p:sp>
          <p:nvSpPr>
            <p:cNvPr id="21" name="Freeform 21"/>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2" name="Group 22"/>
          <p:cNvGrpSpPr/>
          <p:nvPr/>
        </p:nvGrpSpPr>
        <p:grpSpPr>
          <a:xfrm>
            <a:off x="822960" y="8686800"/>
            <a:ext cx="16642080" cy="768096"/>
            <a:chOff x="0" y="0"/>
            <a:chExt cx="22189440" cy="1024128"/>
          </a:xfrm>
        </p:grpSpPr>
        <p:sp>
          <p:nvSpPr>
            <p:cNvPr id="23" name="Freeform 23"/>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4" name="TextBox 24"/>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규칙마다</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어떤</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오답에서</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나왔는지</a:t>
              </a:r>
              <a:r>
                <a:rPr lang="en-US" sz="2499" dirty="0">
                  <a:solidFill>
                    <a:srgbClr val="1A1A1A"/>
                  </a:solidFill>
                  <a:latin typeface="프리텐다드"/>
                  <a:ea typeface="프리텐다드"/>
                  <a:cs typeface="프리텐다드"/>
                  <a:sym typeface="프리텐다드"/>
                </a:rPr>
                <a:t> 와 </a:t>
              </a:r>
              <a:r>
                <a:rPr lang="en-US" sz="2499" b="1" dirty="0" err="1">
                  <a:solidFill>
                    <a:srgbClr val="8B0000"/>
                  </a:solidFill>
                  <a:latin typeface="프리텐다드 Bold"/>
                  <a:ea typeface="프리텐다드 Bold"/>
                  <a:cs typeface="프리텐다드 Bold"/>
                  <a:sym typeface="프리텐다드 Bold"/>
                </a:rPr>
                <a:t>회복·퇴보</a:t>
              </a:r>
              <a:r>
                <a:rPr lang="en-US" sz="2499" b="1" dirty="0">
                  <a:solidFill>
                    <a:srgbClr val="8B0000"/>
                  </a:solidFill>
                  <a:latin typeface="프리텐다드 Bold"/>
                  <a:ea typeface="프리텐다드 Bold"/>
                  <a:cs typeface="프리텐다드 Bold"/>
                  <a:sym typeface="프리텐다드 Bold"/>
                </a:rPr>
                <a:t> 수</a:t>
              </a:r>
              <a:r>
                <a:rPr lang="en-US" sz="2499" dirty="0">
                  <a:solidFill>
                    <a:srgbClr val="1A1A1A"/>
                  </a:solidFill>
                  <a:latin typeface="프리텐다드"/>
                  <a:ea typeface="프리텐다드"/>
                  <a:cs typeface="프리텐다드"/>
                  <a:sym typeface="프리텐다드"/>
                </a:rPr>
                <a:t> 가 </a:t>
              </a:r>
              <a:r>
                <a:rPr lang="en-US" sz="2499" dirty="0" err="1">
                  <a:solidFill>
                    <a:srgbClr val="1A1A1A"/>
                  </a:solidFill>
                  <a:latin typeface="프리텐다드"/>
                  <a:ea typeface="프리텐다드"/>
                  <a:cs typeface="프리텐다드"/>
                  <a:sym typeface="프리텐다드"/>
                </a:rPr>
                <a:t>기록</a:t>
              </a:r>
              <a:r>
                <a:rPr lang="ko-KR" altLang="en-US" sz="2499" dirty="0">
                  <a:solidFill>
                    <a:srgbClr val="1A1A1A"/>
                  </a:solidFill>
                  <a:latin typeface="프리텐다드"/>
                  <a:ea typeface="프리텐다드"/>
                  <a:cs typeface="프리텐다드"/>
                  <a:sym typeface="프리텐다드"/>
                </a:rPr>
                <a:t>되어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3060905"/>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4</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성능과</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속도</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검증</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무엇을 채택하고 무엇을 버렸는가</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10</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정확도 : </a:t>
              </a:r>
              <a:r>
                <a:rPr lang="en-US" sz="3800" b="1">
                  <a:solidFill>
                    <a:srgbClr val="8B0000"/>
                  </a:solidFill>
                  <a:latin typeface="프리텐다드 Bold"/>
                  <a:ea typeface="프리텐다드 Bold"/>
                  <a:cs typeface="프리텐다드 Bold"/>
                  <a:sym typeface="프리텐다드 Bold"/>
                </a:rPr>
                <a:t>봉인 500장 86.2%, 필드 평균 90.8%</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11</a:t>
              </a:r>
            </a:p>
          </p:txBody>
        </p:sp>
      </p:grpSp>
      <p:pic>
        <p:nvPicPr>
          <p:cNvPr id="11" name="Picture 11"/>
          <p:cNvPicPr>
            <a:picLocks noChangeAspect="1"/>
          </p:cNvPicPr>
          <p:nvPr/>
        </p:nvPicPr>
        <p:blipFill>
          <a:blip r:embed="rId4"/>
          <a:stretch>
            <a:fillRect/>
          </a:stretch>
        </p:blipFill>
        <p:spPr>
          <a:xfrm>
            <a:off x="73670" y="655090"/>
            <a:ext cx="12712920" cy="8156377"/>
          </a:xfrm>
          <a:prstGeom prst="rect">
            <a:avLst/>
          </a:prstGeom>
        </p:spPr>
      </p:pic>
      <p:sp>
        <p:nvSpPr>
          <p:cNvPr id="12" name="TextBox 12"/>
          <p:cNvSpPr txBox="1"/>
          <p:nvPr/>
        </p:nvSpPr>
        <p:spPr>
          <a:xfrm>
            <a:off x="1028700" y="8203555"/>
            <a:ext cx="10972800" cy="512961"/>
          </a:xfrm>
          <a:prstGeom prst="rect">
            <a:avLst/>
          </a:prstGeom>
        </p:spPr>
        <p:txBody>
          <a:bodyPr lIns="0" tIns="0" rIns="0" bIns="0" rtlCol="0" anchor="t">
            <a:spAutoFit/>
          </a:bodyPr>
          <a:lstStyle/>
          <a:p>
            <a:pPr algn="l">
              <a:lnSpc>
                <a:spcPts val="2040"/>
              </a:lnSpc>
            </a:pP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앞</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세</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단계는</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개발용</a:t>
            </a:r>
            <a:r>
              <a:rPr lang="en-US" sz="1700" dirty="0">
                <a:solidFill>
                  <a:srgbClr val="6B6B6B"/>
                </a:solidFill>
                <a:latin typeface="프리텐다드"/>
                <a:ea typeface="프리텐다드"/>
                <a:cs typeface="프리텐다드"/>
                <a:sym typeface="프리텐다드"/>
              </a:rPr>
              <a:t> 133장, </a:t>
            </a:r>
            <a:r>
              <a:rPr lang="en-US" sz="1700" dirty="0" err="1">
                <a:solidFill>
                  <a:srgbClr val="6B6B6B"/>
                </a:solidFill>
                <a:latin typeface="프리텐다드"/>
                <a:ea typeface="프리텐다드"/>
                <a:cs typeface="프리텐다드"/>
                <a:sym typeface="프리텐다드"/>
              </a:rPr>
              <a:t>이후는</a:t>
            </a:r>
            <a:r>
              <a:rPr lang="en-US" sz="1700" dirty="0">
                <a:solidFill>
                  <a:srgbClr val="6B6B6B"/>
                </a:solidFill>
                <a:latin typeface="프리텐다드"/>
                <a:ea typeface="프리텐다드"/>
                <a:cs typeface="프리텐다드"/>
                <a:sym typeface="프리텐다드"/>
              </a:rPr>
              <a:t> 500장 </a:t>
            </a:r>
            <a:r>
              <a:rPr lang="en-US" sz="1700" dirty="0" err="1">
                <a:solidFill>
                  <a:srgbClr val="6B6B6B"/>
                </a:solidFill>
                <a:latin typeface="프리텐다드"/>
                <a:ea typeface="프리텐다드"/>
                <a:cs typeface="프리텐다드"/>
                <a:sym typeface="프리텐다드"/>
              </a:rPr>
              <a:t>기준</a:t>
            </a:r>
            <a:endParaRPr lang="en-US" sz="1700" dirty="0">
              <a:solidFill>
                <a:srgbClr val="6B6B6B"/>
              </a:solidFill>
              <a:latin typeface="프리텐다드"/>
              <a:ea typeface="프리텐다드"/>
              <a:cs typeface="프리텐다드"/>
              <a:sym typeface="프리텐다드"/>
            </a:endParaRPr>
          </a:p>
          <a:p>
            <a:pPr>
              <a:lnSpc>
                <a:spcPts val="2040"/>
              </a:lnSpc>
            </a:pPr>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11</a:t>
            </a:r>
            <a:r>
              <a:rPr lang="ko-KR" altLang="en-US" sz="1700" dirty="0">
                <a:solidFill>
                  <a:srgbClr val="6B6B6B"/>
                </a:solidFill>
                <a:latin typeface="프리텐다드"/>
                <a:ea typeface="프리텐다드"/>
                <a:cs typeface="프리텐다드"/>
                <a:sym typeface="프리텐다드"/>
              </a:rPr>
              <a:t>번 차트의 </a:t>
            </a:r>
            <a:r>
              <a:rPr lang="en-US" altLang="ko-KR" sz="1700" dirty="0">
                <a:solidFill>
                  <a:srgbClr val="6B6B6B"/>
                </a:solidFill>
                <a:latin typeface="프리텐다드"/>
                <a:ea typeface="프리텐다드"/>
                <a:cs typeface="프리텐다드"/>
                <a:sym typeface="프리텐다드"/>
              </a:rPr>
              <a:t>71.2%</a:t>
            </a:r>
            <a:r>
              <a:rPr lang="ko-KR" altLang="en-US" sz="1700" dirty="0">
                <a:solidFill>
                  <a:srgbClr val="6B6B6B"/>
                </a:solidFill>
                <a:latin typeface="프리텐다드"/>
                <a:ea typeface="프리텐다드"/>
                <a:cs typeface="프리텐다드"/>
                <a:sym typeface="프리텐다드"/>
              </a:rPr>
              <a:t>는 본선 </a:t>
            </a:r>
            <a:r>
              <a:rPr lang="ko-KR" altLang="en-US" sz="1700" dirty="0" err="1">
                <a:solidFill>
                  <a:srgbClr val="6B6B6B"/>
                </a:solidFill>
                <a:latin typeface="프리텐다드"/>
                <a:ea typeface="프리텐다드"/>
                <a:cs typeface="프리텐다드"/>
                <a:sym typeface="프리텐다드"/>
              </a:rPr>
              <a:t>측정셋</a:t>
            </a:r>
            <a:r>
              <a:rPr lang="en-US" altLang="ko-KR" sz="1700" dirty="0">
                <a:solidFill>
                  <a:srgbClr val="6B6B6B"/>
                </a:solidFill>
                <a:latin typeface="프리텐다드"/>
                <a:ea typeface="프리텐다드"/>
                <a:cs typeface="프리텐다드"/>
                <a:sym typeface="프리텐다드"/>
              </a:rPr>
              <a:t>(500</a:t>
            </a:r>
            <a:r>
              <a:rPr lang="ko-KR" altLang="en-US" sz="1700" dirty="0">
                <a:solidFill>
                  <a:srgbClr val="6B6B6B"/>
                </a:solidFill>
                <a:latin typeface="프리텐다드"/>
                <a:ea typeface="프리텐다드"/>
                <a:cs typeface="프리텐다드"/>
                <a:sym typeface="프리텐다드"/>
              </a:rPr>
              <a:t>장</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기준</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12</a:t>
            </a:r>
            <a:r>
              <a:rPr lang="ko-KR" altLang="en-US" sz="1700" dirty="0">
                <a:solidFill>
                  <a:srgbClr val="6B6B6B"/>
                </a:solidFill>
                <a:latin typeface="프리텐다드"/>
                <a:ea typeface="프리텐다드"/>
                <a:cs typeface="프리텐다드"/>
                <a:sym typeface="프리텐다드"/>
              </a:rPr>
              <a:t>번 표의 </a:t>
            </a:r>
            <a:r>
              <a:rPr lang="en-US" altLang="ko-KR" sz="1700" dirty="0">
                <a:solidFill>
                  <a:srgbClr val="6B6B6B"/>
                </a:solidFill>
                <a:latin typeface="프리텐다드"/>
                <a:ea typeface="프리텐다드"/>
                <a:cs typeface="프리텐다드"/>
                <a:sym typeface="프리텐다드"/>
              </a:rPr>
              <a:t>67.7%</a:t>
            </a:r>
            <a:r>
              <a:rPr lang="ko-KR" altLang="en-US" sz="1700" dirty="0">
                <a:solidFill>
                  <a:srgbClr val="6B6B6B"/>
                </a:solidFill>
                <a:latin typeface="프리텐다드"/>
                <a:ea typeface="프리텐다드"/>
                <a:cs typeface="프리텐다드"/>
                <a:sym typeface="프리텐다드"/>
              </a:rPr>
              <a:t>는 같은 변경을 초기 라벨 </a:t>
            </a:r>
            <a:r>
              <a:rPr lang="en-US" altLang="ko-KR" sz="1700" dirty="0">
                <a:solidFill>
                  <a:srgbClr val="6B6B6B"/>
                </a:solidFill>
                <a:latin typeface="프리텐다드"/>
                <a:ea typeface="프리텐다드"/>
                <a:cs typeface="프리텐다드"/>
                <a:sym typeface="프리텐다드"/>
              </a:rPr>
              <a:t>133</a:t>
            </a:r>
            <a:r>
              <a:rPr lang="ko-KR" altLang="en-US" sz="1700" dirty="0">
                <a:solidFill>
                  <a:srgbClr val="6B6B6B"/>
                </a:solidFill>
                <a:latin typeface="프리텐다드"/>
                <a:ea typeface="프리텐다드"/>
                <a:cs typeface="프리텐다드"/>
                <a:sym typeface="프리텐다드"/>
              </a:rPr>
              <a:t>장으로 다시 잰 값</a:t>
            </a:r>
            <a:endParaRPr lang="en-US" sz="1700" dirty="0">
              <a:solidFill>
                <a:srgbClr val="6B6B6B"/>
              </a:solidFill>
              <a:latin typeface="프리텐다드"/>
              <a:ea typeface="프리텐다드"/>
              <a:cs typeface="프리텐다드"/>
              <a:sym typeface="프리텐다드"/>
            </a:endParaRPr>
          </a:p>
        </p:txBody>
      </p:sp>
      <p:grpSp>
        <p:nvGrpSpPr>
          <p:cNvPr id="13" name="Group 13"/>
          <p:cNvGrpSpPr/>
          <p:nvPr/>
        </p:nvGrpSpPr>
        <p:grpSpPr>
          <a:xfrm>
            <a:off x="12057383" y="1724663"/>
            <a:ext cx="5694683" cy="2677163"/>
            <a:chOff x="0" y="0"/>
            <a:chExt cx="7592911" cy="3569551"/>
          </a:xfrm>
        </p:grpSpPr>
        <p:sp>
          <p:nvSpPr>
            <p:cNvPr id="14" name="Freeform 14"/>
            <p:cNvSpPr/>
            <p:nvPr/>
          </p:nvSpPr>
          <p:spPr>
            <a:xfrm>
              <a:off x="0" y="0"/>
              <a:ext cx="7592949" cy="3569589"/>
            </a:xfrm>
            <a:custGeom>
              <a:avLst/>
              <a:gdLst/>
              <a:ahLst/>
              <a:cxnLst/>
              <a:rect l="l" t="t" r="r" b="b"/>
              <a:pathLst>
                <a:path w="7592949" h="3569589">
                  <a:moveTo>
                    <a:pt x="0" y="196977"/>
                  </a:moveTo>
                  <a:cubicBezTo>
                    <a:pt x="0" y="88138"/>
                    <a:pt x="88138" y="0"/>
                    <a:pt x="196977" y="0"/>
                  </a:cubicBezTo>
                  <a:lnTo>
                    <a:pt x="7395972" y="0"/>
                  </a:lnTo>
                  <a:cubicBezTo>
                    <a:pt x="7504684" y="0"/>
                    <a:pt x="7592949" y="88138"/>
                    <a:pt x="7592949" y="196977"/>
                  </a:cubicBezTo>
                  <a:lnTo>
                    <a:pt x="7592949" y="3372612"/>
                  </a:lnTo>
                  <a:cubicBezTo>
                    <a:pt x="7592949" y="3481324"/>
                    <a:pt x="7504811" y="3569589"/>
                    <a:pt x="7395972" y="3569589"/>
                  </a:cubicBezTo>
                  <a:lnTo>
                    <a:pt x="196977" y="3569589"/>
                  </a:lnTo>
                  <a:cubicBezTo>
                    <a:pt x="88138" y="3569589"/>
                    <a:pt x="0" y="3481324"/>
                    <a:pt x="0" y="3372612"/>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5" name="TextBox 15"/>
          <p:cNvSpPr txBox="1"/>
          <p:nvPr/>
        </p:nvSpPr>
        <p:spPr>
          <a:xfrm>
            <a:off x="12344405" y="2275840"/>
            <a:ext cx="5120640" cy="323850"/>
          </a:xfrm>
          <a:prstGeom prst="rect">
            <a:avLst/>
          </a:prstGeom>
        </p:spPr>
        <p:txBody>
          <a:bodyPr lIns="0" tIns="0" rIns="0" bIns="0" rtlCol="0" anchor="t">
            <a:spAutoFit/>
          </a:bodyPr>
          <a:lstStyle/>
          <a:p>
            <a:pPr algn="just">
              <a:lnSpc>
                <a:spcPts val="2520"/>
              </a:lnSpc>
            </a:pPr>
            <a:r>
              <a:rPr lang="en-US" sz="2100">
                <a:solidFill>
                  <a:srgbClr val="6B6B6B"/>
                </a:solidFill>
                <a:latin typeface="프리텐다드"/>
                <a:ea typeface="프리텐다드"/>
                <a:cs typeface="프리텐다드"/>
                <a:sym typeface="프리텐다드"/>
              </a:rPr>
              <a:t>봉인 500장 · 완전일치</a:t>
            </a:r>
          </a:p>
        </p:txBody>
      </p:sp>
      <p:grpSp>
        <p:nvGrpSpPr>
          <p:cNvPr id="16" name="Group 16"/>
          <p:cNvGrpSpPr/>
          <p:nvPr/>
        </p:nvGrpSpPr>
        <p:grpSpPr>
          <a:xfrm>
            <a:off x="12344405" y="2344107"/>
            <a:ext cx="5120640" cy="1426245"/>
            <a:chOff x="0" y="0"/>
            <a:chExt cx="6827520" cy="1901659"/>
          </a:xfrm>
        </p:grpSpPr>
        <p:sp>
          <p:nvSpPr>
            <p:cNvPr id="17" name="Freeform 17"/>
            <p:cNvSpPr/>
            <p:nvPr/>
          </p:nvSpPr>
          <p:spPr>
            <a:xfrm>
              <a:off x="0" y="0"/>
              <a:ext cx="6827520" cy="1901660"/>
            </a:xfrm>
            <a:custGeom>
              <a:avLst/>
              <a:gdLst/>
              <a:ahLst/>
              <a:cxnLst/>
              <a:rect l="l" t="t" r="r" b="b"/>
              <a:pathLst>
                <a:path w="6827520" h="1901660">
                  <a:moveTo>
                    <a:pt x="0" y="0"/>
                  </a:moveTo>
                  <a:lnTo>
                    <a:pt x="6827520" y="0"/>
                  </a:lnTo>
                  <a:lnTo>
                    <a:pt x="6827520" y="1901660"/>
                  </a:lnTo>
                  <a:lnTo>
                    <a:pt x="0" y="1901660"/>
                  </a:lnTo>
                  <a:close/>
                </a:path>
              </a:pathLst>
            </a:custGeom>
            <a:blipFill>
              <a:blip r:embed="rId3">
                <a:alphaModFix amt="0"/>
              </a:blip>
              <a:stretch>
                <a:fillRect t="-30207" b="-9706"/>
              </a:stretch>
            </a:blipFill>
          </p:spPr>
          <p:txBody>
            <a:bodyPr/>
            <a:lstStyle/>
            <a:p>
              <a:endParaRPr lang="ko-KR" altLang="en-US"/>
            </a:p>
          </p:txBody>
        </p:sp>
        <p:sp>
          <p:nvSpPr>
            <p:cNvPr id="18" name="TextBox 18"/>
            <p:cNvSpPr txBox="1"/>
            <p:nvPr/>
          </p:nvSpPr>
          <p:spPr>
            <a:xfrm>
              <a:off x="0" y="-9525"/>
              <a:ext cx="6827520" cy="1911184"/>
            </a:xfrm>
            <a:prstGeom prst="rect">
              <a:avLst/>
            </a:prstGeom>
          </p:spPr>
          <p:txBody>
            <a:bodyPr lIns="0" tIns="0" rIns="0" bIns="0" rtlCol="0" anchor="ctr"/>
            <a:lstStyle/>
            <a:p>
              <a:pPr algn="just">
                <a:lnSpc>
                  <a:spcPts val="8399"/>
                </a:lnSpc>
              </a:pPr>
              <a:r>
                <a:rPr lang="en-US" sz="6999" b="1">
                  <a:solidFill>
                    <a:srgbClr val="8B0000"/>
                  </a:solidFill>
                  <a:latin typeface="프리텐다드 Heavy"/>
                  <a:ea typeface="프리텐다드 Heavy"/>
                  <a:cs typeface="프리텐다드 Heavy"/>
                  <a:sym typeface="프리텐다드 Heavy"/>
                </a:rPr>
                <a:t>86.2%</a:t>
              </a:r>
            </a:p>
          </p:txBody>
        </p:sp>
      </p:grpSp>
      <p:sp>
        <p:nvSpPr>
          <p:cNvPr id="19" name="TextBox 19"/>
          <p:cNvSpPr txBox="1"/>
          <p:nvPr/>
        </p:nvSpPr>
        <p:spPr>
          <a:xfrm>
            <a:off x="12344405" y="3564548"/>
            <a:ext cx="5120640" cy="323850"/>
          </a:xfrm>
          <a:prstGeom prst="rect">
            <a:avLst/>
          </a:prstGeom>
        </p:spPr>
        <p:txBody>
          <a:bodyPr lIns="0" tIns="0" rIns="0" bIns="0" rtlCol="0" anchor="t">
            <a:spAutoFit/>
          </a:bodyPr>
          <a:lstStyle/>
          <a:p>
            <a:pPr algn="just">
              <a:lnSpc>
                <a:spcPts val="2520"/>
              </a:lnSpc>
            </a:pPr>
            <a:r>
              <a:rPr lang="en-US" sz="2100">
                <a:solidFill>
                  <a:srgbClr val="1A1A1A"/>
                </a:solidFill>
                <a:latin typeface="프리텐다드"/>
                <a:ea typeface="프리텐다드"/>
                <a:cs typeface="프리텐다드"/>
                <a:sym typeface="프리텐다드"/>
              </a:rPr>
              <a:t>예선 제출본 84.2% → +2.0%p</a:t>
            </a:r>
          </a:p>
        </p:txBody>
      </p:sp>
      <p:graphicFrame>
        <p:nvGraphicFramePr>
          <p:cNvPr id="20" name="Table 20"/>
          <p:cNvGraphicFramePr>
            <a:graphicFrameLocks noGrp="1"/>
          </p:cNvGraphicFramePr>
          <p:nvPr/>
        </p:nvGraphicFramePr>
        <p:xfrm>
          <a:off x="12070080" y="4608576"/>
          <a:ext cx="5664200" cy="4065527"/>
        </p:xfrm>
        <a:graphic>
          <a:graphicData uri="http://schemas.openxmlformats.org/drawingml/2006/table">
            <a:tbl>
              <a:tblPr/>
              <a:tblGrid>
                <a:gridCol w="3647020">
                  <a:extLst>
                    <a:ext uri="{9D8B030D-6E8A-4147-A177-3AD203B41FA5}">
                      <a16:colId xmlns:a16="http://schemas.microsoft.com/office/drawing/2014/main" val="20000"/>
                    </a:ext>
                  </a:extLst>
                </a:gridCol>
                <a:gridCol w="2017180">
                  <a:extLst>
                    <a:ext uri="{9D8B030D-6E8A-4147-A177-3AD203B41FA5}">
                      <a16:colId xmlns:a16="http://schemas.microsoft.com/office/drawing/2014/main" val="20001"/>
                    </a:ext>
                  </a:extLst>
                </a:gridCol>
              </a:tblGrid>
              <a:tr h="572394">
                <a:tc>
                  <a:txBody>
                    <a:bodyPr/>
                    <a:lstStyle/>
                    <a:p>
                      <a:pPr algn="l">
                        <a:lnSpc>
                          <a:spcPts val="2400"/>
                        </a:lnSpc>
                        <a:defRPr/>
                      </a:pPr>
                      <a:r>
                        <a:rPr lang="en-US" sz="2000">
                          <a:solidFill>
                            <a:srgbClr val="FFFFFF"/>
                          </a:solidFill>
                          <a:latin typeface="프리텐다드"/>
                          <a:ea typeface="프리텐다드"/>
                          <a:cs typeface="프리텐다드"/>
                          <a:sym typeface="프리텐다드"/>
                        </a:rPr>
                        <a:t>구분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정확도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필드 평균 (채점 방식)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90.8%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작은 사진 (≤700px)</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83.7%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중간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89.5%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큰 사진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86.7%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두 날짜 병기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78.4%</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31163">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3.0%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21" name="Group 21"/>
          <p:cNvGrpSpPr/>
          <p:nvPr/>
        </p:nvGrpSpPr>
        <p:grpSpPr>
          <a:xfrm>
            <a:off x="535943" y="8912228"/>
            <a:ext cx="17216123" cy="793499"/>
            <a:chOff x="0" y="0"/>
            <a:chExt cx="22954831" cy="1057999"/>
          </a:xfrm>
        </p:grpSpPr>
        <p:grpSp>
          <p:nvGrpSpPr>
            <p:cNvPr id="22" name="Group 22"/>
            <p:cNvGrpSpPr/>
            <p:nvPr/>
          </p:nvGrpSpPr>
          <p:grpSpPr>
            <a:xfrm>
              <a:off x="0" y="0"/>
              <a:ext cx="22954831" cy="1057999"/>
              <a:chOff x="0" y="0"/>
              <a:chExt cx="22954831" cy="1057999"/>
            </a:xfrm>
          </p:grpSpPr>
          <p:sp>
            <p:nvSpPr>
              <p:cNvPr id="23" name="Freeform 2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4" name="Group 24"/>
            <p:cNvGrpSpPr/>
            <p:nvPr/>
          </p:nvGrpSpPr>
          <p:grpSpPr>
            <a:xfrm>
              <a:off x="382689" y="16929"/>
              <a:ext cx="22189440" cy="1024128"/>
              <a:chOff x="0" y="0"/>
              <a:chExt cx="22189440" cy="1024128"/>
            </a:xfrm>
          </p:grpSpPr>
          <p:sp>
            <p:nvSpPr>
              <p:cNvPr id="25" name="Freeform 2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6" name="TextBox 2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판정용</a:t>
                </a:r>
                <a:r>
                  <a:rPr lang="en-US" sz="2499" dirty="0">
                    <a:solidFill>
                      <a:srgbClr val="1A1A1A"/>
                    </a:solidFill>
                    <a:latin typeface="프리텐다드"/>
                    <a:ea typeface="프리텐다드"/>
                    <a:cs typeface="프리텐다드"/>
                    <a:sym typeface="프리텐다드"/>
                  </a:rPr>
                  <a:t> 2,852장에서도 </a:t>
                </a:r>
                <a:r>
                  <a:rPr lang="en-US" sz="2499" b="1" dirty="0">
                    <a:solidFill>
                      <a:srgbClr val="8B0000"/>
                    </a:solidFill>
                    <a:latin typeface="프리텐다드 Bold"/>
                    <a:ea typeface="프리텐다드 Bold"/>
                    <a:cs typeface="프리텐다드 Bold"/>
                    <a:sym typeface="프리텐다드 Bold"/>
                  </a:rPr>
                  <a:t>82.3 → 86.7%</a:t>
                </a:r>
                <a:r>
                  <a:rPr lang="en-US" sz="2499" dirty="0">
                    <a:solidFill>
                      <a:srgbClr val="1A1A1A"/>
                    </a:solidFill>
                    <a:latin typeface="프리텐다드"/>
                    <a:ea typeface="프리텐다드"/>
                    <a:cs typeface="프리텐다드"/>
                    <a:sym typeface="프리텐다드"/>
                  </a:rPr>
                  <a:t> : </a:t>
                </a:r>
                <a:r>
                  <a:rPr lang="en-US" sz="2499" dirty="0" err="1">
                    <a:solidFill>
                      <a:srgbClr val="1A1A1A"/>
                    </a:solidFill>
                    <a:latin typeface="프리텐다드"/>
                    <a:ea typeface="프리텐다드"/>
                    <a:cs typeface="프리텐다드"/>
                    <a:sym typeface="프리텐다드"/>
                  </a:rPr>
                  <a:t>튜닝에</a:t>
                </a:r>
                <a:r>
                  <a:rPr lang="en-US" sz="2499" dirty="0">
                    <a:solidFill>
                      <a:srgbClr val="1A1A1A"/>
                    </a:solidFill>
                    <a:latin typeface="프리텐다드"/>
                    <a:ea typeface="프리텐다드"/>
                    <a:cs typeface="프리텐다드"/>
                    <a:sym typeface="프리텐다드"/>
                  </a:rPr>
                  <a:t> 쓴 </a:t>
                </a:r>
                <a:r>
                  <a:rPr lang="en-US" sz="2499" dirty="0" err="1">
                    <a:solidFill>
                      <a:srgbClr val="1A1A1A"/>
                    </a:solidFill>
                    <a:latin typeface="프리텐다드"/>
                    <a:ea typeface="프리텐다드"/>
                    <a:cs typeface="프리텐다드"/>
                    <a:sym typeface="프리텐다드"/>
                  </a:rPr>
                  <a:t>셋과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봉인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셋이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함께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올랐습니다</a:t>
                </a:r>
                <a:r>
                  <a:rPr lang="en-US" sz="2499" dirty="0">
                    <a:solidFill>
                      <a:srgbClr val="1A1A1A"/>
                    </a:solidFill>
                    <a:latin typeface="프리텐다드"/>
                    <a:ea typeface="프리텐다드"/>
                    <a:cs typeface="프리텐다드"/>
                    <a:sym typeface="프리텐다드"/>
                  </a:rPr>
                  <a:t>.</a:t>
                </a:r>
              </a:p>
            </p:txBody>
          </p:sp>
        </p:gr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모델·대안 비교 : </a:t>
              </a:r>
              <a:r>
                <a:rPr lang="en-US" sz="3800" b="1">
                  <a:solidFill>
                    <a:srgbClr val="8B0000"/>
                  </a:solidFill>
                  <a:latin typeface="프리텐다드 Bold"/>
                  <a:ea typeface="프리텐다드 Bold"/>
                  <a:cs typeface="프리텐다드 Bold"/>
                  <a:sym typeface="프리텐다드 Bold"/>
                </a:rPr>
                <a:t>점수가 올라도 기각한 것들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12</a:t>
              </a:r>
            </a:p>
          </p:txBody>
        </p:sp>
      </p:grpSp>
      <p:graphicFrame>
        <p:nvGraphicFramePr>
          <p:cNvPr id="11" name="Table 11"/>
          <p:cNvGraphicFramePr>
            <a:graphicFrameLocks noGrp="1"/>
          </p:cNvGraphicFramePr>
          <p:nvPr>
            <p:extLst>
              <p:ext uri="{D42A27DB-BD31-4B8C-83A1-F6EECF244321}">
                <p14:modId xmlns:p14="http://schemas.microsoft.com/office/powerpoint/2010/main" val="690387853"/>
              </p:ext>
            </p:extLst>
          </p:nvPr>
        </p:nvGraphicFramePr>
        <p:xfrm>
          <a:off x="548640" y="1828800"/>
          <a:ext cx="17145000" cy="6096000"/>
        </p:xfrm>
        <a:graphic>
          <a:graphicData uri="http://schemas.openxmlformats.org/drawingml/2006/table">
            <a:tbl>
              <a:tblPr/>
              <a:tblGrid>
                <a:gridCol w="5464843">
                  <a:extLst>
                    <a:ext uri="{9D8B030D-6E8A-4147-A177-3AD203B41FA5}">
                      <a16:colId xmlns:a16="http://schemas.microsoft.com/office/drawing/2014/main" val="20000"/>
                    </a:ext>
                  </a:extLst>
                </a:gridCol>
                <a:gridCol w="4376911">
                  <a:extLst>
                    <a:ext uri="{9D8B030D-6E8A-4147-A177-3AD203B41FA5}">
                      <a16:colId xmlns:a16="http://schemas.microsoft.com/office/drawing/2014/main" val="20001"/>
                    </a:ext>
                  </a:extLst>
                </a:gridCol>
                <a:gridCol w="1475759">
                  <a:extLst>
                    <a:ext uri="{9D8B030D-6E8A-4147-A177-3AD203B41FA5}">
                      <a16:colId xmlns:a16="http://schemas.microsoft.com/office/drawing/2014/main" val="20002"/>
                    </a:ext>
                  </a:extLst>
                </a:gridCol>
                <a:gridCol w="5827487">
                  <a:extLst>
                    <a:ext uri="{9D8B030D-6E8A-4147-A177-3AD203B41FA5}">
                      <a16:colId xmlns:a16="http://schemas.microsoft.com/office/drawing/2014/main" val="20003"/>
                    </a:ext>
                  </a:extLst>
                </a:gridCol>
              </a:tblGrid>
              <a:tr h="609600">
                <a:tc>
                  <a:txBody>
                    <a:bodyPr/>
                    <a:lstStyle/>
                    <a:p>
                      <a:pPr algn="l">
                        <a:lnSpc>
                          <a:spcPts val="2351"/>
                        </a:lnSpc>
                        <a:defRPr/>
                      </a:pPr>
                      <a:r>
                        <a:rPr lang="en-US" sz="1959">
                          <a:solidFill>
                            <a:srgbClr val="FFFFFF"/>
                          </a:solidFill>
                          <a:latin typeface="프리텐다드"/>
                          <a:ea typeface="프리텐다드"/>
                          <a:cs typeface="프리텐다드"/>
                          <a:sym typeface="프리텐다드"/>
                        </a:rPr>
                        <a:t>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결과 (회복 / 퇴보)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판단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이유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탐지·인식기 PP-OCRv5 mobile 로 교체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39.1 → 67.7%, 5.8 → 1.8초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속도 한도와 정확도를 동시에 해결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다시 읽기 규칙 (1차 후보를 지우지 못하게 등)</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+63 / −5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82.3 → 84.3%. 코드 로직 결함 수정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해석 규칙 4개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+39 / −2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병기 64.9 → 78.3%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주변 재탐지 · 확대 재시도 · 파인튜닝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+25 / −1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a:solidFill>
                            <a:srgbClr val="1A1A1A"/>
                          </a:solidFill>
                          <a:latin typeface="프리텐다드"/>
                          <a:ea typeface="프리텐다드"/>
                          <a:cs typeface="프리텐다드"/>
                          <a:sym typeface="프리텐다드"/>
                        </a:rPr>
                        <a:t>못 </a:t>
                      </a:r>
                      <a:r>
                        <a:rPr lang="en-US" sz="1959" dirty="0" err="1">
                          <a:solidFill>
                            <a:srgbClr val="1A1A1A"/>
                          </a:solidFill>
                          <a:latin typeface="프리텐다드"/>
                          <a:ea typeface="프리텐다드"/>
                          <a:cs typeface="프리텐다드"/>
                          <a:sym typeface="프리텐다드"/>
                        </a:rPr>
                        <a:t>읽은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사진에만</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비용을</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투자</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9600">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파인튜닝</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인식기를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다시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읽기에</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적용</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+86 / −64</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점수가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올라도</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맞던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답을</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틀리게 만들면 버림</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합성 도트 글자 3,000장 추가 학습</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정밀도 84 → 81%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진짜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글씨를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대충</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읽게</a:t>
                      </a:r>
                      <a:r>
                        <a:rPr lang="en-US" sz="1959" dirty="0">
                          <a:solidFill>
                            <a:srgbClr val="1A1A1A"/>
                          </a:solidFill>
                          <a:latin typeface="프리텐다드"/>
                          <a:ea typeface="프리텐다드"/>
                          <a:cs typeface="프리텐다드"/>
                          <a:sym typeface="프리텐다드"/>
                        </a:rPr>
                        <a:t> 됨</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인식기 셋 다수결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 / −4, 장당 +0.43초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퇴보가 회복의 1/3 초과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탐지 해상도 상향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±1%p, 시간 +30~50%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원인이 해상도가 아님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한국어 인식기로 한 번 더 읽기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판정용 +7 / −2, 장당 +0.3~0.7초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기본 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시간이</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한도의</a:t>
                      </a:r>
                      <a:r>
                        <a:rPr lang="en-US" sz="1959" dirty="0">
                          <a:solidFill>
                            <a:srgbClr val="1A1A1A"/>
                          </a:solidFill>
                          <a:latin typeface="프리텐다드"/>
                          <a:ea typeface="프리텐다드"/>
                          <a:cs typeface="프리텐다드"/>
                          <a:sym typeface="프리텐다드"/>
                        </a:rPr>
                        <a:t> 94% </a:t>
                      </a:r>
                      <a:r>
                        <a:rPr lang="en-US" sz="1959" dirty="0" err="1">
                          <a:solidFill>
                            <a:srgbClr val="1A1A1A"/>
                          </a:solidFill>
                          <a:latin typeface="프리텐다드"/>
                          <a:ea typeface="프리텐다드"/>
                          <a:cs typeface="프리텐다드"/>
                          <a:sym typeface="프리텐다드"/>
                        </a:rPr>
                        <a:t>까지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차서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여유를</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택함</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pSp>
        <p:nvGrpSpPr>
          <p:cNvPr id="12" name="Group 12"/>
          <p:cNvGrpSpPr/>
          <p:nvPr/>
        </p:nvGrpSpPr>
        <p:grpSpPr>
          <a:xfrm>
            <a:off x="535943" y="8674103"/>
            <a:ext cx="17216123" cy="793499"/>
            <a:chOff x="0" y="0"/>
            <a:chExt cx="22954831" cy="1057999"/>
          </a:xfrm>
        </p:grpSpPr>
        <p:sp>
          <p:nvSpPr>
            <p:cNvPr id="13" name="Freeform 1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8686800"/>
            <a:ext cx="16642080" cy="768096"/>
            <a:chOff x="0" y="0"/>
            <a:chExt cx="22189440" cy="1024128"/>
          </a:xfrm>
        </p:grpSpPr>
        <p:sp>
          <p:nvSpPr>
            <p:cNvPr id="15" name="Freeform 1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6" name="TextBox 1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파인튜닝은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점수를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올렸지만</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퇴보</a:t>
              </a:r>
              <a:r>
                <a:rPr lang="en-US" sz="2499" b="1" dirty="0">
                  <a:solidFill>
                    <a:srgbClr val="8B0000"/>
                  </a:solidFill>
                  <a:latin typeface="프리텐다드"/>
                  <a:ea typeface="프리텐다드"/>
                  <a:cs typeface="프리텐다드"/>
                  <a:sym typeface="프리텐다드"/>
                </a:rPr>
                <a:t> 64장</a:t>
              </a:r>
              <a:r>
                <a:rPr lang="en-US" sz="2499" b="1"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때문에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버렸습니다</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점수보다 회복과 퇴보로 판단했습니다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속도·효율</a:t>
              </a:r>
              <a:r>
                <a:rPr lang="en-US" sz="3800" b="1" dirty="0">
                  <a:solidFill>
                    <a:srgbClr val="1A1A1A"/>
                  </a:solidFill>
                  <a:latin typeface="프리텐다드 Bold"/>
                  <a:ea typeface="프리텐다드 Bold"/>
                  <a:cs typeface="프리텐다드 Bold"/>
                  <a:sym typeface="프리텐다드 Bold"/>
                </a:rPr>
                <a:t> : </a:t>
              </a:r>
              <a:r>
                <a:rPr lang="en-US" sz="3800" b="1" dirty="0" err="1">
                  <a:solidFill>
                    <a:srgbClr val="8B0000"/>
                  </a:solidFill>
                  <a:latin typeface="프리텐다드 Bold"/>
                  <a:ea typeface="프리텐다드 Bold"/>
                  <a:cs typeface="프리텐다드 Bold"/>
                  <a:sym typeface="프리텐다드 Bold"/>
                </a:rPr>
                <a:t>한도의</a:t>
              </a:r>
              <a:r>
                <a:rPr lang="en-US" sz="3800" b="1" dirty="0">
                  <a:solidFill>
                    <a:srgbClr val="8B0000"/>
                  </a:solidFill>
                  <a:latin typeface="프리텐다드 Bold"/>
                  <a:ea typeface="프리텐다드 Bold"/>
                  <a:cs typeface="프리텐다드 Bold"/>
                  <a:sym typeface="프리텐다드 Bold"/>
                </a:rPr>
                <a:t> 55 ~ 79%, </a:t>
              </a:r>
              <a:r>
                <a:rPr lang="en-US" sz="3800" b="1" dirty="0" err="1">
                  <a:solidFill>
                    <a:srgbClr val="8B0000"/>
                  </a:solidFill>
                  <a:latin typeface="프리텐다드 Bold"/>
                  <a:ea typeface="프리텐다드 Bold"/>
                  <a:cs typeface="프리텐다드 Bold"/>
                  <a:sym typeface="프리텐다드 Bold"/>
                </a:rPr>
                <a:t>그리고</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완주</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보장</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13</a:t>
              </a:r>
            </a:p>
          </p:txBody>
        </p:sp>
      </p:grpSp>
      <p:grpSp>
        <p:nvGrpSpPr>
          <p:cNvPr id="11" name="Group 11"/>
          <p:cNvGrpSpPr/>
          <p:nvPr/>
        </p:nvGrpSpPr>
        <p:grpSpPr>
          <a:xfrm>
            <a:off x="535943" y="1852679"/>
            <a:ext cx="4158491" cy="2402843"/>
            <a:chOff x="0" y="0"/>
            <a:chExt cx="5544655" cy="3203791"/>
          </a:xfrm>
        </p:grpSpPr>
        <p:sp>
          <p:nvSpPr>
            <p:cNvPr id="12" name="Freeform 12"/>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3" name="Group 13"/>
          <p:cNvGrpSpPr/>
          <p:nvPr/>
        </p:nvGrpSpPr>
        <p:grpSpPr>
          <a:xfrm>
            <a:off x="822960" y="1975104"/>
            <a:ext cx="3767328" cy="1005840"/>
            <a:chOff x="0" y="0"/>
            <a:chExt cx="5023104" cy="1341120"/>
          </a:xfrm>
        </p:grpSpPr>
        <p:sp>
          <p:nvSpPr>
            <p:cNvPr id="14" name="Freeform 14"/>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15" name="TextBox 15"/>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2.7 ~ 4.0초</a:t>
              </a:r>
            </a:p>
          </p:txBody>
        </p:sp>
      </p:grpSp>
      <p:sp>
        <p:nvSpPr>
          <p:cNvPr id="16" name="TextBox 16"/>
          <p:cNvSpPr txBox="1"/>
          <p:nvPr/>
        </p:nvSpPr>
        <p:spPr>
          <a:xfrm>
            <a:off x="822960"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장당 처리 시간</a:t>
            </a:r>
          </a:p>
        </p:txBody>
      </p:sp>
      <p:sp>
        <p:nvSpPr>
          <p:cNvPr id="17" name="TextBox 17"/>
          <p:cNvSpPr txBox="1"/>
          <p:nvPr/>
        </p:nvSpPr>
        <p:spPr>
          <a:xfrm>
            <a:off x="822960"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개발 PC 두 대, 4스레드</a:t>
            </a:r>
          </a:p>
        </p:txBody>
      </p:sp>
      <p:grpSp>
        <p:nvGrpSpPr>
          <p:cNvPr id="18" name="Group 18"/>
          <p:cNvGrpSpPr/>
          <p:nvPr/>
        </p:nvGrpSpPr>
        <p:grpSpPr>
          <a:xfrm>
            <a:off x="4888487" y="1852679"/>
            <a:ext cx="4158491" cy="2402843"/>
            <a:chOff x="0" y="0"/>
            <a:chExt cx="5544655" cy="3203791"/>
          </a:xfrm>
        </p:grpSpPr>
        <p:sp>
          <p:nvSpPr>
            <p:cNvPr id="19" name="Freeform 19"/>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0" name="Group 20"/>
          <p:cNvGrpSpPr/>
          <p:nvPr/>
        </p:nvGrpSpPr>
        <p:grpSpPr>
          <a:xfrm>
            <a:off x="5175504" y="1975104"/>
            <a:ext cx="3767328" cy="1005840"/>
            <a:chOff x="0" y="0"/>
            <a:chExt cx="5023104" cy="1341120"/>
          </a:xfrm>
        </p:grpSpPr>
        <p:sp>
          <p:nvSpPr>
            <p:cNvPr id="21" name="Freeform 21"/>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22" name="TextBox 22"/>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1,370 ~ 1,985초</a:t>
              </a:r>
            </a:p>
          </p:txBody>
        </p:sp>
      </p:grpSp>
      <p:sp>
        <p:nvSpPr>
          <p:cNvPr id="23" name="TextBox 23"/>
          <p:cNvSpPr txBox="1"/>
          <p:nvPr/>
        </p:nvSpPr>
        <p:spPr>
          <a:xfrm>
            <a:off x="5175504"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500장</a:t>
            </a:r>
          </a:p>
        </p:txBody>
      </p:sp>
      <p:sp>
        <p:nvSpPr>
          <p:cNvPr id="24" name="TextBox 24"/>
          <p:cNvSpPr txBox="1"/>
          <p:nvPr/>
        </p:nvSpPr>
        <p:spPr>
          <a:xfrm>
            <a:off x="5175504"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한도 2,500초의 55 ~ 79%</a:t>
            </a:r>
          </a:p>
        </p:txBody>
      </p:sp>
      <p:grpSp>
        <p:nvGrpSpPr>
          <p:cNvPr id="25" name="Group 25"/>
          <p:cNvGrpSpPr/>
          <p:nvPr/>
        </p:nvGrpSpPr>
        <p:grpSpPr>
          <a:xfrm>
            <a:off x="9241031" y="1852679"/>
            <a:ext cx="4158491" cy="2402843"/>
            <a:chOff x="0" y="0"/>
            <a:chExt cx="5544655" cy="3203791"/>
          </a:xfrm>
        </p:grpSpPr>
        <p:sp>
          <p:nvSpPr>
            <p:cNvPr id="26" name="Freeform 26"/>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7" name="Group 27"/>
          <p:cNvGrpSpPr/>
          <p:nvPr/>
        </p:nvGrpSpPr>
        <p:grpSpPr>
          <a:xfrm>
            <a:off x="9528048" y="1975104"/>
            <a:ext cx="3767328" cy="1005840"/>
            <a:chOff x="0" y="0"/>
            <a:chExt cx="5023104" cy="1341120"/>
          </a:xfrm>
        </p:grpSpPr>
        <p:sp>
          <p:nvSpPr>
            <p:cNvPr id="28" name="Freeform 28"/>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29" name="TextBox 29"/>
            <p:cNvSpPr txBox="1"/>
            <p:nvPr/>
          </p:nvSpPr>
          <p:spPr>
            <a:xfrm>
              <a:off x="0" y="-9525"/>
              <a:ext cx="5023104" cy="1350645"/>
            </a:xfrm>
            <a:prstGeom prst="rect">
              <a:avLst/>
            </a:prstGeom>
          </p:spPr>
          <p:txBody>
            <a:bodyPr lIns="0" tIns="0" rIns="0" bIns="0" rtlCol="0" anchor="ctr"/>
            <a:lstStyle/>
            <a:p>
              <a:pPr algn="l">
                <a:lnSpc>
                  <a:spcPts val="4320"/>
                </a:lnSpc>
              </a:pPr>
              <a:r>
                <a:rPr lang="en-US" altLang="ko-KR" sz="3600" b="1" dirty="0">
                  <a:solidFill>
                    <a:srgbClr val="8B0000"/>
                  </a:solidFill>
                  <a:latin typeface="프리텐다드 Heavy"/>
                  <a:ea typeface="프리텐다드 Heavy"/>
                  <a:cs typeface="프리텐다드 Heavy"/>
                  <a:sym typeface="프리텐다드 Heavy"/>
                </a:rPr>
                <a:t>2.0</a:t>
              </a:r>
              <a:r>
                <a:rPr lang="en-US" sz="3600" b="1" dirty="0">
                  <a:solidFill>
                    <a:srgbClr val="8B0000"/>
                  </a:solidFill>
                  <a:latin typeface="프리텐다드 Heavy"/>
                  <a:ea typeface="프리텐다드 Heavy"/>
                  <a:cs typeface="프리텐다드 Heavy"/>
                  <a:sym typeface="프리텐다드 Heavy"/>
                </a:rPr>
                <a:t>GB</a:t>
              </a:r>
            </a:p>
          </p:txBody>
        </p:sp>
      </p:grpSp>
      <p:sp>
        <p:nvSpPr>
          <p:cNvPr id="30" name="TextBox 30"/>
          <p:cNvSpPr txBox="1"/>
          <p:nvPr/>
        </p:nvSpPr>
        <p:spPr>
          <a:xfrm>
            <a:off x="9528048"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최대 메모리</a:t>
            </a:r>
          </a:p>
        </p:txBody>
      </p:sp>
      <p:sp>
        <p:nvSpPr>
          <p:cNvPr id="31" name="TextBox 31"/>
          <p:cNvSpPr txBox="1"/>
          <p:nvPr/>
        </p:nvSpPr>
        <p:spPr>
          <a:xfrm>
            <a:off x="9528048"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한도 8GB (새 환경 500장 실측)</a:t>
            </a:r>
          </a:p>
        </p:txBody>
      </p:sp>
      <p:grpSp>
        <p:nvGrpSpPr>
          <p:cNvPr id="32" name="Group 32"/>
          <p:cNvGrpSpPr/>
          <p:nvPr/>
        </p:nvGrpSpPr>
        <p:grpSpPr>
          <a:xfrm>
            <a:off x="13593575" y="1852679"/>
            <a:ext cx="4158491" cy="2402843"/>
            <a:chOff x="0" y="0"/>
            <a:chExt cx="5544655" cy="3203791"/>
          </a:xfrm>
        </p:grpSpPr>
        <p:sp>
          <p:nvSpPr>
            <p:cNvPr id="33" name="Freeform 33"/>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4" name="Group 34"/>
          <p:cNvGrpSpPr/>
          <p:nvPr/>
        </p:nvGrpSpPr>
        <p:grpSpPr>
          <a:xfrm>
            <a:off x="13880592" y="1975104"/>
            <a:ext cx="3767328" cy="1005840"/>
            <a:chOff x="0" y="0"/>
            <a:chExt cx="5023104" cy="1341120"/>
          </a:xfrm>
        </p:grpSpPr>
        <p:sp>
          <p:nvSpPr>
            <p:cNvPr id="35" name="Freeform 35"/>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36" name="TextBox 36"/>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0원</a:t>
              </a:r>
            </a:p>
          </p:txBody>
        </p:sp>
      </p:grpSp>
      <p:sp>
        <p:nvSpPr>
          <p:cNvPr id="37" name="TextBox 37"/>
          <p:cNvSpPr txBox="1"/>
          <p:nvPr/>
        </p:nvSpPr>
        <p:spPr>
          <a:xfrm>
            <a:off x="13880592"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학습 비용</a:t>
            </a:r>
          </a:p>
        </p:txBody>
      </p:sp>
      <p:sp>
        <p:nvSpPr>
          <p:cNvPr id="38" name="TextBox 38"/>
          <p:cNvSpPr txBox="1"/>
          <p:nvPr/>
        </p:nvSpPr>
        <p:spPr>
          <a:xfrm>
            <a:off x="13880592"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무료 Colab T4 만 사용</a:t>
            </a:r>
          </a:p>
        </p:txBody>
      </p:sp>
      <p:sp>
        <p:nvSpPr>
          <p:cNvPr id="39" name="TextBox 39"/>
          <p:cNvSpPr txBox="1"/>
          <p:nvPr/>
        </p:nvSpPr>
        <p:spPr>
          <a:xfrm>
            <a:off x="685800" y="4914900"/>
            <a:ext cx="8412480" cy="419100"/>
          </a:xfrm>
          <a:prstGeom prst="rect">
            <a:avLst/>
          </a:prstGeom>
        </p:spPr>
        <p:txBody>
          <a:bodyPr lIns="0" tIns="0" rIns="0" bIns="0" rtlCol="0" anchor="t">
            <a:spAutoFit/>
          </a:bodyPr>
          <a:lstStyle/>
          <a:p>
            <a:pPr algn="l">
              <a:lnSpc>
                <a:spcPts val="3239"/>
              </a:lnSpc>
            </a:pPr>
            <a:r>
              <a:rPr lang="en-US" sz="2699" b="1" dirty="0" err="1">
                <a:solidFill>
                  <a:srgbClr val="1A1A1A"/>
                </a:solidFill>
                <a:latin typeface="프리텐다드 Bold"/>
                <a:ea typeface="프리텐다드 Bold"/>
                <a:cs typeface="프리텐다드 Bold"/>
                <a:sym typeface="프리텐다드 Bold"/>
              </a:rPr>
              <a:t>속도를</a:t>
            </a:r>
            <a:r>
              <a:rPr lang="en-US" sz="2699" b="1" dirty="0">
                <a:solidFill>
                  <a:srgbClr val="1A1A1A"/>
                </a:solidFill>
                <a:latin typeface="프리텐다드 Bold"/>
                <a:ea typeface="프리텐다드 Bold"/>
                <a:cs typeface="프리텐다드 Bold"/>
                <a:sym typeface="프리텐다드 Bold"/>
              </a:rPr>
              <a:t> </a:t>
            </a:r>
            <a:r>
              <a:rPr lang="en-US" sz="2699" b="1" dirty="0" err="1">
                <a:solidFill>
                  <a:srgbClr val="1A1A1A"/>
                </a:solidFill>
                <a:latin typeface="프리텐다드 Bold"/>
                <a:ea typeface="프리텐다드 Bold"/>
                <a:cs typeface="프리텐다드 Bold"/>
                <a:sym typeface="프리텐다드 Bold"/>
              </a:rPr>
              <a:t>만든</a:t>
            </a:r>
            <a:r>
              <a:rPr lang="en-US" sz="2699" b="1" dirty="0">
                <a:solidFill>
                  <a:srgbClr val="1A1A1A"/>
                </a:solidFill>
                <a:latin typeface="프리텐다드 Bold"/>
                <a:ea typeface="프리텐다드 Bold"/>
                <a:cs typeface="프리텐다드 Bold"/>
                <a:sym typeface="프리텐다드 Bold"/>
              </a:rPr>
              <a:t> </a:t>
            </a:r>
            <a:r>
              <a:rPr lang="en-US" sz="2699" b="1" dirty="0" err="1">
                <a:solidFill>
                  <a:srgbClr val="1A1A1A"/>
                </a:solidFill>
                <a:latin typeface="프리텐다드 Bold"/>
                <a:ea typeface="프리텐다드 Bold"/>
                <a:cs typeface="프리텐다드 Bold"/>
                <a:sym typeface="프리텐다드 Bold"/>
              </a:rPr>
              <a:t>결정</a:t>
            </a:r>
            <a:endParaRPr lang="en-US" sz="2699" b="1" dirty="0">
              <a:solidFill>
                <a:srgbClr val="1A1A1A"/>
              </a:solidFill>
              <a:latin typeface="프리텐다드 Bold"/>
              <a:ea typeface="프리텐다드 Bold"/>
              <a:cs typeface="프리텐다드 Bold"/>
              <a:sym typeface="프리텐다드 Bold"/>
            </a:endParaRPr>
          </a:p>
        </p:txBody>
      </p:sp>
      <p:sp>
        <p:nvSpPr>
          <p:cNvPr id="40" name="TextBox 40"/>
          <p:cNvSpPr txBox="1"/>
          <p:nvPr/>
        </p:nvSpPr>
        <p:spPr>
          <a:xfrm>
            <a:off x="533400" y="5470525"/>
            <a:ext cx="8406889" cy="2492375"/>
          </a:xfrm>
          <a:prstGeom prst="rect">
            <a:avLst/>
          </a:prstGeom>
        </p:spPr>
        <p:txBody>
          <a:bodyPr lIns="0" tIns="0" rIns="0" bIns="0" rtlCol="0" anchor="t">
            <a:spAutoFit/>
          </a:bodyPr>
          <a:lstStyle/>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탐지는</a:t>
            </a:r>
            <a:r>
              <a:rPr lang="en-US" sz="2499" dirty="0">
                <a:solidFill>
                  <a:srgbClr val="1A1A1A"/>
                </a:solidFill>
                <a:latin typeface="프리텐다드 Medium"/>
                <a:ea typeface="프리텐다드 Medium"/>
                <a:cs typeface="프리텐다드 Medium"/>
                <a:sym typeface="프리텐다드 Medium"/>
              </a:rPr>
              <a:t> 640px </a:t>
            </a:r>
            <a:r>
              <a:rPr lang="en-US" sz="2499" dirty="0" err="1">
                <a:solidFill>
                  <a:srgbClr val="1A1A1A"/>
                </a:solidFill>
                <a:latin typeface="프리텐다드 Medium"/>
                <a:ea typeface="프리텐다드 Medium"/>
                <a:cs typeface="프리텐다드 Medium"/>
                <a:sym typeface="프리텐다드 Medium"/>
              </a:rPr>
              <a:t>축소본에서</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장당</a:t>
            </a:r>
            <a:r>
              <a:rPr lang="en-US" sz="2499" dirty="0">
                <a:solidFill>
                  <a:srgbClr val="1A1A1A"/>
                </a:solidFill>
                <a:latin typeface="프리텐다드 Medium"/>
                <a:ea typeface="프리텐다드 Medium"/>
                <a:cs typeface="프리텐다드 Medium"/>
                <a:sym typeface="프리텐다드 Medium"/>
              </a:rPr>
              <a:t> 1회 (</a:t>
            </a:r>
            <a:r>
              <a:rPr lang="en-US" sz="2499" dirty="0" err="1">
                <a:solidFill>
                  <a:srgbClr val="1A1A1A"/>
                </a:solidFill>
                <a:latin typeface="프리텐다드 Medium"/>
                <a:ea typeface="프리텐다드 Medium"/>
                <a:cs typeface="프리텐다드 Medium"/>
                <a:sym typeface="프리텐다드 Medium"/>
              </a:rPr>
              <a:t>탐지</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비용</a:t>
            </a:r>
            <a:r>
              <a:rPr lang="en-US" sz="2499" dirty="0">
                <a:solidFill>
                  <a:srgbClr val="1A1A1A"/>
                </a:solidFill>
                <a:latin typeface="프리텐다드 Medium"/>
                <a:ea typeface="프리텐다드 Medium"/>
                <a:cs typeface="프리텐다드 Medium"/>
                <a:sym typeface="프리텐다드 Medium"/>
              </a:rPr>
              <a:t> = </a:t>
            </a:r>
            <a:r>
              <a:rPr lang="en-US" sz="2499" dirty="0" err="1">
                <a:solidFill>
                  <a:srgbClr val="1A1A1A"/>
                </a:solidFill>
                <a:latin typeface="프리텐다드 Medium"/>
                <a:ea typeface="프리텐다드 Medium"/>
                <a:cs typeface="프리텐다드 Medium"/>
                <a:sym typeface="프리텐다드 Medium"/>
              </a:rPr>
              <a:t>픽셀</a:t>
            </a:r>
            <a:r>
              <a:rPr lang="en-US" sz="2499" dirty="0">
                <a:solidFill>
                  <a:srgbClr val="1A1A1A"/>
                </a:solidFill>
                <a:latin typeface="프리텐다드 Medium"/>
                <a:ea typeface="프리텐다드 Medium"/>
                <a:cs typeface="프리텐다드 Medium"/>
                <a:sym typeface="프리텐다드 Medium"/>
              </a:rPr>
              <a:t> 수)</a:t>
            </a: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인식은</a:t>
            </a:r>
            <a:r>
              <a:rPr lang="en-US" sz="2499" dirty="0">
                <a:solidFill>
                  <a:srgbClr val="1A1A1A"/>
                </a:solidFill>
                <a:latin typeface="프리텐다드 Medium"/>
                <a:ea typeface="프리텐다드 Medium"/>
                <a:cs typeface="프리텐다드 Medium"/>
                <a:sym typeface="프리텐다드 Medium"/>
              </a:rPr>
              <a:t> 큰 </a:t>
            </a:r>
            <a:r>
              <a:rPr lang="en-US" sz="2499" dirty="0" err="1">
                <a:solidFill>
                  <a:srgbClr val="1A1A1A"/>
                </a:solidFill>
                <a:latin typeface="프리텐다드 Medium"/>
                <a:ea typeface="프리텐다드 Medium"/>
                <a:cs typeface="프리텐다드 Medium"/>
                <a:sym typeface="프리텐다드 Medium"/>
              </a:rPr>
              <a:t>글자부터</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날짜를</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찾으면</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잔글씨</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생략</a:t>
            </a:r>
            <a:endParaRPr lang="en-US" sz="2499" dirty="0">
              <a:solidFill>
                <a:srgbClr val="1A1A1A"/>
              </a:solidFill>
              <a:latin typeface="프리텐다드 Medium"/>
              <a:ea typeface="프리텐다드 Medium"/>
              <a:cs typeface="프리텐다드 Medium"/>
              <a:sym typeface="프리텐다드 Medium"/>
            </a:endParaRP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사진의</a:t>
            </a:r>
            <a:r>
              <a:rPr lang="en-US" sz="2499" dirty="0">
                <a:solidFill>
                  <a:srgbClr val="1A1A1A"/>
                </a:solidFill>
                <a:latin typeface="프리텐다드 Medium"/>
                <a:ea typeface="프리텐다드 Medium"/>
                <a:cs typeface="프리텐다드 Medium"/>
                <a:sym typeface="프리텐다드 Medium"/>
              </a:rPr>
              <a:t> 88% 는 1.8초에 </a:t>
            </a:r>
            <a:r>
              <a:rPr lang="en-US" sz="2499" dirty="0" err="1">
                <a:solidFill>
                  <a:srgbClr val="1A1A1A"/>
                </a:solidFill>
                <a:latin typeface="프리텐다드 Medium"/>
                <a:ea typeface="프리텐다드 Medium"/>
                <a:cs typeface="프리텐다드 Medium"/>
                <a:sym typeface="프리텐다드 Medium"/>
              </a:rPr>
              <a:t>끝나고</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재시도까지</a:t>
            </a:r>
            <a:r>
              <a:rPr lang="en-US" sz="2499" dirty="0">
                <a:solidFill>
                  <a:srgbClr val="1A1A1A"/>
                </a:solidFill>
                <a:latin typeface="프리텐다드 Medium"/>
                <a:ea typeface="프리텐다드 Medium"/>
                <a:cs typeface="프리텐다드 Medium"/>
                <a:sym typeface="프리텐다드 Medium"/>
              </a:rPr>
              <a:t> 간 12% 가 </a:t>
            </a:r>
            <a:r>
              <a:rPr lang="en-US" sz="2499" dirty="0" err="1">
                <a:solidFill>
                  <a:srgbClr val="1A1A1A"/>
                </a:solidFill>
                <a:latin typeface="프리텐다드 Medium"/>
                <a:ea typeface="프리텐다드 Medium"/>
                <a:cs typeface="프리텐다드 Medium"/>
                <a:sym typeface="프리텐다드 Medium"/>
              </a:rPr>
              <a:t>시간의</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절반을</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씁니다</a:t>
            </a:r>
            <a:endParaRPr lang="en-US" sz="2499" dirty="0">
              <a:solidFill>
                <a:srgbClr val="1A1A1A"/>
              </a:solidFill>
              <a:latin typeface="프리텐다드 Medium"/>
              <a:ea typeface="프리텐다드 Medium"/>
              <a:cs typeface="프리텐다드 Medium"/>
              <a:sym typeface="프리텐다드 Medium"/>
            </a:endParaRP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다시</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읽기는</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후보</a:t>
            </a:r>
            <a:r>
              <a:rPr lang="en-US" sz="2499" dirty="0">
                <a:solidFill>
                  <a:srgbClr val="1A1A1A"/>
                </a:solidFill>
                <a:latin typeface="프리텐다드 Medium"/>
                <a:ea typeface="프리텐다드 Medium"/>
                <a:cs typeface="프리텐다드 Medium"/>
                <a:sym typeface="프리텐다드 Medium"/>
              </a:rPr>
              <a:t> 줄 </a:t>
            </a:r>
            <a:r>
              <a:rPr lang="en-US" sz="2499" dirty="0" err="1">
                <a:solidFill>
                  <a:srgbClr val="1A1A1A"/>
                </a:solidFill>
                <a:latin typeface="프리텐다드 Medium"/>
                <a:ea typeface="프리텐다드 Medium"/>
                <a:cs typeface="프리텐다드 Medium"/>
                <a:sym typeface="프리텐다드 Medium"/>
              </a:rPr>
              <a:t>크롭만</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폴백은</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후보</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없는</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장에만</a:t>
            </a:r>
            <a:endParaRPr lang="en-US" sz="2499" dirty="0">
              <a:solidFill>
                <a:srgbClr val="1A1A1A"/>
              </a:solidFill>
              <a:latin typeface="프리텐다드 Medium"/>
              <a:ea typeface="프리텐다드 Medium"/>
              <a:cs typeface="프리텐다드 Medium"/>
              <a:sym typeface="프리텐다드 Medium"/>
            </a:endParaRPr>
          </a:p>
        </p:txBody>
      </p:sp>
      <p:grpSp>
        <p:nvGrpSpPr>
          <p:cNvPr id="41" name="Group 41"/>
          <p:cNvGrpSpPr/>
          <p:nvPr/>
        </p:nvGrpSpPr>
        <p:grpSpPr>
          <a:xfrm>
            <a:off x="9314183" y="4559303"/>
            <a:ext cx="8437883" cy="3774443"/>
            <a:chOff x="0" y="0"/>
            <a:chExt cx="11250511" cy="5032591"/>
          </a:xfrm>
        </p:grpSpPr>
        <p:sp>
          <p:nvSpPr>
            <p:cNvPr id="42" name="Freeform 42"/>
            <p:cNvSpPr/>
            <p:nvPr/>
          </p:nvSpPr>
          <p:spPr>
            <a:xfrm>
              <a:off x="0" y="0"/>
              <a:ext cx="11250423" cy="5032502"/>
            </a:xfrm>
            <a:custGeom>
              <a:avLst/>
              <a:gdLst/>
              <a:ahLst/>
              <a:cxnLst/>
              <a:rect l="l" t="t" r="r" b="b"/>
              <a:pathLst>
                <a:path w="11250423" h="5032502">
                  <a:moveTo>
                    <a:pt x="0" y="196342"/>
                  </a:moveTo>
                  <a:cubicBezTo>
                    <a:pt x="0" y="87884"/>
                    <a:pt x="87884" y="0"/>
                    <a:pt x="196342" y="0"/>
                  </a:cubicBezTo>
                  <a:lnTo>
                    <a:pt x="11054080" y="0"/>
                  </a:lnTo>
                  <a:cubicBezTo>
                    <a:pt x="11162538" y="0"/>
                    <a:pt x="11250423" y="87884"/>
                    <a:pt x="11250423" y="196342"/>
                  </a:cubicBezTo>
                  <a:lnTo>
                    <a:pt x="11250423" y="4836160"/>
                  </a:lnTo>
                  <a:cubicBezTo>
                    <a:pt x="11250423" y="4944618"/>
                    <a:pt x="11162538" y="5032502"/>
                    <a:pt x="11054080" y="5032502"/>
                  </a:cubicBezTo>
                  <a:lnTo>
                    <a:pt x="196342" y="5032502"/>
                  </a:lnTo>
                  <a:cubicBezTo>
                    <a:pt x="87884" y="5032629"/>
                    <a:pt x="0" y="4944618"/>
                    <a:pt x="0" y="483616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3" name="Group 43"/>
          <p:cNvGrpSpPr/>
          <p:nvPr/>
        </p:nvGrpSpPr>
        <p:grpSpPr>
          <a:xfrm>
            <a:off x="9588503" y="4979989"/>
            <a:ext cx="7863840" cy="757809"/>
            <a:chOff x="0" y="0"/>
            <a:chExt cx="10485120" cy="1010412"/>
          </a:xfrm>
        </p:grpSpPr>
        <p:sp>
          <p:nvSpPr>
            <p:cNvPr id="44" name="TextBox 44"/>
            <p:cNvSpPr txBox="1"/>
            <p:nvPr/>
          </p:nvSpPr>
          <p:spPr>
            <a:xfrm>
              <a:off x="0" y="-9525"/>
              <a:ext cx="10485120" cy="49212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시간 예산 가드 : 3단계 자동 경량화</a:t>
              </a:r>
            </a:p>
          </p:txBody>
        </p:sp>
        <p:sp>
          <p:nvSpPr>
            <p:cNvPr id="45" name="TextBox 45"/>
            <p:cNvSpPr txBox="1"/>
            <p:nvPr/>
          </p:nvSpPr>
          <p:spPr>
            <a:xfrm>
              <a:off x="0" y="581787"/>
              <a:ext cx="10485120" cy="428625"/>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최근 20장 속도로 총 소요를 예측, 2,000초를 넘길 것 같으면</a:t>
              </a:r>
            </a:p>
          </p:txBody>
        </p:sp>
      </p:grpSp>
      <p:grpSp>
        <p:nvGrpSpPr>
          <p:cNvPr id="46" name="Group 46"/>
          <p:cNvGrpSpPr/>
          <p:nvPr/>
        </p:nvGrpSpPr>
        <p:grpSpPr>
          <a:xfrm>
            <a:off x="9588503" y="5930903"/>
            <a:ext cx="647195" cy="647195"/>
            <a:chOff x="0" y="0"/>
            <a:chExt cx="862927" cy="862927"/>
          </a:xfrm>
        </p:grpSpPr>
        <p:sp>
          <p:nvSpPr>
            <p:cNvPr id="47" name="Freeform 47"/>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8" name="Group 48"/>
          <p:cNvGrpSpPr/>
          <p:nvPr/>
        </p:nvGrpSpPr>
        <p:grpSpPr>
          <a:xfrm>
            <a:off x="9601200" y="5943600"/>
            <a:ext cx="621792" cy="621792"/>
            <a:chOff x="0" y="0"/>
            <a:chExt cx="829056" cy="829056"/>
          </a:xfrm>
        </p:grpSpPr>
        <p:sp>
          <p:nvSpPr>
            <p:cNvPr id="49" name="Freeform 49"/>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50" name="TextBox 50"/>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1</a:t>
              </a:r>
            </a:p>
          </p:txBody>
        </p:sp>
      </p:grpSp>
      <p:grpSp>
        <p:nvGrpSpPr>
          <p:cNvPr id="51" name="Group 51"/>
          <p:cNvGrpSpPr/>
          <p:nvPr/>
        </p:nvGrpSpPr>
        <p:grpSpPr>
          <a:xfrm>
            <a:off x="10387584" y="5943600"/>
            <a:ext cx="7132320" cy="621792"/>
            <a:chOff x="0" y="0"/>
            <a:chExt cx="9509760" cy="829056"/>
          </a:xfrm>
        </p:grpSpPr>
        <p:sp>
          <p:nvSpPr>
            <p:cNvPr id="52" name="Freeform 52"/>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53" name="TextBox 53"/>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재시도 단계 생략</a:t>
              </a:r>
            </a:p>
          </p:txBody>
        </p:sp>
      </p:grpSp>
      <p:grpSp>
        <p:nvGrpSpPr>
          <p:cNvPr id="54" name="Group 54"/>
          <p:cNvGrpSpPr/>
          <p:nvPr/>
        </p:nvGrpSpPr>
        <p:grpSpPr>
          <a:xfrm>
            <a:off x="9588503" y="6662423"/>
            <a:ext cx="647195" cy="647195"/>
            <a:chOff x="0" y="0"/>
            <a:chExt cx="862927" cy="862927"/>
          </a:xfrm>
        </p:grpSpPr>
        <p:sp>
          <p:nvSpPr>
            <p:cNvPr id="55" name="Freeform 55"/>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56" name="Group 56"/>
          <p:cNvGrpSpPr/>
          <p:nvPr/>
        </p:nvGrpSpPr>
        <p:grpSpPr>
          <a:xfrm>
            <a:off x="9601200" y="6675120"/>
            <a:ext cx="621792" cy="621792"/>
            <a:chOff x="0" y="0"/>
            <a:chExt cx="829056" cy="829056"/>
          </a:xfrm>
        </p:grpSpPr>
        <p:sp>
          <p:nvSpPr>
            <p:cNvPr id="57" name="Freeform 57"/>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58" name="TextBox 58"/>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2</a:t>
              </a:r>
            </a:p>
          </p:txBody>
        </p:sp>
      </p:grpSp>
      <p:grpSp>
        <p:nvGrpSpPr>
          <p:cNvPr id="59" name="Group 59"/>
          <p:cNvGrpSpPr/>
          <p:nvPr/>
        </p:nvGrpSpPr>
        <p:grpSpPr>
          <a:xfrm>
            <a:off x="10387584" y="6675120"/>
            <a:ext cx="7132320" cy="621792"/>
            <a:chOff x="0" y="0"/>
            <a:chExt cx="9509760" cy="829056"/>
          </a:xfrm>
        </p:grpSpPr>
        <p:sp>
          <p:nvSpPr>
            <p:cNvPr id="60" name="Freeform 60"/>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61" name="TextBox 61"/>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다시 읽기 생략</a:t>
              </a:r>
            </a:p>
          </p:txBody>
        </p:sp>
      </p:grpSp>
      <p:grpSp>
        <p:nvGrpSpPr>
          <p:cNvPr id="62" name="Group 62"/>
          <p:cNvGrpSpPr/>
          <p:nvPr/>
        </p:nvGrpSpPr>
        <p:grpSpPr>
          <a:xfrm>
            <a:off x="9588503" y="7393943"/>
            <a:ext cx="647195" cy="647195"/>
            <a:chOff x="0" y="0"/>
            <a:chExt cx="862927" cy="862927"/>
          </a:xfrm>
        </p:grpSpPr>
        <p:sp>
          <p:nvSpPr>
            <p:cNvPr id="63" name="Freeform 63"/>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64" name="Group 64"/>
          <p:cNvGrpSpPr/>
          <p:nvPr/>
        </p:nvGrpSpPr>
        <p:grpSpPr>
          <a:xfrm>
            <a:off x="9601200" y="7406640"/>
            <a:ext cx="621792" cy="621792"/>
            <a:chOff x="0" y="0"/>
            <a:chExt cx="829056" cy="829056"/>
          </a:xfrm>
        </p:grpSpPr>
        <p:sp>
          <p:nvSpPr>
            <p:cNvPr id="65" name="Freeform 65"/>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66" name="TextBox 66"/>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3</a:t>
              </a:r>
            </a:p>
          </p:txBody>
        </p:sp>
      </p:grpSp>
      <p:grpSp>
        <p:nvGrpSpPr>
          <p:cNvPr id="67" name="Group 67"/>
          <p:cNvGrpSpPr/>
          <p:nvPr/>
        </p:nvGrpSpPr>
        <p:grpSpPr>
          <a:xfrm>
            <a:off x="10387584" y="7406640"/>
            <a:ext cx="7132320" cy="621792"/>
            <a:chOff x="0" y="0"/>
            <a:chExt cx="9509760" cy="829056"/>
          </a:xfrm>
        </p:grpSpPr>
        <p:sp>
          <p:nvSpPr>
            <p:cNvPr id="68" name="Freeform 68"/>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69" name="TextBox 69"/>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남은 장 NONE, 결과 파일은 반드시 생성</a:t>
              </a:r>
            </a:p>
          </p:txBody>
        </p:sp>
      </p:grpSp>
      <p:grpSp>
        <p:nvGrpSpPr>
          <p:cNvPr id="70" name="Group 70"/>
          <p:cNvGrpSpPr/>
          <p:nvPr/>
        </p:nvGrpSpPr>
        <p:grpSpPr>
          <a:xfrm>
            <a:off x="535943" y="8674103"/>
            <a:ext cx="17216123" cy="793499"/>
            <a:chOff x="0" y="0"/>
            <a:chExt cx="22954831" cy="1057999"/>
          </a:xfrm>
        </p:grpSpPr>
        <p:sp>
          <p:nvSpPr>
            <p:cNvPr id="71" name="Freeform 71"/>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72" name="Group 72"/>
          <p:cNvGrpSpPr/>
          <p:nvPr/>
        </p:nvGrpSpPr>
        <p:grpSpPr>
          <a:xfrm>
            <a:off x="822960" y="8686800"/>
            <a:ext cx="16642080" cy="768096"/>
            <a:chOff x="0" y="0"/>
            <a:chExt cx="22189440" cy="1024128"/>
          </a:xfrm>
        </p:grpSpPr>
        <p:sp>
          <p:nvSpPr>
            <p:cNvPr id="73" name="Freeform 73"/>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74" name="TextBox 74"/>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채점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속도를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모르는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상황에서</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느리면</a:t>
              </a:r>
              <a:r>
                <a:rPr lang="en-US" sz="2499" b="1" dirty="0">
                  <a:solidFill>
                    <a:srgbClr val="8B0000"/>
                  </a:solidFill>
                  <a:latin typeface="프리텐다드 Bold"/>
                  <a:ea typeface="프리텐다드 Bold"/>
                  <a:cs typeface="프리텐다드 Bold"/>
                  <a:sym typeface="프리텐다드 Bold"/>
                </a:rPr>
                <a:t> 0점”</a:t>
              </a:r>
              <a:r>
                <a:rPr lang="en-US" sz="2499" dirty="0">
                  <a:solidFill>
                    <a:srgbClr val="1A1A1A"/>
                  </a:solidFill>
                  <a:latin typeface="프리텐다드"/>
                  <a:ea typeface="프리텐다드"/>
                  <a:cs typeface="프리텐다드"/>
                  <a:sym typeface="프리텐다드"/>
                </a:rPr>
                <a:t> 을 </a:t>
              </a:r>
              <a:r>
                <a:rPr lang="en-US" sz="2499" dirty="0" err="1">
                  <a:solidFill>
                    <a:srgbClr val="1A1A1A"/>
                  </a:solidFill>
                  <a:latin typeface="프리텐다드"/>
                  <a:ea typeface="프리텐다드"/>
                  <a:cs typeface="프리텐다드"/>
                  <a:sym typeface="프리텐다드"/>
                </a:rPr>
                <a:t>구조로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막았습니다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실행 화면 : </a:t>
              </a:r>
              <a:r>
                <a:rPr lang="en-US" sz="3800" b="1">
                  <a:solidFill>
                    <a:srgbClr val="8B0000"/>
                  </a:solidFill>
                  <a:latin typeface="프리텐다드 Bold"/>
                  <a:ea typeface="프리텐다드 Bold"/>
                  <a:cs typeface="프리텐다드 Bold"/>
                  <a:sym typeface="프리텐다드 Bold"/>
                </a:rPr>
                <a:t>실제 파이프라인 출력</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14</a:t>
              </a:r>
            </a:p>
          </p:txBody>
        </p:sp>
      </p:grpSp>
      <p:grpSp>
        <p:nvGrpSpPr>
          <p:cNvPr id="11" name="Group 11"/>
          <p:cNvGrpSpPr/>
          <p:nvPr/>
        </p:nvGrpSpPr>
        <p:grpSpPr>
          <a:xfrm>
            <a:off x="548640" y="1828800"/>
            <a:ext cx="4133088" cy="3917290"/>
            <a:chOff x="0" y="0"/>
            <a:chExt cx="5510784" cy="5223053"/>
          </a:xfrm>
        </p:grpSpPr>
        <p:sp>
          <p:nvSpPr>
            <p:cNvPr id="12" name="Freeform 12" descr="/Users/choseoyoung/Desktop/itda3-CODE-subway/발표/src/img/demo_plain.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4"/>
              <a:stretch>
                <a:fillRect t="-6" b="-7"/>
              </a:stretch>
            </a:blipFill>
          </p:spPr>
          <p:txBody>
            <a:bodyPr/>
            <a:lstStyle/>
            <a:p>
              <a:endParaRPr lang="ko-KR" altLang="en-US"/>
            </a:p>
          </p:txBody>
        </p:sp>
      </p:grpSp>
      <p:sp>
        <p:nvSpPr>
          <p:cNvPr id="13" name="TextBox 13"/>
          <p:cNvSpPr txBox="1"/>
          <p:nvPr/>
        </p:nvSpPr>
        <p:spPr>
          <a:xfrm>
            <a:off x="548640"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일반 인쇄</a:t>
            </a:r>
          </a:p>
        </p:txBody>
      </p:sp>
      <p:grpSp>
        <p:nvGrpSpPr>
          <p:cNvPr id="14" name="Group 14"/>
          <p:cNvGrpSpPr/>
          <p:nvPr/>
        </p:nvGrpSpPr>
        <p:grpSpPr>
          <a:xfrm>
            <a:off x="4901184" y="1828800"/>
            <a:ext cx="4133088" cy="3917290"/>
            <a:chOff x="0" y="0"/>
            <a:chExt cx="5510784" cy="5223053"/>
          </a:xfrm>
        </p:grpSpPr>
        <p:sp>
          <p:nvSpPr>
            <p:cNvPr id="15" name="Freeform 15" descr="/Users/choseoyoung/Desktop/itda3-CODE-subway/발표/src/img/demo_two.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5"/>
              <a:stretch>
                <a:fillRect t="-6" b="-7"/>
              </a:stretch>
            </a:blipFill>
          </p:spPr>
          <p:txBody>
            <a:bodyPr/>
            <a:lstStyle/>
            <a:p>
              <a:endParaRPr lang="ko-KR" altLang="en-US"/>
            </a:p>
          </p:txBody>
        </p:sp>
      </p:grpSp>
      <p:sp>
        <p:nvSpPr>
          <p:cNvPr id="16" name="TextBox 16"/>
          <p:cNvSpPr txBox="1"/>
          <p:nvPr/>
        </p:nvSpPr>
        <p:spPr>
          <a:xfrm>
            <a:off x="4901184"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제조·소비 병기</a:t>
            </a:r>
          </a:p>
        </p:txBody>
      </p:sp>
      <p:grpSp>
        <p:nvGrpSpPr>
          <p:cNvPr id="17" name="Group 17"/>
          <p:cNvGrpSpPr/>
          <p:nvPr/>
        </p:nvGrpSpPr>
        <p:grpSpPr>
          <a:xfrm>
            <a:off x="9253728" y="1828800"/>
            <a:ext cx="4133088" cy="3917290"/>
            <a:chOff x="0" y="0"/>
            <a:chExt cx="5510784" cy="5223053"/>
          </a:xfrm>
        </p:grpSpPr>
        <p:sp>
          <p:nvSpPr>
            <p:cNvPr id="18" name="Freeform 18" descr="/Users/choseoyoung/Desktop/itda3-CODE-subway/발표/src/img/demo_dot.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6"/>
              <a:stretch>
                <a:fillRect t="-6" b="-7"/>
              </a:stretch>
            </a:blipFill>
          </p:spPr>
          <p:txBody>
            <a:bodyPr/>
            <a:lstStyle/>
            <a:p>
              <a:endParaRPr lang="ko-KR" altLang="en-US"/>
            </a:p>
          </p:txBody>
        </p:sp>
      </p:grpSp>
      <p:sp>
        <p:nvSpPr>
          <p:cNvPr id="19" name="TextBox 19"/>
          <p:cNvSpPr txBox="1"/>
          <p:nvPr/>
        </p:nvSpPr>
        <p:spPr>
          <a:xfrm>
            <a:off x="9253728"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도트 인쇄 (폴백)</a:t>
            </a:r>
          </a:p>
        </p:txBody>
      </p:sp>
      <p:grpSp>
        <p:nvGrpSpPr>
          <p:cNvPr id="20" name="Group 20"/>
          <p:cNvGrpSpPr/>
          <p:nvPr/>
        </p:nvGrpSpPr>
        <p:grpSpPr>
          <a:xfrm>
            <a:off x="13606082" y="1828800"/>
            <a:ext cx="4133088" cy="3917290"/>
            <a:chOff x="0" y="0"/>
            <a:chExt cx="5510784" cy="5223053"/>
          </a:xfrm>
        </p:grpSpPr>
        <p:sp>
          <p:nvSpPr>
            <p:cNvPr id="21" name="Freeform 21" descr="/Users/choseoyoung/Desktop/itda3-CODE-subway/발표/src/img/demo_none.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7"/>
              <a:stretch>
                <a:fillRect t="-6" b="-7"/>
              </a:stretch>
            </a:blipFill>
          </p:spPr>
          <p:txBody>
            <a:bodyPr/>
            <a:lstStyle/>
            <a:p>
              <a:endParaRPr lang="ko-KR" altLang="en-US"/>
            </a:p>
          </p:txBody>
        </p:sp>
      </p:grpSp>
      <p:sp>
        <p:nvSpPr>
          <p:cNvPr id="22" name="TextBox 22"/>
          <p:cNvSpPr txBox="1"/>
          <p:nvPr/>
        </p:nvSpPr>
        <p:spPr>
          <a:xfrm>
            <a:off x="13606082"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미인식 → 판매자 입력</a:t>
            </a:r>
          </a:p>
        </p:txBody>
      </p:sp>
      <p:grpSp>
        <p:nvGrpSpPr>
          <p:cNvPr id="23" name="Group 23"/>
          <p:cNvGrpSpPr/>
          <p:nvPr/>
        </p:nvGrpSpPr>
        <p:grpSpPr>
          <a:xfrm>
            <a:off x="535943" y="6607559"/>
            <a:ext cx="17216123" cy="1854203"/>
            <a:chOff x="0" y="0"/>
            <a:chExt cx="22954831" cy="2472271"/>
          </a:xfrm>
        </p:grpSpPr>
        <p:sp>
          <p:nvSpPr>
            <p:cNvPr id="24" name="Freeform 24"/>
            <p:cNvSpPr/>
            <p:nvPr/>
          </p:nvSpPr>
          <p:spPr>
            <a:xfrm>
              <a:off x="0" y="0"/>
              <a:ext cx="22954742" cy="2472182"/>
            </a:xfrm>
            <a:custGeom>
              <a:avLst/>
              <a:gdLst/>
              <a:ahLst/>
              <a:cxnLst/>
              <a:rect l="l" t="t" r="r" b="b"/>
              <a:pathLst>
                <a:path w="22954742" h="2472182">
                  <a:moveTo>
                    <a:pt x="0" y="197739"/>
                  </a:moveTo>
                  <a:cubicBezTo>
                    <a:pt x="0" y="88519"/>
                    <a:pt x="88519" y="0"/>
                    <a:pt x="197739" y="0"/>
                  </a:cubicBezTo>
                  <a:lnTo>
                    <a:pt x="22757003" y="0"/>
                  </a:lnTo>
                  <a:cubicBezTo>
                    <a:pt x="22866223" y="0"/>
                    <a:pt x="22954742" y="88519"/>
                    <a:pt x="22954742" y="197739"/>
                  </a:cubicBezTo>
                  <a:lnTo>
                    <a:pt x="22954742" y="2274443"/>
                  </a:lnTo>
                  <a:cubicBezTo>
                    <a:pt x="22954742" y="2383663"/>
                    <a:pt x="22866223" y="2472182"/>
                    <a:pt x="22757003" y="2472182"/>
                  </a:cubicBezTo>
                  <a:lnTo>
                    <a:pt x="197739" y="2472182"/>
                  </a:lnTo>
                  <a:cubicBezTo>
                    <a:pt x="88519" y="2472309"/>
                    <a:pt x="0" y="2383663"/>
                    <a:pt x="0" y="2274443"/>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25" name="TextBox 25"/>
          <p:cNvSpPr txBox="1"/>
          <p:nvPr/>
        </p:nvSpPr>
        <p:spPr>
          <a:xfrm>
            <a:off x="822960" y="6873626"/>
            <a:ext cx="16642080" cy="1264385"/>
          </a:xfrm>
          <a:prstGeom prst="rect">
            <a:avLst/>
          </a:prstGeom>
        </p:spPr>
        <p:txBody>
          <a:bodyPr lIns="0" tIns="0" rIns="0" bIns="0" rtlCol="0" anchor="t">
            <a:spAutoFit/>
          </a:bodyPr>
          <a:lstStyle/>
          <a:p>
            <a:pPr marL="506730" lvl="1" indent="-253365" algn="l">
              <a:lnSpc>
                <a:spcPts val="3360"/>
              </a:lnSpc>
              <a:buFont typeface="Arial"/>
              <a:buChar char="•"/>
            </a:pPr>
            <a:r>
              <a:rPr lang="en-US" sz="2100" dirty="0" err="1">
                <a:solidFill>
                  <a:srgbClr val="1A1A1A"/>
                </a:solidFill>
                <a:latin typeface="프리텐다드"/>
                <a:ea typeface="프리텐다드"/>
                <a:cs typeface="프리텐다드"/>
                <a:sym typeface="프리텐다드"/>
              </a:rPr>
              <a:t>빨간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상자</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선택된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a:t>
            </a:r>
            <a:r>
              <a:rPr lang="en-US" sz="2100" dirty="0">
                <a:solidFill>
                  <a:srgbClr val="1A1A1A"/>
                </a:solidFill>
                <a:latin typeface="프리텐다드"/>
                <a:ea typeface="프리텐다드"/>
                <a:cs typeface="프리텐다드"/>
                <a:sym typeface="프리텐다드"/>
              </a:rPr>
              <a:t> 줄, </a:t>
            </a:r>
            <a:r>
              <a:rPr lang="en-US" sz="2100" dirty="0" err="1">
                <a:solidFill>
                  <a:srgbClr val="1A1A1A"/>
                </a:solidFill>
                <a:latin typeface="프리텐다드"/>
                <a:ea typeface="프리텐다드"/>
                <a:cs typeface="프리텐다드"/>
                <a:sym typeface="프리텐다드"/>
              </a:rPr>
              <a:t>회색</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상자</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다른</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후보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아래</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패널은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파이프라인이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실제로</a:t>
            </a:r>
            <a:r>
              <a:rPr lang="en-US" sz="2100" dirty="0">
                <a:solidFill>
                  <a:srgbClr val="1A1A1A"/>
                </a:solidFill>
                <a:latin typeface="프리텐다드"/>
                <a:ea typeface="프리텐다드"/>
                <a:cs typeface="프리텐다드"/>
                <a:sym typeface="프리텐다드"/>
              </a:rPr>
              <a:t> 낸 </a:t>
            </a:r>
            <a:r>
              <a:rPr lang="en-US" sz="2100" dirty="0" err="1">
                <a:solidFill>
                  <a:srgbClr val="1A1A1A"/>
                </a:solidFill>
                <a:latin typeface="프리텐다드"/>
                <a:ea typeface="프리텐다드"/>
                <a:cs typeface="프리텐다드"/>
                <a:sym typeface="프리텐다드"/>
              </a:rPr>
              <a:t>값·후보·처리</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시간</a:t>
            </a:r>
            <a:endParaRPr lang="en-US" sz="2100" dirty="0">
              <a:solidFill>
                <a:srgbClr val="1A1A1A"/>
              </a:solidFill>
              <a:latin typeface="프리텐다드"/>
              <a:ea typeface="프리텐다드"/>
              <a:cs typeface="프리텐다드"/>
              <a:sym typeface="프리텐다드"/>
            </a:endParaRPr>
          </a:p>
          <a:p>
            <a:pPr marL="506730" lvl="1" indent="-253365" algn="l">
              <a:lnSpc>
                <a:spcPts val="3360"/>
              </a:lnSpc>
              <a:buFont typeface="Arial"/>
              <a:buChar char="•"/>
            </a:pPr>
            <a:r>
              <a:rPr lang="en-US" sz="2100" dirty="0" err="1">
                <a:solidFill>
                  <a:srgbClr val="1A1A1A"/>
                </a:solidFill>
                <a:latin typeface="프리텐다드"/>
                <a:ea typeface="프리텐다드"/>
                <a:cs typeface="프리텐다드"/>
                <a:sym typeface="프리텐다드"/>
              </a:rPr>
              <a:t>병기</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a:t>
            </a:r>
            <a:r>
              <a:rPr lang="en-US" sz="2100" dirty="0">
                <a:solidFill>
                  <a:srgbClr val="1A1A1A"/>
                </a:solidFill>
                <a:latin typeface="프리텐다드"/>
                <a:ea typeface="프리텐다드"/>
                <a:cs typeface="프리텐다드"/>
                <a:sym typeface="프리텐다드"/>
              </a:rPr>
              <a:t> : 25.06.26(</a:t>
            </a:r>
            <a:r>
              <a:rPr lang="en-US" sz="2100" dirty="0" err="1">
                <a:solidFill>
                  <a:srgbClr val="1A1A1A"/>
                </a:solidFill>
                <a:latin typeface="프리텐다드"/>
                <a:ea typeface="프리텐다드"/>
                <a:cs typeface="프리텐다드"/>
                <a:sym typeface="프리텐다드"/>
              </a:rPr>
              <a:t>제조</a:t>
            </a:r>
            <a:r>
              <a:rPr lang="en-US" sz="2100" dirty="0">
                <a:solidFill>
                  <a:srgbClr val="1A1A1A"/>
                </a:solidFill>
                <a:latin typeface="프리텐다드"/>
                <a:ea typeface="프리텐다드"/>
                <a:cs typeface="프리텐다드"/>
                <a:sym typeface="프리텐다드"/>
              </a:rPr>
              <a:t>)과 26.06.25(</a:t>
            </a:r>
            <a:r>
              <a:rPr lang="en-US" sz="2100" dirty="0" err="1">
                <a:solidFill>
                  <a:srgbClr val="1A1A1A"/>
                </a:solidFill>
                <a:latin typeface="프리텐다드"/>
                <a:ea typeface="프리텐다드"/>
                <a:cs typeface="프리텐다드"/>
                <a:sym typeface="프리텐다드"/>
              </a:rPr>
              <a:t>소비</a:t>
            </a:r>
            <a:r>
              <a:rPr lang="en-US" sz="2100" dirty="0">
                <a:solidFill>
                  <a:srgbClr val="1A1A1A"/>
                </a:solidFill>
                <a:latin typeface="프리텐다드"/>
                <a:ea typeface="프리텐다드"/>
                <a:cs typeface="프리텐다드"/>
                <a:sym typeface="프리텐다드"/>
              </a:rPr>
              <a:t>)를 </a:t>
            </a:r>
            <a:r>
              <a:rPr lang="en-US" sz="2100" dirty="0" err="1">
                <a:solidFill>
                  <a:srgbClr val="1A1A1A"/>
                </a:solidFill>
                <a:latin typeface="프리텐다드"/>
                <a:ea typeface="프리텐다드"/>
                <a:cs typeface="프리텐다드"/>
                <a:sym typeface="프리텐다드"/>
              </a:rPr>
              <a:t>모두</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읽고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늦은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선택</a:t>
            </a:r>
            <a:endParaRPr lang="en-US" sz="2100" dirty="0">
              <a:solidFill>
                <a:srgbClr val="1A1A1A"/>
              </a:solidFill>
              <a:latin typeface="프리텐다드"/>
              <a:ea typeface="프리텐다드"/>
              <a:cs typeface="프리텐다드"/>
              <a:sym typeface="프리텐다드"/>
            </a:endParaRPr>
          </a:p>
          <a:p>
            <a:pPr marL="506730" lvl="1" indent="-253365" algn="l">
              <a:lnSpc>
                <a:spcPts val="3360"/>
              </a:lnSpc>
              <a:buFont typeface="Arial"/>
              <a:buChar char="•"/>
            </a:pPr>
            <a:r>
              <a:rPr lang="en-US" sz="2100" dirty="0">
                <a:solidFill>
                  <a:srgbClr val="1A1A1A"/>
                </a:solidFill>
                <a:latin typeface="프리텐다드"/>
                <a:ea typeface="프리텐다드"/>
                <a:cs typeface="프리텐다드"/>
                <a:sym typeface="프리텐다드"/>
              </a:rPr>
              <a:t>네 </a:t>
            </a:r>
            <a:r>
              <a:rPr lang="en-US" sz="2100" dirty="0" err="1">
                <a:solidFill>
                  <a:srgbClr val="1A1A1A"/>
                </a:solidFill>
                <a:latin typeface="프리텐다드"/>
                <a:ea typeface="프리텐다드"/>
                <a:cs typeface="프리텐다드"/>
                <a:sym typeface="프리텐다드"/>
              </a:rPr>
              <a:t>번째</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후보가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없으면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지어내지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않고</a:t>
            </a:r>
            <a:r>
              <a:rPr lang="en-US" sz="2100" dirty="0">
                <a:solidFill>
                  <a:srgbClr val="1A1A1A"/>
                </a:solidFill>
                <a:latin typeface="프리텐다드"/>
                <a:ea typeface="프리텐다드"/>
                <a:cs typeface="프리텐다드"/>
                <a:sym typeface="프리텐다드"/>
              </a:rPr>
              <a:t> NONE. </a:t>
            </a:r>
            <a:r>
              <a:rPr lang="en-US" sz="2100" dirty="0" err="1">
                <a:solidFill>
                  <a:srgbClr val="1A1A1A"/>
                </a:solidFill>
                <a:latin typeface="프리텐다드"/>
                <a:ea typeface="프리텐다드"/>
                <a:cs typeface="프리텐다드"/>
                <a:sym typeface="프리텐다드"/>
              </a:rPr>
              <a:t>게시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화면에서는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빈칸으로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두고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판매자가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입력</a:t>
            </a:r>
            <a:endParaRPr lang="en-US" sz="2100" dirty="0">
              <a:solidFill>
                <a:srgbClr val="1A1A1A"/>
              </a:solidFill>
              <a:latin typeface="프리텐다드"/>
              <a:ea typeface="프리텐다드"/>
              <a:cs typeface="프리텐다드"/>
              <a:sym typeface="프리텐다드"/>
            </a:endParaRPr>
          </a:p>
        </p:txBody>
      </p:sp>
      <p:grpSp>
        <p:nvGrpSpPr>
          <p:cNvPr id="26" name="Group 26"/>
          <p:cNvGrpSpPr/>
          <p:nvPr/>
        </p:nvGrpSpPr>
        <p:grpSpPr>
          <a:xfrm>
            <a:off x="535943" y="8674103"/>
            <a:ext cx="17216123" cy="793499"/>
            <a:chOff x="0" y="0"/>
            <a:chExt cx="22954831" cy="1057999"/>
          </a:xfrm>
        </p:grpSpPr>
        <p:sp>
          <p:nvSpPr>
            <p:cNvPr id="27" name="Freeform 2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8" name="Group 28"/>
          <p:cNvGrpSpPr/>
          <p:nvPr/>
        </p:nvGrpSpPr>
        <p:grpSpPr>
          <a:xfrm>
            <a:off x="822960" y="8686800"/>
            <a:ext cx="16642080" cy="768096"/>
            <a:chOff x="0" y="0"/>
            <a:chExt cx="22189440" cy="1024128"/>
          </a:xfrm>
        </p:grpSpPr>
        <p:sp>
          <p:nvSpPr>
            <p:cNvPr id="29" name="Freeform 2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30" name="TextBox 3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재현</a:t>
              </a:r>
              <a:r>
                <a:rPr lang="en-US" sz="2499" dirty="0">
                  <a:solidFill>
                    <a:srgbClr val="1A1A1A"/>
                  </a:solidFill>
                  <a:latin typeface="프리텐다드"/>
                  <a:ea typeface="프리텐다드"/>
                  <a:cs typeface="프리텐다드"/>
                  <a:sym typeface="프리텐다드"/>
                </a:rPr>
                <a:t> : 새 </a:t>
              </a:r>
              <a:r>
                <a:rPr lang="en-US" sz="2499" dirty="0" err="1">
                  <a:solidFill>
                    <a:srgbClr val="1A1A1A"/>
                  </a:solidFill>
                  <a:latin typeface="프리텐다드"/>
                  <a:ea typeface="프리텐다드"/>
                  <a:cs typeface="프리텐다드"/>
                  <a:sym typeface="프리텐다드"/>
                </a:rPr>
                <a:t>환경에서</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설치</a:t>
              </a:r>
              <a:r>
                <a:rPr lang="en-US" sz="2499" b="1" dirty="0">
                  <a:solidFill>
                    <a:srgbClr val="8B0000"/>
                  </a:solidFill>
                  <a:latin typeface="프리텐다드"/>
                  <a:ea typeface="프리텐다드"/>
                  <a:cs typeface="프리텐다드"/>
                  <a:sym typeface="프리텐다드"/>
                </a:rPr>
                <a:t> → </a:t>
              </a:r>
              <a:r>
                <a:rPr lang="en-US" sz="2499" b="1" dirty="0" err="1">
                  <a:solidFill>
                    <a:srgbClr val="8B0000"/>
                  </a:solidFill>
                  <a:latin typeface="프리텐다드"/>
                  <a:ea typeface="프리텐다드"/>
                  <a:cs typeface="프리텐다드"/>
                  <a:sym typeface="프리텐다드"/>
                </a:rPr>
                <a:t>가중치</a:t>
              </a:r>
              <a:r>
                <a:rPr lang="en-US" sz="2499" b="1" dirty="0">
                  <a:solidFill>
                    <a:srgbClr val="8B0000"/>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다운로드</a:t>
              </a:r>
              <a:r>
                <a:rPr lang="en-US" sz="2499" b="1" dirty="0">
                  <a:solidFill>
                    <a:srgbClr val="8B0000"/>
                  </a:solidFill>
                  <a:latin typeface="프리텐다드"/>
                  <a:ea typeface="프리텐다드"/>
                  <a:cs typeface="프리텐다드"/>
                  <a:sym typeface="프리텐다드"/>
                </a:rPr>
                <a:t> → 봉인 500장 Run All</a:t>
              </a:r>
              <a:r>
                <a:rPr lang="en-US" sz="2499" b="1"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완주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공식 측정과</a:t>
              </a:r>
              <a:r>
                <a:rPr lang="en-US" sz="2499" dirty="0">
                  <a:solidFill>
                    <a:srgbClr val="1A1A1A"/>
                  </a:solidFill>
                  <a:latin typeface="프리텐다드"/>
                  <a:ea typeface="프리텐다드"/>
                  <a:cs typeface="프리텐다드"/>
                  <a:sym typeface="프리텐다드"/>
                </a:rPr>
                <a:t> 500장 </a:t>
              </a:r>
              <a:r>
                <a:rPr lang="en-US" sz="2499" dirty="0" err="1">
                  <a:solidFill>
                    <a:srgbClr val="1A1A1A"/>
                  </a:solidFill>
                  <a:latin typeface="프리텐다드"/>
                  <a:ea typeface="프리텐다드"/>
                  <a:cs typeface="프리텐다드"/>
                  <a:sym typeface="프리텐다드"/>
                </a:rPr>
                <a:t>답이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일치</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5</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도메인</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적용과</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운영</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중고거래 식품 게시글의 잔여기한</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15</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적용 도메인 : </a:t>
              </a:r>
              <a:r>
                <a:rPr lang="en-US" sz="3800" b="1">
                  <a:solidFill>
                    <a:srgbClr val="8B0000"/>
                  </a:solidFill>
                  <a:latin typeface="프리텐다드 Bold"/>
                  <a:ea typeface="프리텐다드 Bold"/>
                  <a:cs typeface="프리텐다드 Bold"/>
                  <a:sym typeface="프리텐다드 Bold"/>
                </a:rPr>
                <a:t>중고거래 식품·건강기능식품 게시글의 소비기한</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16</a:t>
              </a:r>
            </a:p>
          </p:txBody>
        </p:sp>
      </p:grpSp>
      <p:sp>
        <p:nvSpPr>
          <p:cNvPr id="11" name="TextBox 11"/>
          <p:cNvSpPr txBox="1"/>
          <p:nvPr/>
        </p:nvSpPr>
        <p:spPr>
          <a:xfrm>
            <a:off x="548640" y="1700784"/>
            <a:ext cx="17190720" cy="323850"/>
          </a:xfrm>
          <a:prstGeom prst="rect">
            <a:avLst/>
          </a:prstGeom>
        </p:spPr>
        <p:txBody>
          <a:bodyPr lIns="0" tIns="0" rIns="0" bIns="0" rtlCol="0" anchor="t">
            <a:spAutoFit/>
          </a:bodyPr>
          <a:lstStyle/>
          <a:p>
            <a:pPr algn="l">
              <a:lnSpc>
                <a:spcPts val="2592"/>
              </a:lnSpc>
            </a:pPr>
            <a:r>
              <a:rPr lang="en-US" sz="2160">
                <a:solidFill>
                  <a:srgbClr val="1A1A1A"/>
                </a:solidFill>
                <a:latin typeface="프리텐다드"/>
                <a:ea typeface="프리텐다드"/>
                <a:cs typeface="프리텐다드"/>
                <a:sym typeface="프리텐다드"/>
              </a:rPr>
              <a:t>소비기한은 판매자가 손으로 적습니다. 적발된 위반 375건 중 </a:t>
            </a:r>
            <a:r>
              <a:rPr lang="en-US" sz="2160" b="1">
                <a:solidFill>
                  <a:srgbClr val="8B0000"/>
                </a:solidFill>
                <a:latin typeface="프리텐다드 Bold"/>
                <a:ea typeface="프리텐다드 Bold"/>
                <a:cs typeface="프리텐다드 Bold"/>
                <a:sym typeface="프리텐다드 Bold"/>
              </a:rPr>
              <a:t>211건이 사용기한 확인 불가·불일치</a:t>
            </a:r>
            <a:r>
              <a:rPr lang="en-US" sz="2160">
                <a:solidFill>
                  <a:srgbClr val="1A1A1A"/>
                </a:solidFill>
                <a:latin typeface="프리텐다드"/>
                <a:ea typeface="프리텐다드"/>
                <a:cs typeface="프리텐다드"/>
                <a:sym typeface="프리텐다드"/>
              </a:rPr>
              <a:t>, 전담 모니터링 인력은 </a:t>
            </a:r>
            <a:r>
              <a:rPr lang="en-US" sz="2160" b="1">
                <a:solidFill>
                  <a:srgbClr val="8B0000"/>
                </a:solidFill>
                <a:latin typeface="프리텐다드 Bold"/>
                <a:ea typeface="프리텐다드 Bold"/>
                <a:cs typeface="프리텐다드 Bold"/>
                <a:sym typeface="프리텐다드 Bold"/>
              </a:rPr>
              <a:t>5명</a:t>
            </a:r>
          </a:p>
        </p:txBody>
      </p:sp>
      <p:sp>
        <p:nvSpPr>
          <p:cNvPr id="12" name="TextBox 12"/>
          <p:cNvSpPr txBox="1"/>
          <p:nvPr/>
        </p:nvSpPr>
        <p:spPr>
          <a:xfrm>
            <a:off x="548640" y="2149221"/>
            <a:ext cx="17190720" cy="266700"/>
          </a:xfrm>
          <a:prstGeom prst="rect">
            <a:avLst/>
          </a:prstGeom>
        </p:spPr>
        <p:txBody>
          <a:bodyPr lIns="0" tIns="0" rIns="0" bIns="0" rtlCol="0" anchor="t">
            <a:spAutoFit/>
          </a:bodyPr>
          <a:lstStyle/>
          <a:p>
            <a:pPr algn="l">
              <a:lnSpc>
                <a:spcPts val="2160"/>
              </a:lnSpc>
            </a:pPr>
            <a:r>
              <a:rPr lang="en-US" sz="1800" dirty="0" err="1">
                <a:solidFill>
                  <a:srgbClr val="6B6B6B"/>
                </a:solidFill>
                <a:latin typeface="프리텐다드"/>
                <a:ea typeface="프리텐다드"/>
                <a:cs typeface="프리텐다드"/>
                <a:sym typeface="프리텐다드"/>
              </a:rPr>
              <a:t>아래는</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시연용으로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만든</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서비스</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화면</a:t>
            </a:r>
            <a:r>
              <a:rPr lang="en-US" sz="1800" dirty="0">
                <a:solidFill>
                  <a:srgbClr val="6B6B6B"/>
                </a:solidFill>
                <a:latin typeface="프리텐다드"/>
                <a:ea typeface="프리텐다드"/>
                <a:cs typeface="프리텐다드"/>
                <a:sym typeface="프리텐다드"/>
              </a:rPr>
              <a:t>(</a:t>
            </a:r>
            <a:r>
              <a:rPr lang="en-US" sz="1800" dirty="0" err="1">
                <a:solidFill>
                  <a:srgbClr val="6B6B6B"/>
                </a:solidFill>
                <a:latin typeface="프리텐다드"/>
                <a:ea typeface="프리텐다드"/>
                <a:cs typeface="프리텐다드"/>
                <a:sym typeface="프리텐다드"/>
              </a:rPr>
              <a:t>설계안</a:t>
            </a:r>
            <a:r>
              <a:rPr lang="en-US" sz="1800" dirty="0">
                <a:solidFill>
                  <a:srgbClr val="6B6B6B"/>
                </a:solidFill>
                <a:latin typeface="프리텐다드"/>
                <a:ea typeface="프리텐다드"/>
                <a:cs typeface="프리텐다드"/>
                <a:sym typeface="프리텐다드"/>
              </a:rPr>
              <a:t>)</a:t>
            </a:r>
            <a:r>
              <a:rPr lang="en-US" sz="1800" dirty="0" err="1">
                <a:solidFill>
                  <a:srgbClr val="6B6B6B"/>
                </a:solidFill>
                <a:latin typeface="프리텐다드"/>
                <a:ea typeface="프리텐다드"/>
                <a:cs typeface="프리텐다드"/>
                <a:sym typeface="프리텐다드"/>
              </a:rPr>
              <a:t>이며</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실제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앱을</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구현한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것은</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아닙니다</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사진·판독값·확신도는</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파이프라인의</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실제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출력입니다</a:t>
            </a:r>
            <a:r>
              <a:rPr lang="en-US" sz="1800" dirty="0">
                <a:solidFill>
                  <a:srgbClr val="6B6B6B"/>
                </a:solidFill>
                <a:latin typeface="프리텐다드"/>
                <a:ea typeface="프리텐다드"/>
                <a:cs typeface="프리텐다드"/>
                <a:sym typeface="프리텐다드"/>
              </a:rPr>
              <a:t>.</a:t>
            </a:r>
          </a:p>
        </p:txBody>
      </p:sp>
      <p:grpSp>
        <p:nvGrpSpPr>
          <p:cNvPr id="13" name="Group 13"/>
          <p:cNvGrpSpPr/>
          <p:nvPr/>
        </p:nvGrpSpPr>
        <p:grpSpPr>
          <a:xfrm>
            <a:off x="548640" y="2596896"/>
            <a:ext cx="2618842" cy="5486400"/>
            <a:chOff x="0" y="0"/>
            <a:chExt cx="3491789" cy="7315200"/>
          </a:xfrm>
        </p:grpSpPr>
        <p:sp>
          <p:nvSpPr>
            <p:cNvPr id="14" name="Freeform 14" descr="/Users/choseoyoung/Desktop/itda3-CODE-subway/발표/src/img/dash_phone1.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4"/>
              <a:stretch>
                <a:fillRect l="-17" r="-18"/>
              </a:stretch>
            </a:blipFill>
          </p:spPr>
          <p:txBody>
            <a:bodyPr/>
            <a:lstStyle/>
            <a:p>
              <a:endParaRPr lang="ko-KR" altLang="en-US"/>
            </a:p>
          </p:txBody>
        </p:sp>
      </p:grpSp>
      <p:grpSp>
        <p:nvGrpSpPr>
          <p:cNvPr id="15" name="Group 15"/>
          <p:cNvGrpSpPr/>
          <p:nvPr/>
        </p:nvGrpSpPr>
        <p:grpSpPr>
          <a:xfrm>
            <a:off x="365760" y="8119872"/>
            <a:ext cx="2984602" cy="475488"/>
            <a:chOff x="0" y="0"/>
            <a:chExt cx="3979469" cy="633984"/>
          </a:xfrm>
        </p:grpSpPr>
        <p:sp>
          <p:nvSpPr>
            <p:cNvPr id="16" name="Freeform 16"/>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17" name="TextBox 17"/>
            <p:cNvSpPr txBox="1"/>
            <p:nvPr/>
          </p:nvSpPr>
          <p:spPr>
            <a:xfrm>
              <a:off x="0" y="0"/>
              <a:ext cx="3979469" cy="633984"/>
            </a:xfrm>
            <a:prstGeom prst="rect">
              <a:avLst/>
            </a:prstGeom>
          </p:spPr>
          <p:txBody>
            <a:bodyPr lIns="0" tIns="0" rIns="0" bIns="0" rtlCol="0" anchor="ctr"/>
            <a:lstStyle/>
            <a:p>
              <a:pPr algn="ctr">
                <a:lnSpc>
                  <a:spcPts val="2279"/>
                </a:lnSpc>
              </a:pPr>
              <a:r>
                <a:rPr lang="en-US" sz="1899">
                  <a:solidFill>
                    <a:srgbClr val="1A1A1A"/>
                  </a:solidFill>
                  <a:latin typeface="프리텐다드"/>
                  <a:ea typeface="프리텐다드"/>
                  <a:cs typeface="프리텐다드"/>
                  <a:sym typeface="프리텐다드"/>
                </a:rPr>
                <a:t>① 날짜면 촬영</a:t>
              </a:r>
            </a:p>
          </p:txBody>
        </p:sp>
      </p:grpSp>
      <p:grpSp>
        <p:nvGrpSpPr>
          <p:cNvPr id="18" name="Group 18"/>
          <p:cNvGrpSpPr/>
          <p:nvPr/>
        </p:nvGrpSpPr>
        <p:grpSpPr>
          <a:xfrm>
            <a:off x="3167482" y="5065776"/>
            <a:ext cx="416966" cy="548640"/>
            <a:chOff x="0" y="0"/>
            <a:chExt cx="555955" cy="731520"/>
          </a:xfrm>
        </p:grpSpPr>
        <p:sp>
          <p:nvSpPr>
            <p:cNvPr id="19" name="Freeform 19"/>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20" name="TextBox 20"/>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21" name="Group 21"/>
          <p:cNvGrpSpPr/>
          <p:nvPr/>
        </p:nvGrpSpPr>
        <p:grpSpPr>
          <a:xfrm>
            <a:off x="3584448" y="2596896"/>
            <a:ext cx="2618842" cy="5486400"/>
            <a:chOff x="0" y="0"/>
            <a:chExt cx="3491789" cy="7315200"/>
          </a:xfrm>
        </p:grpSpPr>
        <p:sp>
          <p:nvSpPr>
            <p:cNvPr id="22" name="Freeform 22" descr="/Users/choseoyoung/Desktop/itda3-CODE-subway/발표/src/img/dash_phone2.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5"/>
              <a:stretch>
                <a:fillRect l="-17" r="-18"/>
              </a:stretch>
            </a:blipFill>
          </p:spPr>
          <p:txBody>
            <a:bodyPr/>
            <a:lstStyle/>
            <a:p>
              <a:endParaRPr lang="ko-KR" altLang="en-US"/>
            </a:p>
          </p:txBody>
        </p:sp>
      </p:grpSp>
      <p:grpSp>
        <p:nvGrpSpPr>
          <p:cNvPr id="23" name="Group 23"/>
          <p:cNvGrpSpPr/>
          <p:nvPr/>
        </p:nvGrpSpPr>
        <p:grpSpPr>
          <a:xfrm>
            <a:off x="3401568" y="8119872"/>
            <a:ext cx="2984602" cy="475488"/>
            <a:chOff x="0" y="0"/>
            <a:chExt cx="3979469" cy="633984"/>
          </a:xfrm>
        </p:grpSpPr>
        <p:sp>
          <p:nvSpPr>
            <p:cNvPr id="24" name="Freeform 24"/>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25" name="TextBox 25"/>
            <p:cNvSpPr txBox="1"/>
            <p:nvPr/>
          </p:nvSpPr>
          <p:spPr>
            <a:xfrm>
              <a:off x="0" y="0"/>
              <a:ext cx="3979469" cy="633984"/>
            </a:xfrm>
            <a:prstGeom prst="rect">
              <a:avLst/>
            </a:prstGeom>
          </p:spPr>
          <p:txBody>
            <a:bodyPr lIns="0" tIns="0" rIns="0" bIns="0" rtlCol="0" anchor="ctr"/>
            <a:lstStyle/>
            <a:p>
              <a:pPr algn="ctr">
                <a:lnSpc>
                  <a:spcPts val="2279"/>
                </a:lnSpc>
              </a:pPr>
              <a:r>
                <a:rPr lang="en-US" sz="1899" dirty="0">
                  <a:solidFill>
                    <a:srgbClr val="1A1A1A"/>
                  </a:solidFill>
                  <a:latin typeface="프리텐다드"/>
                  <a:ea typeface="프리텐다드"/>
                  <a:cs typeface="프리텐다드"/>
                  <a:sym typeface="프리텐다드"/>
                </a:rPr>
                <a:t>② </a:t>
              </a:r>
              <a:r>
                <a:rPr lang="ko-KR" altLang="en-US" sz="1899" dirty="0">
                  <a:solidFill>
                    <a:srgbClr val="1A1A1A"/>
                  </a:solidFill>
                  <a:latin typeface="프리텐다드"/>
                  <a:ea typeface="프리텐다드"/>
                  <a:cs typeface="프리텐다드"/>
                  <a:sym typeface="프리텐다드"/>
                </a:rPr>
                <a:t>모델이 </a:t>
              </a:r>
              <a:r>
                <a:rPr lang="en-US" sz="1899" dirty="0" err="1">
                  <a:solidFill>
                    <a:srgbClr val="1A1A1A"/>
                  </a:solidFill>
                  <a:latin typeface="프리텐다드"/>
                  <a:ea typeface="프리텐다드"/>
                  <a:cs typeface="프리텐다드"/>
                  <a:sym typeface="프리텐다드"/>
                </a:rPr>
                <a:t>확신하면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자동</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입력</a:t>
              </a:r>
              <a:endParaRPr lang="en-US" sz="1899" dirty="0">
                <a:solidFill>
                  <a:srgbClr val="1A1A1A"/>
                </a:solidFill>
                <a:latin typeface="프리텐다드"/>
                <a:ea typeface="프리텐다드"/>
                <a:cs typeface="프리텐다드"/>
                <a:sym typeface="프리텐다드"/>
              </a:endParaRPr>
            </a:p>
          </p:txBody>
        </p:sp>
      </p:grpSp>
      <p:grpSp>
        <p:nvGrpSpPr>
          <p:cNvPr id="26" name="Group 26"/>
          <p:cNvGrpSpPr/>
          <p:nvPr/>
        </p:nvGrpSpPr>
        <p:grpSpPr>
          <a:xfrm>
            <a:off x="6203290" y="5065776"/>
            <a:ext cx="416966" cy="548640"/>
            <a:chOff x="0" y="0"/>
            <a:chExt cx="555955" cy="731520"/>
          </a:xfrm>
        </p:grpSpPr>
        <p:sp>
          <p:nvSpPr>
            <p:cNvPr id="27" name="Freeform 27"/>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28" name="TextBox 28"/>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29" name="Group 29"/>
          <p:cNvGrpSpPr/>
          <p:nvPr/>
        </p:nvGrpSpPr>
        <p:grpSpPr>
          <a:xfrm>
            <a:off x="6620256" y="2596896"/>
            <a:ext cx="2618842" cy="5486400"/>
            <a:chOff x="0" y="0"/>
            <a:chExt cx="3491789" cy="7315200"/>
          </a:xfrm>
        </p:grpSpPr>
        <p:sp>
          <p:nvSpPr>
            <p:cNvPr id="30" name="Freeform 30" descr="/Users/choseoyoung/Desktop/itda3-CODE-subway/발표/src/img/dash_phone3.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6"/>
              <a:stretch>
                <a:fillRect l="-17" r="-18"/>
              </a:stretch>
            </a:blipFill>
          </p:spPr>
          <p:txBody>
            <a:bodyPr/>
            <a:lstStyle/>
            <a:p>
              <a:endParaRPr lang="ko-KR" altLang="en-US"/>
            </a:p>
          </p:txBody>
        </p:sp>
      </p:grpSp>
      <p:grpSp>
        <p:nvGrpSpPr>
          <p:cNvPr id="31" name="Group 31"/>
          <p:cNvGrpSpPr/>
          <p:nvPr/>
        </p:nvGrpSpPr>
        <p:grpSpPr>
          <a:xfrm>
            <a:off x="6437376" y="8119872"/>
            <a:ext cx="2984602" cy="475488"/>
            <a:chOff x="0" y="0"/>
            <a:chExt cx="3979469" cy="633984"/>
          </a:xfrm>
        </p:grpSpPr>
        <p:sp>
          <p:nvSpPr>
            <p:cNvPr id="32" name="Freeform 32"/>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33" name="TextBox 33"/>
            <p:cNvSpPr txBox="1"/>
            <p:nvPr/>
          </p:nvSpPr>
          <p:spPr>
            <a:xfrm>
              <a:off x="0" y="0"/>
              <a:ext cx="3979469" cy="633984"/>
            </a:xfrm>
            <a:prstGeom prst="rect">
              <a:avLst/>
            </a:prstGeom>
          </p:spPr>
          <p:txBody>
            <a:bodyPr lIns="0" tIns="0" rIns="0" bIns="0" rtlCol="0" anchor="ctr"/>
            <a:lstStyle/>
            <a:p>
              <a:pPr algn="ctr">
                <a:lnSpc>
                  <a:spcPts val="2279"/>
                </a:lnSpc>
              </a:pPr>
              <a:r>
                <a:rPr lang="en-US" sz="1899" dirty="0">
                  <a:solidFill>
                    <a:srgbClr val="1A1A1A"/>
                  </a:solidFill>
                  <a:latin typeface="프리텐다드"/>
                  <a:ea typeface="프리텐다드"/>
                  <a:cs typeface="프리텐다드"/>
                  <a:sym typeface="프리텐다드"/>
                </a:rPr>
                <a:t>③ </a:t>
              </a:r>
              <a:r>
                <a:rPr lang="ko-KR" altLang="en-US" sz="1899" dirty="0">
                  <a:solidFill>
                    <a:srgbClr val="1A1A1A"/>
                  </a:solidFill>
                  <a:latin typeface="프리텐다드"/>
                  <a:ea typeface="프리텐다드"/>
                  <a:cs typeface="프리텐다드"/>
                  <a:sym typeface="프리텐다드"/>
                </a:rPr>
                <a:t>모델 </a:t>
              </a:r>
              <a:r>
                <a:rPr lang="en-US" sz="1899" dirty="0" err="1">
                  <a:solidFill>
                    <a:srgbClr val="1A1A1A"/>
                  </a:solidFill>
                  <a:latin typeface="프리텐다드"/>
                  <a:ea typeface="프리텐다드"/>
                  <a:cs typeface="프리텐다드"/>
                  <a:sym typeface="프리텐다드"/>
                </a:rPr>
                <a:t>확신이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낮으면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빈칸</a:t>
              </a:r>
              <a:endParaRPr lang="en-US" sz="1899" dirty="0">
                <a:solidFill>
                  <a:srgbClr val="1A1A1A"/>
                </a:solidFill>
                <a:latin typeface="프리텐다드"/>
                <a:ea typeface="프리텐다드"/>
                <a:cs typeface="프리텐다드"/>
                <a:sym typeface="프리텐다드"/>
              </a:endParaRPr>
            </a:p>
          </p:txBody>
        </p:sp>
      </p:grpSp>
      <p:grpSp>
        <p:nvGrpSpPr>
          <p:cNvPr id="34" name="Group 34"/>
          <p:cNvGrpSpPr/>
          <p:nvPr/>
        </p:nvGrpSpPr>
        <p:grpSpPr>
          <a:xfrm>
            <a:off x="9239098" y="5065776"/>
            <a:ext cx="416966" cy="548640"/>
            <a:chOff x="0" y="0"/>
            <a:chExt cx="555955" cy="731520"/>
          </a:xfrm>
        </p:grpSpPr>
        <p:sp>
          <p:nvSpPr>
            <p:cNvPr id="35" name="Freeform 35"/>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36" name="TextBox 36"/>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37" name="Group 37"/>
          <p:cNvGrpSpPr/>
          <p:nvPr/>
        </p:nvGrpSpPr>
        <p:grpSpPr>
          <a:xfrm>
            <a:off x="9656064" y="2596896"/>
            <a:ext cx="2618842" cy="5486400"/>
            <a:chOff x="0" y="0"/>
            <a:chExt cx="3491789" cy="7315200"/>
          </a:xfrm>
        </p:grpSpPr>
        <p:sp>
          <p:nvSpPr>
            <p:cNvPr id="38" name="Freeform 38" descr="/Users/choseoyoung/Desktop/itda3-CODE-subway/발표/src/img/dash_phone4.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7"/>
              <a:stretch>
                <a:fillRect l="-17" r="-18"/>
              </a:stretch>
            </a:blipFill>
          </p:spPr>
          <p:txBody>
            <a:bodyPr/>
            <a:lstStyle/>
            <a:p>
              <a:endParaRPr lang="ko-KR" altLang="en-US"/>
            </a:p>
          </p:txBody>
        </p:sp>
      </p:grpSp>
      <p:grpSp>
        <p:nvGrpSpPr>
          <p:cNvPr id="39" name="Group 39"/>
          <p:cNvGrpSpPr/>
          <p:nvPr/>
        </p:nvGrpSpPr>
        <p:grpSpPr>
          <a:xfrm>
            <a:off x="9473184" y="8119872"/>
            <a:ext cx="2984602" cy="475488"/>
            <a:chOff x="0" y="0"/>
            <a:chExt cx="3979469" cy="633984"/>
          </a:xfrm>
        </p:grpSpPr>
        <p:sp>
          <p:nvSpPr>
            <p:cNvPr id="40" name="Freeform 40"/>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41" name="TextBox 41"/>
            <p:cNvSpPr txBox="1"/>
            <p:nvPr/>
          </p:nvSpPr>
          <p:spPr>
            <a:xfrm>
              <a:off x="0" y="0"/>
              <a:ext cx="3979469" cy="633984"/>
            </a:xfrm>
            <a:prstGeom prst="rect">
              <a:avLst/>
            </a:prstGeom>
          </p:spPr>
          <p:txBody>
            <a:bodyPr lIns="0" tIns="0" rIns="0" bIns="0" rtlCol="0" anchor="ctr"/>
            <a:lstStyle/>
            <a:p>
              <a:pPr algn="ctr">
                <a:lnSpc>
                  <a:spcPts val="2279"/>
                </a:lnSpc>
              </a:pPr>
              <a:r>
                <a:rPr lang="en-US" sz="1899">
                  <a:solidFill>
                    <a:srgbClr val="1A1A1A"/>
                  </a:solidFill>
                  <a:latin typeface="프리텐다드"/>
                  <a:ea typeface="프리텐다드"/>
                  <a:cs typeface="프리텐다드"/>
                  <a:sym typeface="프리텐다드"/>
                </a:rPr>
                <a:t>④ 날짜·남은 일수·원본</a:t>
              </a:r>
            </a:p>
          </p:txBody>
        </p:sp>
      </p:grpSp>
      <p:sp>
        <p:nvSpPr>
          <p:cNvPr id="42" name="TextBox 42"/>
          <p:cNvSpPr txBox="1"/>
          <p:nvPr/>
        </p:nvSpPr>
        <p:spPr>
          <a:xfrm>
            <a:off x="12710160" y="2587371"/>
            <a:ext cx="5029200" cy="342900"/>
          </a:xfrm>
          <a:prstGeom prst="rect">
            <a:avLst/>
          </a:prstGeom>
        </p:spPr>
        <p:txBody>
          <a:bodyPr lIns="0" tIns="0" rIns="0" bIns="0" rtlCol="0" anchor="t">
            <a:spAutoFit/>
          </a:bodyPr>
          <a:lstStyle/>
          <a:p>
            <a:pPr algn="l">
              <a:lnSpc>
                <a:spcPts val="2639"/>
              </a:lnSpc>
            </a:pPr>
            <a:r>
              <a:rPr lang="en-US" sz="2199" b="1">
                <a:solidFill>
                  <a:srgbClr val="1A1A1A"/>
                </a:solidFill>
                <a:latin typeface="프리텐다드 Bold"/>
                <a:ea typeface="프리텐다드 Bold"/>
                <a:cs typeface="프리텐다드 Bold"/>
                <a:sym typeface="프리텐다드 Bold"/>
              </a:rPr>
              <a:t>모델 결과별로 판매자에게 일어나는 일</a:t>
            </a:r>
          </a:p>
        </p:txBody>
      </p:sp>
      <p:graphicFrame>
        <p:nvGraphicFramePr>
          <p:cNvPr id="43" name="Table 43"/>
          <p:cNvGraphicFramePr>
            <a:graphicFrameLocks noGrp="1"/>
          </p:cNvGraphicFramePr>
          <p:nvPr/>
        </p:nvGraphicFramePr>
        <p:xfrm>
          <a:off x="12710160" y="3182112"/>
          <a:ext cx="5003800" cy="3488692"/>
        </p:xfrm>
        <a:graphic>
          <a:graphicData uri="http://schemas.openxmlformats.org/drawingml/2006/table">
            <a:tbl>
              <a:tblPr/>
              <a:tblGrid>
                <a:gridCol w="1736319">
                  <a:extLst>
                    <a:ext uri="{9D8B030D-6E8A-4147-A177-3AD203B41FA5}">
                      <a16:colId xmlns:a16="http://schemas.microsoft.com/office/drawing/2014/main" val="20000"/>
                    </a:ext>
                  </a:extLst>
                </a:gridCol>
                <a:gridCol w="3267481">
                  <a:extLst>
                    <a:ext uri="{9D8B030D-6E8A-4147-A177-3AD203B41FA5}">
                      <a16:colId xmlns:a16="http://schemas.microsoft.com/office/drawing/2014/main" val="20001"/>
                    </a:ext>
                  </a:extLst>
                </a:gridCol>
              </a:tblGrid>
              <a:tr h="634886">
                <a:tc>
                  <a:txBody>
                    <a:bodyPr/>
                    <a:lstStyle/>
                    <a:p>
                      <a:pPr algn="l">
                        <a:lnSpc>
                          <a:spcPts val="2112"/>
                        </a:lnSpc>
                        <a:defRPr/>
                      </a:pPr>
                      <a:r>
                        <a:rPr lang="en-US" sz="1760">
                          <a:solidFill>
                            <a:srgbClr val="FFFFFF"/>
                          </a:solidFill>
                          <a:latin typeface="프리텐다드"/>
                          <a:ea typeface="프리텐다드"/>
                          <a:cs typeface="프리텐다드"/>
                          <a:sym typeface="프리텐다드"/>
                        </a:rPr>
                        <a:t>모델 결과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112"/>
                        </a:lnSpc>
                        <a:defRPr/>
                      </a:pPr>
                      <a:r>
                        <a:rPr lang="en-US" sz="1760">
                          <a:solidFill>
                            <a:srgbClr val="FFFFFF"/>
                          </a:solidFill>
                          <a:latin typeface="프리텐다드"/>
                          <a:ea typeface="프리텐다드"/>
                          <a:cs typeface="프리텐다드"/>
                          <a:sym typeface="프리텐다드"/>
                        </a:rPr>
                        <a:t>판매자에게 일어나는 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4886">
                <a:tc>
                  <a:txBody>
                    <a:bodyPr/>
                    <a:lstStyle/>
                    <a:p>
                      <a:pPr algn="l">
                        <a:lnSpc>
                          <a:spcPts val="2112"/>
                        </a:lnSpc>
                        <a:defRPr/>
                      </a:pPr>
                      <a:r>
                        <a:rPr lang="en-US" sz="1760">
                          <a:solidFill>
                            <a:srgbClr val="1A1A1A"/>
                          </a:solidFill>
                          <a:latin typeface="프리텐다드"/>
                          <a:ea typeface="프리텐다드"/>
                          <a:cs typeface="프리텐다드"/>
                          <a:sym typeface="프리텐다드"/>
                        </a:rPr>
                        <a:t>맞게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채워진 날짜를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2017">
                <a:tc>
                  <a:txBody>
                    <a:bodyPr/>
                    <a:lstStyle/>
                    <a:p>
                      <a:pPr algn="l">
                        <a:lnSpc>
                          <a:spcPts val="2112"/>
                        </a:lnSpc>
                        <a:defRPr/>
                      </a:pPr>
                      <a:r>
                        <a:rPr lang="en-US" sz="1760">
                          <a:solidFill>
                            <a:srgbClr val="1A1A1A"/>
                          </a:solidFill>
                          <a:latin typeface="프리텐다드"/>
                          <a:ea typeface="프리텐다드"/>
                          <a:cs typeface="프리텐다드"/>
                          <a:sym typeface="프리텐다드"/>
                        </a:rPr>
                        <a:t>못 읽음 · 확신 낮음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빈칸. 손으로 입력 (지금과 같음)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4886">
                <a:tc>
                  <a:txBody>
                    <a:bodyPr/>
                    <a:lstStyle/>
                    <a:p>
                      <a:pPr algn="l">
                        <a:lnSpc>
                          <a:spcPts val="2112"/>
                        </a:lnSpc>
                        <a:defRPr/>
                      </a:pPr>
                      <a:r>
                        <a:rPr lang="en-US" sz="1760">
                          <a:solidFill>
                            <a:srgbClr val="1A1A1A"/>
                          </a:solidFill>
                          <a:latin typeface="프리텐다드"/>
                          <a:ea typeface="프리텐다드"/>
                          <a:cs typeface="프리텐다드"/>
                          <a:sym typeface="프리텐다드"/>
                        </a:rPr>
                        <a:t>이르게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확대본을 보고 고침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92017">
                <a:tc>
                  <a:txBody>
                    <a:bodyPr/>
                    <a:lstStyle/>
                    <a:p>
                      <a:pPr algn="l">
                        <a:lnSpc>
                          <a:spcPts val="2112"/>
                        </a:lnSpc>
                        <a:defRPr/>
                      </a:pPr>
                      <a:r>
                        <a:rPr lang="en-US" sz="1760">
                          <a:solidFill>
                            <a:srgbClr val="8B0000"/>
                          </a:solidFill>
                          <a:latin typeface="프리텐다드"/>
                          <a:ea typeface="프리텐다드"/>
                          <a:cs typeface="프리텐다드"/>
                          <a:sym typeface="프리텐다드"/>
                        </a:rPr>
                        <a:t>늦게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확대본을 보고 고침. 안 고치면 남은 날이 많게 표시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4"/>
                  </a:ext>
                </a:extLst>
              </a:tr>
            </a:tbl>
          </a:graphicData>
        </a:graphic>
      </p:graphicFrame>
      <p:grpSp>
        <p:nvGrpSpPr>
          <p:cNvPr id="44" name="Group 44"/>
          <p:cNvGrpSpPr/>
          <p:nvPr/>
        </p:nvGrpSpPr>
        <p:grpSpPr>
          <a:xfrm>
            <a:off x="12697463" y="6900167"/>
            <a:ext cx="5054603" cy="1707899"/>
            <a:chOff x="0" y="0"/>
            <a:chExt cx="6739471" cy="2277199"/>
          </a:xfrm>
        </p:grpSpPr>
        <p:sp>
          <p:nvSpPr>
            <p:cNvPr id="45" name="Freeform 45"/>
            <p:cNvSpPr/>
            <p:nvPr/>
          </p:nvSpPr>
          <p:spPr>
            <a:xfrm>
              <a:off x="0" y="0"/>
              <a:ext cx="6739382" cy="2277110"/>
            </a:xfrm>
            <a:custGeom>
              <a:avLst/>
              <a:gdLst/>
              <a:ahLst/>
              <a:cxnLst/>
              <a:rect l="l" t="t" r="r" b="b"/>
              <a:pathLst>
                <a:path w="6739382" h="2277110">
                  <a:moveTo>
                    <a:pt x="0" y="197993"/>
                  </a:moveTo>
                  <a:cubicBezTo>
                    <a:pt x="0" y="88646"/>
                    <a:pt x="88646" y="0"/>
                    <a:pt x="197993" y="0"/>
                  </a:cubicBezTo>
                  <a:lnTo>
                    <a:pt x="6541389" y="0"/>
                  </a:lnTo>
                  <a:cubicBezTo>
                    <a:pt x="6650736" y="0"/>
                    <a:pt x="6739382" y="88646"/>
                    <a:pt x="6739382" y="197993"/>
                  </a:cubicBezTo>
                  <a:lnTo>
                    <a:pt x="6739382" y="2079117"/>
                  </a:lnTo>
                  <a:cubicBezTo>
                    <a:pt x="6739382" y="2188464"/>
                    <a:pt x="6650736" y="2277110"/>
                    <a:pt x="6541389" y="2277110"/>
                  </a:cubicBezTo>
                  <a:lnTo>
                    <a:pt x="197993" y="2277110"/>
                  </a:lnTo>
                  <a:cubicBezTo>
                    <a:pt x="88646" y="2277237"/>
                    <a:pt x="0" y="2188591"/>
                    <a:pt x="0" y="2079117"/>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6" name="Group 46"/>
          <p:cNvGrpSpPr/>
          <p:nvPr/>
        </p:nvGrpSpPr>
        <p:grpSpPr>
          <a:xfrm>
            <a:off x="12929616" y="6986016"/>
            <a:ext cx="4590288" cy="1536192"/>
            <a:chOff x="0" y="0"/>
            <a:chExt cx="6120384" cy="2048256"/>
          </a:xfrm>
        </p:grpSpPr>
        <p:sp>
          <p:nvSpPr>
            <p:cNvPr id="47" name="Freeform 47"/>
            <p:cNvSpPr/>
            <p:nvPr/>
          </p:nvSpPr>
          <p:spPr>
            <a:xfrm>
              <a:off x="0" y="0"/>
              <a:ext cx="6120384" cy="2048256"/>
            </a:xfrm>
            <a:custGeom>
              <a:avLst/>
              <a:gdLst/>
              <a:ahLst/>
              <a:cxnLst/>
              <a:rect l="l" t="t" r="r" b="b"/>
              <a:pathLst>
                <a:path w="6120384" h="2048256">
                  <a:moveTo>
                    <a:pt x="0" y="0"/>
                  </a:moveTo>
                  <a:lnTo>
                    <a:pt x="6120384" y="0"/>
                  </a:lnTo>
                  <a:lnTo>
                    <a:pt x="6120384" y="2048256"/>
                  </a:lnTo>
                  <a:lnTo>
                    <a:pt x="0" y="2048256"/>
                  </a:lnTo>
                  <a:close/>
                </a:path>
              </a:pathLst>
            </a:custGeom>
            <a:blipFill>
              <a:blip r:embed="rId3">
                <a:alphaModFix amt="0"/>
              </a:blip>
              <a:stretch>
                <a:fillRect t="-8223" b="-8223"/>
              </a:stretch>
            </a:blipFill>
          </p:spPr>
          <p:txBody>
            <a:bodyPr/>
            <a:lstStyle/>
            <a:p>
              <a:endParaRPr lang="ko-KR" altLang="en-US"/>
            </a:p>
          </p:txBody>
        </p:sp>
        <p:sp>
          <p:nvSpPr>
            <p:cNvPr id="48" name="TextBox 48"/>
            <p:cNvSpPr txBox="1"/>
            <p:nvPr/>
          </p:nvSpPr>
          <p:spPr>
            <a:xfrm>
              <a:off x="0" y="-47625"/>
              <a:ext cx="6120384" cy="2095881"/>
            </a:xfrm>
            <a:prstGeom prst="rect">
              <a:avLst/>
            </a:prstGeom>
          </p:spPr>
          <p:txBody>
            <a:bodyPr lIns="0" tIns="0" rIns="0" bIns="0" rtlCol="0" anchor="ctr"/>
            <a:lstStyle/>
            <a:p>
              <a:pPr algn="just">
                <a:lnSpc>
                  <a:spcPts val="2604"/>
                </a:lnSpc>
              </a:pPr>
              <a:r>
                <a:rPr lang="en-US" sz="1860" dirty="0" err="1">
                  <a:solidFill>
                    <a:srgbClr val="1A1A1A"/>
                  </a:solidFill>
                  <a:latin typeface="프리텐다드"/>
                  <a:ea typeface="프리텐다드"/>
                  <a:cs typeface="프리텐다드"/>
                  <a:sym typeface="프리텐다드"/>
                </a:rPr>
                <a:t>판매자가</a:t>
              </a:r>
              <a:r>
                <a:rPr lang="en-US" sz="1860" dirty="0">
                  <a:solidFill>
                    <a:srgbClr val="1A1A1A"/>
                  </a:solidFill>
                  <a:latin typeface="프리텐다드"/>
                  <a:ea typeface="프리텐다드"/>
                  <a:cs typeface="프리텐다드"/>
                  <a:sym typeface="프리텐다드"/>
                </a:rPr>
                <a:t> </a:t>
              </a:r>
              <a:r>
                <a:rPr lang="ko-KR" altLang="en-US" sz="1860" dirty="0">
                  <a:solidFill>
                    <a:srgbClr val="1A1A1A"/>
                  </a:solidFill>
                  <a:latin typeface="프리텐다드"/>
                  <a:ea typeface="프리텐다드"/>
                  <a:cs typeface="프리텐다드"/>
                  <a:sym typeface="프리텐다드"/>
                </a:rPr>
                <a:t>실제로 확인하는 한</a:t>
              </a:r>
              <a:r>
                <a:rPr lang="en-US" altLang="ko-KR" sz="1860" dirty="0">
                  <a:solidFill>
                    <a:srgbClr val="1A1A1A"/>
                  </a:solidFill>
                  <a:latin typeface="프리텐다드"/>
                  <a:ea typeface="프리텐다드"/>
                  <a:cs typeface="프리텐다드"/>
                  <a:sym typeface="프리텐다드"/>
                </a:rPr>
                <a:t>,</a:t>
              </a:r>
              <a:r>
                <a:rPr lang="ko-KR" alt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정확도는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안전성이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아니라</a:t>
              </a:r>
              <a:r>
                <a:rPr lang="en-US" sz="1860" dirty="0">
                  <a:solidFill>
                    <a:srgbClr val="1A1A1A"/>
                  </a:solidFill>
                  <a:latin typeface="프리텐다드"/>
                  <a:ea typeface="프리텐다드"/>
                  <a:cs typeface="프리텐다드"/>
                  <a:sym typeface="프리텐다드"/>
                </a:rPr>
                <a:t> </a:t>
              </a:r>
              <a:r>
                <a:rPr lang="en-US" sz="1860" b="1" dirty="0" err="1">
                  <a:solidFill>
                    <a:srgbClr val="8B0000"/>
                  </a:solidFill>
                  <a:latin typeface="프리텐다드 Bold"/>
                  <a:ea typeface="프리텐다드 Bold"/>
                  <a:cs typeface="프리텐다드 Bold"/>
                  <a:sym typeface="프리텐다드 Bold"/>
                </a:rPr>
                <a:t>자동</a:t>
              </a:r>
              <a:r>
                <a:rPr lang="en-US" sz="1860" b="1" dirty="0">
                  <a:solidFill>
                    <a:srgbClr val="8B0000"/>
                  </a:solidFill>
                  <a:latin typeface="프리텐다드 Bold"/>
                  <a:ea typeface="프리텐다드 Bold"/>
                  <a:cs typeface="프리텐다드 Bold"/>
                  <a:sym typeface="프리텐다드 Bold"/>
                </a:rPr>
                <a:t> </a:t>
              </a:r>
              <a:r>
                <a:rPr lang="en-US" sz="1860" b="1" dirty="0" err="1">
                  <a:solidFill>
                    <a:srgbClr val="8B0000"/>
                  </a:solidFill>
                  <a:latin typeface="프리텐다드 Bold"/>
                  <a:ea typeface="프리텐다드 Bold"/>
                  <a:cs typeface="프리텐다드 Bold"/>
                  <a:sym typeface="프리텐다드 Bold"/>
                </a:rPr>
                <a:t>입력</a:t>
              </a:r>
              <a:r>
                <a:rPr lang="en-US" sz="1860" b="1" dirty="0">
                  <a:solidFill>
                    <a:srgbClr val="8B0000"/>
                  </a:solidFill>
                  <a:latin typeface="프리텐다드 Bold"/>
                  <a:ea typeface="프리텐다드 Bold"/>
                  <a:cs typeface="프리텐다드 Bold"/>
                  <a:sym typeface="프리텐다드 Bold"/>
                </a:rPr>
                <a:t> </a:t>
              </a:r>
              <a:r>
                <a:rPr lang="en-US" sz="1860" b="1" dirty="0" err="1">
                  <a:solidFill>
                    <a:srgbClr val="8B0000"/>
                  </a:solidFill>
                  <a:latin typeface="프리텐다드 Bold"/>
                  <a:ea typeface="프리텐다드 Bold"/>
                  <a:cs typeface="프리텐다드 Bold"/>
                  <a:sym typeface="프리텐다드 Bold"/>
                </a:rPr>
                <a:t>비율</a:t>
              </a:r>
              <a:r>
                <a:rPr lang="en-US" sz="1860" dirty="0">
                  <a:solidFill>
                    <a:srgbClr val="1A1A1A"/>
                  </a:solidFill>
                  <a:latin typeface="프리텐다드"/>
                  <a:ea typeface="프리텐다드"/>
                  <a:cs typeface="프리텐다드"/>
                  <a:sym typeface="프리텐다드"/>
                </a:rPr>
                <a:t> 을 </a:t>
              </a:r>
              <a:r>
                <a:rPr lang="en-US" sz="1860" dirty="0" err="1">
                  <a:solidFill>
                    <a:srgbClr val="1A1A1A"/>
                  </a:solidFill>
                  <a:latin typeface="프리텐다드"/>
                  <a:ea typeface="프리텐다드"/>
                  <a:cs typeface="프리텐다드"/>
                  <a:sym typeface="프리텐다드"/>
                </a:rPr>
                <a:t>정합니다</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속이려는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소수는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기존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사후</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모니터링이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맡습니다</a:t>
              </a:r>
              <a:r>
                <a:rPr lang="en-US" sz="1860" dirty="0">
                  <a:solidFill>
                    <a:srgbClr val="1A1A1A"/>
                  </a:solidFill>
                  <a:latin typeface="프리텐다드"/>
                  <a:ea typeface="프리텐다드"/>
                  <a:cs typeface="프리텐다드"/>
                  <a:sym typeface="프리텐다드"/>
                </a:rPr>
                <a:t>.</a:t>
              </a:r>
            </a:p>
          </p:txBody>
        </p:sp>
      </p:grpSp>
      <p:grpSp>
        <p:nvGrpSpPr>
          <p:cNvPr id="49" name="Group 49"/>
          <p:cNvGrpSpPr/>
          <p:nvPr/>
        </p:nvGrpSpPr>
        <p:grpSpPr>
          <a:xfrm>
            <a:off x="535943" y="8674103"/>
            <a:ext cx="17216123" cy="793499"/>
            <a:chOff x="0" y="0"/>
            <a:chExt cx="22954831" cy="1057999"/>
          </a:xfrm>
        </p:grpSpPr>
        <p:sp>
          <p:nvSpPr>
            <p:cNvPr id="50" name="Freeform 50"/>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1" name="Group 51"/>
          <p:cNvGrpSpPr/>
          <p:nvPr/>
        </p:nvGrpSpPr>
        <p:grpSpPr>
          <a:xfrm>
            <a:off x="822960" y="8686800"/>
            <a:ext cx="16642080" cy="768096"/>
            <a:chOff x="0" y="0"/>
            <a:chExt cx="22189440" cy="1024128"/>
          </a:xfrm>
        </p:grpSpPr>
        <p:sp>
          <p:nvSpPr>
            <p:cNvPr id="52" name="Freeform 52"/>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3" name="TextBox 53"/>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포장</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판독과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자동</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입력은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있습니다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저희는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둘을</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잇는</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빈자리</a:t>
              </a:r>
              <a:r>
                <a:rPr lang="en-US" sz="2499" dirty="0">
                  <a:solidFill>
                    <a:srgbClr val="1A1A1A"/>
                  </a:solidFill>
                  <a:latin typeface="프리텐다드"/>
                  <a:ea typeface="프리텐다드"/>
                  <a:cs typeface="프리텐다드"/>
                  <a:sym typeface="프리텐다드"/>
                </a:rPr>
                <a:t> 를 </a:t>
              </a:r>
              <a:r>
                <a:rPr lang="en-US" sz="2499" dirty="0" err="1">
                  <a:solidFill>
                    <a:srgbClr val="1A1A1A"/>
                  </a:solidFill>
                  <a:latin typeface="프리텐다드"/>
                  <a:ea typeface="프리텐다드"/>
                  <a:cs typeface="프리텐다드"/>
                  <a:sym typeface="프리텐다드"/>
                </a:rPr>
                <a:t>채웁니다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운영 구조와 비용 : </a:t>
              </a:r>
              <a:r>
                <a:rPr lang="en-US" sz="3800" b="1">
                  <a:solidFill>
                    <a:srgbClr val="8B0000"/>
                  </a:solidFill>
                  <a:latin typeface="프리텐다드 Bold"/>
                  <a:ea typeface="프리텐다드 Bold"/>
                  <a:cs typeface="프리텐다드 Bold"/>
                  <a:sym typeface="프리텐다드 Bold"/>
                </a:rPr>
                <a:t>건당 0.2 ~ 5.8원, 도입 이유는 규제 대응</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17</a:t>
              </a:r>
            </a:p>
          </p:txBody>
        </p:sp>
      </p:grpSp>
      <p:graphicFrame>
        <p:nvGraphicFramePr>
          <p:cNvPr id="11" name="Table 11"/>
          <p:cNvGraphicFramePr>
            <a:graphicFrameLocks noGrp="1"/>
          </p:cNvGraphicFramePr>
          <p:nvPr/>
        </p:nvGraphicFramePr>
        <p:xfrm>
          <a:off x="548640" y="1828800"/>
          <a:ext cx="10236200" cy="3657600"/>
        </p:xfrm>
        <a:graphic>
          <a:graphicData uri="http://schemas.openxmlformats.org/drawingml/2006/table">
            <a:tbl>
              <a:tblPr/>
              <a:tblGrid>
                <a:gridCol w="1844133">
                  <a:extLst>
                    <a:ext uri="{9D8B030D-6E8A-4147-A177-3AD203B41FA5}">
                      <a16:colId xmlns:a16="http://schemas.microsoft.com/office/drawing/2014/main" val="20000"/>
                    </a:ext>
                  </a:extLst>
                </a:gridCol>
                <a:gridCol w="8392067">
                  <a:extLst>
                    <a:ext uri="{9D8B030D-6E8A-4147-A177-3AD203B41FA5}">
                      <a16:colId xmlns:a16="http://schemas.microsoft.com/office/drawing/2014/main" val="20001"/>
                    </a:ext>
                  </a:extLst>
                </a:gridCol>
              </a:tblGrid>
              <a:tr h="609600">
                <a:tc>
                  <a:txBody>
                    <a:bodyPr/>
                    <a:lstStyle/>
                    <a:p>
                      <a:pPr algn="l">
                        <a:lnSpc>
                          <a:spcPts val="2351"/>
                        </a:lnSpc>
                        <a:defRPr/>
                      </a:pPr>
                      <a:r>
                        <a:rPr lang="en-US" sz="1959">
                          <a:solidFill>
                            <a:srgbClr val="FFFFFF"/>
                          </a:solidFill>
                          <a:latin typeface="프리텐다드"/>
                          <a:ea typeface="프리텐다드"/>
                          <a:cs typeface="프리텐다드"/>
                          <a:sym typeface="프리텐다드"/>
                        </a:rPr>
                        <a:t>항목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내용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1차 대상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건강기능식품 카테고리 (미개봉 · 소비기한 이내 · 연 10회 이하)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규모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게시글 월 약 2.4만 건, 하루 약 800건 (식약처 자료)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구조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플랫폼 서버에서 추론. 모델 21MB, CPU 전용, 10초 제한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서버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하루 53분 ~ 2.4시간 = 서버 1대의 4 ~ 10%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비용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게시글 한 건당 0.2 ~ 5.8원. 라이선스·GPU·학습비 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pSp>
        <p:nvGrpSpPr>
          <p:cNvPr id="12" name="Group 12"/>
          <p:cNvGrpSpPr/>
          <p:nvPr/>
        </p:nvGrpSpPr>
        <p:grpSpPr>
          <a:xfrm>
            <a:off x="11142983" y="1816103"/>
            <a:ext cx="6609083" cy="3774443"/>
            <a:chOff x="0" y="0"/>
            <a:chExt cx="8812111" cy="5032591"/>
          </a:xfrm>
        </p:grpSpPr>
        <p:sp>
          <p:nvSpPr>
            <p:cNvPr id="13" name="Freeform 13"/>
            <p:cNvSpPr/>
            <p:nvPr/>
          </p:nvSpPr>
          <p:spPr>
            <a:xfrm>
              <a:off x="0" y="0"/>
              <a:ext cx="8812023" cy="5032502"/>
            </a:xfrm>
            <a:custGeom>
              <a:avLst/>
              <a:gdLst/>
              <a:ahLst/>
              <a:cxnLst/>
              <a:rect l="l" t="t" r="r" b="b"/>
              <a:pathLst>
                <a:path w="8812023" h="5032502">
                  <a:moveTo>
                    <a:pt x="0" y="196342"/>
                  </a:moveTo>
                  <a:cubicBezTo>
                    <a:pt x="0" y="87884"/>
                    <a:pt x="87884" y="0"/>
                    <a:pt x="196342" y="0"/>
                  </a:cubicBezTo>
                  <a:lnTo>
                    <a:pt x="8615680" y="0"/>
                  </a:lnTo>
                  <a:cubicBezTo>
                    <a:pt x="8724138" y="0"/>
                    <a:pt x="8812023" y="87884"/>
                    <a:pt x="8812023" y="196342"/>
                  </a:cubicBezTo>
                  <a:lnTo>
                    <a:pt x="8812023" y="4836160"/>
                  </a:lnTo>
                  <a:cubicBezTo>
                    <a:pt x="8812023" y="4944618"/>
                    <a:pt x="8724138" y="5032502"/>
                    <a:pt x="8615680" y="5032502"/>
                  </a:cubicBezTo>
                  <a:lnTo>
                    <a:pt x="196342" y="5032502"/>
                  </a:lnTo>
                  <a:cubicBezTo>
                    <a:pt x="87884" y="5032629"/>
                    <a:pt x="0" y="4944618"/>
                    <a:pt x="0" y="4836160"/>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11430005" y="2293625"/>
            <a:ext cx="60350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도입 이유 : 비용 절감이 아닙니다</a:t>
            </a:r>
          </a:p>
        </p:txBody>
      </p:sp>
      <p:sp>
        <p:nvSpPr>
          <p:cNvPr id="15" name="TextBox 15"/>
          <p:cNvSpPr txBox="1"/>
          <p:nvPr/>
        </p:nvSpPr>
        <p:spPr>
          <a:xfrm>
            <a:off x="11430000" y="2731775"/>
            <a:ext cx="5829300" cy="2329307"/>
          </a:xfrm>
          <a:prstGeom prst="rect">
            <a:avLst/>
          </a:prstGeom>
        </p:spPr>
        <p:txBody>
          <a:bodyPr lIns="0" tIns="0" rIns="0" bIns="0" rtlCol="0" anchor="t">
            <a:spAutoFit/>
          </a:bodyPr>
          <a:lstStyle/>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위반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처리비</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절감으로는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본전이</a:t>
            </a:r>
            <a:r>
              <a:rPr lang="en-US" sz="1959" dirty="0">
                <a:solidFill>
                  <a:srgbClr val="1A1A1A"/>
                </a:solidFill>
                <a:latin typeface="프리텐다드"/>
                <a:ea typeface="프리텐다드"/>
                <a:cs typeface="프리텐다드"/>
                <a:sym typeface="프리텐다드"/>
              </a:rPr>
              <a:t> 안 </a:t>
            </a:r>
            <a:r>
              <a:rPr lang="en-US" sz="1959" dirty="0" err="1">
                <a:solidFill>
                  <a:srgbClr val="1A1A1A"/>
                </a:solidFill>
                <a:latin typeface="프리텐다드"/>
                <a:ea typeface="프리텐다드"/>
                <a:cs typeface="프리텐다드"/>
                <a:sym typeface="프리텐다드"/>
              </a:rPr>
              <a:t>됩니다</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손익분기</a:t>
            </a:r>
            <a:r>
              <a:rPr lang="en-US" sz="1959" dirty="0">
                <a:solidFill>
                  <a:srgbClr val="1A1A1A"/>
                </a:solidFill>
                <a:latin typeface="프리텐다드"/>
                <a:ea typeface="프리텐다드"/>
                <a:cs typeface="프리텐다드"/>
                <a:sym typeface="프리텐다드"/>
              </a:rPr>
              <a:t> 780 ~ 1,900원, </a:t>
            </a:r>
            <a:r>
              <a:rPr lang="en-US" sz="1959" dirty="0" err="1">
                <a:solidFill>
                  <a:srgbClr val="1A1A1A"/>
                </a:solidFill>
                <a:latin typeface="프리텐다드"/>
                <a:ea typeface="프리텐다드"/>
                <a:cs typeface="프리텐다드"/>
                <a:sym typeface="프리텐다드"/>
              </a:rPr>
              <a:t>사람</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검토는</a:t>
            </a:r>
            <a:r>
              <a:rPr lang="en-US" sz="1959" dirty="0">
                <a:solidFill>
                  <a:srgbClr val="1A1A1A"/>
                </a:solidFill>
                <a:latin typeface="프리텐다드"/>
                <a:ea typeface="프리텐다드"/>
                <a:cs typeface="프리텐다드"/>
                <a:sym typeface="프리텐다드"/>
              </a:rPr>
              <a:t> 약 86원 (</a:t>
            </a:r>
            <a:r>
              <a:rPr lang="en-US" sz="1959" dirty="0" err="1">
                <a:solidFill>
                  <a:srgbClr val="1A1A1A"/>
                </a:solidFill>
                <a:latin typeface="프리텐다드"/>
                <a:ea typeface="프리텐다드"/>
                <a:cs typeface="프리텐다드"/>
                <a:sym typeface="프리텐다드"/>
              </a:rPr>
              <a:t>가정</a:t>
            </a:r>
            <a:r>
              <a:rPr lang="en-US" sz="1959" dirty="0">
                <a:solidFill>
                  <a:srgbClr val="1A1A1A"/>
                </a:solidFill>
                <a:latin typeface="프리텐다드"/>
                <a:ea typeface="프리텐다드"/>
                <a:cs typeface="프리텐다드"/>
                <a:sym typeface="프리텐다드"/>
              </a:rPr>
              <a:t>)</a:t>
            </a:r>
          </a:p>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건강기능식품</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개인</a:t>
            </a:r>
            <a:r>
              <a:rPr lang="en-US" sz="1959" dirty="0">
                <a:solidFill>
                  <a:srgbClr val="1A1A1A"/>
                </a:solidFill>
                <a:latin typeface="프리텐다드"/>
                <a:ea typeface="프리텐다드"/>
                <a:cs typeface="프리텐다드"/>
                <a:sym typeface="프리텐다드"/>
              </a:rPr>
              <a:t> 간 </a:t>
            </a:r>
            <a:r>
              <a:rPr lang="en-US" sz="1959" dirty="0" err="1">
                <a:solidFill>
                  <a:srgbClr val="1A1A1A"/>
                </a:solidFill>
                <a:latin typeface="프리텐다드"/>
                <a:ea typeface="프리텐다드"/>
                <a:cs typeface="프리텐다드"/>
                <a:sym typeface="프리텐다드"/>
              </a:rPr>
              <a:t>거래는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시범사업</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게시글마다</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남는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사진과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판독</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기록이</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관리</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체계의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증거</a:t>
            </a:r>
            <a:endParaRPr lang="en-US" sz="1959" dirty="0">
              <a:solidFill>
                <a:srgbClr val="1A1A1A"/>
              </a:solidFill>
              <a:latin typeface="프리텐다드"/>
              <a:ea typeface="프리텐다드"/>
              <a:cs typeface="프리텐다드"/>
              <a:sym typeface="프리텐다드"/>
            </a:endParaRPr>
          </a:p>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남은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일수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표시·자동</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숨김은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날짜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칸만으로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되므로</a:t>
            </a:r>
            <a:r>
              <a:rPr lang="en-US" sz="1959" dirty="0">
                <a:solidFill>
                  <a:srgbClr val="1A1A1A"/>
                </a:solidFill>
                <a:latin typeface="프리텐다드"/>
                <a:ea typeface="프리텐다드"/>
                <a:cs typeface="프리텐다드"/>
                <a:sym typeface="프리텐다드"/>
              </a:rPr>
              <a:t> OCR </a:t>
            </a:r>
            <a:r>
              <a:rPr lang="en-US" sz="1959" dirty="0" err="1">
                <a:solidFill>
                  <a:srgbClr val="1A1A1A"/>
                </a:solidFill>
                <a:latin typeface="프리텐다드"/>
                <a:ea typeface="프리텐다드"/>
                <a:cs typeface="프리텐다드"/>
                <a:sym typeface="프리텐다드"/>
              </a:rPr>
              <a:t>효과로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세지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않았습니다</a:t>
            </a:r>
            <a:r>
              <a:rPr lang="en-US" sz="1959" dirty="0">
                <a:solidFill>
                  <a:srgbClr val="1A1A1A"/>
                </a:solidFill>
                <a:latin typeface="프리텐다드"/>
                <a:ea typeface="프리텐다드"/>
                <a:cs typeface="프리텐다드"/>
                <a:sym typeface="프리텐다드"/>
              </a:rPr>
              <a:t>.</a:t>
            </a:r>
          </a:p>
        </p:txBody>
      </p:sp>
      <p:sp>
        <p:nvSpPr>
          <p:cNvPr id="16" name="TextBox 16"/>
          <p:cNvSpPr txBox="1"/>
          <p:nvPr/>
        </p:nvSpPr>
        <p:spPr>
          <a:xfrm>
            <a:off x="548640" y="5751195"/>
            <a:ext cx="1719072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자동 입력 기준 (직접 찍은 폰 사진 389장 실측)</a:t>
            </a:r>
          </a:p>
        </p:txBody>
      </p:sp>
      <p:graphicFrame>
        <p:nvGraphicFramePr>
          <p:cNvPr id="17" name="Table 17"/>
          <p:cNvGraphicFramePr>
            <a:graphicFrameLocks noGrp="1"/>
          </p:cNvGraphicFramePr>
          <p:nvPr>
            <p:extLst>
              <p:ext uri="{D42A27DB-BD31-4B8C-83A1-F6EECF244321}">
                <p14:modId xmlns:p14="http://schemas.microsoft.com/office/powerpoint/2010/main" val="2418098052"/>
              </p:ext>
            </p:extLst>
          </p:nvPr>
        </p:nvGraphicFramePr>
        <p:xfrm>
          <a:off x="548640" y="6272784"/>
          <a:ext cx="17170400" cy="2768600"/>
        </p:xfrm>
        <a:graphic>
          <a:graphicData uri="http://schemas.openxmlformats.org/drawingml/2006/table">
            <a:tbl>
              <a:tblPr/>
              <a:tblGrid>
                <a:gridCol w="6199301">
                  <a:extLst>
                    <a:ext uri="{9D8B030D-6E8A-4147-A177-3AD203B41FA5}">
                      <a16:colId xmlns:a16="http://schemas.microsoft.com/office/drawing/2014/main" val="20000"/>
                    </a:ext>
                  </a:extLst>
                </a:gridCol>
                <a:gridCol w="3657033">
                  <a:extLst>
                    <a:ext uri="{9D8B030D-6E8A-4147-A177-3AD203B41FA5}">
                      <a16:colId xmlns:a16="http://schemas.microsoft.com/office/drawing/2014/main" val="20001"/>
                    </a:ext>
                  </a:extLst>
                </a:gridCol>
                <a:gridCol w="3657033">
                  <a:extLst>
                    <a:ext uri="{9D8B030D-6E8A-4147-A177-3AD203B41FA5}">
                      <a16:colId xmlns:a16="http://schemas.microsoft.com/office/drawing/2014/main" val="20002"/>
                    </a:ext>
                  </a:extLst>
                </a:gridCol>
                <a:gridCol w="3657033">
                  <a:extLst>
                    <a:ext uri="{9D8B030D-6E8A-4147-A177-3AD203B41FA5}">
                      <a16:colId xmlns:a16="http://schemas.microsoft.com/office/drawing/2014/main" val="20003"/>
                    </a:ext>
                  </a:extLst>
                </a:gridCol>
              </a:tblGrid>
              <a:tr h="553720">
                <a:tc>
                  <a:txBody>
                    <a:bodyPr/>
                    <a:lstStyle/>
                    <a:p>
                      <a:pPr algn="l">
                        <a:lnSpc>
                          <a:spcPts val="2304"/>
                        </a:lnSpc>
                        <a:defRPr/>
                      </a:pPr>
                      <a:r>
                        <a:rPr lang="en-US" sz="1920">
                          <a:solidFill>
                            <a:srgbClr val="FFFFFF"/>
                          </a:solidFill>
                          <a:latin typeface="프리텐다드"/>
                          <a:ea typeface="프리텐다드"/>
                          <a:cs typeface="프리텐다드"/>
                          <a:sym typeface="프리텐다드"/>
                        </a:rPr>
                        <a:t>자동 입력 기준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채워지는 비율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채운 값의 정확도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틀린 값을 받는 판매자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기준 없음 (읽히면 채움)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0.7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44.7%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77.0%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0.7 이상 + 10초 제한 (운영 기준)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40.6%</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79.7%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8.2%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0.9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16.5%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87.5%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a:solidFill>
                            <a:srgbClr val="1A1A1A"/>
                          </a:solidFill>
                          <a:latin typeface="프리텐다드"/>
                          <a:ea typeface="프리텐다드"/>
                          <a:cs typeface="프리텐다드"/>
                          <a:sym typeface="프리텐다드"/>
                        </a:rPr>
                        <a:t>2.1%</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23" name="Group 22">
            <a:extLst>
              <a:ext uri="{FF2B5EF4-FFF2-40B4-BE49-F238E27FC236}">
                <a16:creationId xmlns:a16="http://schemas.microsoft.com/office/drawing/2014/main" id="{06427C52-EDF6-4790-2BCF-99949C5618FA}"/>
              </a:ext>
            </a:extLst>
          </p:cNvPr>
          <p:cNvGrpSpPr/>
          <p:nvPr/>
        </p:nvGrpSpPr>
        <p:grpSpPr>
          <a:xfrm>
            <a:off x="535943" y="9196196"/>
            <a:ext cx="17216123" cy="793499"/>
            <a:chOff x="535943" y="8674098"/>
            <a:chExt cx="17216123" cy="793499"/>
          </a:xfrm>
        </p:grpSpPr>
        <p:grpSp>
          <p:nvGrpSpPr>
            <p:cNvPr id="18" name="Group 18"/>
            <p:cNvGrpSpPr/>
            <p:nvPr/>
          </p:nvGrpSpPr>
          <p:grpSpPr>
            <a:xfrm>
              <a:off x="535943" y="8674098"/>
              <a:ext cx="17216123" cy="793499"/>
              <a:chOff x="0" y="0"/>
              <a:chExt cx="22954831" cy="1057999"/>
            </a:xfrm>
          </p:grpSpPr>
          <p:sp>
            <p:nvSpPr>
              <p:cNvPr id="19" name="Freeform 19"/>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21" name="Freeform 21"/>
            <p:cNvSpPr/>
            <p:nvPr/>
          </p:nvSpPr>
          <p:spPr>
            <a:xfrm>
              <a:off x="822960" y="8686800"/>
              <a:ext cx="16642079" cy="768096"/>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2" name="TextBox 22"/>
            <p:cNvSpPr txBox="1"/>
            <p:nvPr/>
          </p:nvSpPr>
          <p:spPr>
            <a:xfrm>
              <a:off x="822960" y="8686795"/>
              <a:ext cx="16642080" cy="768096"/>
            </a:xfrm>
            <a:prstGeom prst="rect">
              <a:avLst/>
            </a:prstGeom>
          </p:spPr>
          <p:txBody>
            <a:bodyPr lIns="0" tIns="0" rIns="0" bIns="0" rtlCol="0" anchor="ctr"/>
            <a:lstStyle/>
            <a:p>
              <a:pPr algn="ctr">
                <a:lnSpc>
                  <a:spcPts val="2999"/>
                </a:lnSpc>
              </a:pPr>
              <a:r>
                <a:rPr lang="en-US" sz="2499" dirty="0">
                  <a:solidFill>
                    <a:srgbClr val="1A1A1A"/>
                  </a:solidFill>
                  <a:latin typeface="프리텐다드"/>
                  <a:ea typeface="프리텐다드"/>
                  <a:cs typeface="프리텐다드"/>
                  <a:sym typeface="프리텐다드"/>
                </a:rPr>
                <a:t>OCR 이 </a:t>
              </a:r>
              <a:r>
                <a:rPr lang="en-US" sz="2499" dirty="0" err="1">
                  <a:solidFill>
                    <a:srgbClr val="1A1A1A"/>
                  </a:solidFill>
                  <a:latin typeface="프리텐다드"/>
                  <a:ea typeface="프리텐다드"/>
                  <a:cs typeface="프리텐다드"/>
                  <a:sym typeface="프리텐다드"/>
                </a:rPr>
                <a:t>있어야</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하는</a:t>
              </a:r>
              <a:r>
                <a:rPr lang="en-US" sz="2499" dirty="0">
                  <a:solidFill>
                    <a:srgbClr val="1A1A1A"/>
                  </a:solidFill>
                  <a:latin typeface="프리텐다드"/>
                  <a:ea typeface="프리텐다드"/>
                  <a:cs typeface="프리텐다드"/>
                  <a:sym typeface="프리텐다드"/>
                </a:rPr>
                <a:t> 것 : </a:t>
              </a:r>
              <a:r>
                <a:rPr lang="en-US" sz="2499" b="1" dirty="0" err="1">
                  <a:solidFill>
                    <a:srgbClr val="8B0000"/>
                  </a:solidFill>
                  <a:latin typeface="프리텐다드 Bold"/>
                  <a:ea typeface="프리텐다드 Bold"/>
                  <a:cs typeface="프리텐다드 Bold"/>
                  <a:sym typeface="프리텐다드 Bold"/>
                </a:rPr>
                <a:t>입력값과</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사진의</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대조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날짜면이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찍혔는지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확인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자동</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입력과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수정값</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축적</a:t>
              </a:r>
              <a:endParaRPr lang="en-US" sz="2499" dirty="0">
                <a:solidFill>
                  <a:srgbClr val="1A1A1A"/>
                </a:solidFill>
                <a:latin typeface="프리텐다드"/>
                <a:ea typeface="프리텐다드"/>
                <a:cs typeface="프리텐다드"/>
                <a:sym typeface="프리텐다드"/>
              </a:endParaRPr>
            </a:p>
          </p:txBody>
        </p:sp>
      </p:grpSp>
      <p:sp>
        <p:nvSpPr>
          <p:cNvPr id="25" name="TextBox 24">
            <a:extLst>
              <a:ext uri="{FF2B5EF4-FFF2-40B4-BE49-F238E27FC236}">
                <a16:creationId xmlns:a16="http://schemas.microsoft.com/office/drawing/2014/main" id="{996E431B-2ACA-3D14-9326-4A6BFE6FFA4A}"/>
              </a:ext>
            </a:extLst>
          </p:cNvPr>
          <p:cNvSpPr txBox="1"/>
          <p:nvPr/>
        </p:nvSpPr>
        <p:spPr>
          <a:xfrm>
            <a:off x="6324600" y="5745291"/>
            <a:ext cx="9144000" cy="353943"/>
          </a:xfrm>
          <a:prstGeom prst="rect">
            <a:avLst/>
          </a:prstGeom>
          <a:noFill/>
        </p:spPr>
        <p:txBody>
          <a:bodyPr wrap="square">
            <a:spAutoFit/>
          </a:bodyPr>
          <a:lstStyle/>
          <a:p>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389</a:t>
            </a:r>
            <a:r>
              <a:rPr lang="ko-KR" altLang="en-US" sz="1700" dirty="0">
                <a:solidFill>
                  <a:srgbClr val="6B6B6B"/>
                </a:solidFill>
                <a:latin typeface="프리텐다드"/>
                <a:ea typeface="프리텐다드"/>
                <a:cs typeface="프리텐다드"/>
                <a:sym typeface="프리텐다드"/>
              </a:rPr>
              <a:t>장은 어려운 유형 위주라 </a:t>
            </a:r>
            <a:r>
              <a:rPr lang="ko-KR" altLang="en-US" sz="1700" b="1" dirty="0">
                <a:solidFill>
                  <a:srgbClr val="6B6B6B"/>
                </a:solidFill>
                <a:latin typeface="프리텐다드"/>
                <a:ea typeface="프리텐다드"/>
                <a:cs typeface="프리텐다드"/>
                <a:sym typeface="프리텐다드"/>
              </a:rPr>
              <a:t>보수적 추정치임 </a:t>
            </a:r>
            <a:endParaRPr lang="en-KR"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운영 아키텍처 : </a:t>
              </a:r>
              <a:r>
                <a:rPr lang="en-US" sz="3800" b="1">
                  <a:solidFill>
                    <a:srgbClr val="8B0000"/>
                  </a:solidFill>
                  <a:latin typeface="프리텐다드 Bold"/>
                  <a:ea typeface="프리텐다드 Bold"/>
                  <a:cs typeface="프리텐다드 Bold"/>
                  <a:sym typeface="프리텐다드 Bold"/>
                </a:rPr>
                <a:t>서버는 지금, 온디바이스는 다음 단계</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18</a:t>
              </a:r>
            </a:p>
          </p:txBody>
        </p:sp>
      </p:grpSp>
      <p:grpSp>
        <p:nvGrpSpPr>
          <p:cNvPr id="11" name="Group 11"/>
          <p:cNvGrpSpPr/>
          <p:nvPr/>
        </p:nvGrpSpPr>
        <p:grpSpPr>
          <a:xfrm>
            <a:off x="535943" y="2847917"/>
            <a:ext cx="8437883" cy="4591166"/>
            <a:chOff x="0" y="0"/>
            <a:chExt cx="11250511" cy="6121555"/>
          </a:xfrm>
        </p:grpSpPr>
        <p:grpSp>
          <p:nvGrpSpPr>
            <p:cNvPr id="12" name="Group 12"/>
            <p:cNvGrpSpPr/>
            <p:nvPr/>
          </p:nvGrpSpPr>
          <p:grpSpPr>
            <a:xfrm>
              <a:off x="0" y="0"/>
              <a:ext cx="11250511" cy="6121555"/>
              <a:chOff x="0" y="0"/>
              <a:chExt cx="11250511" cy="6121555"/>
            </a:xfrm>
          </p:grpSpPr>
          <p:sp>
            <p:nvSpPr>
              <p:cNvPr id="13" name="Freeform 13"/>
              <p:cNvSpPr/>
              <p:nvPr/>
            </p:nvSpPr>
            <p:spPr>
              <a:xfrm>
                <a:off x="0" y="0"/>
                <a:ext cx="11250422" cy="6121488"/>
              </a:xfrm>
              <a:custGeom>
                <a:avLst/>
                <a:gdLst/>
                <a:ahLst/>
                <a:cxnLst/>
                <a:rect l="l" t="t" r="r" b="b"/>
                <a:pathLst>
                  <a:path w="11250422" h="6121488">
                    <a:moveTo>
                      <a:pt x="0" y="146151"/>
                    </a:moveTo>
                    <a:cubicBezTo>
                      <a:pt x="0" y="65493"/>
                      <a:pt x="87757" y="0"/>
                      <a:pt x="195834" y="0"/>
                    </a:cubicBezTo>
                    <a:lnTo>
                      <a:pt x="11054588" y="0"/>
                    </a:lnTo>
                    <a:cubicBezTo>
                      <a:pt x="11162792" y="0"/>
                      <a:pt x="11250422" y="65493"/>
                      <a:pt x="11250422" y="146151"/>
                    </a:cubicBezTo>
                    <a:lnTo>
                      <a:pt x="11250422" y="5975337"/>
                    </a:lnTo>
                    <a:cubicBezTo>
                      <a:pt x="11250422" y="6056090"/>
                      <a:pt x="11162665" y="6121488"/>
                      <a:pt x="11054588" y="6121488"/>
                    </a:cubicBezTo>
                    <a:lnTo>
                      <a:pt x="195834" y="6121488"/>
                    </a:lnTo>
                    <a:cubicBezTo>
                      <a:pt x="87757" y="6121593"/>
                      <a:pt x="0" y="6056090"/>
                      <a:pt x="0" y="597533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382689" y="251244"/>
              <a:ext cx="10485120" cy="530225"/>
            </a:xfrm>
            <a:prstGeom prst="rect">
              <a:avLst/>
            </a:prstGeom>
          </p:spPr>
          <p:txBody>
            <a:bodyPr lIns="0" tIns="0" rIns="0" bIns="0" rtlCol="0" anchor="t">
              <a:spAutoFit/>
            </a:bodyPr>
            <a:lstStyle/>
            <a:p>
              <a:pPr algn="l">
                <a:lnSpc>
                  <a:spcPts val="3120"/>
                </a:lnSpc>
              </a:pPr>
              <a:r>
                <a:rPr lang="ko-KR" altLang="en-US" sz="2600" b="1" dirty="0">
                  <a:solidFill>
                    <a:srgbClr val="8B0000"/>
                  </a:solidFill>
                  <a:latin typeface="프리텐다드 Bold"/>
                  <a:ea typeface="프리텐다드 Bold"/>
                  <a:cs typeface="프리텐다드 Bold"/>
                  <a:sym typeface="프리텐다드 Bold"/>
                </a:rPr>
                <a:t>현재</a:t>
              </a:r>
              <a:r>
                <a:rPr lang="en-US" sz="2600" b="1" dirty="0">
                  <a:solidFill>
                    <a:srgbClr val="8B0000"/>
                  </a:solidFill>
                  <a:latin typeface="프리텐다드 Bold"/>
                  <a:ea typeface="프리텐다드 Bold"/>
                  <a:cs typeface="프리텐다드 Bold"/>
                  <a:sym typeface="프리텐다드 Bold"/>
                </a:rPr>
                <a:t> — </a:t>
              </a:r>
              <a:r>
                <a:rPr lang="en-US" sz="2600" b="1" dirty="0" err="1">
                  <a:solidFill>
                    <a:srgbClr val="8B0000"/>
                  </a:solidFill>
                  <a:latin typeface="프리텐다드 Bold"/>
                  <a:ea typeface="프리텐다드 Bold"/>
                  <a:cs typeface="프리텐다드 Bold"/>
                  <a:sym typeface="프리텐다드 Bold"/>
                </a:rPr>
                <a:t>서버</a:t>
              </a:r>
              <a:r>
                <a:rPr lang="en-US" sz="2600" b="1" dirty="0">
                  <a:solidFill>
                    <a:srgbClr val="8B0000"/>
                  </a:solidFill>
                  <a:latin typeface="프리텐다드 Bold"/>
                  <a:ea typeface="프리텐다드 Bold"/>
                  <a:cs typeface="프리텐다드 Bold"/>
                  <a:sym typeface="프리텐다드 Bold"/>
                </a:rPr>
                <a:t> </a:t>
              </a:r>
              <a:r>
                <a:rPr lang="en-US" sz="2600" b="1" dirty="0" err="1">
                  <a:solidFill>
                    <a:srgbClr val="8B0000"/>
                  </a:solidFill>
                  <a:latin typeface="프리텐다드 Bold"/>
                  <a:ea typeface="프리텐다드 Bold"/>
                  <a:cs typeface="프리텐다드 Bold"/>
                  <a:sym typeface="프리텐다드 Bold"/>
                </a:rPr>
                <a:t>추론</a:t>
              </a:r>
              <a:endParaRPr lang="en-US" sz="2600" b="1" dirty="0">
                <a:solidFill>
                  <a:srgbClr val="8B0000"/>
                </a:solidFill>
                <a:latin typeface="프리텐다드 Bold"/>
                <a:ea typeface="프리텐다드 Bold"/>
                <a:cs typeface="프리텐다드 Bold"/>
                <a:sym typeface="프리텐다드 Bold"/>
              </a:endParaRPr>
            </a:p>
          </p:txBody>
        </p:sp>
        <p:sp>
          <p:nvSpPr>
            <p:cNvPr id="15" name="TextBox 15"/>
            <p:cNvSpPr txBox="1"/>
            <p:nvPr/>
          </p:nvSpPr>
          <p:spPr>
            <a:xfrm>
              <a:off x="382689" y="1043343"/>
              <a:ext cx="10485120" cy="4720354"/>
            </a:xfrm>
            <a:prstGeom prst="rect">
              <a:avLst/>
            </a:prstGeom>
          </p:spPr>
          <p:txBody>
            <a:bodyPr lIns="0" tIns="0" rIns="0" bIns="0" rtlCol="0" anchor="t">
              <a:spAutoFit/>
            </a:bodyPr>
            <a:lstStyle/>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판매자가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제목·가격을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동안</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읽습니다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확신도</a:t>
              </a:r>
              <a:r>
                <a:rPr lang="ko-KR" altLang="en-US" sz="2499" dirty="0">
                  <a:solidFill>
                    <a:srgbClr val="1A1A1A"/>
                  </a:solidFill>
                  <a:latin typeface="프리텐다드"/>
                  <a:ea typeface="프리텐다드"/>
                  <a:cs typeface="프리텐다드"/>
                  <a:sym typeface="프리텐다드"/>
                </a:rPr>
                <a:t>가 </a:t>
              </a:r>
              <a:r>
                <a:rPr lang="en-US" sz="2499" dirty="0">
                  <a:solidFill>
                    <a:srgbClr val="1A1A1A"/>
                  </a:solidFill>
                  <a:latin typeface="프리텐다드"/>
                  <a:ea typeface="프리텐다드"/>
                  <a:cs typeface="프리텐다드"/>
                  <a:sym typeface="프리텐다드"/>
                </a:rPr>
                <a:t>0.7 </a:t>
              </a:r>
              <a:r>
                <a:rPr lang="en-US" sz="2499" dirty="0" err="1">
                  <a:solidFill>
                    <a:srgbClr val="1A1A1A"/>
                  </a:solidFill>
                  <a:latin typeface="프리텐다드"/>
                  <a:ea typeface="프리텐다드"/>
                  <a:cs typeface="프리텐다드"/>
                  <a:sym typeface="프리텐다드"/>
                </a:rPr>
                <a:t>이상</a:t>
              </a:r>
              <a:r>
                <a:rPr lang="ko-KR" altLang="en-US" sz="2499" dirty="0">
                  <a:solidFill>
                    <a:srgbClr val="1A1A1A"/>
                  </a:solidFill>
                  <a:latin typeface="프리텐다드"/>
                  <a:ea typeface="프리텐다드"/>
                  <a:cs typeface="프리텐다드"/>
                  <a:sym typeface="프리텐다드"/>
                </a:rPr>
                <a:t>이며</a:t>
              </a:r>
              <a:r>
                <a:rPr lang="en-US" sz="2499" dirty="0">
                  <a:solidFill>
                    <a:srgbClr val="1A1A1A"/>
                  </a:solidFill>
                  <a:latin typeface="프리텐다드"/>
                  <a:ea typeface="프리텐다드"/>
                  <a:cs typeface="프리텐다드"/>
                  <a:sym typeface="프리텐다드"/>
                </a:rPr>
                <a:t> 10초 </a:t>
              </a:r>
              <a:r>
                <a:rPr lang="en-US" sz="2499" dirty="0" err="1">
                  <a:solidFill>
                    <a:srgbClr val="1A1A1A"/>
                  </a:solidFill>
                  <a:latin typeface="프리텐다드"/>
                  <a:ea typeface="프리텐다드"/>
                  <a:cs typeface="프리텐다드"/>
                  <a:sym typeface="프리텐다드"/>
                </a:rPr>
                <a:t>안에</a:t>
              </a:r>
              <a:r>
                <a:rPr lang="en-US" sz="2499" dirty="0">
                  <a:solidFill>
                    <a:srgbClr val="1A1A1A"/>
                  </a:solidFill>
                  <a:latin typeface="프리텐다드"/>
                  <a:ea typeface="프리텐다드"/>
                  <a:cs typeface="프리텐다드"/>
                  <a:sym typeface="프리텐다드"/>
                </a:rPr>
                <a:t> 읽</a:t>
              </a:r>
              <a:r>
                <a:rPr lang="ko-KR" altLang="en-US" sz="2499" dirty="0" err="1">
                  <a:solidFill>
                    <a:srgbClr val="1A1A1A"/>
                  </a:solidFill>
                  <a:latin typeface="프리텐다드"/>
                  <a:ea typeface="프리텐다드"/>
                  <a:cs typeface="프리텐다드"/>
                  <a:sym typeface="프리텐다드"/>
                </a:rPr>
                <a:t>히면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칸을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채웁니다</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그게 아니라면 빈칸으로 남겨 둡니다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모델이</a:t>
              </a:r>
              <a:r>
                <a:rPr lang="en-US" sz="2499" dirty="0">
                  <a:solidFill>
                    <a:srgbClr val="1A1A1A"/>
                  </a:solidFill>
                  <a:latin typeface="프리텐다드"/>
                  <a:ea typeface="프리텐다드"/>
                  <a:cs typeface="프리텐다드"/>
                  <a:sym typeface="프리텐다드"/>
                </a:rPr>
                <a:t> 21MB라 </a:t>
              </a:r>
              <a:r>
                <a:rPr lang="en-US" sz="2499" dirty="0" err="1">
                  <a:solidFill>
                    <a:srgbClr val="1A1A1A"/>
                  </a:solidFill>
                  <a:latin typeface="프리텐다드"/>
                  <a:ea typeface="프리텐다드"/>
                  <a:cs typeface="프리텐다드"/>
                  <a:sym typeface="프리텐다드"/>
                </a:rPr>
                <a:t>가볍습니다</a:t>
              </a:r>
              <a:r>
                <a:rPr lang="en-US" sz="2499" dirty="0">
                  <a:solidFill>
                    <a:srgbClr val="1A1A1A"/>
                  </a:solidFill>
                  <a:latin typeface="프리텐다드"/>
                  <a:ea typeface="프리텐다드"/>
                  <a:cs typeface="프리텐다드"/>
                  <a:sym typeface="프리텐다드"/>
                </a:rPr>
                <a:t>. GPU</a:t>
              </a:r>
              <a:r>
                <a:rPr lang="ko-KR" altLang="en-US" sz="2499" dirty="0">
                  <a:solidFill>
                    <a:srgbClr val="1A1A1A"/>
                  </a:solidFill>
                  <a:latin typeface="프리텐다드"/>
                  <a:ea typeface="프리텐다드"/>
                  <a:cs typeface="프리텐다드"/>
                  <a:sym typeface="프리텐다드"/>
                </a:rPr>
                <a:t>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외부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API도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필요</a:t>
              </a:r>
              <a:r>
                <a:rPr lang="en-US" sz="2499" dirty="0">
                  <a:solidFill>
                    <a:srgbClr val="1A1A1A"/>
                  </a:solidFill>
                  <a:latin typeface="프리텐다드"/>
                  <a:ea typeface="프리텐다드"/>
                  <a:cs typeface="프리텐다드"/>
                  <a:sym typeface="프리텐다드"/>
                </a:rPr>
                <a:t> 없</a:t>
              </a:r>
              <a:r>
                <a:rPr lang="ko-KR" altLang="en-US" sz="2499" dirty="0" err="1">
                  <a:solidFill>
                    <a:srgbClr val="1A1A1A"/>
                  </a:solidFill>
                  <a:latin typeface="프리텐다드"/>
                  <a:ea typeface="프리텐다드"/>
                  <a:cs typeface="프리텐다드"/>
                  <a:sym typeface="프리텐다드"/>
                </a:rPr>
                <a:t>으며</a:t>
              </a:r>
              <a:r>
                <a:rPr lang="en-US" altLang="ko-KR"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밖으로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나가지 않습니다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한 </a:t>
              </a:r>
              <a:r>
                <a:rPr lang="en-US" sz="2499" dirty="0" err="1">
                  <a:solidFill>
                    <a:srgbClr val="1A1A1A"/>
                  </a:solidFill>
                  <a:latin typeface="프리텐다드"/>
                  <a:ea typeface="프리텐다드"/>
                  <a:cs typeface="프리텐다드"/>
                  <a:sym typeface="프리텐다드"/>
                </a:rPr>
                <a:t>대로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충분합니다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지금</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양은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그중</a:t>
              </a:r>
              <a:r>
                <a:rPr lang="en-US" sz="2499" dirty="0">
                  <a:solidFill>
                    <a:srgbClr val="1A1A1A"/>
                  </a:solidFill>
                  <a:latin typeface="프리텐다드"/>
                  <a:ea typeface="프리텐다드"/>
                  <a:cs typeface="프리텐다드"/>
                  <a:sym typeface="프리텐다드"/>
                </a:rPr>
                <a:t> 4 ~ 10%뿐입니다.</a:t>
              </a:r>
            </a:p>
          </p:txBody>
        </p:sp>
      </p:grpSp>
      <p:grpSp>
        <p:nvGrpSpPr>
          <p:cNvPr id="16" name="Group 16"/>
          <p:cNvGrpSpPr/>
          <p:nvPr/>
        </p:nvGrpSpPr>
        <p:grpSpPr>
          <a:xfrm>
            <a:off x="9314183" y="2847917"/>
            <a:ext cx="8437883" cy="4591166"/>
            <a:chOff x="0" y="0"/>
            <a:chExt cx="11250511" cy="6121555"/>
          </a:xfrm>
        </p:grpSpPr>
        <p:grpSp>
          <p:nvGrpSpPr>
            <p:cNvPr id="17" name="Group 17"/>
            <p:cNvGrpSpPr/>
            <p:nvPr/>
          </p:nvGrpSpPr>
          <p:grpSpPr>
            <a:xfrm>
              <a:off x="0" y="0"/>
              <a:ext cx="11250511" cy="6121555"/>
              <a:chOff x="0" y="0"/>
              <a:chExt cx="11250511" cy="6121555"/>
            </a:xfrm>
          </p:grpSpPr>
          <p:sp>
            <p:nvSpPr>
              <p:cNvPr id="18" name="Freeform 18"/>
              <p:cNvSpPr/>
              <p:nvPr/>
            </p:nvSpPr>
            <p:spPr>
              <a:xfrm>
                <a:off x="0" y="0"/>
                <a:ext cx="11250422" cy="6121488"/>
              </a:xfrm>
              <a:custGeom>
                <a:avLst/>
                <a:gdLst/>
                <a:ahLst/>
                <a:cxnLst/>
                <a:rect l="l" t="t" r="r" b="b"/>
                <a:pathLst>
                  <a:path w="11250422" h="6121488">
                    <a:moveTo>
                      <a:pt x="0" y="146151"/>
                    </a:moveTo>
                    <a:cubicBezTo>
                      <a:pt x="0" y="65493"/>
                      <a:pt x="87757" y="0"/>
                      <a:pt x="195834" y="0"/>
                    </a:cubicBezTo>
                    <a:lnTo>
                      <a:pt x="11054588" y="0"/>
                    </a:lnTo>
                    <a:cubicBezTo>
                      <a:pt x="11162792" y="0"/>
                      <a:pt x="11250422" y="65493"/>
                      <a:pt x="11250422" y="146151"/>
                    </a:cubicBezTo>
                    <a:lnTo>
                      <a:pt x="11250422" y="5975337"/>
                    </a:lnTo>
                    <a:cubicBezTo>
                      <a:pt x="11250422" y="6056090"/>
                      <a:pt x="11162665" y="6121488"/>
                      <a:pt x="11054588" y="6121488"/>
                    </a:cubicBezTo>
                    <a:lnTo>
                      <a:pt x="195834" y="6121488"/>
                    </a:lnTo>
                    <a:cubicBezTo>
                      <a:pt x="87757" y="6121593"/>
                      <a:pt x="0" y="6056090"/>
                      <a:pt x="0" y="5975337"/>
                    </a:cubicBezTo>
                    <a:close/>
                  </a:path>
                </a:pathLst>
              </a:custGeom>
              <a:solidFill>
                <a:srgbClr val="F6E3E3"/>
              </a:solidFill>
              <a:ln w="25400" cap="sq">
                <a:solidFill>
                  <a:srgbClr val="F6E3E3"/>
                </a:solidFill>
                <a:prstDash val="solid"/>
                <a:miter/>
              </a:ln>
            </p:spPr>
            <p:txBody>
              <a:bodyPr/>
              <a:lstStyle/>
              <a:p>
                <a:endParaRPr lang="ko-KR" altLang="en-US"/>
              </a:p>
            </p:txBody>
          </p:sp>
        </p:grpSp>
        <p:sp>
          <p:nvSpPr>
            <p:cNvPr id="19" name="TextBox 19"/>
            <p:cNvSpPr txBox="1"/>
            <p:nvPr/>
          </p:nvSpPr>
          <p:spPr>
            <a:xfrm>
              <a:off x="382689" y="251244"/>
              <a:ext cx="10485120" cy="530225"/>
            </a:xfrm>
            <a:prstGeom prst="rect">
              <a:avLst/>
            </a:prstGeom>
          </p:spPr>
          <p:txBody>
            <a:bodyPr lIns="0" tIns="0" rIns="0" bIns="0" rtlCol="0" anchor="t">
              <a:spAutoFit/>
            </a:bodyPr>
            <a:lstStyle/>
            <a:p>
              <a:pPr algn="l">
                <a:lnSpc>
                  <a:spcPts val="3120"/>
                </a:lnSpc>
              </a:pPr>
              <a:r>
                <a:rPr lang="en-US" sz="2600" b="1">
                  <a:solidFill>
                    <a:srgbClr val="8B0000"/>
                  </a:solidFill>
                  <a:latin typeface="프리텐다드 Bold"/>
                  <a:ea typeface="프리텐다드 Bold"/>
                  <a:cs typeface="프리텐다드 Bold"/>
                  <a:sym typeface="프리텐다드 Bold"/>
                </a:rPr>
                <a:t>다음 — 온디바이스 (폰 자체 추론)</a:t>
              </a:r>
            </a:p>
          </p:txBody>
        </p:sp>
        <p:sp>
          <p:nvSpPr>
            <p:cNvPr id="20" name="TextBox 20"/>
            <p:cNvSpPr txBox="1"/>
            <p:nvPr/>
          </p:nvSpPr>
          <p:spPr>
            <a:xfrm>
              <a:off x="382689" y="1043343"/>
              <a:ext cx="10485120" cy="4720354"/>
            </a:xfrm>
            <a:prstGeom prst="rect">
              <a:avLst/>
            </a:prstGeom>
          </p:spPr>
          <p:txBody>
            <a:bodyPr lIns="0" tIns="0" rIns="0" bIns="0" rtlCol="0" anchor="t">
              <a:spAutoFit/>
            </a:bodyPr>
            <a:lstStyle/>
            <a:p>
              <a:pPr marL="603249" lvl="1" indent="-301625" algn="l">
                <a:lnSpc>
                  <a:spcPts val="3999"/>
                </a:lnSpc>
                <a:buFont typeface="Arial"/>
                <a:buChar char="•"/>
              </a:pPr>
              <a:r>
                <a:rPr lang="en-US" sz="2499" dirty="0">
                  <a:solidFill>
                    <a:srgbClr val="1A1A1A"/>
                  </a:solidFill>
                  <a:latin typeface="프리텐다드"/>
                  <a:ea typeface="프리텐다드"/>
                  <a:cs typeface="프리텐다드"/>
                  <a:sym typeface="프리텐다드"/>
                </a:rPr>
                <a:t>폰 </a:t>
              </a:r>
              <a:r>
                <a:rPr lang="en-US" sz="2499" dirty="0" err="1">
                  <a:solidFill>
                    <a:srgbClr val="1A1A1A"/>
                  </a:solidFill>
                  <a:latin typeface="프리텐다드"/>
                  <a:ea typeface="프리텐다드"/>
                  <a:cs typeface="프리텐다드"/>
                  <a:sym typeface="프리텐다드"/>
                </a:rPr>
                <a:t>안에서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직접</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돌리는</a:t>
              </a:r>
              <a:r>
                <a:rPr lang="en-US" sz="2499" dirty="0">
                  <a:solidFill>
                    <a:srgbClr val="1A1A1A"/>
                  </a:solidFill>
                  <a:latin typeface="프리텐다드"/>
                  <a:ea typeface="프리텐다드"/>
                  <a:cs typeface="프리텐다드"/>
                  <a:sym typeface="프리텐다드"/>
                </a:rPr>
                <a:t> 건 </a:t>
              </a:r>
              <a:r>
                <a:rPr lang="en-US" sz="2499" dirty="0" err="1">
                  <a:solidFill>
                    <a:srgbClr val="1A1A1A"/>
                  </a:solidFill>
                  <a:latin typeface="프리텐다드"/>
                  <a:ea typeface="프리텐다드"/>
                  <a:cs typeface="프리텐다드"/>
                  <a:sym typeface="프리텐다드"/>
                </a:rPr>
                <a:t>아직</a:t>
              </a:r>
              <a:r>
                <a:rPr lang="en-US" sz="2499" dirty="0">
                  <a:solidFill>
                    <a:srgbClr val="1A1A1A"/>
                  </a:solidFill>
                  <a:latin typeface="프리텐다드"/>
                  <a:ea typeface="프리텐다드"/>
                  <a:cs typeface="프리텐다드"/>
                  <a:sym typeface="프리텐다드"/>
                </a:rPr>
                <a:t> 해 </a:t>
              </a:r>
              <a:r>
                <a:rPr lang="en-US" sz="2499" dirty="0" err="1">
                  <a:solidFill>
                    <a:srgbClr val="1A1A1A"/>
                  </a:solidFill>
                  <a:latin typeface="프리텐다드"/>
                  <a:ea typeface="프리텐다드"/>
                  <a:cs typeface="프리텐다드"/>
                  <a:sym typeface="프리텐다드"/>
                </a:rPr>
                <a:t>보지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않았습니다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ko-KR" altLang="en-US" sz="2499" dirty="0">
                  <a:solidFill>
                    <a:srgbClr val="1A1A1A"/>
                  </a:solidFill>
                  <a:latin typeface="프리텐다드"/>
                  <a:ea typeface="프리텐다드"/>
                  <a:cs typeface="프리텐다드"/>
                  <a:sym typeface="프리텐다드"/>
                </a:rPr>
                <a:t>모델 크기 상 구동은 가능할 것으로 보이나</a:t>
              </a:r>
              <a:r>
                <a:rPr lang="en-US" altLang="ko-KR"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실측 전이므로 이는 추정에 그칩니다</a:t>
              </a:r>
              <a:r>
                <a:rPr lang="en-US" altLang="ko-KR"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폰에서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장당</a:t>
              </a:r>
              <a:r>
                <a:rPr lang="en-US" sz="2499" dirty="0">
                  <a:solidFill>
                    <a:srgbClr val="1A1A1A"/>
                  </a:solidFill>
                  <a:latin typeface="프리텐다드"/>
                  <a:ea typeface="프리텐다드"/>
                  <a:cs typeface="프리텐다드"/>
                  <a:sym typeface="프리텐다드"/>
                </a:rPr>
                <a:t> 몇 </a:t>
              </a:r>
              <a:r>
                <a:rPr lang="en-US" sz="2499" dirty="0" err="1">
                  <a:solidFill>
                    <a:srgbClr val="1A1A1A"/>
                  </a:solidFill>
                  <a:latin typeface="프리텐다드"/>
                  <a:ea typeface="프리텐다드"/>
                  <a:cs typeface="프리텐다드"/>
                  <a:sym typeface="프리텐다드"/>
                </a:rPr>
                <a:t>초가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걸리는지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배터리는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얼마나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쓰는지부터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재야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합니다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ko-KR" altLang="en-US" sz="2499" dirty="0">
                  <a:solidFill>
                    <a:srgbClr val="1A1A1A"/>
                  </a:solidFill>
                  <a:latin typeface="프리텐다드"/>
                  <a:ea typeface="프리텐다드"/>
                  <a:cs typeface="프리텐다드"/>
                  <a:sym typeface="프리텐다드"/>
                </a:rPr>
                <a:t>실현 </a:t>
              </a:r>
              <a:r>
                <a:rPr lang="ko-KR" altLang="en-US" sz="2499" dirty="0" err="1">
                  <a:solidFill>
                    <a:srgbClr val="1A1A1A"/>
                  </a:solidFill>
                  <a:latin typeface="프리텐다드"/>
                  <a:ea typeface="프리텐다드"/>
                  <a:cs typeface="프리텐다드"/>
                  <a:sym typeface="프리텐다드"/>
                </a:rPr>
                <a:t>가능해진다면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비용이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거의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사라지고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사진도</a:t>
              </a:r>
              <a:r>
                <a:rPr lang="en-US" sz="2499" dirty="0">
                  <a:solidFill>
                    <a:srgbClr val="1A1A1A"/>
                  </a:solidFill>
                  <a:latin typeface="프리텐다드"/>
                  <a:ea typeface="프리텐다드"/>
                  <a:cs typeface="프리텐다드"/>
                  <a:sym typeface="프리텐다드"/>
                </a:rPr>
                <a:t> 폰 </a:t>
              </a:r>
              <a:r>
                <a:rPr lang="en-US" sz="2499" dirty="0" err="1">
                  <a:solidFill>
                    <a:srgbClr val="1A1A1A"/>
                  </a:solidFill>
                  <a:latin typeface="프리텐다드"/>
                  <a:ea typeface="프리텐다드"/>
                  <a:cs typeface="프리텐다드"/>
                  <a:sym typeface="프리텐다드"/>
                </a:rPr>
                <a:t>밖으로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나갈 필요가 없어집니다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grpSp>
        <p:nvGrpSpPr>
          <p:cNvPr id="21" name="Group 21"/>
          <p:cNvGrpSpPr/>
          <p:nvPr/>
        </p:nvGrpSpPr>
        <p:grpSpPr>
          <a:xfrm>
            <a:off x="535943" y="8308343"/>
            <a:ext cx="17216123" cy="793499"/>
            <a:chOff x="0" y="0"/>
            <a:chExt cx="22954831" cy="1057999"/>
          </a:xfrm>
        </p:grpSpPr>
        <p:grpSp>
          <p:nvGrpSpPr>
            <p:cNvPr id="22" name="Group 22"/>
            <p:cNvGrpSpPr/>
            <p:nvPr/>
          </p:nvGrpSpPr>
          <p:grpSpPr>
            <a:xfrm>
              <a:off x="0" y="0"/>
              <a:ext cx="22954831" cy="1057999"/>
              <a:chOff x="0" y="0"/>
              <a:chExt cx="22954831" cy="1057999"/>
            </a:xfrm>
          </p:grpSpPr>
          <p:sp>
            <p:nvSpPr>
              <p:cNvPr id="23" name="Freeform 2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4" name="Group 24"/>
            <p:cNvGrpSpPr/>
            <p:nvPr/>
          </p:nvGrpSpPr>
          <p:grpSpPr>
            <a:xfrm>
              <a:off x="382689" y="16929"/>
              <a:ext cx="22189440" cy="1024128"/>
              <a:chOff x="0" y="0"/>
              <a:chExt cx="22189440" cy="1024128"/>
            </a:xfrm>
          </p:grpSpPr>
          <p:sp>
            <p:nvSpPr>
              <p:cNvPr id="25" name="Freeform 2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6" name="TextBox 26"/>
              <p:cNvSpPr txBox="1"/>
              <p:nvPr/>
            </p:nvSpPr>
            <p:spPr>
              <a:xfrm>
                <a:off x="0" y="0"/>
                <a:ext cx="22189440" cy="1024128"/>
              </a:xfrm>
              <a:prstGeom prst="rect">
                <a:avLst/>
              </a:prstGeom>
            </p:spPr>
            <p:txBody>
              <a:bodyPr lIns="0" tIns="0" rIns="0" bIns="0" rtlCol="0" anchor="ctr"/>
              <a:lstStyle/>
              <a:p>
                <a:pPr algn="ctr">
                  <a:lnSpc>
                    <a:spcPts val="2999"/>
                  </a:lnSpc>
                </a:pPr>
                <a:r>
                  <a:rPr lang="en-US" sz="2499">
                    <a:solidFill>
                      <a:srgbClr val="1A1A1A"/>
                    </a:solidFill>
                    <a:latin typeface="프리텐다드"/>
                    <a:ea typeface="프리텐다드"/>
                    <a:cs typeface="프리텐다드"/>
                    <a:sym typeface="프리텐다드"/>
                  </a:rPr>
                  <a:t>지금 돌아가는 건 서버 추론 하나뿐입니다. </a:t>
                </a:r>
                <a:r>
                  <a:rPr lang="en-US" sz="2499">
                    <a:solidFill>
                      <a:srgbClr val="8B0000"/>
                    </a:solidFill>
                    <a:latin typeface="프리텐다드"/>
                    <a:ea typeface="프리텐다드"/>
                    <a:cs typeface="프리텐다드"/>
                    <a:sym typeface="프리텐다드"/>
                  </a:rPr>
                  <a:t>온디바이스는 </a:t>
                </a:r>
                <a:r>
                  <a:rPr lang="en-US" sz="2499" b="1">
                    <a:solidFill>
                      <a:srgbClr val="8B0000"/>
                    </a:solidFill>
                    <a:latin typeface="프리텐다드 Bold"/>
                    <a:ea typeface="프리텐다드 Bold"/>
                    <a:cs typeface="프리텐다드 Bold"/>
                    <a:sym typeface="프리텐다드 Bold"/>
                  </a:rPr>
                  <a:t>가능성</a:t>
                </a:r>
                <a:r>
                  <a:rPr lang="en-US" sz="2499">
                    <a:solidFill>
                      <a:srgbClr val="8B0000"/>
                    </a:solidFill>
                    <a:latin typeface="프리텐다드"/>
                    <a:ea typeface="프리텐다드"/>
                    <a:cs typeface="프리텐다드"/>
                    <a:sym typeface="프리텐다드"/>
                  </a:rPr>
                  <a:t>의 영역입니다.</a:t>
                </a: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손실</a:t>
              </a:r>
              <a:r>
                <a:rPr lang="en-US" sz="3800" b="1" dirty="0">
                  <a:solidFill>
                    <a:srgbClr val="1A1A1A"/>
                  </a:solidFill>
                  <a:latin typeface="프리텐다드 Bold"/>
                  <a:ea typeface="프리텐다드 Bold"/>
                  <a:cs typeface="프리텐다드 Bold"/>
                  <a:sym typeface="프리텐다드 Bold"/>
                </a:rPr>
                <a:t> </a:t>
              </a:r>
              <a:r>
                <a:rPr lang="en-US" sz="3800" b="1" dirty="0" err="1">
                  <a:solidFill>
                    <a:srgbClr val="1A1A1A"/>
                  </a:solidFill>
                  <a:latin typeface="프리텐다드 Bold"/>
                  <a:ea typeface="프리텐다드 Bold"/>
                  <a:cs typeface="프리텐다드 Bold"/>
                  <a:sym typeface="프리텐다드 Bold"/>
                </a:rPr>
                <a:t>절감과</a:t>
              </a:r>
              <a:r>
                <a:rPr lang="en-US" sz="3800" b="1" dirty="0">
                  <a:solidFill>
                    <a:srgbClr val="1A1A1A"/>
                  </a:solidFill>
                  <a:latin typeface="프리텐다드 Bold"/>
                  <a:ea typeface="프리텐다드 Bold"/>
                  <a:cs typeface="프리텐다드 Bold"/>
                  <a:sym typeface="프리텐다드 Bold"/>
                </a:rPr>
                <a:t> ROI : </a:t>
              </a:r>
              <a:r>
                <a:rPr lang="en-US" sz="3800" b="1" dirty="0" err="1">
                  <a:solidFill>
                    <a:srgbClr val="8B0000"/>
                  </a:solidFill>
                  <a:latin typeface="프리텐다드 Bold"/>
                  <a:ea typeface="프리텐다드 Bold"/>
                  <a:cs typeface="프리텐다드 Bold"/>
                  <a:sym typeface="프리텐다드 Bold"/>
                </a:rPr>
                <a:t>비용</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절감으로는</a:t>
              </a:r>
              <a:r>
                <a:rPr lang="en-US" sz="3800" b="1" dirty="0">
                  <a:solidFill>
                    <a:srgbClr val="8B0000"/>
                  </a:solidFill>
                  <a:latin typeface="프리텐다드 Bold"/>
                  <a:ea typeface="프리텐다드 Bold"/>
                  <a:cs typeface="프리텐다드 Bold"/>
                  <a:sym typeface="프리텐다드 Bold"/>
                </a:rPr>
                <a:t> </a:t>
              </a:r>
              <a:r>
                <a:rPr lang="ko-KR" altLang="en-US" sz="3800" b="1" dirty="0">
                  <a:solidFill>
                    <a:srgbClr val="8B0000"/>
                  </a:solidFill>
                  <a:latin typeface="프리텐다드 Bold"/>
                  <a:ea typeface="프리텐다드 Bold"/>
                  <a:cs typeface="프리텐다드 Bold"/>
                  <a:sym typeface="프리텐다드 Bold"/>
                </a:rPr>
                <a:t>손익분기에 못 미칩니다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19</a:t>
              </a:r>
            </a:p>
          </p:txBody>
        </p:sp>
      </p:grpSp>
      <p:sp>
        <p:nvSpPr>
          <p:cNvPr id="11" name="TextBox 11"/>
          <p:cNvSpPr txBox="1"/>
          <p:nvPr/>
        </p:nvSpPr>
        <p:spPr>
          <a:xfrm>
            <a:off x="548640" y="1819275"/>
            <a:ext cx="17190720" cy="353623"/>
          </a:xfrm>
          <a:prstGeom prst="rect">
            <a:avLst/>
          </a:prstGeom>
        </p:spPr>
        <p:txBody>
          <a:bodyPr lIns="0" tIns="0" rIns="0" bIns="0" rtlCol="0" anchor="t">
            <a:spAutoFit/>
          </a:bodyPr>
          <a:lstStyle/>
          <a:p>
            <a:pPr algn="l">
              <a:lnSpc>
                <a:spcPts val="2879"/>
              </a:lnSpc>
            </a:pPr>
            <a:r>
              <a:rPr lang="en-US" sz="2400" b="1" dirty="0" err="1">
                <a:solidFill>
                  <a:srgbClr val="1A1A1A"/>
                </a:solidFill>
                <a:latin typeface="프리텐다드 Bold"/>
                <a:ea typeface="프리텐다드 Bold"/>
                <a:cs typeface="프리텐다드 Bold"/>
                <a:sym typeface="프리텐다드 Bold"/>
              </a:rPr>
              <a:t>OCR이</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있어야</a:t>
            </a:r>
            <a:r>
              <a:rPr lang="en-US" sz="2400" b="1" dirty="0">
                <a:solidFill>
                  <a:srgbClr val="1A1A1A"/>
                </a:solidFill>
                <a:latin typeface="프리텐다드 Bold"/>
                <a:ea typeface="프리텐다드 Bold"/>
                <a:cs typeface="프리텐다드 Bold"/>
                <a:sym typeface="프리텐다드 Bold"/>
              </a:rPr>
              <a:t> </a:t>
            </a:r>
            <a:r>
              <a:rPr lang="ko-KR" altLang="en-US" sz="2400" b="1" dirty="0">
                <a:solidFill>
                  <a:srgbClr val="1A1A1A"/>
                </a:solidFill>
                <a:latin typeface="프리텐다드 Bold"/>
                <a:ea typeface="프리텐다드 Bold"/>
                <a:cs typeface="프리텐다드 Bold"/>
                <a:sym typeface="프리텐다드 Bold"/>
              </a:rPr>
              <a:t>하는</a:t>
            </a:r>
            <a:r>
              <a:rPr lang="en-US" sz="2400" b="1" dirty="0">
                <a:solidFill>
                  <a:srgbClr val="1A1A1A"/>
                </a:solidFill>
                <a:latin typeface="프리텐다드 Bold"/>
                <a:ea typeface="프리텐다드 Bold"/>
                <a:cs typeface="프리텐다드 Bold"/>
                <a:sym typeface="프리텐다드 Bold"/>
              </a:rPr>
              <a:t> 것 / </a:t>
            </a:r>
            <a:r>
              <a:rPr lang="en-US" sz="2400" b="1" dirty="0" err="1">
                <a:solidFill>
                  <a:srgbClr val="1A1A1A"/>
                </a:solidFill>
                <a:latin typeface="프리텐다드 Bold"/>
                <a:ea typeface="프리텐다드 Bold"/>
                <a:cs typeface="프리텐다드 Bold"/>
                <a:sym typeface="프리텐다드 Bold"/>
              </a:rPr>
              <a:t>날짜</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칸만</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있으면</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되는</a:t>
            </a:r>
            <a:r>
              <a:rPr lang="en-US" sz="2400" b="1" dirty="0">
                <a:solidFill>
                  <a:srgbClr val="1A1A1A"/>
                </a:solidFill>
                <a:latin typeface="프리텐다드 Bold"/>
                <a:ea typeface="프리텐다드 Bold"/>
                <a:cs typeface="프리텐다드 Bold"/>
                <a:sym typeface="프리텐다드 Bold"/>
              </a:rPr>
              <a:t> 것</a:t>
            </a:r>
          </a:p>
        </p:txBody>
      </p:sp>
      <p:graphicFrame>
        <p:nvGraphicFramePr>
          <p:cNvPr id="12" name="Table 12"/>
          <p:cNvGraphicFramePr>
            <a:graphicFrameLocks noGrp="1"/>
          </p:cNvGraphicFramePr>
          <p:nvPr>
            <p:extLst>
              <p:ext uri="{D42A27DB-BD31-4B8C-83A1-F6EECF244321}">
                <p14:modId xmlns:p14="http://schemas.microsoft.com/office/powerpoint/2010/main" val="3469778038"/>
              </p:ext>
            </p:extLst>
          </p:nvPr>
        </p:nvGraphicFramePr>
        <p:xfrm>
          <a:off x="548640" y="2377440"/>
          <a:ext cx="17145000" cy="3175000"/>
        </p:xfrm>
        <a:graphic>
          <a:graphicData uri="http://schemas.openxmlformats.org/drawingml/2006/table">
            <a:tbl>
              <a:tblPr/>
              <a:tblGrid>
                <a:gridCol w="4920877">
                  <a:extLst>
                    <a:ext uri="{9D8B030D-6E8A-4147-A177-3AD203B41FA5}">
                      <a16:colId xmlns:a16="http://schemas.microsoft.com/office/drawing/2014/main" val="20000"/>
                    </a:ext>
                  </a:extLst>
                </a:gridCol>
                <a:gridCol w="3107657">
                  <a:extLst>
                    <a:ext uri="{9D8B030D-6E8A-4147-A177-3AD203B41FA5}">
                      <a16:colId xmlns:a16="http://schemas.microsoft.com/office/drawing/2014/main" val="20001"/>
                    </a:ext>
                  </a:extLst>
                </a:gridCol>
                <a:gridCol w="2019725">
                  <a:extLst>
                    <a:ext uri="{9D8B030D-6E8A-4147-A177-3AD203B41FA5}">
                      <a16:colId xmlns:a16="http://schemas.microsoft.com/office/drawing/2014/main" val="20002"/>
                    </a:ext>
                  </a:extLst>
                </a:gridCol>
                <a:gridCol w="7096741">
                  <a:extLst>
                    <a:ext uri="{9D8B030D-6E8A-4147-A177-3AD203B41FA5}">
                      <a16:colId xmlns:a16="http://schemas.microsoft.com/office/drawing/2014/main" val="20003"/>
                    </a:ext>
                  </a:extLst>
                </a:gridCol>
              </a:tblGrid>
              <a:tr h="609600">
                <a:tc>
                  <a:txBody>
                    <a:bodyPr/>
                    <a:lstStyle/>
                    <a:p>
                      <a:pPr algn="l">
                        <a:lnSpc>
                          <a:spcPts val="2304"/>
                        </a:lnSpc>
                        <a:defRPr/>
                      </a:pPr>
                      <a:r>
                        <a:rPr lang="en-US" sz="1920">
                          <a:solidFill>
                            <a:srgbClr val="FFFFFF"/>
                          </a:solidFill>
                          <a:latin typeface="프리텐다드"/>
                          <a:ea typeface="프리텐다드"/>
                          <a:cs typeface="프리텐다드"/>
                          <a:sym typeface="프리텐다드"/>
                        </a:rPr>
                        <a:t>편익</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누구에게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OCR 필요?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근거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입력값과 사진의 대조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ko-KR" altLang="en-US" sz="1920" dirty="0">
                          <a:solidFill>
                            <a:srgbClr val="1A1A1A"/>
                          </a:solidFill>
                          <a:latin typeface="프리텐다드"/>
                          <a:ea typeface="프리텐다드"/>
                          <a:cs typeface="프리텐다드"/>
                          <a:sym typeface="프리텐다드"/>
                        </a:rPr>
                        <a:t>판매자가 </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모델 답을 보지 않고</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 직접 입력한 값이</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 모델이 숨겨둔 </a:t>
                      </a:r>
                      <a:r>
                        <a:rPr lang="ko-KR" altLang="en-US" sz="1920" dirty="0" err="1">
                          <a:solidFill>
                            <a:srgbClr val="1A1A1A"/>
                          </a:solidFill>
                          <a:latin typeface="프리텐다드"/>
                          <a:ea typeface="프리텐다드"/>
                          <a:cs typeface="프리텐다드"/>
                          <a:sym typeface="프리텐다드"/>
                        </a:rPr>
                        <a:t>판독값과</a:t>
                      </a:r>
                      <a:r>
                        <a:rPr lang="ko-KR" alt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우연히</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같아</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지나갈</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확률</a:t>
                      </a:r>
                      <a:r>
                        <a:rPr lang="en-US" sz="1920" dirty="0">
                          <a:solidFill>
                            <a:srgbClr val="1A1A1A"/>
                          </a:solidFill>
                          <a:latin typeface="프리텐다드"/>
                          <a:ea typeface="프리텐다드"/>
                          <a:cs typeface="프리텐다드"/>
                          <a:sym typeface="프리텐다드"/>
                        </a:rPr>
                        <a:t> 0.2 ~ 0.4%</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날짜면이 찍혔는지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메루카리는</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소비기한 인쇄 사진을 필수로 요구합니다</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입력 편의 · 판매자 수정값 축적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판매자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폰 사진 기준 자동 입력 41 ~ 45%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남은 일수 표시 · 기한 지난 글 자동 숨김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아니오</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날짜</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칸만</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있으면</a:t>
                      </a:r>
                      <a:r>
                        <a:rPr lang="en-US" sz="1920" dirty="0">
                          <a:solidFill>
                            <a:srgbClr val="1A1A1A"/>
                          </a:solidFill>
                          <a:latin typeface="프리텐다드"/>
                          <a:ea typeface="프리텐다드"/>
                          <a:cs typeface="프리텐다드"/>
                          <a:sym typeface="프리텐다드"/>
                        </a:rPr>
                        <a:t> 됨 — OCR </a:t>
                      </a:r>
                      <a:r>
                        <a:rPr lang="en-US" sz="1920" dirty="0" err="1">
                          <a:solidFill>
                            <a:srgbClr val="1A1A1A"/>
                          </a:solidFill>
                          <a:latin typeface="프리텐다드"/>
                          <a:ea typeface="프리텐다드"/>
                          <a:cs typeface="프리텐다드"/>
                          <a:sym typeface="프리텐다드"/>
                        </a:rPr>
                        <a:t>편익으로</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세지</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않음</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3" name="TextBox 13"/>
          <p:cNvSpPr txBox="1"/>
          <p:nvPr/>
        </p:nvSpPr>
        <p:spPr>
          <a:xfrm>
            <a:off x="548640" y="5659755"/>
            <a:ext cx="17190720" cy="353623"/>
          </a:xfrm>
          <a:prstGeom prst="rect">
            <a:avLst/>
          </a:prstGeom>
        </p:spPr>
        <p:txBody>
          <a:bodyPr lIns="0" tIns="0" rIns="0" bIns="0" rtlCol="0" anchor="t">
            <a:spAutoFit/>
          </a:bodyPr>
          <a:lstStyle/>
          <a:p>
            <a:pPr algn="l">
              <a:lnSpc>
                <a:spcPts val="2879"/>
              </a:lnSpc>
            </a:pPr>
            <a:r>
              <a:rPr lang="en-US" sz="2400" b="1" dirty="0" err="1">
                <a:solidFill>
                  <a:srgbClr val="1A1A1A"/>
                </a:solidFill>
                <a:latin typeface="프리텐다드 Bold"/>
                <a:ea typeface="프리텐다드 Bold"/>
                <a:cs typeface="프리텐다드 Bold"/>
                <a:sym typeface="프리텐다드 Bold"/>
              </a:rPr>
              <a:t>손익분기</a:t>
            </a:r>
            <a:r>
              <a:rPr lang="en-US" sz="2400" b="1" dirty="0">
                <a:solidFill>
                  <a:srgbClr val="1A1A1A"/>
                </a:solidFill>
                <a:latin typeface="프리텐다드 Bold"/>
                <a:ea typeface="프리텐다드 Bold"/>
                <a:cs typeface="프리텐다드 Bold"/>
                <a:sym typeface="프리텐다드 Bold"/>
              </a:rPr>
              <a:t> : </a:t>
            </a:r>
            <a:r>
              <a:rPr lang="en-US" sz="2400" b="1" dirty="0" err="1">
                <a:solidFill>
                  <a:srgbClr val="1A1A1A"/>
                </a:solidFill>
                <a:latin typeface="프리텐다드 Bold"/>
                <a:ea typeface="프리텐다드 Bold"/>
                <a:cs typeface="프리텐다드 Bold"/>
                <a:sym typeface="프리텐다드 Bold"/>
              </a:rPr>
              <a:t>위반</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처리비</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절감만으로는</a:t>
            </a:r>
            <a:r>
              <a:rPr lang="en-US" sz="2400" b="1" dirty="0">
                <a:solidFill>
                  <a:srgbClr val="1A1A1A"/>
                </a:solidFill>
                <a:latin typeface="프리텐다드 Bold"/>
                <a:ea typeface="프리텐다드 Bold"/>
                <a:cs typeface="프리텐다드 Bold"/>
                <a:sym typeface="프리텐다드 Bold"/>
              </a:rPr>
              <a:t> </a:t>
            </a:r>
            <a:r>
              <a:rPr lang="ko-KR" altLang="en-US" sz="2400" b="1" dirty="0">
                <a:solidFill>
                  <a:srgbClr val="1A1A1A"/>
                </a:solidFill>
                <a:latin typeface="프리텐다드 Bold"/>
                <a:ea typeface="프리텐다드 Bold"/>
                <a:cs typeface="프리텐다드 Bold"/>
                <a:sym typeface="프리텐다드 Bold"/>
              </a:rPr>
              <a:t>손익분기에 못 미칩니다</a:t>
            </a:r>
            <a:endParaRPr lang="en-US" sz="2400" b="1" dirty="0">
              <a:solidFill>
                <a:srgbClr val="1A1A1A"/>
              </a:solidFill>
              <a:latin typeface="프리텐다드 Bold"/>
              <a:ea typeface="프리텐다드 Bold"/>
              <a:cs typeface="프리텐다드 Bold"/>
              <a:sym typeface="프리텐다드 Bold"/>
            </a:endParaRPr>
          </a:p>
        </p:txBody>
      </p:sp>
      <p:graphicFrame>
        <p:nvGraphicFramePr>
          <p:cNvPr id="14" name="Table 14"/>
          <p:cNvGraphicFramePr>
            <a:graphicFrameLocks noGrp="1"/>
          </p:cNvGraphicFramePr>
          <p:nvPr>
            <p:extLst>
              <p:ext uri="{D42A27DB-BD31-4B8C-83A1-F6EECF244321}">
                <p14:modId xmlns:p14="http://schemas.microsoft.com/office/powerpoint/2010/main" val="1454253534"/>
              </p:ext>
            </p:extLst>
          </p:nvPr>
        </p:nvGraphicFramePr>
        <p:xfrm>
          <a:off x="548640" y="6181344"/>
          <a:ext cx="17170400" cy="2216148"/>
        </p:xfrm>
        <a:graphic>
          <a:graphicData uri="http://schemas.openxmlformats.org/drawingml/2006/table">
            <a:tbl>
              <a:tblPr/>
              <a:tblGrid>
                <a:gridCol w="5472939">
                  <a:extLst>
                    <a:ext uri="{9D8B030D-6E8A-4147-A177-3AD203B41FA5}">
                      <a16:colId xmlns:a16="http://schemas.microsoft.com/office/drawing/2014/main" val="20000"/>
                    </a:ext>
                  </a:extLst>
                </a:gridCol>
                <a:gridCol w="4020214">
                  <a:extLst>
                    <a:ext uri="{9D8B030D-6E8A-4147-A177-3AD203B41FA5}">
                      <a16:colId xmlns:a16="http://schemas.microsoft.com/office/drawing/2014/main" val="20001"/>
                    </a:ext>
                  </a:extLst>
                </a:gridCol>
                <a:gridCol w="3657033">
                  <a:extLst>
                    <a:ext uri="{9D8B030D-6E8A-4147-A177-3AD203B41FA5}">
                      <a16:colId xmlns:a16="http://schemas.microsoft.com/office/drawing/2014/main" val="20002"/>
                    </a:ext>
                  </a:extLst>
                </a:gridCol>
                <a:gridCol w="4020214">
                  <a:extLst>
                    <a:ext uri="{9D8B030D-6E8A-4147-A177-3AD203B41FA5}">
                      <a16:colId xmlns:a16="http://schemas.microsoft.com/office/drawing/2014/main" val="20003"/>
                    </a:ext>
                  </a:extLst>
                </a:gridCol>
              </a:tblGrid>
              <a:tr h="554037">
                <a:tc>
                  <a:txBody>
                    <a:bodyPr/>
                    <a:lstStyle/>
                    <a:p>
                      <a:pPr algn="l">
                        <a:lnSpc>
                          <a:spcPts val="2304"/>
                        </a:lnSpc>
                        <a:defRPr/>
                      </a:pPr>
                      <a:r>
                        <a:rPr lang="en-US" sz="1920" dirty="0" err="1">
                          <a:solidFill>
                            <a:srgbClr val="FFFFFF"/>
                          </a:solidFill>
                          <a:latin typeface="프리텐다드"/>
                          <a:ea typeface="프리텐다드"/>
                          <a:cs typeface="프리텐다드"/>
                          <a:sym typeface="프리텐다드"/>
                        </a:rPr>
                        <a:t>조건</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dirty="0" err="1">
                          <a:solidFill>
                            <a:srgbClr val="FFFFFF"/>
                          </a:solidFill>
                          <a:latin typeface="프리텐다드"/>
                          <a:ea typeface="프리텐다드"/>
                          <a:cs typeface="프리텐다드"/>
                          <a:sym typeface="프리텐다드"/>
                        </a:rPr>
                        <a:t>연간</a:t>
                      </a:r>
                      <a:r>
                        <a:rPr lang="en-US" sz="1920" dirty="0">
                          <a:solidFill>
                            <a:srgbClr val="FFFFFF"/>
                          </a:solidFill>
                          <a:latin typeface="프리텐다드"/>
                          <a:ea typeface="프리텐다드"/>
                          <a:cs typeface="프리텐다드"/>
                          <a:sym typeface="프리텐다드"/>
                        </a:rPr>
                        <a:t> </a:t>
                      </a:r>
                      <a:r>
                        <a:rPr lang="en-US" sz="1920" dirty="0" err="1">
                          <a:solidFill>
                            <a:srgbClr val="FFFFFF"/>
                          </a:solidFill>
                          <a:latin typeface="프리텐다드"/>
                          <a:ea typeface="프리텐다드"/>
                          <a:cs typeface="프리텐다드"/>
                          <a:sym typeface="프리텐다드"/>
                        </a:rPr>
                        <a:t>위반</a:t>
                      </a:r>
                      <a:r>
                        <a:rPr lang="en-US" sz="1920" dirty="0">
                          <a:solidFill>
                            <a:srgbClr val="FFFFFF"/>
                          </a:solidFill>
                          <a:latin typeface="프리텐다드"/>
                          <a:ea typeface="프리텐다드"/>
                          <a:cs typeface="프리텐다드"/>
                          <a:sym typeface="프리텐다드"/>
                        </a:rPr>
                        <a:t>(</a:t>
                      </a:r>
                      <a:r>
                        <a:rPr lang="en-US" sz="1920" dirty="0" err="1">
                          <a:solidFill>
                            <a:srgbClr val="FFFFFF"/>
                          </a:solidFill>
                          <a:latin typeface="프리텐다드"/>
                          <a:ea typeface="프리텐다드"/>
                          <a:cs typeface="프리텐다드"/>
                          <a:sym typeface="프리텐다드"/>
                        </a:rPr>
                        <a:t>가정</a:t>
                      </a:r>
                      <a:r>
                        <a:rPr lang="en-US" sz="1920" dirty="0">
                          <a:solidFill>
                            <a:srgbClr val="FFFFFF"/>
                          </a:solidFill>
                          <a:latin typeface="프리텐다드"/>
                          <a:ea typeface="프리텐다드"/>
                          <a:cs typeface="프리텐다드"/>
                          <a:sym typeface="프리텐다드"/>
                        </a:rPr>
                        <a:t> 50% </a:t>
                      </a:r>
                      <a:r>
                        <a:rPr lang="en-US" sz="1920" dirty="0" err="1">
                          <a:solidFill>
                            <a:srgbClr val="FFFFFF"/>
                          </a:solidFill>
                          <a:latin typeface="프리텐다드"/>
                          <a:ea typeface="프리텐다드"/>
                          <a:cs typeface="프리텐다드"/>
                          <a:sym typeface="프리텐다드"/>
                        </a:rPr>
                        <a:t>포착</a:t>
                      </a:r>
                      <a:r>
                        <a:rPr lang="en-US" sz="1920" dirty="0">
                          <a:solidFill>
                            <a:srgbClr val="FFFFFF"/>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연간 서버비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손익분기 1건당 처리비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54037">
                <a:tc>
                  <a:txBody>
                    <a:bodyPr/>
                    <a:lstStyle/>
                    <a:p>
                      <a:pPr algn="l">
                        <a:lnSpc>
                          <a:spcPts val="2304"/>
                        </a:lnSpc>
                        <a:defRPr/>
                      </a:pPr>
                      <a:r>
                        <a:rPr lang="en-US" sz="1920">
                          <a:solidFill>
                            <a:srgbClr val="1A1A1A"/>
                          </a:solidFill>
                          <a:latin typeface="프리텐다드"/>
                          <a:ea typeface="프리텐다드"/>
                          <a:cs typeface="프리텐다드"/>
                          <a:sym typeface="프리텐다드"/>
                        </a:rPr>
                        <a:t>20개월 평균, 기존 서버 여유분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435건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17만원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약 780원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4037">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거래조건</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완화</a:t>
                      </a:r>
                      <a:r>
                        <a:rPr lang="en-US" sz="1920" dirty="0">
                          <a:solidFill>
                            <a:srgbClr val="1A1A1A"/>
                          </a:solidFill>
                          <a:latin typeface="프리텐다드"/>
                          <a:ea typeface="프리텐다드"/>
                          <a:cs typeface="프리텐다드"/>
                          <a:sym typeface="프리텐다드"/>
                        </a:rPr>
                        <a:t> 뒤 </a:t>
                      </a:r>
                      <a:r>
                        <a:rPr lang="en-US" sz="1920" dirty="0" err="1">
                          <a:solidFill>
                            <a:srgbClr val="1A1A1A"/>
                          </a:solidFill>
                          <a:latin typeface="프리텐다드"/>
                          <a:ea typeface="프리텐다드"/>
                          <a:cs typeface="프리텐다드"/>
                          <a:sym typeface="프리텐다드"/>
                        </a:rPr>
                        <a:t>추정</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기존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서버</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여유분</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180건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17만원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약 1,900원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4037">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거래조건</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완화</a:t>
                      </a:r>
                      <a:r>
                        <a:rPr lang="en-US" sz="1920" dirty="0">
                          <a:solidFill>
                            <a:srgbClr val="1A1A1A"/>
                          </a:solidFill>
                          <a:latin typeface="프리텐다드"/>
                          <a:ea typeface="프리텐다드"/>
                          <a:cs typeface="프리텐다드"/>
                          <a:sym typeface="프리텐다드"/>
                        </a:rPr>
                        <a:t> 뒤 </a:t>
                      </a:r>
                      <a:r>
                        <a:rPr lang="en-US" sz="1920" dirty="0" err="1">
                          <a:solidFill>
                            <a:srgbClr val="1A1A1A"/>
                          </a:solidFill>
                          <a:latin typeface="프리텐다드"/>
                          <a:ea typeface="프리텐다드"/>
                          <a:cs typeface="프리텐다드"/>
                          <a:sym typeface="프리텐다드"/>
                        </a:rPr>
                        <a:t>추정</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전용</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서버</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dirty="0">
                          <a:solidFill>
                            <a:srgbClr val="1A1A1A"/>
                          </a:solidFill>
                          <a:latin typeface="프리텐다드"/>
                          <a:ea typeface="프리텐다드"/>
                          <a:cs typeface="프리텐다드"/>
                          <a:sym typeface="프리텐다드"/>
                        </a:rPr>
                        <a:t>180건</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169만원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dirty="0">
                          <a:solidFill>
                            <a:srgbClr val="8B0000"/>
                          </a:solidFill>
                          <a:latin typeface="프리텐다드"/>
                          <a:ea typeface="프리텐다드"/>
                          <a:cs typeface="프리텐다드"/>
                          <a:sym typeface="프리텐다드"/>
                        </a:rPr>
                        <a:t>약 1만 9천원</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bl>
          </a:graphicData>
        </a:graphic>
      </p:graphicFrame>
      <p:grpSp>
        <p:nvGrpSpPr>
          <p:cNvPr id="15" name="Group 15"/>
          <p:cNvGrpSpPr/>
          <p:nvPr/>
        </p:nvGrpSpPr>
        <p:grpSpPr>
          <a:xfrm>
            <a:off x="535943" y="8674103"/>
            <a:ext cx="17216123" cy="793499"/>
            <a:chOff x="0" y="0"/>
            <a:chExt cx="22954831" cy="1057999"/>
          </a:xfrm>
        </p:grpSpPr>
        <p:sp>
          <p:nvSpPr>
            <p:cNvPr id="16" name="Freeform 1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7" name="Group 17"/>
          <p:cNvGrpSpPr/>
          <p:nvPr/>
        </p:nvGrpSpPr>
        <p:grpSpPr>
          <a:xfrm>
            <a:off x="822960" y="8686800"/>
            <a:ext cx="16642080" cy="768096"/>
            <a:chOff x="0" y="0"/>
            <a:chExt cx="22189440" cy="1024128"/>
          </a:xfrm>
        </p:grpSpPr>
        <p:sp>
          <p:nvSpPr>
            <p:cNvPr id="18" name="Freeform 1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9" name="TextBox 1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사람이</a:t>
              </a:r>
              <a:r>
                <a:rPr lang="en-US" sz="2499" dirty="0">
                  <a:solidFill>
                    <a:srgbClr val="1A1A1A"/>
                  </a:solidFill>
                  <a:latin typeface="프리텐다드"/>
                  <a:ea typeface="프리텐다드"/>
                  <a:cs typeface="프리텐다드"/>
                  <a:sym typeface="프리텐다드"/>
                </a:rPr>
                <a:t> 30초 </a:t>
              </a:r>
              <a:r>
                <a:rPr lang="en-US" sz="2499" dirty="0" err="1">
                  <a:solidFill>
                    <a:srgbClr val="1A1A1A"/>
                  </a:solidFill>
                  <a:latin typeface="프리텐다드"/>
                  <a:ea typeface="프리텐다드"/>
                  <a:cs typeface="프리텐다드"/>
                  <a:sym typeface="프리텐다드"/>
                </a:rPr>
                <a:t>검토하면</a:t>
              </a:r>
              <a:r>
                <a:rPr lang="en-US" sz="2499" dirty="0">
                  <a:solidFill>
                    <a:srgbClr val="1A1A1A"/>
                  </a:solidFill>
                  <a:latin typeface="프리텐다드"/>
                  <a:ea typeface="프리텐다드"/>
                  <a:cs typeface="프리텐다드"/>
                  <a:sym typeface="프리텐다드"/>
                </a:rPr>
                <a:t> 약 86원. </a:t>
              </a:r>
              <a:r>
                <a:rPr lang="en-US" sz="2499" dirty="0" err="1">
                  <a:solidFill>
                    <a:srgbClr val="1A1A1A"/>
                  </a:solidFill>
                  <a:latin typeface="프리텐다드"/>
                  <a:ea typeface="프리텐다드"/>
                  <a:cs typeface="프리텐다드"/>
                  <a:sym typeface="프리텐다드"/>
                </a:rPr>
                <a:t>손익분기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처리비는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이보다</a:t>
              </a:r>
              <a:r>
                <a:rPr lang="en-US" sz="2499" dirty="0">
                  <a:solidFill>
                    <a:srgbClr val="1A1A1A"/>
                  </a:solidFill>
                  <a:latin typeface="프리텐다드"/>
                  <a:ea typeface="프리텐다드"/>
                  <a:cs typeface="프리텐다드"/>
                  <a:sym typeface="프리텐다드"/>
                </a:rPr>
                <a:t> </a:t>
              </a:r>
              <a:r>
                <a:rPr lang="en-US" sz="2499" b="1" dirty="0">
                  <a:solidFill>
                    <a:srgbClr val="8B0000"/>
                  </a:solidFill>
                  <a:latin typeface="프리텐다드 Bold"/>
                  <a:ea typeface="프리텐다드 Bold"/>
                  <a:cs typeface="프리텐다드 Bold"/>
                  <a:sym typeface="프리텐다드 Bold"/>
                </a:rPr>
                <a:t>9 ~ 220배 </a:t>
              </a:r>
              <a:r>
                <a:rPr lang="en-US" sz="2499" b="1" dirty="0" err="1">
                  <a:solidFill>
                    <a:srgbClr val="8B0000"/>
                  </a:solidFill>
                  <a:latin typeface="프리텐다드 Bold"/>
                  <a:ea typeface="프리텐다드 Bold"/>
                  <a:cs typeface="프리텐다드 Bold"/>
                  <a:sym typeface="프리텐다드 Bold"/>
                </a:rPr>
                <a:t>큽니다</a:t>
              </a:r>
              <a:r>
                <a:rPr lang="en-US" sz="2499" b="1" dirty="0">
                  <a:solidFill>
                    <a:srgbClr val="8B0000"/>
                  </a:solidFill>
                  <a:latin typeface="프리텐다드 Bold"/>
                  <a:ea typeface="프리텐다드 Bold"/>
                  <a:cs typeface="프리텐다드 Bold"/>
                  <a:sym typeface="프리텐다드 Bold"/>
                </a:rPr>
                <a:t>. </a:t>
              </a:r>
              <a:r>
                <a:rPr lang="en-US" sz="2499" dirty="0" err="1">
                  <a:solidFill>
                    <a:srgbClr val="1A1A1A"/>
                  </a:solidFill>
                  <a:latin typeface="프리텐다드"/>
                  <a:ea typeface="프리텐다드"/>
                  <a:cs typeface="프리텐다드"/>
                  <a:sym typeface="프리텐다드"/>
                </a:rPr>
                <a:t>도입</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이유는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비용</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절감이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아니라</a:t>
              </a:r>
              <a:r>
                <a:rPr lang="en-US" sz="2499" dirty="0">
                  <a:solidFill>
                    <a:srgbClr val="1A1A1A"/>
                  </a:solidFill>
                  <a:latin typeface="프리텐다드"/>
                  <a:ea typeface="프리텐다드"/>
                  <a:cs typeface="프리텐다드"/>
                  <a:sym typeface="프리텐다드"/>
                </a:rPr>
                <a:t> </a:t>
              </a:r>
              <a:r>
                <a:rPr lang="en-US" sz="2499" b="1" dirty="0" err="1">
                  <a:solidFill>
                    <a:srgbClr val="1A1A1A"/>
                  </a:solidFill>
                  <a:latin typeface="프리텐다드 Bold"/>
                  <a:ea typeface="프리텐다드 Bold"/>
                  <a:cs typeface="프리텐다드 Bold"/>
                  <a:sym typeface="프리텐다드 Bold"/>
                </a:rPr>
                <a:t>규제</a:t>
              </a:r>
              <a:r>
                <a:rPr lang="en-US" sz="2499" b="1" dirty="0">
                  <a:solidFill>
                    <a:srgbClr val="1A1A1A"/>
                  </a:solidFill>
                  <a:latin typeface="프리텐다드 Bold"/>
                  <a:ea typeface="프리텐다드 Bold"/>
                  <a:cs typeface="프리텐다드 Bold"/>
                  <a:sym typeface="프리텐다드 Bold"/>
                </a:rPr>
                <a:t> </a:t>
              </a:r>
              <a:r>
                <a:rPr lang="en-US" sz="2499" b="1" dirty="0" err="1">
                  <a:solidFill>
                    <a:srgbClr val="1A1A1A"/>
                  </a:solidFill>
                  <a:latin typeface="프리텐다드 Bold"/>
                  <a:ea typeface="프리텐다드 Bold"/>
                  <a:cs typeface="프리텐다드 Bold"/>
                  <a:sym typeface="프리텐다드 Bold"/>
                </a:rPr>
                <a:t>대응</a:t>
              </a:r>
              <a:r>
                <a:rPr lang="en-US" sz="2499" dirty="0" err="1">
                  <a:solidFill>
                    <a:srgbClr val="1A1A1A"/>
                  </a:solidFill>
                  <a:latin typeface="프리텐다드"/>
                  <a:ea typeface="프리텐다드"/>
                  <a:cs typeface="프리텐다드"/>
                  <a:sym typeface="프리텐다드"/>
                </a:rPr>
                <a:t>입니</a:t>
              </a:r>
              <a:r>
                <a:rPr lang="ko-KR" altLang="en-US" sz="2499" dirty="0">
                  <a:solidFill>
                    <a:srgbClr val="1A1A1A"/>
                  </a:solidFill>
                  <a:latin typeface="프리텐다드"/>
                  <a:ea typeface="프리텐다드"/>
                  <a:cs typeface="프리텐다드"/>
                  <a:sym typeface="프리텐다드"/>
                </a:rPr>
                <a:t>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dirty="0"/>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한계</a:t>
              </a:r>
              <a:r>
                <a:rPr lang="en-US" sz="3800" b="1" dirty="0">
                  <a:solidFill>
                    <a:srgbClr val="1A1A1A"/>
                  </a:solidFill>
                  <a:latin typeface="프리텐다드 Bold"/>
                  <a:ea typeface="프리텐다드 Bold"/>
                  <a:cs typeface="프리텐다드 Bold"/>
                  <a:sym typeface="프리텐다드 Bold"/>
                </a:rPr>
                <a:t> : </a:t>
              </a:r>
              <a:r>
                <a:rPr lang="ko-KR" altLang="en-US" sz="3800" b="1" dirty="0">
                  <a:solidFill>
                    <a:srgbClr val="8B0000"/>
                  </a:solidFill>
                  <a:latin typeface="프리텐다드 Bold"/>
                  <a:ea typeface="프리텐다드 Bold"/>
                  <a:cs typeface="프리텐다드 Bold"/>
                  <a:sym typeface="프리텐다드 Bold"/>
                </a:rPr>
                <a:t>어려운 유형 위주로 찍은 폰 사진에서는 다섯 장 중 한 장을 못 읽습니다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20</a:t>
              </a:r>
            </a:p>
          </p:txBody>
        </p:sp>
      </p:grpSp>
      <p:grpSp>
        <p:nvGrpSpPr>
          <p:cNvPr id="11" name="Group 11"/>
          <p:cNvGrpSpPr/>
          <p:nvPr/>
        </p:nvGrpSpPr>
        <p:grpSpPr>
          <a:xfrm>
            <a:off x="535943" y="1816103"/>
            <a:ext cx="8437883" cy="4048763"/>
            <a:chOff x="0" y="0"/>
            <a:chExt cx="11250511" cy="5398351"/>
          </a:xfrm>
        </p:grpSpPr>
        <p:sp>
          <p:nvSpPr>
            <p:cNvPr id="12" name="Freeform 12"/>
            <p:cNvSpPr/>
            <p:nvPr/>
          </p:nvSpPr>
          <p:spPr>
            <a:xfrm>
              <a:off x="0" y="0"/>
              <a:ext cx="11250549" cy="5398389"/>
            </a:xfrm>
            <a:custGeom>
              <a:avLst/>
              <a:gdLst/>
              <a:ahLst/>
              <a:cxnLst/>
              <a:rect l="l" t="t" r="r" b="b"/>
              <a:pathLst>
                <a:path w="11250549" h="5398389">
                  <a:moveTo>
                    <a:pt x="0" y="196342"/>
                  </a:moveTo>
                  <a:cubicBezTo>
                    <a:pt x="0" y="87884"/>
                    <a:pt x="87884" y="0"/>
                    <a:pt x="196342" y="0"/>
                  </a:cubicBezTo>
                  <a:lnTo>
                    <a:pt x="11054207" y="0"/>
                  </a:lnTo>
                  <a:cubicBezTo>
                    <a:pt x="11162664" y="0"/>
                    <a:pt x="11250549" y="87884"/>
                    <a:pt x="11250549" y="196342"/>
                  </a:cubicBezTo>
                  <a:lnTo>
                    <a:pt x="11250549" y="5202047"/>
                  </a:lnTo>
                  <a:cubicBezTo>
                    <a:pt x="11250549" y="5310505"/>
                    <a:pt x="11162664" y="5398389"/>
                    <a:pt x="11054207" y="5398389"/>
                  </a:cubicBezTo>
                  <a:lnTo>
                    <a:pt x="196342" y="5398389"/>
                  </a:lnTo>
                  <a:cubicBezTo>
                    <a:pt x="87884" y="5398389"/>
                    <a:pt x="0" y="5310505"/>
                    <a:pt x="0" y="520204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3" name="TextBox 13"/>
          <p:cNvSpPr txBox="1"/>
          <p:nvPr/>
        </p:nvSpPr>
        <p:spPr>
          <a:xfrm>
            <a:off x="859541" y="2192664"/>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틀리는 방향 (직접 찍은 폰 사진 389장)</a:t>
            </a:r>
          </a:p>
        </p:txBody>
      </p:sp>
      <p:pic>
        <p:nvPicPr>
          <p:cNvPr id="14" name="Picture 14"/>
          <p:cNvPicPr>
            <a:picLocks noChangeAspect="1"/>
          </p:cNvPicPr>
          <p:nvPr/>
        </p:nvPicPr>
        <p:blipFill>
          <a:blip r:embed="rId4"/>
          <a:stretch>
            <a:fillRect/>
          </a:stretch>
        </p:blipFill>
        <p:spPr>
          <a:xfrm>
            <a:off x="381000" y="1954715"/>
            <a:ext cx="9386750" cy="4492224"/>
          </a:xfrm>
          <a:prstGeom prst="rect">
            <a:avLst/>
          </a:prstGeom>
        </p:spPr>
      </p:pic>
      <p:grpSp>
        <p:nvGrpSpPr>
          <p:cNvPr id="15" name="Group 15"/>
          <p:cNvGrpSpPr/>
          <p:nvPr/>
        </p:nvGrpSpPr>
        <p:grpSpPr>
          <a:xfrm>
            <a:off x="9314183" y="1816103"/>
            <a:ext cx="8437883" cy="4048763"/>
            <a:chOff x="0" y="0"/>
            <a:chExt cx="11250511" cy="5398351"/>
          </a:xfrm>
        </p:grpSpPr>
        <p:sp>
          <p:nvSpPr>
            <p:cNvPr id="16" name="Freeform 16"/>
            <p:cNvSpPr/>
            <p:nvPr/>
          </p:nvSpPr>
          <p:spPr>
            <a:xfrm>
              <a:off x="0" y="0"/>
              <a:ext cx="11250549" cy="5398389"/>
            </a:xfrm>
            <a:custGeom>
              <a:avLst/>
              <a:gdLst/>
              <a:ahLst/>
              <a:cxnLst/>
              <a:rect l="l" t="t" r="r" b="b"/>
              <a:pathLst>
                <a:path w="11250549" h="5398389">
                  <a:moveTo>
                    <a:pt x="0" y="196342"/>
                  </a:moveTo>
                  <a:cubicBezTo>
                    <a:pt x="0" y="87884"/>
                    <a:pt x="87884" y="0"/>
                    <a:pt x="196342" y="0"/>
                  </a:cubicBezTo>
                  <a:lnTo>
                    <a:pt x="11054207" y="0"/>
                  </a:lnTo>
                  <a:cubicBezTo>
                    <a:pt x="11162664" y="0"/>
                    <a:pt x="11250549" y="87884"/>
                    <a:pt x="11250549" y="196342"/>
                  </a:cubicBezTo>
                  <a:lnTo>
                    <a:pt x="11250549" y="5202047"/>
                  </a:lnTo>
                  <a:cubicBezTo>
                    <a:pt x="11250549" y="5310505"/>
                    <a:pt x="11162664" y="5398389"/>
                    <a:pt x="11054207" y="5398389"/>
                  </a:cubicBezTo>
                  <a:lnTo>
                    <a:pt x="196342" y="5398389"/>
                  </a:lnTo>
                  <a:cubicBezTo>
                    <a:pt x="87884" y="5398389"/>
                    <a:pt x="0" y="5310505"/>
                    <a:pt x="0" y="520204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7" name="TextBox 17"/>
          <p:cNvSpPr txBox="1"/>
          <p:nvPr/>
        </p:nvSpPr>
        <p:spPr>
          <a:xfrm>
            <a:off x="9601205" y="2192664"/>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남은 한계</a:t>
            </a:r>
          </a:p>
        </p:txBody>
      </p:sp>
      <p:sp>
        <p:nvSpPr>
          <p:cNvPr id="18" name="TextBox 18"/>
          <p:cNvSpPr txBox="1"/>
          <p:nvPr/>
        </p:nvSpPr>
        <p:spPr>
          <a:xfrm>
            <a:off x="9601205" y="2777744"/>
            <a:ext cx="7658095" cy="2572435"/>
          </a:xfrm>
          <a:prstGeom prst="rect">
            <a:avLst/>
          </a:prstGeom>
        </p:spPr>
        <p:txBody>
          <a:bodyPr lIns="0" tIns="0" rIns="0" bIns="0" rtlCol="0" anchor="t">
            <a:spAutoFit/>
          </a:bodyPr>
          <a:lstStyle/>
          <a:p>
            <a:pPr marL="506730" lvl="1" indent="-253365" algn="just">
              <a:lnSpc>
                <a:spcPts val="3360"/>
              </a:lnSpc>
              <a:buFont typeface="Arial"/>
              <a:buChar char="•"/>
            </a:pPr>
            <a:r>
              <a:rPr lang="ko-KR" altLang="en-US" sz="2100" dirty="0" err="1">
                <a:solidFill>
                  <a:srgbClr val="1A1A1A"/>
                </a:solidFill>
                <a:latin typeface="프리텐다드"/>
                <a:ea typeface="프리텐다드"/>
                <a:cs typeface="프리텐다드"/>
                <a:sym typeface="프리텐다드"/>
              </a:rPr>
              <a:t>미인식</a:t>
            </a:r>
            <a:r>
              <a:rPr lang="ko-KR" altLang="en-US" sz="2100" dirty="0">
                <a:solidFill>
                  <a:srgbClr val="1A1A1A"/>
                </a:solidFill>
                <a:latin typeface="프리텐다드"/>
                <a:ea typeface="프리텐다드"/>
                <a:cs typeface="프리텐다드"/>
                <a:sym typeface="프리텐다드"/>
              </a:rPr>
              <a:t> </a:t>
            </a:r>
            <a:r>
              <a:rPr lang="en-US" sz="2100" dirty="0">
                <a:solidFill>
                  <a:srgbClr val="1A1A1A"/>
                </a:solidFill>
                <a:latin typeface="프리텐다드"/>
                <a:ea typeface="프리텐다드"/>
                <a:cs typeface="프리텐다드"/>
                <a:sym typeface="프리텐다드"/>
              </a:rPr>
              <a:t>21.9% 는 </a:t>
            </a:r>
            <a:r>
              <a:rPr lang="en-US" sz="2100" dirty="0" err="1">
                <a:solidFill>
                  <a:srgbClr val="1A1A1A"/>
                </a:solidFill>
                <a:latin typeface="프리텐다드"/>
                <a:ea typeface="프리텐다드"/>
                <a:cs typeface="프리텐다드"/>
                <a:sym typeface="프리텐다드"/>
              </a:rPr>
              <a:t>봉인</a:t>
            </a:r>
            <a:r>
              <a:rPr lang="en-US" sz="2100" dirty="0">
                <a:solidFill>
                  <a:srgbClr val="1A1A1A"/>
                </a:solidFill>
                <a:latin typeface="프리텐다드"/>
                <a:ea typeface="프리텐다드"/>
                <a:cs typeface="프리텐다드"/>
                <a:sym typeface="프리텐다드"/>
              </a:rPr>
              <a:t> 500장(3.0%)의 약 </a:t>
            </a:r>
            <a:r>
              <a:rPr lang="en-US" sz="2100" dirty="0" err="1">
                <a:solidFill>
                  <a:srgbClr val="1A1A1A"/>
                </a:solidFill>
                <a:latin typeface="프리텐다드"/>
                <a:ea typeface="프리텐다드"/>
                <a:cs typeface="프리텐다드"/>
                <a:sym typeface="프리텐다드"/>
              </a:rPr>
              <a:t>일곱</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배입니다</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찍은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사람과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촬영</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조건에</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따라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크게</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갈립니다</a:t>
            </a:r>
            <a:r>
              <a:rPr lang="en-US" sz="2100" dirty="0">
                <a:solidFill>
                  <a:srgbClr val="1A1A1A"/>
                </a:solidFill>
                <a:latin typeface="프리텐다드"/>
                <a:ea typeface="프리텐다드"/>
                <a:cs typeface="프리텐다드"/>
                <a:sym typeface="프리텐다드"/>
              </a:rPr>
              <a:t>.</a:t>
            </a:r>
          </a:p>
          <a:p>
            <a:pPr marL="506730" lvl="1" indent="-253365" algn="just">
              <a:lnSpc>
                <a:spcPts val="3360"/>
              </a:lnSpc>
              <a:buFont typeface="Arial"/>
              <a:buChar char="•"/>
            </a:pPr>
            <a:r>
              <a:rPr lang="en-US" sz="2100" dirty="0">
                <a:solidFill>
                  <a:srgbClr val="1A1A1A"/>
                </a:solidFill>
                <a:latin typeface="프리텐다드"/>
                <a:ea typeface="프리텐다드"/>
                <a:cs typeface="프리텐다드"/>
                <a:sym typeface="프리텐다드"/>
              </a:rPr>
              <a:t>389장은 </a:t>
            </a:r>
            <a:r>
              <a:rPr lang="en-US" sz="2100" dirty="0" err="1">
                <a:solidFill>
                  <a:srgbClr val="1A1A1A"/>
                </a:solidFill>
                <a:latin typeface="프리텐다드"/>
                <a:ea typeface="프리텐다드"/>
                <a:cs typeface="프리텐다드"/>
                <a:sym typeface="프리텐다드"/>
              </a:rPr>
              <a:t>어려운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유형</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위주로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찍은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것입니다</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실제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게시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다시</a:t>
            </a:r>
            <a:r>
              <a:rPr lang="en-US" sz="2100" dirty="0">
                <a:solidFill>
                  <a:srgbClr val="1A1A1A"/>
                </a:solidFill>
                <a:latin typeface="프리텐다드"/>
                <a:ea typeface="프리텐다드"/>
                <a:cs typeface="프리텐다드"/>
                <a:sym typeface="프리텐다드"/>
              </a:rPr>
              <a:t> </a:t>
            </a:r>
            <a:r>
              <a:rPr lang="ko-KR" altLang="en-US" sz="2100" dirty="0">
                <a:solidFill>
                  <a:srgbClr val="1A1A1A"/>
                </a:solidFill>
                <a:latin typeface="프리텐다드"/>
                <a:ea typeface="프리텐다드"/>
                <a:cs typeface="프리텐다드"/>
                <a:sym typeface="프리텐다드"/>
              </a:rPr>
              <a:t>측정해야 합니다</a:t>
            </a:r>
            <a:r>
              <a:rPr lang="en-US" altLang="ko-KR" sz="2100" dirty="0">
                <a:solidFill>
                  <a:srgbClr val="1A1A1A"/>
                </a:solidFill>
                <a:latin typeface="프리텐다드"/>
                <a:ea typeface="프리텐다드"/>
                <a:cs typeface="프리텐다드"/>
                <a:sym typeface="프리텐다드"/>
              </a:rPr>
              <a:t>.</a:t>
            </a:r>
            <a:endParaRPr lang="en-US" sz="2100" dirty="0">
              <a:solidFill>
                <a:srgbClr val="1A1A1A"/>
              </a:solidFill>
              <a:latin typeface="프리텐다드"/>
              <a:ea typeface="프리텐다드"/>
              <a:cs typeface="프리텐다드"/>
              <a:sym typeface="프리텐다드"/>
            </a:endParaRPr>
          </a:p>
          <a:p>
            <a:pPr marL="506730" lvl="1" indent="-253365" algn="just">
              <a:lnSpc>
                <a:spcPts val="3360"/>
              </a:lnSpc>
              <a:buFont typeface="Arial"/>
              <a:buChar char="•"/>
            </a:pPr>
            <a:r>
              <a:rPr lang="en-US" sz="2100" dirty="0" err="1">
                <a:solidFill>
                  <a:srgbClr val="1A1A1A"/>
                </a:solidFill>
                <a:latin typeface="프리텐다드"/>
                <a:ea typeface="프리텐다드"/>
                <a:cs typeface="프리텐다드"/>
                <a:sym typeface="프리텐다드"/>
              </a:rPr>
              <a:t>조작·개봉</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여부·카테고리를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바꿔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촬영을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피하는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것은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막지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못합니다</a:t>
            </a:r>
            <a:r>
              <a:rPr lang="en-US" sz="2100" dirty="0">
                <a:solidFill>
                  <a:srgbClr val="1A1A1A"/>
                </a:solidFill>
                <a:latin typeface="프리텐다드"/>
                <a:ea typeface="프리텐다드"/>
                <a:cs typeface="프리텐다드"/>
                <a:sym typeface="프리텐다드"/>
              </a:rPr>
              <a:t>.</a:t>
            </a:r>
          </a:p>
          <a:p>
            <a:pPr marL="506730" lvl="1" indent="-253365" algn="just">
              <a:lnSpc>
                <a:spcPts val="3360"/>
              </a:lnSpc>
              <a:buFont typeface="Arial"/>
              <a:buChar char="•"/>
            </a:pPr>
            <a:r>
              <a:rPr lang="en-US" sz="2100" dirty="0" err="1">
                <a:solidFill>
                  <a:srgbClr val="1A1A1A"/>
                </a:solidFill>
                <a:latin typeface="프리텐다드"/>
                <a:ea typeface="프리텐다드"/>
                <a:cs typeface="프리텐다드"/>
                <a:sym typeface="프리텐다드"/>
              </a:rPr>
              <a:t>판매자가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보지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않고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확인을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누르는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비율은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재지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못했습니다</a:t>
            </a:r>
            <a:r>
              <a:rPr lang="en-US" sz="2100" dirty="0">
                <a:solidFill>
                  <a:srgbClr val="1A1A1A"/>
                </a:solidFill>
                <a:latin typeface="프리텐다드"/>
                <a:ea typeface="프리텐다드"/>
                <a:cs typeface="프리텐다드"/>
                <a:sym typeface="프리텐다드"/>
              </a:rPr>
              <a:t>.</a:t>
            </a:r>
          </a:p>
        </p:txBody>
      </p:sp>
      <p:sp>
        <p:nvSpPr>
          <p:cNvPr id="19" name="TextBox 19"/>
          <p:cNvSpPr txBox="1"/>
          <p:nvPr/>
        </p:nvSpPr>
        <p:spPr>
          <a:xfrm>
            <a:off x="548640" y="6171819"/>
            <a:ext cx="17190720" cy="428625"/>
          </a:xfrm>
          <a:prstGeom prst="rect">
            <a:avLst/>
          </a:prstGeom>
        </p:spPr>
        <p:txBody>
          <a:bodyPr lIns="0" tIns="0" rIns="0" bIns="0" rtlCol="0" anchor="t">
            <a:spAutoFit/>
          </a:bodyPr>
          <a:lstStyle/>
          <a:p>
            <a:pPr algn="l">
              <a:lnSpc>
                <a:spcPts val="3359"/>
              </a:lnSpc>
            </a:pPr>
            <a:r>
              <a:rPr lang="en-US" sz="2799" b="1">
                <a:solidFill>
                  <a:srgbClr val="1A1A1A"/>
                </a:solidFill>
                <a:latin typeface="프리텐다드 Bold"/>
                <a:ea typeface="프리텐다드 Bold"/>
                <a:cs typeface="프리텐다드 Bold"/>
                <a:sym typeface="프리텐다드 Bold"/>
              </a:rPr>
              <a:t>보완 계획</a:t>
            </a:r>
          </a:p>
        </p:txBody>
      </p:sp>
      <p:grpSp>
        <p:nvGrpSpPr>
          <p:cNvPr id="20" name="Group 20"/>
          <p:cNvGrpSpPr/>
          <p:nvPr/>
        </p:nvGrpSpPr>
        <p:grpSpPr>
          <a:xfrm>
            <a:off x="535943" y="6803136"/>
            <a:ext cx="17218657" cy="1159764"/>
            <a:chOff x="0" y="0"/>
            <a:chExt cx="22958209" cy="1546352"/>
          </a:xfrm>
        </p:grpSpPr>
        <p:grpSp>
          <p:nvGrpSpPr>
            <p:cNvPr id="21" name="Group 21"/>
            <p:cNvGrpSpPr/>
            <p:nvPr/>
          </p:nvGrpSpPr>
          <p:grpSpPr>
            <a:xfrm>
              <a:off x="0" y="56223"/>
              <a:ext cx="862927" cy="862927"/>
              <a:chOff x="0" y="0"/>
              <a:chExt cx="862927" cy="862927"/>
            </a:xfrm>
          </p:grpSpPr>
          <p:sp>
            <p:nvSpPr>
              <p:cNvPr id="22" name="Freeform 22"/>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3" name="Group 23"/>
            <p:cNvGrpSpPr/>
            <p:nvPr/>
          </p:nvGrpSpPr>
          <p:grpSpPr>
            <a:xfrm>
              <a:off x="16929" y="73152"/>
              <a:ext cx="829056" cy="829056"/>
              <a:chOff x="0" y="0"/>
              <a:chExt cx="829056" cy="829056"/>
            </a:xfrm>
          </p:grpSpPr>
          <p:sp>
            <p:nvSpPr>
              <p:cNvPr id="24" name="Freeform 24"/>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25" name="TextBox 25"/>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01</a:t>
                </a:r>
              </a:p>
            </p:txBody>
          </p:sp>
        </p:grpSp>
        <p:grpSp>
          <p:nvGrpSpPr>
            <p:cNvPr id="26" name="Group 26"/>
            <p:cNvGrpSpPr/>
            <p:nvPr/>
          </p:nvGrpSpPr>
          <p:grpSpPr>
            <a:xfrm>
              <a:off x="1041057" y="0"/>
              <a:ext cx="6372352" cy="784352"/>
              <a:chOff x="0" y="0"/>
              <a:chExt cx="6372352" cy="784352"/>
            </a:xfrm>
          </p:grpSpPr>
          <p:sp>
            <p:nvSpPr>
              <p:cNvPr id="27" name="Freeform 27"/>
              <p:cNvSpPr/>
              <p:nvPr/>
            </p:nvSpPr>
            <p:spPr>
              <a:xfrm>
                <a:off x="0" y="0"/>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28" name="TextBox 28"/>
              <p:cNvSpPr txBox="1"/>
              <p:nvPr/>
            </p:nvSpPr>
            <p:spPr>
              <a:xfrm>
                <a:off x="32512" y="43307"/>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촬영</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단계에서</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막는다</a:t>
                </a:r>
                <a:endParaRPr lang="en-US" sz="2300" b="1" dirty="0">
                  <a:solidFill>
                    <a:srgbClr val="1A1A1A"/>
                  </a:solidFill>
                  <a:latin typeface="프리텐다드 Bold"/>
                  <a:ea typeface="프리텐다드 Bold"/>
                  <a:cs typeface="프리텐다드 Bold"/>
                  <a:sym typeface="프리텐다드 Bold"/>
                </a:endParaRPr>
              </a:p>
            </p:txBody>
          </p:sp>
        </p:grpSp>
        <p:sp>
          <p:nvSpPr>
            <p:cNvPr id="29" name="TextBox 29"/>
            <p:cNvSpPr txBox="1"/>
            <p:nvPr/>
          </p:nvSpPr>
          <p:spPr>
            <a:xfrm>
              <a:off x="1073569" y="724027"/>
              <a:ext cx="6339840" cy="820737"/>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촬영</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안내와</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해상도·흐림</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검사</a:t>
              </a:r>
              <a:endParaRPr lang="en-US" sz="2000" dirty="0">
                <a:solidFill>
                  <a:srgbClr val="6B6B6B"/>
                </a:solidFill>
                <a:latin typeface="프리텐다드"/>
                <a:ea typeface="프리텐다드"/>
                <a:cs typeface="프리텐다드"/>
                <a:sym typeface="프리텐다드"/>
              </a:endParaRPr>
            </a:p>
            <a:p>
              <a:pPr algn="l">
                <a:lnSpc>
                  <a:spcPts val="2400"/>
                </a:lnSpc>
              </a:pPr>
              <a:r>
                <a:rPr lang="ko-KR" altLang="en-US" sz="2000" dirty="0">
                  <a:solidFill>
                    <a:srgbClr val="6B6B6B"/>
                  </a:solidFill>
                  <a:latin typeface="프리텐다드"/>
                  <a:ea typeface="프리텐다드"/>
                  <a:cs typeface="프리텐다드"/>
                  <a:sym typeface="프리텐다드"/>
                </a:rPr>
                <a:t>미달인 경우</a:t>
              </a:r>
              <a:r>
                <a:rPr lang="en-US" altLang="ko-KR" sz="2000" dirty="0">
                  <a:solidFill>
                    <a:srgbClr val="6B6B6B"/>
                  </a:solidFill>
                  <a:latin typeface="프리텐다드"/>
                  <a:ea typeface="프리텐다드"/>
                  <a:cs typeface="프리텐다드"/>
                  <a:sym typeface="프리텐다드"/>
                </a:rPr>
                <a:t> </a:t>
              </a:r>
              <a:r>
                <a:rPr lang="ko-KR" altLang="en-US" sz="2000" dirty="0">
                  <a:solidFill>
                    <a:srgbClr val="6B6B6B"/>
                  </a:solidFill>
                  <a:latin typeface="프리텐다드"/>
                  <a:ea typeface="프리텐다드"/>
                  <a:cs typeface="프리텐다드"/>
                  <a:sym typeface="프리텐다드"/>
                </a:rPr>
                <a:t>재촬영</a:t>
              </a:r>
              <a:endParaRPr lang="en-US" sz="2000" dirty="0">
                <a:solidFill>
                  <a:srgbClr val="6B6B6B"/>
                </a:solidFill>
                <a:latin typeface="프리텐다드"/>
                <a:ea typeface="프리텐다드"/>
                <a:cs typeface="프리텐다드"/>
                <a:sym typeface="프리텐다드"/>
              </a:endParaRPr>
            </a:p>
          </p:txBody>
        </p:sp>
        <p:grpSp>
          <p:nvGrpSpPr>
            <p:cNvPr id="30" name="Group 30"/>
            <p:cNvGrpSpPr/>
            <p:nvPr/>
          </p:nvGrpSpPr>
          <p:grpSpPr>
            <a:xfrm>
              <a:off x="7560062" y="56223"/>
              <a:ext cx="862927" cy="862927"/>
              <a:chOff x="0" y="0"/>
              <a:chExt cx="862927" cy="862927"/>
            </a:xfrm>
          </p:grpSpPr>
          <p:sp>
            <p:nvSpPr>
              <p:cNvPr id="31" name="Freeform 31"/>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2" name="Group 32"/>
            <p:cNvGrpSpPr/>
            <p:nvPr/>
          </p:nvGrpSpPr>
          <p:grpSpPr>
            <a:xfrm>
              <a:off x="7576991" y="73152"/>
              <a:ext cx="829056" cy="829056"/>
              <a:chOff x="0" y="0"/>
              <a:chExt cx="829056" cy="829056"/>
            </a:xfrm>
          </p:grpSpPr>
          <p:sp>
            <p:nvSpPr>
              <p:cNvPr id="33" name="Freeform 33"/>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34" name="TextBox 34"/>
              <p:cNvSpPr txBox="1"/>
              <p:nvPr/>
            </p:nvSpPr>
            <p:spPr>
              <a:xfrm>
                <a:off x="0" y="-9525"/>
                <a:ext cx="829056" cy="838581"/>
              </a:xfrm>
              <a:prstGeom prst="rect">
                <a:avLst/>
              </a:prstGeom>
            </p:spPr>
            <p:txBody>
              <a:bodyPr lIns="0" tIns="0" rIns="0" bIns="0" rtlCol="0" anchor="ctr"/>
              <a:lstStyle/>
              <a:p>
                <a:pPr algn="ctr">
                  <a:lnSpc>
                    <a:spcPts val="2400"/>
                  </a:lnSpc>
                </a:pPr>
                <a:r>
                  <a:rPr lang="en-US" sz="2000" b="1" dirty="0">
                    <a:solidFill>
                      <a:srgbClr val="FFFFFF"/>
                    </a:solidFill>
                    <a:latin typeface="프리텐다드 Bold"/>
                    <a:ea typeface="프리텐다드 Bold"/>
                    <a:cs typeface="프리텐다드 Bold"/>
                    <a:sym typeface="프리텐다드 Bold"/>
                  </a:rPr>
                  <a:t>02</a:t>
                </a:r>
              </a:p>
            </p:txBody>
          </p:sp>
        </p:grpSp>
        <p:grpSp>
          <p:nvGrpSpPr>
            <p:cNvPr id="35" name="Group 35"/>
            <p:cNvGrpSpPr/>
            <p:nvPr/>
          </p:nvGrpSpPr>
          <p:grpSpPr>
            <a:xfrm>
              <a:off x="8601119" y="0"/>
              <a:ext cx="6432291" cy="791464"/>
              <a:chOff x="0" y="0"/>
              <a:chExt cx="6432291" cy="791464"/>
            </a:xfrm>
          </p:grpSpPr>
          <p:sp>
            <p:nvSpPr>
              <p:cNvPr id="36" name="Freeform 36"/>
              <p:cNvSpPr/>
              <p:nvPr/>
            </p:nvSpPr>
            <p:spPr>
              <a:xfrm>
                <a:off x="0" y="0"/>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37" name="TextBox 37"/>
              <p:cNvSpPr txBox="1"/>
              <p:nvPr/>
            </p:nvSpPr>
            <p:spPr>
              <a:xfrm>
                <a:off x="92451" y="50419"/>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판매자</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수정값으로</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재학습</a:t>
                </a:r>
                <a:endParaRPr lang="en-US" sz="2300" b="1" dirty="0">
                  <a:solidFill>
                    <a:srgbClr val="1A1A1A"/>
                  </a:solidFill>
                  <a:latin typeface="프리텐다드 Bold"/>
                  <a:ea typeface="프리텐다드 Bold"/>
                  <a:cs typeface="프리텐다드 Bold"/>
                  <a:sym typeface="프리텐다드 Bold"/>
                </a:endParaRPr>
              </a:p>
            </p:txBody>
          </p:sp>
        </p:grpSp>
        <p:sp>
          <p:nvSpPr>
            <p:cNvPr id="38" name="TextBox 38"/>
            <p:cNvSpPr txBox="1"/>
            <p:nvPr/>
          </p:nvSpPr>
          <p:spPr>
            <a:xfrm>
              <a:off x="8693569" y="724027"/>
              <a:ext cx="6339840" cy="415925"/>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고친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값을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검수해</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인식기</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학습</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데이터로</a:t>
              </a:r>
              <a:endParaRPr lang="en-US" sz="2000" dirty="0">
                <a:solidFill>
                  <a:srgbClr val="6B6B6B"/>
                </a:solidFill>
                <a:latin typeface="프리텐다드"/>
                <a:ea typeface="프리텐다드"/>
                <a:cs typeface="프리텐다드"/>
                <a:sym typeface="프리텐다드"/>
              </a:endParaRPr>
            </a:p>
          </p:txBody>
        </p:sp>
        <p:grpSp>
          <p:nvGrpSpPr>
            <p:cNvPr id="39" name="Group 39"/>
            <p:cNvGrpSpPr/>
            <p:nvPr/>
          </p:nvGrpSpPr>
          <p:grpSpPr>
            <a:xfrm>
              <a:off x="15556992" y="56223"/>
              <a:ext cx="862927" cy="862927"/>
              <a:chOff x="0" y="0"/>
              <a:chExt cx="862927" cy="862927"/>
            </a:xfrm>
          </p:grpSpPr>
          <p:sp>
            <p:nvSpPr>
              <p:cNvPr id="40" name="Freeform 40"/>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1" name="Group 41"/>
            <p:cNvGrpSpPr/>
            <p:nvPr/>
          </p:nvGrpSpPr>
          <p:grpSpPr>
            <a:xfrm>
              <a:off x="15573921" y="73152"/>
              <a:ext cx="829056" cy="829056"/>
              <a:chOff x="0" y="0"/>
              <a:chExt cx="829056" cy="829056"/>
            </a:xfrm>
          </p:grpSpPr>
          <p:sp>
            <p:nvSpPr>
              <p:cNvPr id="42" name="Freeform 42"/>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43" name="TextBox 43"/>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03</a:t>
                </a:r>
              </a:p>
            </p:txBody>
          </p:sp>
        </p:grpSp>
        <p:grpSp>
          <p:nvGrpSpPr>
            <p:cNvPr id="44" name="Group 44"/>
            <p:cNvGrpSpPr/>
            <p:nvPr/>
          </p:nvGrpSpPr>
          <p:grpSpPr>
            <a:xfrm>
              <a:off x="16618369" y="43307"/>
              <a:ext cx="6339840" cy="741045"/>
              <a:chOff x="20320" y="43307"/>
              <a:chExt cx="6339840" cy="741045"/>
            </a:xfrm>
          </p:grpSpPr>
          <p:sp>
            <p:nvSpPr>
              <p:cNvPr id="45" name="Freeform 45"/>
              <p:cNvSpPr/>
              <p:nvPr/>
            </p:nvSpPr>
            <p:spPr>
              <a:xfrm>
                <a:off x="20320" y="52832"/>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46" name="TextBox 46"/>
              <p:cNvSpPr txBox="1"/>
              <p:nvPr/>
            </p:nvSpPr>
            <p:spPr>
              <a:xfrm>
                <a:off x="20320" y="43307"/>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확인을</a:t>
                </a:r>
                <a:r>
                  <a:rPr lang="en-US" sz="2300" b="1" dirty="0">
                    <a:solidFill>
                      <a:srgbClr val="1A1A1A"/>
                    </a:solidFill>
                    <a:latin typeface="프리텐다드 Bold"/>
                    <a:ea typeface="프리텐다드 Bold"/>
                    <a:cs typeface="프리텐다드 Bold"/>
                    <a:sym typeface="프리텐다드 Bold"/>
                  </a:rPr>
                  <a:t> </a:t>
                </a:r>
                <a:r>
                  <a:rPr lang="ko-KR" altLang="en-US" sz="2300" b="1" dirty="0">
                    <a:solidFill>
                      <a:srgbClr val="1A1A1A"/>
                    </a:solidFill>
                    <a:latin typeface="프리텐다드 Bold"/>
                    <a:ea typeface="프리텐다드 Bold"/>
                    <a:cs typeface="프리텐다드 Bold"/>
                    <a:sym typeface="프리텐다드 Bold"/>
                  </a:rPr>
                  <a:t>버튼이 아닌 직접 입력으로</a:t>
                </a:r>
                <a:endParaRPr lang="en-US" sz="2300" b="1" dirty="0">
                  <a:solidFill>
                    <a:srgbClr val="1A1A1A"/>
                  </a:solidFill>
                  <a:latin typeface="프리텐다드 Bold"/>
                  <a:ea typeface="프리텐다드 Bold"/>
                  <a:cs typeface="프리텐다드 Bold"/>
                  <a:sym typeface="프리텐다드 Bold"/>
                </a:endParaRPr>
              </a:p>
            </p:txBody>
          </p:sp>
        </p:grpSp>
        <p:sp>
          <p:nvSpPr>
            <p:cNvPr id="47" name="TextBox 47"/>
            <p:cNvSpPr txBox="1"/>
            <p:nvPr/>
          </p:nvSpPr>
          <p:spPr>
            <a:xfrm>
              <a:off x="16618369" y="724027"/>
              <a:ext cx="6339840" cy="822325"/>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버튼</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대신</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날짜의</a:t>
              </a:r>
              <a:r>
                <a:rPr lang="en-US" sz="2000" dirty="0">
                  <a:solidFill>
                    <a:srgbClr val="6B6B6B"/>
                  </a:solidFill>
                  <a:latin typeface="프리텐다드"/>
                  <a:ea typeface="프리텐다드"/>
                  <a:cs typeface="프리텐다드"/>
                  <a:sym typeface="프리텐다드"/>
                </a:rPr>
                <a:t> '일' </a:t>
              </a:r>
              <a:r>
                <a:rPr lang="en-US" sz="2000" dirty="0" err="1">
                  <a:solidFill>
                    <a:srgbClr val="6B6B6B"/>
                  </a:solidFill>
                  <a:latin typeface="프리텐다드"/>
                  <a:ea typeface="프리텐다드"/>
                  <a:cs typeface="프리텐다드"/>
                  <a:sym typeface="프리텐다드"/>
                </a:rPr>
                <a:t>칸을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다시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입력</a:t>
              </a:r>
              <a:endParaRPr lang="en-US" sz="2000" dirty="0">
                <a:solidFill>
                  <a:srgbClr val="6B6B6B"/>
                </a:solidFill>
                <a:latin typeface="프리텐다드"/>
                <a:ea typeface="프리텐다드"/>
                <a:cs typeface="프리텐다드"/>
                <a:sym typeface="프리텐다드"/>
              </a:endParaRPr>
            </a:p>
            <a:p>
              <a:pPr algn="l">
                <a:lnSpc>
                  <a:spcPts val="2400"/>
                </a:lnSpc>
              </a:pPr>
              <a:r>
                <a:rPr lang="en-US" sz="2000" dirty="0" err="1">
                  <a:solidFill>
                    <a:srgbClr val="6B6B6B"/>
                  </a:solidFill>
                  <a:latin typeface="프리텐다드"/>
                  <a:ea typeface="프리텐다드"/>
                  <a:cs typeface="프리텐다드"/>
                  <a:sym typeface="프리텐다드"/>
                </a:rPr>
                <a:t>실제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수정</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비율을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지표로</a:t>
              </a:r>
              <a:r>
                <a:rPr lang="en-US" sz="2000" dirty="0">
                  <a:solidFill>
                    <a:srgbClr val="6B6B6B"/>
                  </a:solidFill>
                  <a:latin typeface="프리텐다드"/>
                  <a:ea typeface="프리텐다드"/>
                  <a:cs typeface="프리텐다드"/>
                  <a:sym typeface="프리텐다드"/>
                </a:rPr>
                <a:t> </a:t>
              </a:r>
              <a:r>
                <a:rPr lang="ko-KR" altLang="en-US" sz="2000" dirty="0">
                  <a:solidFill>
                    <a:srgbClr val="6B6B6B"/>
                  </a:solidFill>
                  <a:latin typeface="프리텐다드"/>
                  <a:ea typeface="프리텐다드"/>
                  <a:cs typeface="프리텐다드"/>
                  <a:sym typeface="프리텐다드"/>
                </a:rPr>
                <a:t>활용</a:t>
              </a:r>
              <a:endParaRPr lang="en-US" sz="2000" dirty="0">
                <a:solidFill>
                  <a:srgbClr val="6B6B6B"/>
                </a:solidFill>
                <a:latin typeface="프리텐다드"/>
                <a:ea typeface="프리텐다드"/>
                <a:cs typeface="프리텐다드"/>
                <a:sym typeface="프리텐다드"/>
              </a:endParaRPr>
            </a:p>
          </p:txBody>
        </p:sp>
      </p:grpSp>
      <p:grpSp>
        <p:nvGrpSpPr>
          <p:cNvPr id="48" name="Group 48"/>
          <p:cNvGrpSpPr/>
          <p:nvPr/>
        </p:nvGrpSpPr>
        <p:grpSpPr>
          <a:xfrm>
            <a:off x="535943" y="8674103"/>
            <a:ext cx="17216123" cy="793499"/>
            <a:chOff x="0" y="0"/>
            <a:chExt cx="22954831" cy="1057999"/>
          </a:xfrm>
        </p:grpSpPr>
        <p:sp>
          <p:nvSpPr>
            <p:cNvPr id="49" name="Freeform 49"/>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0" name="Group 50"/>
          <p:cNvGrpSpPr/>
          <p:nvPr/>
        </p:nvGrpSpPr>
        <p:grpSpPr>
          <a:xfrm>
            <a:off x="822960" y="8686800"/>
            <a:ext cx="16642080" cy="768096"/>
            <a:chOff x="0" y="0"/>
            <a:chExt cx="22189440" cy="1024128"/>
          </a:xfrm>
        </p:grpSpPr>
        <p:sp>
          <p:nvSpPr>
            <p:cNvPr id="51" name="Freeform 51"/>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2" name="TextBox 52"/>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고칠 수 있는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오답은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거의</a:t>
              </a:r>
              <a:r>
                <a:rPr lang="en-US" sz="2499" dirty="0">
                  <a:solidFill>
                    <a:srgbClr val="1A1A1A"/>
                  </a:solidFill>
                  <a:latin typeface="프리텐다드"/>
                  <a:ea typeface="프리텐다드"/>
                  <a:cs typeface="프리텐다드"/>
                  <a:sym typeface="프리텐다드"/>
                </a:rPr>
                <a:t> 다 </a:t>
              </a:r>
              <a:r>
                <a:rPr lang="ko-KR" altLang="en-US" sz="2499" dirty="0">
                  <a:solidFill>
                    <a:srgbClr val="1A1A1A"/>
                  </a:solidFill>
                  <a:latin typeface="프리텐다드"/>
                  <a:ea typeface="프리텐다드"/>
                  <a:cs typeface="프리텐다드"/>
                  <a:sym typeface="프리텐다드"/>
                </a:rPr>
                <a:t>고쳤습니다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남은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것은</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인식</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품질</a:t>
              </a:r>
              <a:r>
                <a:rPr lang="en-US" sz="2499" b="1" dirty="0">
                  <a:solidFill>
                    <a:srgbClr val="8B0000"/>
                  </a:solidFill>
                  <a:latin typeface="프리텐다드 Bold"/>
                  <a:ea typeface="프리텐다드 Bold"/>
                  <a:cs typeface="프리텐다드 Bold"/>
                  <a:sym typeface="프리텐다드 Bold"/>
                </a:rPr>
                <a:t>(</a:t>
              </a:r>
              <a:r>
                <a:rPr lang="en-US" sz="2499" b="1" dirty="0" err="1">
                  <a:solidFill>
                    <a:srgbClr val="8B0000"/>
                  </a:solidFill>
                  <a:latin typeface="프리텐다드 Bold"/>
                  <a:ea typeface="프리텐다드 Bold"/>
                  <a:cs typeface="프리텐다드 Bold"/>
                  <a:sym typeface="프리텐다드 Bold"/>
                </a:rPr>
                <a:t>각인·도트</a:t>
              </a:r>
              <a:r>
                <a:rPr lang="en-US" sz="2499" b="1" dirty="0">
                  <a:solidFill>
                    <a:srgbClr val="8B0000"/>
                  </a:solidFill>
                  <a:latin typeface="프리텐다드 Bold"/>
                  <a:ea typeface="프리텐다드 Bold"/>
                  <a:cs typeface="프리텐다드 Bold"/>
                  <a:sym typeface="프리텐다드 Bold"/>
                </a:rPr>
                <a:t>)과 </a:t>
              </a:r>
              <a:r>
                <a:rPr lang="en-US" sz="2499" b="1" dirty="0" err="1">
                  <a:solidFill>
                    <a:srgbClr val="8B0000"/>
                  </a:solidFill>
                  <a:latin typeface="프리텐다드 Bold"/>
                  <a:ea typeface="프리텐다드 Bold"/>
                  <a:cs typeface="프리텐다드 Bold"/>
                  <a:sym typeface="프리텐다드 Bold"/>
                </a:rPr>
                <a:t>저해상도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입니다</a:t>
              </a:r>
              <a:r>
                <a:rPr lang="en-US" sz="2499" dirty="0">
                  <a:solidFill>
                    <a:srgbClr val="1A1A1A"/>
                  </a:solidFill>
                  <a:latin typeface="프리텐다드"/>
                  <a:ea typeface="프리텐다드"/>
                  <a:cs typeface="프리텐다드"/>
                  <a:sym typeface="프리텐다드"/>
                </a:rPr>
                <a:t>.</a:t>
              </a:r>
            </a:p>
          </p:txBody>
        </p:sp>
      </p:grpSp>
      <p:sp>
        <p:nvSpPr>
          <p:cNvPr id="57" name="TextBox 56">
            <a:extLst>
              <a:ext uri="{FF2B5EF4-FFF2-40B4-BE49-F238E27FC236}">
                <a16:creationId xmlns:a16="http://schemas.microsoft.com/office/drawing/2014/main" id="{2456B94B-55B6-8672-9A7D-C0D06D506251}"/>
              </a:ext>
            </a:extLst>
          </p:cNvPr>
          <p:cNvSpPr txBox="1"/>
          <p:nvPr/>
        </p:nvSpPr>
        <p:spPr>
          <a:xfrm>
            <a:off x="548640" y="3959792"/>
            <a:ext cx="947695" cy="292388"/>
          </a:xfrm>
          <a:prstGeom prst="rect">
            <a:avLst/>
          </a:prstGeom>
          <a:solidFill>
            <a:srgbClr val="F2F2F2"/>
          </a:solidFill>
        </p:spPr>
        <p:txBody>
          <a:bodyPr wrap="none" rtlCol="0">
            <a:spAutoFit/>
          </a:bodyPr>
          <a:lstStyle/>
          <a:p>
            <a:r>
              <a:rPr lang="ko-KR" altLang="en-US" sz="1300" dirty="0">
                <a:latin typeface="프리텐다드" panose="020B0600000101010101" charset="-127"/>
                <a:ea typeface="프리텐다드" panose="020B0600000101010101" charset="-127"/>
                <a:cs typeface="프리텐다드" panose="020B0600000101010101" charset="-127"/>
              </a:rPr>
              <a:t>이르게 읽음</a:t>
            </a:r>
          </a:p>
        </p:txBody>
      </p:sp>
      <p:sp>
        <p:nvSpPr>
          <p:cNvPr id="59" name="TextBox 58">
            <a:extLst>
              <a:ext uri="{FF2B5EF4-FFF2-40B4-BE49-F238E27FC236}">
                <a16:creationId xmlns:a16="http://schemas.microsoft.com/office/drawing/2014/main" id="{2AE228D0-0666-F9AE-AA81-BEC879257102}"/>
              </a:ext>
            </a:extLst>
          </p:cNvPr>
          <p:cNvSpPr txBox="1"/>
          <p:nvPr/>
        </p:nvSpPr>
        <p:spPr>
          <a:xfrm>
            <a:off x="639266" y="5068802"/>
            <a:ext cx="851515" cy="307777"/>
          </a:xfrm>
          <a:prstGeom prst="rect">
            <a:avLst/>
          </a:prstGeom>
          <a:solidFill>
            <a:srgbClr val="F2F2F2"/>
          </a:solidFill>
        </p:spPr>
        <p:txBody>
          <a:bodyPr wrap="none" rtlCol="0">
            <a:spAutoFit/>
          </a:bodyPr>
          <a:lstStyle/>
          <a:p>
            <a:r>
              <a:rPr lang="ko-KR" altLang="en-US" sz="1400" dirty="0">
                <a:latin typeface="프리텐다드" panose="020B0600000101010101" charset="-127"/>
                <a:ea typeface="프리텐다드" panose="020B0600000101010101" charset="-127"/>
                <a:cs typeface="프리텐다드" panose="020B0600000101010101" charset="-127"/>
              </a:rPr>
              <a:t>늦게 </a:t>
            </a:r>
            <a:r>
              <a:rPr lang="ko-KR" altLang="en-US" sz="1300" dirty="0">
                <a:latin typeface="프리텐다드" panose="020B0600000101010101" charset="-127"/>
                <a:ea typeface="프리텐다드" panose="020B0600000101010101" charset="-127"/>
                <a:cs typeface="프리텐다드" panose="020B0600000101010101" charset="-127"/>
              </a:rPr>
              <a:t>읽음</a:t>
            </a:r>
          </a:p>
        </p:txBody>
      </p:sp>
      <p:sp>
        <p:nvSpPr>
          <p:cNvPr id="61" name="TextBox 60">
            <a:extLst>
              <a:ext uri="{FF2B5EF4-FFF2-40B4-BE49-F238E27FC236}">
                <a16:creationId xmlns:a16="http://schemas.microsoft.com/office/drawing/2014/main" id="{77EF21FD-B3FF-6DAF-9581-76E4178F210A}"/>
              </a:ext>
            </a:extLst>
          </p:cNvPr>
          <p:cNvSpPr txBox="1"/>
          <p:nvPr/>
        </p:nvSpPr>
        <p:spPr>
          <a:xfrm>
            <a:off x="838200" y="2835570"/>
            <a:ext cx="617477" cy="292388"/>
          </a:xfrm>
          <a:prstGeom prst="rect">
            <a:avLst/>
          </a:prstGeom>
          <a:solidFill>
            <a:srgbClr val="F2F2F2"/>
          </a:solidFill>
        </p:spPr>
        <p:txBody>
          <a:bodyPr wrap="none" rtlCol="0">
            <a:spAutoFit/>
          </a:bodyPr>
          <a:lstStyle/>
          <a:p>
            <a:r>
              <a:rPr lang="ko-KR" altLang="en-US" sz="1300" dirty="0" err="1">
                <a:latin typeface="프리텐다드" panose="020B0600000101010101" charset="-127"/>
                <a:ea typeface="프리텐다드" panose="020B0600000101010101" charset="-127"/>
                <a:cs typeface="프리텐다드" panose="020B0600000101010101" charset="-127"/>
              </a:rPr>
              <a:t>미인식</a:t>
            </a:r>
            <a:endParaRPr lang="ko-KR" altLang="en-US" sz="1300" dirty="0">
              <a:latin typeface="프리텐다드" panose="020B0600000101010101" charset="-127"/>
              <a:ea typeface="프리텐다드" panose="020B0600000101010101" charset="-127"/>
              <a:cs typeface="프리텐다드" panose="020B0600000101010101" charset="-127"/>
            </a:endParaRPr>
          </a:p>
        </p:txBody>
      </p:sp>
      <p:sp>
        <p:nvSpPr>
          <p:cNvPr id="62" name="직사각형 61">
            <a:extLst>
              <a:ext uri="{FF2B5EF4-FFF2-40B4-BE49-F238E27FC236}">
                <a16:creationId xmlns:a16="http://schemas.microsoft.com/office/drawing/2014/main" id="{5717056E-B078-B81B-EA73-21306F28D466}"/>
              </a:ext>
            </a:extLst>
          </p:cNvPr>
          <p:cNvSpPr/>
          <p:nvPr/>
        </p:nvSpPr>
        <p:spPr>
          <a:xfrm>
            <a:off x="8628396" y="5327047"/>
            <a:ext cx="341381" cy="357305"/>
          </a:xfrm>
          <a:prstGeom prst="rect">
            <a:avLst/>
          </a:prstGeom>
          <a:solidFill>
            <a:srgbClr val="F2F2F2"/>
          </a:solidFill>
          <a:ln>
            <a:solidFill>
              <a:srgbClr val="F2F2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확장성 : </a:t>
              </a:r>
              <a:r>
                <a:rPr lang="en-US" sz="3800" b="1">
                  <a:solidFill>
                    <a:srgbClr val="8B0000"/>
                  </a:solidFill>
                  <a:latin typeface="프리텐다드 Bold"/>
                  <a:ea typeface="프리텐다드 Bold"/>
                  <a:cs typeface="프리텐다드 Bold"/>
                  <a:sym typeface="프리텐다드 Bold"/>
                </a:rPr>
                <a:t>"제품에 찍힌 기한" 을 읽는 모든 곳</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21</a:t>
              </a:r>
            </a:p>
          </p:txBody>
        </p:sp>
      </p:grpSp>
      <p:graphicFrame>
        <p:nvGraphicFramePr>
          <p:cNvPr id="11" name="Table 11"/>
          <p:cNvGraphicFramePr>
            <a:graphicFrameLocks noGrp="1"/>
          </p:cNvGraphicFramePr>
          <p:nvPr/>
        </p:nvGraphicFramePr>
        <p:xfrm>
          <a:off x="548640" y="1828800"/>
          <a:ext cx="17145000" cy="3429000"/>
        </p:xfrm>
        <a:graphic>
          <a:graphicData uri="http://schemas.openxmlformats.org/drawingml/2006/table">
            <a:tbl>
              <a:tblPr/>
              <a:tblGrid>
                <a:gridCol w="5646165">
                  <a:extLst>
                    <a:ext uri="{9D8B030D-6E8A-4147-A177-3AD203B41FA5}">
                      <a16:colId xmlns:a16="http://schemas.microsoft.com/office/drawing/2014/main" val="20000"/>
                    </a:ext>
                  </a:extLst>
                </a:gridCol>
                <a:gridCol w="3288979">
                  <a:extLst>
                    <a:ext uri="{9D8B030D-6E8A-4147-A177-3AD203B41FA5}">
                      <a16:colId xmlns:a16="http://schemas.microsoft.com/office/drawing/2014/main" val="20001"/>
                    </a:ext>
                  </a:extLst>
                </a:gridCol>
                <a:gridCol w="4376911">
                  <a:extLst>
                    <a:ext uri="{9D8B030D-6E8A-4147-A177-3AD203B41FA5}">
                      <a16:colId xmlns:a16="http://schemas.microsoft.com/office/drawing/2014/main" val="20002"/>
                    </a:ext>
                  </a:extLst>
                </a:gridCol>
                <a:gridCol w="3832945">
                  <a:extLst>
                    <a:ext uri="{9D8B030D-6E8A-4147-A177-3AD203B41FA5}">
                      <a16:colId xmlns:a16="http://schemas.microsoft.com/office/drawing/2014/main" val="20003"/>
                    </a:ext>
                  </a:extLst>
                </a:gridCol>
              </a:tblGrid>
              <a:tr h="685800">
                <a:tc>
                  <a:txBody>
                    <a:bodyPr/>
                    <a:lstStyle/>
                    <a:p>
                      <a:pPr algn="l">
                        <a:lnSpc>
                          <a:spcPts val="2423"/>
                        </a:lnSpc>
                        <a:defRPr/>
                      </a:pPr>
                      <a:r>
                        <a:rPr lang="en-US" sz="2019">
                          <a:solidFill>
                            <a:srgbClr val="FFFFFF"/>
                          </a:solidFill>
                          <a:latin typeface="프리텐다드"/>
                          <a:ea typeface="프리텐다드"/>
                          <a:cs typeface="프리텐다드"/>
                          <a:sym typeface="프리텐다드"/>
                        </a:rPr>
                        <a:t>적용 분야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읽는 값</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바꿀 것</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그대로 쓰는 것</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1단계 건강기능식품 → 2단계 가공식품 · 선물세트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소비기한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대상 카테고리, 상품별 촬영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파이프라인 전체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품목보고번호 인식 → 제품 조회·회수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품목보고번호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9자리 숫자 마스킹 규칙 재설계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탐지 · 인식 (정확도 미측정)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식품공장 출하 전 날짜 인쇄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소비기한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대조 대상 (제조일 + 품목별 일수)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놓칠 확률 한 장당 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의약품 · 화학 제품 출하 표시물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제조번호 · 사용기한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표기 형식 규칙</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읽기 · 대조 · 예외 처리</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12" name="Group 12"/>
          <p:cNvGrpSpPr/>
          <p:nvPr/>
        </p:nvGrpSpPr>
        <p:grpSpPr>
          <a:xfrm>
            <a:off x="535943" y="5748023"/>
            <a:ext cx="17216123" cy="2677163"/>
            <a:chOff x="0" y="0"/>
            <a:chExt cx="22954831" cy="3569551"/>
          </a:xfrm>
        </p:grpSpPr>
        <p:sp>
          <p:nvSpPr>
            <p:cNvPr id="13" name="Freeform 13"/>
            <p:cNvSpPr/>
            <p:nvPr/>
          </p:nvSpPr>
          <p:spPr>
            <a:xfrm>
              <a:off x="0" y="0"/>
              <a:ext cx="22954869" cy="3569589"/>
            </a:xfrm>
            <a:custGeom>
              <a:avLst/>
              <a:gdLst/>
              <a:ahLst/>
              <a:cxnLst/>
              <a:rect l="l" t="t" r="r" b="b"/>
              <a:pathLst>
                <a:path w="22954869" h="3569589">
                  <a:moveTo>
                    <a:pt x="0" y="196977"/>
                  </a:moveTo>
                  <a:cubicBezTo>
                    <a:pt x="0" y="88138"/>
                    <a:pt x="88138" y="0"/>
                    <a:pt x="196977" y="0"/>
                  </a:cubicBezTo>
                  <a:lnTo>
                    <a:pt x="22757892" y="0"/>
                  </a:lnTo>
                  <a:cubicBezTo>
                    <a:pt x="22866604" y="0"/>
                    <a:pt x="22954869" y="88138"/>
                    <a:pt x="22954869" y="196977"/>
                  </a:cubicBezTo>
                  <a:lnTo>
                    <a:pt x="22954869" y="3372612"/>
                  </a:lnTo>
                  <a:cubicBezTo>
                    <a:pt x="22954869" y="3481324"/>
                    <a:pt x="22866731" y="3569589"/>
                    <a:pt x="22757892" y="3569589"/>
                  </a:cubicBezTo>
                  <a:lnTo>
                    <a:pt x="196977" y="3569589"/>
                  </a:lnTo>
                  <a:cubicBezTo>
                    <a:pt x="88138" y="3569589"/>
                    <a:pt x="0" y="3481324"/>
                    <a:pt x="0" y="3372612"/>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1106800" y="6200775"/>
            <a:ext cx="1664208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왜 옮겨 쓸 수 있는가</a:t>
            </a:r>
          </a:p>
        </p:txBody>
      </p:sp>
      <p:sp>
        <p:nvSpPr>
          <p:cNvPr id="15" name="TextBox 15"/>
          <p:cNvSpPr txBox="1"/>
          <p:nvPr/>
        </p:nvSpPr>
        <p:spPr>
          <a:xfrm>
            <a:off x="822960" y="6622161"/>
            <a:ext cx="16642080" cy="1290447"/>
          </a:xfrm>
          <a:prstGeom prst="rect">
            <a:avLst/>
          </a:prstGeom>
        </p:spPr>
        <p:txBody>
          <a:bodyPr lIns="0" tIns="0" rIns="0" bIns="0" rtlCol="0" anchor="t">
            <a:spAutoFit/>
          </a:bodyPr>
          <a:lstStyle/>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딥러닝</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모델은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글자를</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읽는</a:t>
            </a:r>
            <a:r>
              <a:rPr lang="en-US" sz="2160" dirty="0">
                <a:solidFill>
                  <a:srgbClr val="1A1A1A"/>
                </a:solidFill>
                <a:latin typeface="프리텐다드"/>
                <a:ea typeface="프리텐다드"/>
                <a:cs typeface="프리텐다드"/>
                <a:sym typeface="프리텐다드"/>
              </a:rPr>
              <a:t> 일" 만 </a:t>
            </a:r>
            <a:r>
              <a:rPr lang="en-US" sz="2160" dirty="0" err="1">
                <a:solidFill>
                  <a:srgbClr val="1A1A1A"/>
                </a:solidFill>
                <a:latin typeface="프리텐다드"/>
                <a:ea typeface="프리텐다드"/>
                <a:cs typeface="프리텐다드"/>
                <a:sym typeface="프리텐다드"/>
              </a:rPr>
              <a:t>하고</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도메인</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지식은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전부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규칙</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문서</a:t>
            </a:r>
            <a:r>
              <a:rPr lang="en-US" sz="2160" dirty="0">
                <a:solidFill>
                  <a:srgbClr val="1A1A1A"/>
                </a:solidFill>
                <a:latin typeface="프리텐다드"/>
                <a:ea typeface="프리텐다드"/>
                <a:cs typeface="프리텐다드"/>
                <a:sym typeface="프리텐다드"/>
              </a:rPr>
              <a:t> 한 </a:t>
            </a:r>
            <a:r>
              <a:rPr lang="en-US" sz="2160" dirty="0" err="1">
                <a:solidFill>
                  <a:srgbClr val="1A1A1A"/>
                </a:solidFill>
                <a:latin typeface="프리텐다드"/>
                <a:ea typeface="프리텐다드"/>
                <a:cs typeface="프리텐다드"/>
                <a:sym typeface="프리텐다드"/>
              </a:rPr>
              <a:t>장에</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있습니다</a:t>
            </a:r>
            <a:r>
              <a:rPr lang="en-US" sz="2160" dirty="0">
                <a:solidFill>
                  <a:srgbClr val="1A1A1A"/>
                </a:solidFill>
                <a:latin typeface="프리텐다드"/>
                <a:ea typeface="프리텐다드"/>
                <a:cs typeface="프리텐다드"/>
                <a:sym typeface="프리텐다드"/>
              </a:rPr>
              <a:t>.</a:t>
            </a:r>
          </a:p>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읽기</a:t>
            </a:r>
            <a:r>
              <a:rPr lang="en-US" sz="2160" dirty="0">
                <a:solidFill>
                  <a:srgbClr val="1A1A1A"/>
                </a:solidFill>
                <a:latin typeface="프리텐다드"/>
                <a:ea typeface="프리텐다드"/>
                <a:cs typeface="프리텐다드"/>
                <a:sym typeface="프리텐다드"/>
              </a:rPr>
              <a:t> → </a:t>
            </a:r>
            <a:r>
              <a:rPr lang="en-US" sz="2160" dirty="0" err="1">
                <a:solidFill>
                  <a:srgbClr val="1A1A1A"/>
                </a:solidFill>
                <a:latin typeface="프리텐다드"/>
                <a:ea typeface="프리텐다드"/>
                <a:cs typeface="프리텐다드"/>
                <a:sym typeface="프리텐다드"/>
              </a:rPr>
              <a:t>기준값과</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대조</a:t>
            </a:r>
            <a:r>
              <a:rPr lang="en-US" sz="2160" dirty="0">
                <a:solidFill>
                  <a:srgbClr val="1A1A1A"/>
                </a:solidFill>
                <a:latin typeface="프리텐다드"/>
                <a:ea typeface="프리텐다드"/>
                <a:cs typeface="프리텐다드"/>
                <a:sym typeface="프리텐다드"/>
              </a:rPr>
              <a:t> → </a:t>
            </a:r>
            <a:r>
              <a:rPr lang="en-US" sz="2160" dirty="0" err="1">
                <a:solidFill>
                  <a:srgbClr val="1A1A1A"/>
                </a:solidFill>
                <a:latin typeface="프리텐다드"/>
                <a:ea typeface="프리텐다드"/>
                <a:cs typeface="프리텐다드"/>
                <a:sym typeface="프리텐다드"/>
              </a:rPr>
              <a:t>예외만</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사람에게</a:t>
            </a:r>
            <a:r>
              <a:rPr lang="en-US" sz="2160" dirty="0">
                <a:solidFill>
                  <a:srgbClr val="1A1A1A"/>
                </a:solidFill>
                <a:latin typeface="프리텐다드"/>
                <a:ea typeface="프리텐다드"/>
                <a:cs typeface="프리텐다드"/>
                <a:sym typeface="프리텐다드"/>
              </a:rPr>
              <a:t> : 이 세 </a:t>
            </a:r>
            <a:r>
              <a:rPr lang="en-US" sz="2160" dirty="0" err="1">
                <a:solidFill>
                  <a:srgbClr val="1A1A1A"/>
                </a:solidFill>
                <a:latin typeface="프리텐다드"/>
                <a:ea typeface="프리텐다드"/>
                <a:cs typeface="프리텐다드"/>
                <a:sym typeface="프리텐다드"/>
              </a:rPr>
              <a:t>단계는</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분야가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바뀌어도</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같습니다</a:t>
            </a:r>
            <a:r>
              <a:rPr lang="en-US" sz="2160" dirty="0">
                <a:solidFill>
                  <a:srgbClr val="1A1A1A"/>
                </a:solidFill>
                <a:latin typeface="프리텐다드"/>
                <a:ea typeface="프리텐다드"/>
                <a:cs typeface="프리텐다드"/>
                <a:sym typeface="프리텐다드"/>
              </a:rPr>
              <a:t>.</a:t>
            </a:r>
          </a:p>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사람</a:t>
            </a:r>
            <a:r>
              <a:rPr lang="en-US" sz="2160" dirty="0">
                <a:solidFill>
                  <a:srgbClr val="1A1A1A"/>
                </a:solidFill>
                <a:latin typeface="프리텐다드"/>
                <a:ea typeface="프리텐다드"/>
                <a:cs typeface="프리텐다드"/>
                <a:sym typeface="프리텐다드"/>
              </a:rPr>
              <a:t>(</a:t>
            </a:r>
            <a:r>
              <a:rPr lang="en-US" sz="2160" dirty="0" err="1">
                <a:solidFill>
                  <a:srgbClr val="1A1A1A"/>
                </a:solidFill>
                <a:latin typeface="프리텐다드"/>
                <a:ea typeface="프리텐다드"/>
                <a:cs typeface="프리텐다드"/>
                <a:sym typeface="프리텐다드"/>
              </a:rPr>
              <a:t>판매자·검수자</a:t>
            </a:r>
            <a:r>
              <a:rPr lang="en-US" sz="2160" dirty="0">
                <a:solidFill>
                  <a:srgbClr val="1A1A1A"/>
                </a:solidFill>
                <a:latin typeface="프리텐다드"/>
                <a:ea typeface="프리텐다드"/>
                <a:cs typeface="프리텐다드"/>
                <a:sym typeface="프리텐다드"/>
              </a:rPr>
              <a:t>)이 </a:t>
            </a:r>
            <a:r>
              <a:rPr lang="en-US" sz="2160" dirty="0" err="1">
                <a:solidFill>
                  <a:srgbClr val="1A1A1A"/>
                </a:solidFill>
                <a:latin typeface="프리텐다드"/>
                <a:ea typeface="프리텐다드"/>
                <a:cs typeface="프리텐다드"/>
                <a:sym typeface="프리텐다드"/>
              </a:rPr>
              <a:t>확정한</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값이</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다시</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학습</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데이터가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되는</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순환</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구조</a:t>
            </a:r>
            <a:endParaRPr lang="en-US" sz="2160" dirty="0">
              <a:solidFill>
                <a:srgbClr val="1A1A1A"/>
              </a:solidFill>
              <a:latin typeface="프리텐다드"/>
              <a:ea typeface="프리텐다드"/>
              <a:cs typeface="프리텐다드"/>
              <a:sym typeface="프리텐다드"/>
            </a:endParaRPr>
          </a:p>
        </p:txBody>
      </p:sp>
      <p:grpSp>
        <p:nvGrpSpPr>
          <p:cNvPr id="16" name="Group 16"/>
          <p:cNvGrpSpPr/>
          <p:nvPr/>
        </p:nvGrpSpPr>
        <p:grpSpPr>
          <a:xfrm>
            <a:off x="535943" y="8674103"/>
            <a:ext cx="17216123" cy="793499"/>
            <a:chOff x="0" y="0"/>
            <a:chExt cx="22954831" cy="1057999"/>
          </a:xfrm>
        </p:grpSpPr>
        <p:sp>
          <p:nvSpPr>
            <p:cNvPr id="17" name="Freeform 1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8" name="Group 18"/>
          <p:cNvGrpSpPr/>
          <p:nvPr/>
        </p:nvGrpSpPr>
        <p:grpSpPr>
          <a:xfrm>
            <a:off x="822960" y="8686800"/>
            <a:ext cx="16642080" cy="768096"/>
            <a:chOff x="0" y="0"/>
            <a:chExt cx="22189440" cy="1024128"/>
          </a:xfrm>
        </p:grpSpPr>
        <p:sp>
          <p:nvSpPr>
            <p:cNvPr id="19" name="Freeform 1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0" name="TextBox 2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문서</a:t>
              </a:r>
              <a:r>
                <a:rPr lang="en-US" sz="2499" dirty="0">
                  <a:solidFill>
                    <a:srgbClr val="1A1A1A"/>
                  </a:solidFill>
                  <a:latin typeface="프리텐다드"/>
                  <a:ea typeface="프리텐다드"/>
                  <a:cs typeface="프리텐다드"/>
                  <a:sym typeface="프리텐다드"/>
                </a:rPr>
                <a:t>만 </a:t>
              </a:r>
              <a:r>
                <a:rPr lang="en-US" sz="2499" dirty="0" err="1">
                  <a:solidFill>
                    <a:srgbClr val="1A1A1A"/>
                  </a:solidFill>
                  <a:latin typeface="프리텐다드"/>
                  <a:ea typeface="프리텐다드"/>
                  <a:cs typeface="프리텐다드"/>
                  <a:sym typeface="프리텐다드"/>
                </a:rPr>
                <a:t>바꾸면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되는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구조</a:t>
              </a:r>
              <a:r>
                <a:rPr lang="en-US" sz="2499" dirty="0">
                  <a:solidFill>
                    <a:srgbClr val="1A1A1A"/>
                  </a:solidFill>
                  <a:latin typeface="프리텐다드"/>
                  <a:ea typeface="프리텐다드"/>
                  <a:cs typeface="프리텐다드"/>
                  <a:sym typeface="프리텐다드"/>
                </a:rPr>
                <a:t> : </a:t>
              </a:r>
              <a:r>
                <a:rPr lang="en-US" sz="2499" b="1" dirty="0" err="1">
                  <a:solidFill>
                    <a:srgbClr val="8B0000"/>
                  </a:solidFill>
                  <a:latin typeface="프리텐다드 Bold"/>
                  <a:ea typeface="프리텐다드 Bold"/>
                  <a:cs typeface="프리텐다드 Bold"/>
                  <a:sym typeface="프리텐다드 Bold"/>
                </a:rPr>
                <a:t>모델을</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다시</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만들</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필요가</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없습니다</a:t>
              </a:r>
              <a:endParaRPr lang="en-US" sz="2499" b="1" dirty="0">
                <a:solidFill>
                  <a:srgbClr val="8B0000"/>
                </a:solidFill>
                <a:latin typeface="프리텐다드 Bold"/>
                <a:ea typeface="프리텐다드 Bold"/>
                <a:cs typeface="프리텐다드 Bold"/>
                <a:sym typeface="프리텐다드 Bold"/>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1267463" y="1358903"/>
            <a:ext cx="171707" cy="1031243"/>
            <a:chOff x="0" y="0"/>
            <a:chExt cx="228943" cy="1374991"/>
          </a:xfrm>
        </p:grpSpPr>
        <p:sp>
          <p:nvSpPr>
            <p:cNvPr id="3" name="Freeform 3"/>
            <p:cNvSpPr/>
            <p:nvPr/>
          </p:nvSpPr>
          <p:spPr>
            <a:xfrm>
              <a:off x="0" y="0"/>
              <a:ext cx="228981" cy="1375029"/>
            </a:xfrm>
            <a:custGeom>
              <a:avLst/>
              <a:gdLst/>
              <a:ahLst/>
              <a:cxnLst/>
              <a:rect l="l" t="t" r="r" b="b"/>
              <a:pathLst>
                <a:path w="228981" h="1375029">
                  <a:moveTo>
                    <a:pt x="0" y="0"/>
                  </a:moveTo>
                  <a:lnTo>
                    <a:pt x="228981" y="0"/>
                  </a:lnTo>
                  <a:lnTo>
                    <a:pt x="228981" y="1375029"/>
                  </a:lnTo>
                  <a:lnTo>
                    <a:pt x="0" y="137502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4" name="Group 4"/>
          <p:cNvGrpSpPr/>
          <p:nvPr/>
        </p:nvGrpSpPr>
        <p:grpSpPr>
          <a:xfrm>
            <a:off x="1737360" y="1316736"/>
            <a:ext cx="14630400" cy="1097280"/>
            <a:chOff x="0" y="0"/>
            <a:chExt cx="19507200" cy="1463040"/>
          </a:xfrm>
        </p:grpSpPr>
        <p:sp>
          <p:nvSpPr>
            <p:cNvPr id="5" name="Freeform 5"/>
            <p:cNvSpPr/>
            <p:nvPr/>
          </p:nvSpPr>
          <p:spPr>
            <a:xfrm>
              <a:off x="0" y="0"/>
              <a:ext cx="19507200" cy="1463040"/>
            </a:xfrm>
            <a:custGeom>
              <a:avLst/>
              <a:gdLst/>
              <a:ahLst/>
              <a:cxnLst/>
              <a:rect l="l" t="t" r="r" b="b"/>
              <a:pathLst>
                <a:path w="19507200" h="1463040">
                  <a:moveTo>
                    <a:pt x="0" y="0"/>
                  </a:moveTo>
                  <a:lnTo>
                    <a:pt x="19507200" y="0"/>
                  </a:lnTo>
                  <a:lnTo>
                    <a:pt x="19507200" y="1463040"/>
                  </a:lnTo>
                  <a:lnTo>
                    <a:pt x="0" y="1463040"/>
                  </a:lnTo>
                  <a:close/>
                </a:path>
              </a:pathLst>
            </a:custGeom>
            <a:blipFill>
              <a:blip r:embed="rId3">
                <a:alphaModFix amt="0"/>
              </a:blip>
              <a:stretch>
                <a:fillRect t="-209800" b="-209800"/>
              </a:stretch>
            </a:blipFill>
          </p:spPr>
          <p:txBody>
            <a:bodyPr/>
            <a:lstStyle/>
            <a:p>
              <a:endParaRPr lang="ko-KR" altLang="en-US"/>
            </a:p>
          </p:txBody>
        </p:sp>
        <p:sp>
          <p:nvSpPr>
            <p:cNvPr id="6" name="TextBox 6"/>
            <p:cNvSpPr txBox="1"/>
            <p:nvPr/>
          </p:nvSpPr>
          <p:spPr>
            <a:xfrm>
              <a:off x="0" y="-9525"/>
              <a:ext cx="19507200" cy="1472565"/>
            </a:xfrm>
            <a:prstGeom prst="rect">
              <a:avLst/>
            </a:prstGeom>
          </p:spPr>
          <p:txBody>
            <a:bodyPr lIns="0" tIns="0" rIns="0" bIns="0" rtlCol="0" anchor="ctr"/>
            <a:lstStyle/>
            <a:p>
              <a:pPr algn="l">
                <a:lnSpc>
                  <a:spcPts val="6239"/>
                </a:lnSpc>
              </a:pPr>
              <a:r>
                <a:rPr lang="en-US" sz="5199" b="1">
                  <a:solidFill>
                    <a:srgbClr val="FFFFFF"/>
                  </a:solidFill>
                  <a:latin typeface="프리텐다드 Bold"/>
                  <a:ea typeface="프리텐다드 Bold"/>
                  <a:cs typeface="프리텐다드 Bold"/>
                  <a:sym typeface="프리텐다드 Bold"/>
                </a:rPr>
                <a:t>정리</a:t>
              </a:r>
            </a:p>
          </p:txBody>
        </p:sp>
      </p:grpSp>
      <p:grpSp>
        <p:nvGrpSpPr>
          <p:cNvPr id="7" name="Group 7"/>
          <p:cNvGrpSpPr/>
          <p:nvPr/>
        </p:nvGrpSpPr>
        <p:grpSpPr>
          <a:xfrm>
            <a:off x="1724663" y="3151127"/>
            <a:ext cx="939803" cy="939803"/>
            <a:chOff x="0" y="0"/>
            <a:chExt cx="1253071" cy="1253071"/>
          </a:xfrm>
        </p:grpSpPr>
        <p:sp>
          <p:nvSpPr>
            <p:cNvPr id="8" name="Freeform 8"/>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9" name="Group 9"/>
          <p:cNvGrpSpPr/>
          <p:nvPr/>
        </p:nvGrpSpPr>
        <p:grpSpPr>
          <a:xfrm>
            <a:off x="1737360" y="3163824"/>
            <a:ext cx="914400" cy="914400"/>
            <a:chOff x="0" y="0"/>
            <a:chExt cx="1219200" cy="1219200"/>
          </a:xfrm>
        </p:grpSpPr>
        <p:sp>
          <p:nvSpPr>
            <p:cNvPr id="10" name="Freeform 10"/>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11" name="TextBox 11"/>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1</a:t>
              </a:r>
            </a:p>
          </p:txBody>
        </p:sp>
      </p:grpSp>
      <p:grpSp>
        <p:nvGrpSpPr>
          <p:cNvPr id="12" name="Group 12"/>
          <p:cNvGrpSpPr/>
          <p:nvPr/>
        </p:nvGrpSpPr>
        <p:grpSpPr>
          <a:xfrm>
            <a:off x="3017520" y="3072384"/>
            <a:ext cx="13898880" cy="654447"/>
            <a:chOff x="0" y="0"/>
            <a:chExt cx="18531840" cy="872596"/>
          </a:xfrm>
        </p:grpSpPr>
        <p:sp>
          <p:nvSpPr>
            <p:cNvPr id="13" name="Freeform 13"/>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14" name="TextBox 14"/>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제약에서 출발</a:t>
              </a:r>
            </a:p>
          </p:txBody>
        </p:sp>
      </p:grpSp>
      <p:sp>
        <p:nvSpPr>
          <p:cNvPr id="15" name="TextBox 15"/>
          <p:cNvSpPr txBox="1"/>
          <p:nvPr/>
        </p:nvSpPr>
        <p:spPr>
          <a:xfrm>
            <a:off x="3017520" y="3684651"/>
            <a:ext cx="13898880" cy="352425"/>
          </a:xfrm>
          <a:prstGeom prst="rect">
            <a:avLst/>
          </a:prstGeom>
        </p:spPr>
        <p:txBody>
          <a:bodyPr lIns="0" tIns="0" rIns="0" bIns="0" rtlCol="0" anchor="t">
            <a:spAutoFit/>
          </a:bodyPr>
          <a:lstStyle/>
          <a:p>
            <a:pPr algn="l">
              <a:lnSpc>
                <a:spcPts val="2760"/>
              </a:lnSpc>
            </a:pPr>
            <a:r>
              <a:rPr lang="en-US" sz="2300">
                <a:solidFill>
                  <a:srgbClr val="FFFFFF"/>
                </a:solidFill>
                <a:latin typeface="프리텐다드"/>
                <a:ea typeface="프리텐다드"/>
                <a:cs typeface="프리텐다드"/>
                <a:sym typeface="프리텐다드"/>
              </a:rPr>
              <a:t>4코어 CPU · 2,500초 안에서 끝까지 돌아가는 구조. 봉인 500장 86.2%, 한도의 55 ~ 79%</a:t>
            </a:r>
          </a:p>
        </p:txBody>
      </p:sp>
      <p:grpSp>
        <p:nvGrpSpPr>
          <p:cNvPr id="16" name="Group 16"/>
          <p:cNvGrpSpPr/>
          <p:nvPr/>
        </p:nvGrpSpPr>
        <p:grpSpPr>
          <a:xfrm>
            <a:off x="1724663" y="5071367"/>
            <a:ext cx="939803" cy="939803"/>
            <a:chOff x="0" y="0"/>
            <a:chExt cx="1253071" cy="1253071"/>
          </a:xfrm>
        </p:grpSpPr>
        <p:sp>
          <p:nvSpPr>
            <p:cNvPr id="17" name="Freeform 17"/>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18" name="Group 18"/>
          <p:cNvGrpSpPr/>
          <p:nvPr/>
        </p:nvGrpSpPr>
        <p:grpSpPr>
          <a:xfrm>
            <a:off x="1737360" y="5084064"/>
            <a:ext cx="914400" cy="914400"/>
            <a:chOff x="0" y="0"/>
            <a:chExt cx="1219200" cy="1219200"/>
          </a:xfrm>
        </p:grpSpPr>
        <p:sp>
          <p:nvSpPr>
            <p:cNvPr id="19" name="Freeform 19"/>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20" name="TextBox 20"/>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2</a:t>
              </a:r>
            </a:p>
          </p:txBody>
        </p:sp>
      </p:grpSp>
      <p:grpSp>
        <p:nvGrpSpPr>
          <p:cNvPr id="21" name="Group 21"/>
          <p:cNvGrpSpPr/>
          <p:nvPr/>
        </p:nvGrpSpPr>
        <p:grpSpPr>
          <a:xfrm>
            <a:off x="3017520" y="4992624"/>
            <a:ext cx="13898880" cy="654447"/>
            <a:chOff x="0" y="0"/>
            <a:chExt cx="18531840" cy="872596"/>
          </a:xfrm>
        </p:grpSpPr>
        <p:sp>
          <p:nvSpPr>
            <p:cNvPr id="22" name="Freeform 22"/>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23" name="TextBox 23"/>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검증을 먼저</a:t>
              </a:r>
            </a:p>
          </p:txBody>
        </p:sp>
      </p:grpSp>
      <p:sp>
        <p:nvSpPr>
          <p:cNvPr id="24" name="TextBox 24"/>
          <p:cNvSpPr txBox="1"/>
          <p:nvPr/>
        </p:nvSpPr>
        <p:spPr>
          <a:xfrm>
            <a:off x="3017520" y="5604891"/>
            <a:ext cx="13898880" cy="352425"/>
          </a:xfrm>
          <a:prstGeom prst="rect">
            <a:avLst/>
          </a:prstGeom>
        </p:spPr>
        <p:txBody>
          <a:bodyPr lIns="0" tIns="0" rIns="0" bIns="0" rtlCol="0" anchor="t">
            <a:spAutoFit/>
          </a:bodyPr>
          <a:lstStyle/>
          <a:p>
            <a:pPr algn="l">
              <a:lnSpc>
                <a:spcPts val="2760"/>
              </a:lnSpc>
            </a:pPr>
            <a:r>
              <a:rPr lang="en-US" sz="2300">
                <a:solidFill>
                  <a:srgbClr val="FFFFFF"/>
                </a:solidFill>
                <a:latin typeface="프리텐다드"/>
                <a:ea typeface="프리텐다드"/>
                <a:cs typeface="프리텐다드"/>
                <a:sym typeface="프리텐다드"/>
              </a:rPr>
              <a:t>전수 라벨링, 봉인 시험지, 회복·퇴보 기준. 점수가 올라도 퇴보가 크면 버렸습니다</a:t>
            </a:r>
          </a:p>
        </p:txBody>
      </p:sp>
      <p:grpSp>
        <p:nvGrpSpPr>
          <p:cNvPr id="25" name="Group 25"/>
          <p:cNvGrpSpPr/>
          <p:nvPr/>
        </p:nvGrpSpPr>
        <p:grpSpPr>
          <a:xfrm>
            <a:off x="1724663" y="6991607"/>
            <a:ext cx="939803" cy="939803"/>
            <a:chOff x="0" y="0"/>
            <a:chExt cx="1253071" cy="1253071"/>
          </a:xfrm>
        </p:grpSpPr>
        <p:sp>
          <p:nvSpPr>
            <p:cNvPr id="26" name="Freeform 26"/>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27" name="Group 27"/>
          <p:cNvGrpSpPr/>
          <p:nvPr/>
        </p:nvGrpSpPr>
        <p:grpSpPr>
          <a:xfrm>
            <a:off x="1737360" y="7004304"/>
            <a:ext cx="914400" cy="914400"/>
            <a:chOff x="0" y="0"/>
            <a:chExt cx="1219200" cy="1219200"/>
          </a:xfrm>
        </p:grpSpPr>
        <p:sp>
          <p:nvSpPr>
            <p:cNvPr id="28" name="Freeform 28"/>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29" name="TextBox 29"/>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3</a:t>
              </a:r>
            </a:p>
          </p:txBody>
        </p:sp>
      </p:grpSp>
      <p:grpSp>
        <p:nvGrpSpPr>
          <p:cNvPr id="30" name="Group 30"/>
          <p:cNvGrpSpPr/>
          <p:nvPr/>
        </p:nvGrpSpPr>
        <p:grpSpPr>
          <a:xfrm>
            <a:off x="3017520" y="6912864"/>
            <a:ext cx="13898880" cy="654447"/>
            <a:chOff x="0" y="0"/>
            <a:chExt cx="18531840" cy="872596"/>
          </a:xfrm>
        </p:grpSpPr>
        <p:sp>
          <p:nvSpPr>
            <p:cNvPr id="31" name="Freeform 31"/>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32" name="TextBox 32"/>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틀리는 방식을 설계</a:t>
              </a:r>
            </a:p>
          </p:txBody>
        </p:sp>
      </p:grpSp>
      <p:sp>
        <p:nvSpPr>
          <p:cNvPr id="33" name="TextBox 33"/>
          <p:cNvSpPr txBox="1"/>
          <p:nvPr/>
        </p:nvSpPr>
        <p:spPr>
          <a:xfrm>
            <a:off x="3017520" y="7525131"/>
            <a:ext cx="13898880" cy="352425"/>
          </a:xfrm>
          <a:prstGeom prst="rect">
            <a:avLst/>
          </a:prstGeom>
        </p:spPr>
        <p:txBody>
          <a:bodyPr lIns="0" tIns="0" rIns="0" bIns="0" rtlCol="0" anchor="t">
            <a:spAutoFit/>
          </a:bodyPr>
          <a:lstStyle/>
          <a:p>
            <a:pPr algn="l">
              <a:lnSpc>
                <a:spcPts val="2760"/>
              </a:lnSpc>
            </a:pPr>
            <a:r>
              <a:rPr lang="en-US" sz="2300" dirty="0" err="1">
                <a:solidFill>
                  <a:srgbClr val="FFFFFF"/>
                </a:solidFill>
                <a:latin typeface="프리텐다드"/>
                <a:ea typeface="프리텐다드"/>
                <a:cs typeface="프리텐다드"/>
                <a:sym typeface="프리텐다드"/>
              </a:rPr>
              <a:t>확신이</a:t>
            </a:r>
            <a:r>
              <a:rPr lang="en-US" sz="2300" dirty="0">
                <a:solidFill>
                  <a:srgbClr val="FFFFFF"/>
                </a:solidFill>
                <a:latin typeface="프리텐다드"/>
                <a:ea typeface="프리텐다드"/>
                <a:cs typeface="프리텐다드"/>
                <a:sym typeface="프리텐다드"/>
              </a:rPr>
              <a:t> </a:t>
            </a:r>
            <a:r>
              <a:rPr lang="en-US" sz="2300" dirty="0" err="1">
                <a:solidFill>
                  <a:srgbClr val="FFFFFF"/>
                </a:solidFill>
                <a:latin typeface="프리텐다드"/>
                <a:ea typeface="프리텐다드"/>
                <a:cs typeface="프리텐다드"/>
                <a:sym typeface="프리텐다드"/>
              </a:rPr>
              <a:t>없으면</a:t>
            </a:r>
            <a:r>
              <a:rPr lang="en-US" sz="2300" dirty="0">
                <a:solidFill>
                  <a:srgbClr val="FFFFFF"/>
                </a:solidFill>
                <a:latin typeface="프리텐다드"/>
                <a:ea typeface="프리텐다드"/>
                <a:cs typeface="프리텐다드"/>
                <a:sym typeface="프리텐다드"/>
              </a:rPr>
              <a:t> NONE, </a:t>
            </a:r>
            <a:r>
              <a:rPr lang="en-US" sz="2300" dirty="0" err="1">
                <a:solidFill>
                  <a:srgbClr val="FFFFFF"/>
                </a:solidFill>
                <a:latin typeface="프리텐다드"/>
                <a:ea typeface="프리텐다드"/>
                <a:cs typeface="프리텐다드"/>
                <a:sym typeface="프리텐다드"/>
              </a:rPr>
              <a:t>판매자가</a:t>
            </a:r>
            <a:r>
              <a:rPr lang="en-US" sz="2300" dirty="0">
                <a:solidFill>
                  <a:srgbClr val="FFFFFF"/>
                </a:solidFill>
                <a:latin typeface="프리텐다드"/>
                <a:ea typeface="프리텐다드"/>
                <a:cs typeface="프리텐다드"/>
                <a:sym typeface="프리텐다드"/>
              </a:rPr>
              <a:t> </a:t>
            </a:r>
            <a:r>
              <a:rPr lang="en-US" sz="2300" dirty="0" err="1">
                <a:solidFill>
                  <a:srgbClr val="FFFFFF"/>
                </a:solidFill>
                <a:latin typeface="프리텐다드"/>
                <a:ea typeface="프리텐다드"/>
                <a:cs typeface="프리텐다드"/>
                <a:sym typeface="프리텐다드"/>
              </a:rPr>
              <a:t>직접</a:t>
            </a:r>
            <a:r>
              <a:rPr lang="en-US" sz="2300" dirty="0">
                <a:solidFill>
                  <a:srgbClr val="FFFFFF"/>
                </a:solidFill>
                <a:latin typeface="프리텐다드"/>
                <a:ea typeface="프리텐다드"/>
                <a:cs typeface="프리텐다드"/>
                <a:sym typeface="프리텐다드"/>
              </a:rPr>
              <a:t> </a:t>
            </a:r>
            <a:r>
              <a:rPr lang="en-US" sz="2300" dirty="0" err="1">
                <a:solidFill>
                  <a:srgbClr val="FFFFFF"/>
                </a:solidFill>
                <a:latin typeface="프리텐다드"/>
                <a:ea typeface="프리텐다드"/>
                <a:cs typeface="프리텐다드"/>
                <a:sym typeface="프리텐다드"/>
              </a:rPr>
              <a:t>입력</a:t>
            </a:r>
            <a:r>
              <a:rPr lang="en-US" sz="2300" dirty="0">
                <a:solidFill>
                  <a:srgbClr val="FFFFFF"/>
                </a:solidFill>
                <a:latin typeface="프리텐다드"/>
                <a:ea typeface="프리텐다드"/>
                <a:cs typeface="프리텐다드"/>
                <a:sym typeface="프리텐다드"/>
              </a:rPr>
              <a:t>. </a:t>
            </a:r>
            <a:r>
              <a:rPr lang="ko-KR" altLang="en-US" sz="2300" dirty="0">
                <a:solidFill>
                  <a:srgbClr val="FFFFFF"/>
                </a:solidFill>
                <a:latin typeface="프리텐다드"/>
                <a:ea typeface="프리텐다드"/>
                <a:cs typeface="프리텐다드"/>
                <a:sym typeface="프리텐다드"/>
              </a:rPr>
              <a:t> 판매자 확인을 전제로</a:t>
            </a:r>
            <a:r>
              <a:rPr lang="en-US" altLang="ko-KR" sz="2300" dirty="0">
                <a:solidFill>
                  <a:srgbClr val="FFFFFF"/>
                </a:solidFill>
                <a:latin typeface="프리텐다드"/>
                <a:ea typeface="프리텐다드"/>
                <a:cs typeface="프리텐다드"/>
                <a:sym typeface="프리텐다드"/>
              </a:rPr>
              <a:t>,</a:t>
            </a:r>
            <a:r>
              <a:rPr lang="ko-KR" altLang="en-US" sz="2300" dirty="0">
                <a:solidFill>
                  <a:srgbClr val="FFFFFF"/>
                </a:solidFill>
                <a:latin typeface="프리텐다드"/>
                <a:ea typeface="프리텐다드"/>
                <a:cs typeface="프리텐다드"/>
                <a:sym typeface="프리텐다드"/>
              </a:rPr>
              <a:t> 정확도는 안전성이 아니라 자동 입력 비율이 됩니다</a:t>
            </a:r>
            <a:r>
              <a:rPr lang="en-US" altLang="ko-KR" sz="2300" dirty="0">
                <a:solidFill>
                  <a:srgbClr val="FFFFFF"/>
                </a:solidFill>
                <a:latin typeface="프리텐다드"/>
                <a:ea typeface="프리텐다드"/>
                <a:cs typeface="프리텐다드"/>
                <a:sym typeface="프리텐다드"/>
              </a:rPr>
              <a:t>.</a:t>
            </a:r>
            <a:endParaRPr lang="en-US" sz="2300" dirty="0">
              <a:solidFill>
                <a:srgbClr val="FFFFFF"/>
              </a:solidFill>
              <a:latin typeface="프리텐다드"/>
              <a:ea typeface="프리텐다드"/>
              <a:cs typeface="프리텐다드"/>
              <a:sym typeface="프리텐다드"/>
            </a:endParaRPr>
          </a:p>
        </p:txBody>
      </p:sp>
      <p:sp>
        <p:nvSpPr>
          <p:cNvPr id="34" name="TextBox 34"/>
          <p:cNvSpPr txBox="1"/>
          <p:nvPr/>
        </p:nvSpPr>
        <p:spPr>
          <a:xfrm>
            <a:off x="1737360" y="9043035"/>
            <a:ext cx="15179040" cy="342900"/>
          </a:xfrm>
          <a:prstGeom prst="rect">
            <a:avLst/>
          </a:prstGeom>
        </p:spPr>
        <p:txBody>
          <a:bodyPr lIns="0" tIns="0" rIns="0" bIns="0" rtlCol="0" anchor="t">
            <a:spAutoFit/>
          </a:bodyPr>
          <a:lstStyle/>
          <a:p>
            <a:pPr algn="l">
              <a:lnSpc>
                <a:spcPts val="2639"/>
              </a:lnSpc>
            </a:pPr>
            <a:r>
              <a:rPr lang="en-US" sz="2199" b="1">
                <a:solidFill>
                  <a:srgbClr val="FFFFFF"/>
                </a:solidFill>
                <a:latin typeface="프리텐다드 Bold"/>
                <a:ea typeface="프리텐다드 Bold"/>
                <a:cs typeface="프리텐다드 Bold"/>
                <a:sym typeface="프리텐다드 Bold"/>
              </a:rPr>
              <a:t>감사합니다  |  github.com/LEEbyeongchul/itda3-CODE-subway</a:t>
            </a:r>
          </a:p>
        </p:txBody>
      </p:sp>
      <p:grpSp>
        <p:nvGrpSpPr>
          <p:cNvPr id="35" name="Group 35"/>
          <p:cNvGrpSpPr/>
          <p:nvPr/>
        </p:nvGrpSpPr>
        <p:grpSpPr>
          <a:xfrm>
            <a:off x="17007840" y="219456"/>
            <a:ext cx="914400" cy="457200"/>
            <a:chOff x="0" y="0"/>
            <a:chExt cx="1219200" cy="609600"/>
          </a:xfrm>
        </p:grpSpPr>
        <p:sp>
          <p:nvSpPr>
            <p:cNvPr id="36" name="Freeform 36"/>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37" name="TextBox 37"/>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22</a:t>
              </a: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부록 : </a:t>
              </a:r>
              <a:r>
                <a:rPr lang="en-US" sz="3800" b="1">
                  <a:solidFill>
                    <a:srgbClr val="8B0000"/>
                  </a:solidFill>
                  <a:latin typeface="프리텐다드 Bold"/>
                  <a:ea typeface="프리텐다드 Bold"/>
                  <a:cs typeface="프리텐다드 Bold"/>
                  <a:sym typeface="프리텐다드 Bold"/>
                </a:rPr>
                <a:t>날짜 해석 규칙표 (모호한 표기)</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23</a:t>
              </a:r>
            </a:p>
          </p:txBody>
        </p:sp>
      </p:grpSp>
      <p:graphicFrame>
        <p:nvGraphicFramePr>
          <p:cNvPr id="11" name="Table 11"/>
          <p:cNvGraphicFramePr>
            <a:graphicFrameLocks noGrp="1"/>
          </p:cNvGraphicFramePr>
          <p:nvPr/>
        </p:nvGraphicFramePr>
        <p:xfrm>
          <a:off x="548640" y="1828800"/>
          <a:ext cx="17170400" cy="6172200"/>
        </p:xfrm>
        <a:graphic>
          <a:graphicData uri="http://schemas.openxmlformats.org/drawingml/2006/table">
            <a:tbl>
              <a:tblPr/>
              <a:tblGrid>
                <a:gridCol w="5480990">
                  <a:extLst>
                    <a:ext uri="{9D8B030D-6E8A-4147-A177-3AD203B41FA5}">
                      <a16:colId xmlns:a16="http://schemas.microsoft.com/office/drawing/2014/main" val="20000"/>
                    </a:ext>
                  </a:extLst>
                </a:gridCol>
                <a:gridCol w="7663282">
                  <a:extLst>
                    <a:ext uri="{9D8B030D-6E8A-4147-A177-3AD203B41FA5}">
                      <a16:colId xmlns:a16="http://schemas.microsoft.com/office/drawing/2014/main" val="20001"/>
                    </a:ext>
                  </a:extLst>
                </a:gridCol>
                <a:gridCol w="4026128">
                  <a:extLst>
                    <a:ext uri="{9D8B030D-6E8A-4147-A177-3AD203B41FA5}">
                      <a16:colId xmlns:a16="http://schemas.microsoft.com/office/drawing/2014/main" val="20002"/>
                    </a:ext>
                  </a:extLst>
                </a:gridCol>
              </a:tblGrid>
              <a:tr h="685800">
                <a:tc>
                  <a:txBody>
                    <a:bodyPr/>
                    <a:lstStyle/>
                    <a:p>
                      <a:pPr algn="l">
                        <a:lnSpc>
                          <a:spcPts val="2400"/>
                        </a:lnSpc>
                        <a:defRPr/>
                      </a:pPr>
                      <a:r>
                        <a:rPr lang="en-US" sz="2000">
                          <a:solidFill>
                            <a:srgbClr val="FFFFFF"/>
                          </a:solidFill>
                          <a:latin typeface="프리텐다드"/>
                          <a:ea typeface="프리텐다드"/>
                          <a:cs typeface="프리텐다드"/>
                          <a:sym typeface="프리텐다드"/>
                        </a:rPr>
                        <a:t>상황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해석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근거 (전수 라벨 3,352장)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4자리 연도가 앞 / 뒤</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앞이면 년/월/일, 뒤면 일/월/년. 구분자 종류는 무관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연도 앞 2,217 · 연도 뒤 362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2자리 세 개 (26.03.20)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년/월/일 우선. 무효이거나 연도 2028 이상이면 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년월일 344 : 일월년 102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영문 유통 문구 (BBD, BEST BEFORE, EXP)</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같은 사진에 있으면 일/월/년 우선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수입품 표기 관행</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공백 구분 (30 12 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전부 수입품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영문 월 (04-Jul-21, 22OCT2021)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월 위치 확정, 4자리는 연도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148장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월/일/년 (06/18/23)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일/월/년이 불가능할 때만 (가운데 13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확정 미국식 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연월만 / 월일만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YYYY-MM-NONE / NONE-MM-DD</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운영진 확정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날짜가 여럿</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가장 좋은 등급 안에서 가장 늦은 날짜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345장 (10.3%)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pSp>
        <p:nvGrpSpPr>
          <p:cNvPr id="12" name="Group 12"/>
          <p:cNvGrpSpPr/>
          <p:nvPr/>
        </p:nvGrpSpPr>
        <p:grpSpPr>
          <a:xfrm>
            <a:off x="535943" y="8674103"/>
            <a:ext cx="17216123" cy="793499"/>
            <a:chOff x="0" y="0"/>
            <a:chExt cx="22954831" cy="1057999"/>
          </a:xfrm>
        </p:grpSpPr>
        <p:sp>
          <p:nvSpPr>
            <p:cNvPr id="13" name="Freeform 1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8686800"/>
            <a:ext cx="16642080" cy="768096"/>
            <a:chOff x="0" y="0"/>
            <a:chExt cx="22189440" cy="1024128"/>
          </a:xfrm>
        </p:grpSpPr>
        <p:sp>
          <p:nvSpPr>
            <p:cNvPr id="15" name="Freeform 1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6" name="TextBox 1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해석</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기본값은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감이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아니라</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직접</a:t>
              </a:r>
              <a:r>
                <a:rPr lang="en-US" sz="2499" b="1" dirty="0">
                  <a:solidFill>
                    <a:srgbClr val="8B0000"/>
                  </a:solidFill>
                  <a:latin typeface="프리텐다드 Bold"/>
                  <a:ea typeface="프리텐다드 Bold"/>
                  <a:cs typeface="프리텐다드 Bold"/>
                  <a:sym typeface="프리텐다드 Bold"/>
                </a:rPr>
                <a:t> 단 </a:t>
              </a:r>
              <a:r>
                <a:rPr lang="en-US" sz="2499" b="1" dirty="0" err="1">
                  <a:solidFill>
                    <a:srgbClr val="8B0000"/>
                  </a:solidFill>
                  <a:latin typeface="프리텐다드 Bold"/>
                  <a:ea typeface="프리텐다드 Bold"/>
                  <a:cs typeface="프리텐다드 Bold"/>
                  <a:sym typeface="프리텐다드 Bold"/>
                </a:rPr>
                <a:t>라벨의</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통계</a:t>
              </a:r>
              <a:r>
                <a:rPr lang="en-US" sz="2499" dirty="0">
                  <a:solidFill>
                    <a:srgbClr val="1A1A1A"/>
                  </a:solidFill>
                  <a:latin typeface="프리텐다드"/>
                  <a:ea typeface="프리텐다드"/>
                  <a:cs typeface="프리텐다드"/>
                  <a:sym typeface="프리텐다드"/>
                </a:rPr>
                <a:t> 로 </a:t>
              </a:r>
              <a:r>
                <a:rPr lang="en-US" sz="2499" dirty="0" err="1">
                  <a:solidFill>
                    <a:srgbClr val="1A1A1A"/>
                  </a:solidFill>
                  <a:latin typeface="프리텐다드"/>
                  <a:ea typeface="프리텐다드"/>
                  <a:cs typeface="프리텐다드"/>
                  <a:sym typeface="프리텐다드"/>
                </a:rPr>
                <a:t>정했습니다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부록 : </a:t>
              </a:r>
              <a:r>
                <a:rPr lang="en-US" sz="3800" b="1">
                  <a:solidFill>
                    <a:srgbClr val="8B0000"/>
                  </a:solidFill>
                  <a:latin typeface="프리텐다드 Bold"/>
                  <a:ea typeface="프리텐다드 Bold"/>
                  <a:cs typeface="프리텐다드 Bold"/>
                  <a:sym typeface="프리텐다드 Bold"/>
                </a:rPr>
                <a:t>측정 수치 한눈에</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24</a:t>
              </a:r>
            </a:p>
          </p:txBody>
        </p:sp>
      </p:grpSp>
      <p:graphicFrame>
        <p:nvGraphicFramePr>
          <p:cNvPr id="11" name="Table 11"/>
          <p:cNvGraphicFramePr>
            <a:graphicFrameLocks noGrp="1"/>
          </p:cNvGraphicFramePr>
          <p:nvPr/>
        </p:nvGraphicFramePr>
        <p:xfrm>
          <a:off x="535943" y="2323465"/>
          <a:ext cx="17145000" cy="3810000"/>
        </p:xfrm>
        <a:graphic>
          <a:graphicData uri="http://schemas.openxmlformats.org/drawingml/2006/table">
            <a:tbl>
              <a:tblPr/>
              <a:tblGrid>
                <a:gridCol w="3103099">
                  <a:extLst>
                    <a:ext uri="{9D8B030D-6E8A-4147-A177-3AD203B41FA5}">
                      <a16:colId xmlns:a16="http://schemas.microsoft.com/office/drawing/2014/main" val="20000"/>
                    </a:ext>
                  </a:extLst>
                </a:gridCol>
                <a:gridCol w="5456828">
                  <a:extLst>
                    <a:ext uri="{9D8B030D-6E8A-4147-A177-3AD203B41FA5}">
                      <a16:colId xmlns:a16="http://schemas.microsoft.com/office/drawing/2014/main" val="20001"/>
                    </a:ext>
                  </a:extLst>
                </a:gridCol>
                <a:gridCol w="2197819">
                  <a:extLst>
                    <a:ext uri="{9D8B030D-6E8A-4147-A177-3AD203B41FA5}">
                      <a16:colId xmlns:a16="http://schemas.microsoft.com/office/drawing/2014/main" val="20002"/>
                    </a:ext>
                  </a:extLst>
                </a:gridCol>
                <a:gridCol w="2197819">
                  <a:extLst>
                    <a:ext uri="{9D8B030D-6E8A-4147-A177-3AD203B41FA5}">
                      <a16:colId xmlns:a16="http://schemas.microsoft.com/office/drawing/2014/main" val="20003"/>
                    </a:ext>
                  </a:extLst>
                </a:gridCol>
                <a:gridCol w="4189435">
                  <a:extLst>
                    <a:ext uri="{9D8B030D-6E8A-4147-A177-3AD203B41FA5}">
                      <a16:colId xmlns:a16="http://schemas.microsoft.com/office/drawing/2014/main" val="20004"/>
                    </a:ext>
                  </a:extLst>
                </a:gridCol>
              </a:tblGrid>
              <a:tr h="635000">
                <a:tc>
                  <a:txBody>
                    <a:bodyPr/>
                    <a:lstStyle/>
                    <a:p>
                      <a:pPr algn="l">
                        <a:lnSpc>
                          <a:spcPts val="2400"/>
                        </a:lnSpc>
                        <a:defRPr/>
                      </a:pPr>
                      <a:r>
                        <a:rPr lang="en-US" sz="2000">
                          <a:solidFill>
                            <a:srgbClr val="FFFFFF"/>
                          </a:solidFill>
                          <a:latin typeface="프리텐다드"/>
                          <a:ea typeface="프리텐다드"/>
                          <a:cs typeface="프리텐다드"/>
                          <a:sym typeface="프리텐다드"/>
                        </a:rPr>
                        <a:t>측정셋</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구성</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완전일치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필드평균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비고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봉인 500장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예선 제출본 (9/13)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84.2%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88.8%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17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봉인 500장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통합본 (9/28)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86.2%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90.8%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15, 정밀도 88.9%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판정용 2,852장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예선 구성 (지금 라벨로 채점)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64.9%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판정용 2,852장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최종 (한국어 인식기 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86.7%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78.3% · 비병기 87.7%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직접 찍은 폰 사진 389장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최종 (운영 수치 계산용)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21.9%, 자동 입력 41 ~ 45%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Box 12"/>
          <p:cNvSpPr txBox="1"/>
          <p:nvPr/>
        </p:nvSpPr>
        <p:spPr>
          <a:xfrm>
            <a:off x="561346" y="6362700"/>
            <a:ext cx="17190720" cy="1290447"/>
          </a:xfrm>
          <a:prstGeom prst="rect">
            <a:avLst/>
          </a:prstGeom>
        </p:spPr>
        <p:txBody>
          <a:bodyPr lIns="0" tIns="0" rIns="0" bIns="0" rtlCol="0" anchor="t">
            <a:spAutoFit/>
          </a:bodyPr>
          <a:lstStyle/>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완전일치 : 연·월·일이 모두 맞은 사진 비율</a:t>
            </a:r>
          </a:p>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필드평균 : 연·월·일을 따로 채점한 평균 (운영진 채점 방식)</a:t>
            </a:r>
          </a:p>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회복 / 퇴보 : 이전 버전 대비 새로 맞힌 장 / 새로 틀린 장</a:t>
            </a:r>
          </a:p>
        </p:txBody>
      </p:sp>
      <p:grpSp>
        <p:nvGrpSpPr>
          <p:cNvPr id="13" name="Group 13"/>
          <p:cNvGrpSpPr/>
          <p:nvPr/>
        </p:nvGrpSpPr>
        <p:grpSpPr>
          <a:xfrm>
            <a:off x="535943" y="8674103"/>
            <a:ext cx="17216123" cy="793499"/>
            <a:chOff x="0" y="0"/>
            <a:chExt cx="22954831" cy="1057999"/>
          </a:xfrm>
        </p:grpSpPr>
        <p:sp>
          <p:nvSpPr>
            <p:cNvPr id="14" name="Freeform 14"/>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5" name="Group 15"/>
          <p:cNvGrpSpPr/>
          <p:nvPr/>
        </p:nvGrpSpPr>
        <p:grpSpPr>
          <a:xfrm>
            <a:off x="822960" y="8686800"/>
            <a:ext cx="16642080" cy="768096"/>
            <a:chOff x="0" y="0"/>
            <a:chExt cx="22189440" cy="1024128"/>
          </a:xfrm>
        </p:grpSpPr>
        <p:sp>
          <p:nvSpPr>
            <p:cNvPr id="16" name="Freeform 16"/>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7" name="TextBox 17"/>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모든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수치의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예측</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파일과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실험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기록은</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저장소</a:t>
              </a:r>
              <a:r>
                <a:rPr lang="en-US" sz="2499" b="1" dirty="0">
                  <a:solidFill>
                    <a:srgbClr val="8B0000"/>
                  </a:solidFill>
                  <a:latin typeface="프리텐다드 Bold"/>
                  <a:ea typeface="프리텐다드 Bold"/>
                  <a:cs typeface="프리텐다드 Bold"/>
                  <a:sym typeface="프리텐다드 Bold"/>
                </a:rPr>
                <a:t> results/ · docs/실험_기록.md</a:t>
              </a:r>
              <a:r>
                <a:rPr lang="en-US" sz="2499" dirty="0">
                  <a:solidFill>
                    <a:srgbClr val="1A1A1A"/>
                  </a:solidFill>
                  <a:latin typeface="프리텐다드"/>
                  <a:ea typeface="프리텐다드"/>
                  <a:cs typeface="프리텐다드"/>
                  <a:sym typeface="프리텐다드"/>
                </a:rPr>
                <a:t> 에 </a:t>
              </a:r>
              <a:r>
                <a:rPr lang="en-US" sz="2499" dirty="0" err="1">
                  <a:solidFill>
                    <a:srgbClr val="1A1A1A"/>
                  </a:solidFill>
                  <a:latin typeface="프리텐다드"/>
                  <a:ea typeface="프리텐다드"/>
                  <a:cs typeface="프리텐다드"/>
                  <a:sym typeface="프리텐다드"/>
                </a:rPr>
                <a:t>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251</TotalTime>
  <Words>4408</Words>
  <Application>Microsoft Macintosh PowerPoint</Application>
  <PresentationFormat>Custom</PresentationFormat>
  <Paragraphs>624</Paragraphs>
  <Slides>24</Slides>
  <Notes>24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프리텐다드</vt:lpstr>
      <vt:lpstr>프리텐다드 Heavy</vt:lpstr>
      <vt:lpstr>프리텐다드 Ultra-Bold</vt:lpstr>
      <vt:lpstr>프리텐다드 Medium</vt:lpstr>
      <vt:lpstr>프리텐다드 Bold</vt:lpstr>
      <vt:lpstr>Calibri</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CODE_서브웨이_최종수정.pptx</dc:title>
  <dc:creator>이승아</dc:creator>
  <cp:lastModifiedBy>ChoSeoyeong</cp:lastModifiedBy>
  <cp:revision>89</cp:revision>
  <dcterms:created xsi:type="dcterms:W3CDTF">2006-08-16T00:00:00Z</dcterms:created>
  <dcterms:modified xsi:type="dcterms:W3CDTF">2026-10-02T01:33:29Z</dcterms:modified>
  <dc:identifier>DAHWwXGbZzU</dc:identifier>
</cp:coreProperties>
</file>