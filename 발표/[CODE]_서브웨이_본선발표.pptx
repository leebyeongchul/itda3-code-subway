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embeddedFontLst>
    <p:embeddedFont>
      <p:font typeface="Pretendard SemiBold" panose="02000703000000020004" pitchFamily="2" charset="-127"/>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Pt>
            <c:idx val="0"/>
            <c:invertIfNegative val="0"/>
            <c:bubble3D val="0"/>
            <c:extLst>
              <c:ext xmlns:c16="http://schemas.microsoft.com/office/drawing/2014/chart" uri="{C3380CC4-5D6E-409C-BE32-E72D297353CC}">
                <c16:uniqueId val="{00000001-46F6-4760-A34F-545D13DF15AE}"/>
              </c:ext>
            </c:extLst>
          </c:dPt>
          <c:dPt>
            <c:idx val="1"/>
            <c:invertIfNegative val="0"/>
            <c:bubble3D val="0"/>
            <c:extLst>
              <c:ext xmlns:c16="http://schemas.microsoft.com/office/drawing/2014/chart" uri="{C3380CC4-5D6E-409C-BE32-E72D297353CC}">
                <c16:uniqueId val="{00000003-46F6-4760-A34F-545D13DF15AE}"/>
              </c:ext>
            </c:extLst>
          </c:dPt>
          <c:dPt>
            <c:idx val="2"/>
            <c:invertIfNegative val="0"/>
            <c:bubble3D val="0"/>
            <c:extLst>
              <c:ext xmlns:c16="http://schemas.microsoft.com/office/drawing/2014/chart" uri="{C3380CC4-5D6E-409C-BE32-E72D297353CC}">
                <c16:uniqueId val="{00000005-46F6-4760-A34F-545D13DF15AE}"/>
              </c:ext>
            </c:extLst>
          </c:dPt>
          <c:dPt>
            <c:idx val="3"/>
            <c:invertIfNegative val="0"/>
            <c:bubble3D val="0"/>
            <c:extLst>
              <c:ext xmlns:c16="http://schemas.microsoft.com/office/drawing/2014/chart" uri="{C3380CC4-5D6E-409C-BE32-E72D297353CC}">
                <c16:uniqueId val="{00000007-46F6-4760-A34F-545D13DF15AE}"/>
              </c:ext>
            </c:extLst>
          </c:dPt>
          <c:dPt>
            <c:idx val="4"/>
            <c:invertIfNegative val="0"/>
            <c:bubble3D val="0"/>
            <c:extLst>
              <c:ext xmlns:c16="http://schemas.microsoft.com/office/drawing/2014/chart" uri="{C3380CC4-5D6E-409C-BE32-E72D297353CC}">
                <c16:uniqueId val="{00000009-46F6-4760-A34F-545D13DF15AE}"/>
              </c:ext>
            </c:extLst>
          </c:dPt>
          <c:dPt>
            <c:idx val="5"/>
            <c:invertIfNegative val="0"/>
            <c:bubble3D val="0"/>
            <c:extLst>
              <c:ext xmlns:c16="http://schemas.microsoft.com/office/drawing/2014/chart" uri="{C3380CC4-5D6E-409C-BE32-E72D297353CC}">
                <c16:uniqueId val="{0000000B-46F6-4760-A34F-545D13DF15AE}"/>
              </c:ext>
            </c:extLst>
          </c:dPt>
          <c:dPt>
            <c:idx val="6"/>
            <c:invertIfNegative val="0"/>
            <c:bubble3D val="0"/>
            <c:extLst>
              <c:ext xmlns:c16="http://schemas.microsoft.com/office/drawing/2014/chart" uri="{C3380CC4-5D6E-409C-BE32-E72D297353CC}">
                <c16:uniqueId val="{0000000D-46F6-4760-A34F-545D13DF15AE}"/>
              </c:ext>
            </c:extLst>
          </c:dPt>
          <c:dPt>
            <c:idx val="7"/>
            <c:invertIfNegative val="0"/>
            <c:bubble3D val="0"/>
            <c:extLst>
              <c:ext xmlns:c16="http://schemas.microsoft.com/office/drawing/2014/chart" uri="{C3380CC4-5D6E-409C-BE32-E72D297353CC}">
                <c16:uniqueId val="{0000000F-46F6-4760-A34F-545D13DF15AE}"/>
              </c:ext>
            </c:extLst>
          </c:dPt>
          <c:dPt>
            <c:idx val="8"/>
            <c:invertIfNegative val="0"/>
            <c:bubble3D val="0"/>
            <c:extLst>
              <c:ext xmlns:c16="http://schemas.microsoft.com/office/drawing/2014/chart" uri="{C3380CC4-5D6E-409C-BE32-E72D297353CC}">
                <c16:uniqueId val="{00000011-46F6-4760-A34F-545D13DF15AE}"/>
              </c:ext>
            </c:extLst>
          </c:dPt>
          <c:dPt>
            <c:idx val="9"/>
            <c:invertIfNegative val="0"/>
            <c:bubble3D val="0"/>
            <c:spPr>
              <a:solidFill>
                <a:srgbClr val="5A5A5A"/>
              </a:solidFill>
              <a:effectLst/>
            </c:spPr>
            <c:extLst>
              <c:ext xmlns:c16="http://schemas.microsoft.com/office/drawing/2014/chart" uri="{C3380CC4-5D6E-409C-BE32-E72D297353CC}">
                <c16:uniqueId val="{00000013-46F6-4760-A34F-545D13DF15AE}"/>
              </c:ext>
            </c:extLst>
          </c:dPt>
          <c:dPt>
            <c:idx val="10"/>
            <c:invertIfNegative val="0"/>
            <c:bubble3D val="0"/>
            <c:spPr>
              <a:solidFill>
                <a:srgbClr val="8B0000"/>
              </a:solidFill>
              <a:effectLst/>
            </c:spPr>
            <c:extLst>
              <c:ext xmlns:c16="http://schemas.microsoft.com/office/drawing/2014/chart" uri="{C3380CC4-5D6E-409C-BE32-E72D297353CC}">
                <c16:uniqueId val="{00000015-46F6-4760-A34F-545D13DF15AE}"/>
              </c:ext>
            </c:extLst>
          </c:dPt>
          <c:dLbls>
            <c:numFmt formatCode="0.0" sourceLinked="0"/>
            <c:spPr>
              <a:noFill/>
              <a:ln>
                <a:noFill/>
              </a:ln>
              <a:effectLst/>
            </c:spPr>
            <c:txPr>
              <a:bodyPr/>
              <a:lstStyle/>
              <a:p>
                <a:pPr>
                  <a:defRPr sz="9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strCache>
            </c:strRef>
          </c:cat>
          <c:val>
            <c:numRef>
              <c:f>Sheet1!$B$2:$B$12</c:f>
              <c:numCache>
                <c:formatCode>General</c:formatCode>
                <c:ptCount val="11"/>
                <c:pt idx="0">
                  <c:v>39.1</c:v>
                </c:pt>
                <c:pt idx="1">
                  <c:v>44.4</c:v>
                </c:pt>
                <c:pt idx="2">
                  <c:v>60.9</c:v>
                </c:pt>
                <c:pt idx="3">
                  <c:v>71.2</c:v>
                </c:pt>
                <c:pt idx="4">
                  <c:v>73.599999999999994</c:v>
                </c:pt>
                <c:pt idx="5">
                  <c:v>77</c:v>
                </c:pt>
                <c:pt idx="6">
                  <c:v>78.400000000000006</c:v>
                </c:pt>
                <c:pt idx="7">
                  <c:v>81.8</c:v>
                </c:pt>
                <c:pt idx="8">
                  <c:v>83.2</c:v>
                </c:pt>
                <c:pt idx="9">
                  <c:v>84.2</c:v>
                </c:pt>
                <c:pt idx="10">
                  <c:v>86.2</c:v>
                </c:pt>
              </c:numCache>
            </c:numRef>
          </c:val>
          <c:extLst>
            <c:ext xmlns:c16="http://schemas.microsoft.com/office/drawing/2014/chart" uri="{C3380CC4-5D6E-409C-BE32-E72D297353CC}">
              <c16:uniqueId val="{00000016-46F6-4760-A34F-545D13DF15A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lblOffset val="100"/>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0"/>
        <c:ser>
          <c:idx val="0"/>
          <c:order val="0"/>
          <c:tx>
            <c:strRef>
              <c:f>Sheet1!$B$1</c:f>
              <c:strCache>
                <c:ptCount val="1"/>
                <c:pt idx="0">
                  <c:v>비율(%)</c:v>
                </c:pt>
              </c:strCache>
            </c:strRef>
          </c:tx>
          <c:spPr>
            <a:solidFill>
              <a:srgbClr val="8B0000"/>
            </a:solidFill>
            <a:effectLst/>
          </c:spPr>
          <c:invertIfNegative val="0"/>
          <c:dPt>
            <c:idx val="0"/>
            <c:invertIfNegative val="0"/>
            <c:bubble3D val="0"/>
            <c:extLst>
              <c:ext xmlns:c16="http://schemas.microsoft.com/office/drawing/2014/chart" uri="{C3380CC4-5D6E-409C-BE32-E72D297353CC}">
                <c16:uniqueId val="{00000001-43C5-4CB9-A3CD-0B30CA342BA0}"/>
              </c:ext>
            </c:extLst>
          </c:dPt>
          <c:dPt>
            <c:idx val="1"/>
            <c:invertIfNegative val="0"/>
            <c:bubble3D val="0"/>
            <c:spPr>
              <a:solidFill>
                <a:srgbClr val="9A9A9A"/>
              </a:solidFill>
              <a:effectLst/>
            </c:spPr>
            <c:extLst>
              <c:ext xmlns:c16="http://schemas.microsoft.com/office/drawing/2014/chart" uri="{C3380CC4-5D6E-409C-BE32-E72D297353CC}">
                <c16:uniqueId val="{00000003-43C5-4CB9-A3CD-0B30CA342BA0}"/>
              </c:ext>
            </c:extLst>
          </c:dPt>
          <c:dPt>
            <c:idx val="2"/>
            <c:invertIfNegative val="0"/>
            <c:bubble3D val="0"/>
            <c:spPr>
              <a:solidFill>
                <a:srgbClr val="5A5A5A"/>
              </a:solidFill>
              <a:effectLst/>
            </c:spPr>
            <c:extLst>
              <c:ext xmlns:c16="http://schemas.microsoft.com/office/drawing/2014/chart" uri="{C3380CC4-5D6E-409C-BE32-E72D297353CC}">
                <c16:uniqueId val="{00000005-43C5-4CB9-A3CD-0B30CA342BA0}"/>
              </c:ext>
            </c:extLst>
          </c:dPt>
          <c:dLbls>
            <c:numFmt formatCode="0.0" sourceLinked="0"/>
            <c:spPr>
              <a:noFill/>
              <a:ln>
                <a:noFill/>
              </a:ln>
              <a:effectLst/>
            </c:spPr>
            <c:txPr>
              <a:bodyPr/>
              <a:lstStyle/>
              <a:p>
                <a:pPr>
                  <a:defRPr sz="10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늦게 읽음 (남은 날이 많게 표시)</c:v>
                </c:pt>
                <c:pt idx="1">
                  <c:v>이르게 읽음</c:v>
                </c:pt>
                <c:pt idx="2">
                  <c:v>못 읽음 → 빈칸</c:v>
                </c:pt>
              </c:strCache>
            </c:strRef>
          </c:cat>
          <c:val>
            <c:numRef>
              <c:f>Sheet1!$B$2:$B$4</c:f>
              <c:numCache>
                <c:formatCode>General</c:formatCode>
                <c:ptCount val="3"/>
                <c:pt idx="0">
                  <c:v>4.9000000000000004</c:v>
                </c:pt>
                <c:pt idx="1">
                  <c:v>15.8</c:v>
                </c:pt>
                <c:pt idx="2">
                  <c:v>21.9</c:v>
                </c:pt>
              </c:numCache>
            </c:numRef>
          </c:val>
          <c:extLst>
            <c:ext xmlns:c16="http://schemas.microsoft.com/office/drawing/2014/chart" uri="{C3380CC4-5D6E-409C-BE32-E72D297353CC}">
              <c16:uniqueId val="{00000006-43C5-4CB9-A3CD-0B30CA342BA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A1A1A"/>
                </a:solidFill>
                <a:latin typeface="Pretendard SemiBold"/>
              </a:defRPr>
            </a:pPr>
            <a:endParaRPr lang="en-US"/>
          </a:p>
        </c:txPr>
        <c:crossAx val="2094734552"/>
        <c:crosses val="autoZero"/>
        <c:auto val="1"/>
        <c:lblAlgn val="ctr"/>
        <c:lblOffset val="100"/>
        <c:noMultiLvlLbl val="1"/>
      </c:catAx>
      <c:valAx>
        <c:axId val="2094734552"/>
        <c:scaling>
          <c:orientation val="minMax"/>
          <c:max val="3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463349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중고거래 서비스에서 어떤 의미인지 10분 동안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규칙을 바꿔서 53장을 되찾았습니다. 이렇게 원인을 나눠 놓으니, 모델을 키우는 대신 원인마다 가장 싼 처방을 고를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한 번도 보지 않은 봉인 셋에서도 같이 올랐기 때문에 튜닝 셋에 과적합된 상승이 아니라고 판단합니다.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학습시킨 인식기를 다시 읽기 단계에 썼더니 점수는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개발 PC 두 대에서 스레드를 4개로 제한해 쟀을 때 장당 2.7초에서 4초, 500장에 한도의 55에서 79퍼센트입니다.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서비스 적용입니다.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중고거래 플랫폼의 식품과 건강기능식품 게시글입니다. 소비기한은 판매자가 손으로 적고 구매자는 확인할 방법이 없습니다. 약사 단체 모니터링에서 적발된 위반 중 가장 많은 유형이 사용기한 확인 불가였고, 게시글은 한 달에 2만 4천 건인데 전담 모니터링 인력은 다섯 명으로 보도됐습니다. 화면은 시연용 설계안이고, 실제 앱을 만든 것은 아닙니다.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플랫폼에는 사진을 읽어 글을 자동으로 써 주는 기능이 이미 있습니다. 저희는 소비기한 판독을 그 게시 흐름에 잇습니다.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대상은 위반 통계가 공개된 건강기능식품 카테고리이고, 게시글은 하루 800건 정도입니다. 서버 한 대의 4에서 10퍼센트면 되고, 게시글 한 건당 0.2원에서 5.8원입니다. 아래 표는 직접 찍은 폰 사진 389장으로 잰 값입니다. 읽히는 대로 채우면 판매자 다섯 명 중 한 명이 틀린 값을 받습니다. 확신도 0.7 이상이고 10초 안에 읽힌 것만 채우면 41퍼센트가 자동으로 채워지고 틀린 값은 8퍼센트로 줄어듭니다. 이익은 부풀리지 않았습니다. 위반 처리비 절감만으로는 본전이 되지 않는다는 계산을 먼저 공개합니다. 플랫폼이 도입할 이유는 규제 대응입니다. 건강기능식품 개인 간 거래는 아직 시범사업이고, 게시글마다 남는 날짜 사진과 판독 기록이 관리 체계의 증거가 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판매자가 폰으로 찍는 사진이 저희 약점입니다. 팀원 네 명이 어려운 유형 위주로 389장을 직접 찍어 돌렸더니 다섯 장 중 한 장은 읽지 못했습니다. 봉인 500장의 일곱 배입니다. 가장 위험한 것은 늦게 읽어서 남은 날이 많게 표시되는 경우로 4.9퍼센트입니다. 그래서 채운 값 옆에 늘 날짜 확대본을 보여 주고, 읽은 값만으로 게시를 막지 않습니다. 조작과 개봉 여부는 막지 못하고, 판매자가 보지 않고 확인을 누르는 비율은 재지 못했습니다.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marL="0" indent="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marL="0" indent="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중고거래 게시글 적용</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marL="0" indent="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EasyOCR 탐지기를 쓴 초기 구성은 4코어에서 </a:t>
            </a: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489장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marL="0" indent="0" algn="ctr">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marL="0" indent="0">
              <a:buNone/>
            </a:pPr>
            <a:r>
              <a:rPr lang="en-US" sz="950" dirty="0">
                <a:solidFill>
                  <a:srgbClr val="8B0000"/>
                </a:solidFill>
                <a:latin typeface="Pretendard SemiBold" pitchFamily="34" charset="0"/>
                <a:ea typeface="Pretendard SemiBold" pitchFamily="34" charset="-122"/>
                <a:cs typeface="Pretendard SemiBold" pitchFamily="34" charset="-120"/>
              </a:rPr>
              <a:t>■ </a:t>
            </a: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marL="0" indent="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132588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r>
              <a:rPr lang="en-US" sz="1250" dirty="0">
                <a:solidFill>
                  <a:srgbClr val="8B0000"/>
                </a:solidFill>
                <a:latin typeface="Pretendard SemiBold" pitchFamily="34" charset="0"/>
                <a:ea typeface="Pretendard SemiBold" pitchFamily="34" charset="-122"/>
                <a:cs typeface="Pretendard SemiBold" pitchFamily="34" charset="-120"/>
              </a:rPr>
              <a:t>"읽기"</a:t>
            </a: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r>
              <a:rPr lang="en-US" sz="1200" dirty="0">
                <a:solidFill>
                  <a:srgbClr val="8B0000"/>
                </a:solidFill>
                <a:latin typeface="Pretendard SemiBold" pitchFamily="34" charset="0"/>
                <a:ea typeface="Pretendard SemiBold" pitchFamily="34" charset="-122"/>
                <a:cs typeface="Pretendard SemiBold" pitchFamily="34" charset="-120"/>
              </a:rPr>
              <a:t>603장</a:t>
            </a: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1차 후보를 지우지 못하게 해 +53 / −5</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329184">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6"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r>
              <a:rPr lang="en-US" sz="1250" dirty="0">
                <a:solidFill>
                  <a:srgbClr val="1A1A1A"/>
                </a:solidFill>
                <a:latin typeface="Pretendard SemiBold" pitchFamily="34" charset="0"/>
                <a:ea typeface="Pretendard SemiBold" pitchFamily="34" charset="-122"/>
                <a:cs typeface="Pretendard SemiBold" pitchFamily="34" charset="-120"/>
              </a:rPr>
              <a:t> 와 </a:t>
            </a:r>
            <a:r>
              <a:rPr lang="en-US" sz="1250" dirty="0">
                <a:solidFill>
                  <a:srgbClr val="8B0000"/>
                </a:solidFill>
                <a:latin typeface="Pretendard SemiBold" pitchFamily="34" charset="0"/>
                <a:ea typeface="Pretendard SemiBold" pitchFamily="34" charset="-122"/>
                <a:cs typeface="Pretendard SemiBold" pitchFamily="34" charset="-120"/>
              </a:rPr>
              <a:t>회복·퇴보 수</a:t>
            </a: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p:cNvGraphicFramePr/>
          <p:nvPr/>
        </p:nvGraphicFramePr>
        <p:xfrm>
          <a:off x="274320" y="868680"/>
          <a:ext cx="55778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marL="0" indent="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1856232"/>
        </p:xfrm>
        <a:graphic>
          <a:graphicData uri="http://schemas.openxmlformats.org/drawingml/2006/table">
            <a:tbl>
              <a:tblPr/>
              <a:tblGrid>
                <a:gridCol w="18288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r>
              <a:rPr lang="en-US" sz="1250" dirty="0">
                <a:solidFill>
                  <a:srgbClr val="8B0000"/>
                </a:solidFill>
                <a:latin typeface="Pretendard SemiBold" pitchFamily="34" charset="0"/>
                <a:ea typeface="Pretendard SemiBold" pitchFamily="34" charset="-122"/>
                <a:cs typeface="Pretendard SemiBold" pitchFamily="34" charset="-120"/>
              </a:rPr>
              <a:t>82.3 → 86.7%</a:t>
            </a: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54680"/>
        </p:xfrm>
        <a:graphic>
          <a:graphicData uri="http://schemas.openxmlformats.org/drawingml/2006/table">
            <a:tbl>
              <a:tblPr/>
              <a:tblGrid>
                <a:gridCol w="27432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15468">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다시 읽기 규칙 (1차 후보를 지우지 못하게 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+63 / −5</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82.3 → 84.3%. 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해석 규칙 4개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+39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64.9 → 78.3%</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주변 재탐지 · 확대 재시도 · 파인튜닝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+25 / −1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못 읽은 사진에만 비용을 쓴다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다시 읽기에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+86 / −64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점수가 올라도 맞던 답을 흔들면 버린다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합성 도트 글자 3,000장 추가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인식기 셋 다수결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 / −4, 장당 +0.43초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퇴보가 회복의 1/3 초과</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인식기로 한 번 더 읽기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판정용 +7 / −2,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시간이 한도의 94% 까지 차서 여유를 택함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점수를 올렸지만 </a:t>
            </a:r>
            <a:r>
              <a:rPr lang="en-US" sz="1250" dirty="0">
                <a:solidFill>
                  <a:srgbClr val="8B0000"/>
                </a:solidFill>
                <a:latin typeface="Pretendard SemiBold" pitchFamily="34" charset="0"/>
                <a:ea typeface="Pretendard SemiBold" pitchFamily="34" charset="-122"/>
                <a:cs typeface="Pretendard SemiBold" pitchFamily="34" charset="-120"/>
              </a:rPr>
              <a:t>퇴보 64장</a:t>
            </a: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r>
              <a:rPr lang="en-US" sz="1900" dirty="0">
                <a:solidFill>
                  <a:srgbClr val="8B0000"/>
                </a:solidFill>
                <a:latin typeface="Pretendard SemiBold" pitchFamily="34" charset="0"/>
                <a:ea typeface="Pretendard SemiBold" pitchFamily="34" charset="-122"/>
                <a:cs typeface="Pretendard SemiBold" pitchFamily="34" charset="-120"/>
              </a:rPr>
              <a:t>한도의 55 ~ 79%,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883664" cy="502920"/>
          </a:xfrm>
          <a:prstGeom prst="rect">
            <a:avLst/>
          </a:prstGeom>
          <a:noFill/>
          <a:ln/>
        </p:spPr>
        <p:txBody>
          <a:bodyPr wrap="square" lIns="0" tIns="0" rIns="0" bIns="0" rtlCol="0" anchor="ctr"/>
          <a:lstStyle/>
          <a:p>
            <a:pPr marL="0" indent="0">
              <a:buNone/>
            </a:pPr>
            <a:r>
              <a:rPr lang="en-US" sz="1800" dirty="0">
                <a:solidFill>
                  <a:srgbClr val="8B0000"/>
                </a:solidFill>
                <a:latin typeface="Pretendard SemiBold" pitchFamily="34" charset="0"/>
                <a:ea typeface="Pretendard SemiBold" pitchFamily="34" charset="-122"/>
                <a:cs typeface="Pretendard SemiBold" pitchFamily="34" charset="-120"/>
              </a:rPr>
              <a:t>2.7 ~ 4.0초</a:t>
            </a:r>
            <a:endParaRPr lang="en-US" sz="18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개발 PC 두 대, 4스레드</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883664" cy="502920"/>
          </a:xfrm>
          <a:prstGeom prst="rect">
            <a:avLst/>
          </a:prstGeom>
          <a:noFill/>
          <a:ln/>
        </p:spPr>
        <p:txBody>
          <a:bodyPr wrap="square" lIns="0" tIns="0" rIns="0" bIns="0" rtlCol="0" anchor="ctr"/>
          <a:lstStyle/>
          <a:p>
            <a:pPr marL="0" indent="0">
              <a:buNone/>
            </a:pPr>
            <a:r>
              <a:rPr lang="en-US" sz="1800" dirty="0">
                <a:solidFill>
                  <a:srgbClr val="8B0000"/>
                </a:solidFill>
                <a:latin typeface="Pretendard SemiBold" pitchFamily="34" charset="0"/>
                <a:ea typeface="Pretendard SemiBold" pitchFamily="34" charset="-122"/>
                <a:cs typeface="Pretendard SemiBold" pitchFamily="34" charset="-120"/>
              </a:rPr>
              <a:t>1,370 ~ 1,985초</a:t>
            </a:r>
            <a:endParaRPr lang="en-US" sz="18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500장</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55 ~ 79%</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88366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88366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사진의 88% 는 1.8초에 끝나고, 재시도까지 간 12% 가 시간의 절반을 쓴다</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r>
              <a:rPr lang="en-US" sz="1250" dirty="0">
                <a:solidFill>
                  <a:srgbClr val="8B0000"/>
                </a:solidFill>
                <a:latin typeface="Pretendard SemiBold" pitchFamily="34" charset="0"/>
                <a:ea typeface="Pretendard SemiBold" pitchFamily="34" charset="-122"/>
                <a:cs typeface="Pretendard SemiBold" pitchFamily="34" charset="-120"/>
              </a:rPr>
              <a:t>"느리면 0점"</a:t>
            </a: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C:\Users\user\AppData\Local\Temp\claude\C--Users-user-Desktop-itda\bf40759d-3db3-4682-9251-a5dfc70e5b9d\scratchpad\deck\img\demo_plain.png"/>
          <p:cNvPicPr>
            <a:picLocks noChangeAspect="1"/>
          </p:cNvPicPr>
          <p:nvPr/>
        </p:nvPicPr>
        <p:blipFill>
          <a:blip r:embed="rId3"/>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C:\Users\user\AppData\Local\Temp\claude\C--Users-user-Desktop-itda\bf40759d-3db3-4682-9251-a5dfc70e5b9d\scratchpad\deck\img\demo_two.png"/>
          <p:cNvPicPr>
            <a:picLocks noChangeAspect="1"/>
          </p:cNvPicPr>
          <p:nvPr/>
        </p:nvPicPr>
        <p:blipFill>
          <a:blip r:embed="rId4"/>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C:\Users\user\AppData\Local\Temp\claude\C--Users-user-Desktop-itda\bf40759d-3db3-4682-9251-a5dfc70e5b9d\scratchpad\deck\img\demo_dot.png"/>
          <p:cNvPicPr>
            <a:picLocks noChangeAspect="1"/>
          </p:cNvPicPr>
          <p:nvPr/>
        </p:nvPicPr>
        <p:blipFill>
          <a:blip r:embed="rId5"/>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C:\Users\user\AppData\Local\Temp\claude\C--Users-user-Desktop-itda\bf40759d-3db3-4682-9251-a5dfc70e5b9d\scratchpad\deck\img\demo_none.png"/>
          <p:cNvPicPr>
            <a:picLocks noChangeAspect="1"/>
          </p:cNvPicPr>
          <p:nvPr/>
        </p:nvPicPr>
        <p:blipFill>
          <a:blip r:embed="rId6"/>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미인식 → 판매자 입력</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게시 화면에서는 빈칸으로 두고 판매자가 입력한다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중고거래 식품 게시글의 잔여기한</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r>
              <a:rPr lang="en-US" sz="1900" dirty="0">
                <a:solidFill>
                  <a:srgbClr val="8B0000"/>
                </a:solidFill>
                <a:latin typeface="Pretendard SemiBold" pitchFamily="34" charset="0"/>
                <a:ea typeface="Pretendard SemiBold" pitchFamily="34" charset="-122"/>
                <a:cs typeface="Pretendard SemiBold" pitchFamily="34" charset="-120"/>
              </a:rPr>
              <a:t>중고거래 식품·건강기능식품 게시글의 소비기한</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50392"/>
            <a:ext cx="8595360" cy="246888"/>
          </a:xfrm>
          <a:prstGeom prst="rect">
            <a:avLst/>
          </a:prstGeom>
          <a:noFill/>
          <a:ln/>
        </p:spPr>
        <p:txBody>
          <a:bodyPr wrap="square" lIns="0" tIns="0" rIns="0" bIns="0" rtlCol="0" anchor="t"/>
          <a:lstStyle/>
          <a:p>
            <a:pPr marL="0" indent="0">
              <a:buNone/>
            </a:pPr>
            <a:r>
              <a:rPr lang="en-US" sz="1080" dirty="0">
                <a:solidFill>
                  <a:srgbClr val="1A1A1A"/>
                </a:solidFill>
                <a:latin typeface="Pretendard SemiBold" pitchFamily="34" charset="0"/>
                <a:ea typeface="Pretendard SemiBold" pitchFamily="34" charset="-122"/>
                <a:cs typeface="Pretendard SemiBold" pitchFamily="34" charset="-120"/>
              </a:rPr>
              <a:t>소비기한은 판매자가 손으로 적는다. 적발된 위반 375건 중 </a:t>
            </a:r>
            <a:r>
              <a:rPr lang="en-US" sz="1080" dirty="0">
                <a:solidFill>
                  <a:srgbClr val="8B0000"/>
                </a:solidFill>
                <a:latin typeface="Pretendard SemiBold" pitchFamily="34" charset="0"/>
                <a:ea typeface="Pretendard SemiBold" pitchFamily="34" charset="-122"/>
                <a:cs typeface="Pretendard SemiBold" pitchFamily="34" charset="-120"/>
              </a:rPr>
              <a:t>211건이 사용기한 확인 불가·불일치</a:t>
            </a:r>
            <a:r>
              <a:rPr lang="en-US" sz="1080" dirty="0">
                <a:solidFill>
                  <a:srgbClr val="1A1A1A"/>
                </a:solidFill>
                <a:latin typeface="Pretendard SemiBold" pitchFamily="34" charset="0"/>
                <a:ea typeface="Pretendard SemiBold" pitchFamily="34" charset="-122"/>
                <a:cs typeface="Pretendard SemiBold" pitchFamily="34" charset="-120"/>
              </a:rPr>
              <a:t>, 전담 모니터링 인력은 </a:t>
            </a:r>
            <a:r>
              <a:rPr lang="en-US" sz="1080" dirty="0">
                <a:solidFill>
                  <a:srgbClr val="8B0000"/>
                </a:solidFill>
                <a:latin typeface="Pretendard SemiBold" pitchFamily="34" charset="0"/>
                <a:ea typeface="Pretendard SemiBold" pitchFamily="34" charset="-122"/>
                <a:cs typeface="Pretendard SemiBold" pitchFamily="34" charset="-120"/>
              </a:rPr>
              <a:t>5명</a:t>
            </a:r>
            <a:endParaRPr lang="en-US" sz="1080" dirty="0"/>
          </a:p>
        </p:txBody>
      </p:sp>
      <p:sp>
        <p:nvSpPr>
          <p:cNvPr id="7" name="Text 5"/>
          <p:cNvSpPr txBox="1"/>
          <p:nvPr/>
        </p:nvSpPr>
        <p:spPr>
          <a:xfrm>
            <a:off x="274320" y="1088136"/>
            <a:ext cx="8595360" cy="182880"/>
          </a:xfrm>
          <a:prstGeom prst="rect">
            <a:avLst/>
          </a:prstGeom>
          <a:noFill/>
          <a:ln/>
        </p:spPr>
        <p:txBody>
          <a:bodyPr wrap="square" lIns="0" tIns="0" rIns="0" bIns="0" rtlCol="0" anchor="t"/>
          <a:lstStyle/>
          <a:p>
            <a:pPr marL="0" indent="0">
              <a:buNone/>
            </a:pPr>
            <a:r>
              <a:rPr lang="en-US" sz="900" dirty="0">
                <a:solidFill>
                  <a:srgbClr val="6B6B6B"/>
                </a:solidFill>
                <a:latin typeface="Pretendard SemiBold" pitchFamily="34" charset="0"/>
                <a:ea typeface="Pretendard SemiBold" pitchFamily="34" charset="-122"/>
                <a:cs typeface="Pretendard SemiBold" pitchFamily="34" charset="-120"/>
              </a:rPr>
              <a:t>아래는 시연용으로 만든 서비스 화면(설계안)이며 실제 앱을 구현한 것은 아니다. 사진·판독값·확신도는 우리 파이프라인의 실제 출력이다</a:t>
            </a:r>
            <a:endParaRPr lang="en-US" sz="900" dirty="0"/>
          </a:p>
        </p:txBody>
      </p:sp>
      <p:pic>
        <p:nvPicPr>
          <p:cNvPr id="8" name="Image 0" descr="C:\Users\user\AppData\Local\Temp\claude\C--Users-user-Desktop-itda\bf40759d-3db3-4682-9251-a5dfc70e5b9d\scratchpad\deck\img\dash_phone1.png"/>
          <p:cNvPicPr>
            <a:picLocks noChangeAspect="1"/>
          </p:cNvPicPr>
          <p:nvPr/>
        </p:nvPicPr>
        <p:blipFill>
          <a:blip r:embed="rId3"/>
          <a:stretch>
            <a:fillRect/>
          </a:stretch>
        </p:blipFill>
        <p:spPr>
          <a:xfrm>
            <a:off x="274320" y="1298448"/>
            <a:ext cx="1309421" cy="2743200"/>
          </a:xfrm>
          <a:prstGeom prst="rect">
            <a:avLst/>
          </a:prstGeom>
        </p:spPr>
      </p:pic>
      <p:sp>
        <p:nvSpPr>
          <p:cNvPr id="9" name="Text 6"/>
          <p:cNvSpPr txBox="1"/>
          <p:nvPr/>
        </p:nvSpPr>
        <p:spPr>
          <a:xfrm>
            <a:off x="182880" y="4059936"/>
            <a:ext cx="1492301" cy="237744"/>
          </a:xfrm>
          <a:prstGeom prst="rect">
            <a:avLst/>
          </a:prstGeom>
          <a:noFill/>
          <a:ln/>
        </p:spPr>
        <p:txBody>
          <a:bodyPr wrap="square" lIns="0" tIns="0" rIns="0" bIns="0" rtlCol="0" anchor="ctr"/>
          <a:lstStyle/>
          <a:p>
            <a:pPr marL="0" indent="0" algn="ctr">
              <a:buNone/>
            </a:pPr>
            <a:r>
              <a:rPr lang="en-US" sz="950" dirty="0">
                <a:solidFill>
                  <a:srgbClr val="1A1A1A"/>
                </a:solidFill>
                <a:latin typeface="Pretendard SemiBold" pitchFamily="34" charset="0"/>
                <a:ea typeface="Pretendard SemiBold" pitchFamily="34" charset="-122"/>
                <a:cs typeface="Pretendard SemiBold" pitchFamily="34" charset="-120"/>
              </a:rPr>
              <a:t>① 날짜면 촬영</a:t>
            </a:r>
            <a:endParaRPr lang="en-US" sz="950" dirty="0"/>
          </a:p>
        </p:txBody>
      </p:sp>
      <p:sp>
        <p:nvSpPr>
          <p:cNvPr id="10" name="Text 7"/>
          <p:cNvSpPr txBox="1"/>
          <p:nvPr/>
        </p:nvSpPr>
        <p:spPr>
          <a:xfrm>
            <a:off x="1583741" y="2532888"/>
            <a:ext cx="208483" cy="274320"/>
          </a:xfrm>
          <a:prstGeom prst="rect">
            <a:avLst/>
          </a:prstGeom>
          <a:noFill/>
          <a:ln/>
        </p:spPr>
        <p:txBody>
          <a:bodyPr wrap="square" lIns="0" tIns="0" rIns="0" bIns="0" rtlCol="0" anchor="ctr"/>
          <a:lstStyle/>
          <a:p>
            <a:pPr marL="0" indent="0" algn="ctr">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1" name="Image 1" descr="C:\Users\user\AppData\Local\Temp\claude\C--Users-user-Desktop-itda\bf40759d-3db3-4682-9251-a5dfc70e5b9d\scratchpad\deck\img\dash_phone2.png"/>
          <p:cNvPicPr>
            <a:picLocks noChangeAspect="1"/>
          </p:cNvPicPr>
          <p:nvPr/>
        </p:nvPicPr>
        <p:blipFill>
          <a:blip r:embed="rId4"/>
          <a:stretch>
            <a:fillRect/>
          </a:stretch>
        </p:blipFill>
        <p:spPr>
          <a:xfrm>
            <a:off x="1792224" y="1298448"/>
            <a:ext cx="1309421" cy="2743200"/>
          </a:xfrm>
          <a:prstGeom prst="rect">
            <a:avLst/>
          </a:prstGeom>
        </p:spPr>
      </p:pic>
      <p:sp>
        <p:nvSpPr>
          <p:cNvPr id="12" name="Text 8"/>
          <p:cNvSpPr txBox="1"/>
          <p:nvPr/>
        </p:nvSpPr>
        <p:spPr>
          <a:xfrm>
            <a:off x="1700784" y="4059936"/>
            <a:ext cx="1492301" cy="237744"/>
          </a:xfrm>
          <a:prstGeom prst="rect">
            <a:avLst/>
          </a:prstGeom>
          <a:noFill/>
          <a:ln/>
        </p:spPr>
        <p:txBody>
          <a:bodyPr wrap="square" lIns="0" tIns="0" rIns="0" bIns="0" rtlCol="0" anchor="ctr"/>
          <a:lstStyle/>
          <a:p>
            <a:pPr marL="0" indent="0" algn="ctr">
              <a:buNone/>
            </a:pPr>
            <a:r>
              <a:rPr lang="en-US" sz="950" dirty="0">
                <a:solidFill>
                  <a:srgbClr val="1A1A1A"/>
                </a:solidFill>
                <a:latin typeface="Pretendard SemiBold" pitchFamily="34" charset="0"/>
                <a:ea typeface="Pretendard SemiBold" pitchFamily="34" charset="-122"/>
                <a:cs typeface="Pretendard SemiBold" pitchFamily="34" charset="-120"/>
              </a:rPr>
              <a:t>② 확신하면 자동 입력</a:t>
            </a:r>
            <a:endParaRPr lang="en-US" sz="950" dirty="0"/>
          </a:p>
        </p:txBody>
      </p:sp>
      <p:sp>
        <p:nvSpPr>
          <p:cNvPr id="13" name="Text 9"/>
          <p:cNvSpPr txBox="1"/>
          <p:nvPr/>
        </p:nvSpPr>
        <p:spPr>
          <a:xfrm>
            <a:off x="3101645" y="2532888"/>
            <a:ext cx="208483" cy="274320"/>
          </a:xfrm>
          <a:prstGeom prst="rect">
            <a:avLst/>
          </a:prstGeom>
          <a:noFill/>
          <a:ln/>
        </p:spPr>
        <p:txBody>
          <a:bodyPr wrap="square" lIns="0" tIns="0" rIns="0" bIns="0" rtlCol="0" anchor="ctr"/>
          <a:lstStyle/>
          <a:p>
            <a:pPr marL="0" indent="0" algn="ctr">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4" name="Image 2" descr="C:\Users\user\AppData\Local\Temp\claude\C--Users-user-Desktop-itda\bf40759d-3db3-4682-9251-a5dfc70e5b9d\scratchpad\deck\img\dash_phone3.png"/>
          <p:cNvPicPr>
            <a:picLocks noChangeAspect="1"/>
          </p:cNvPicPr>
          <p:nvPr/>
        </p:nvPicPr>
        <p:blipFill>
          <a:blip r:embed="rId5"/>
          <a:stretch>
            <a:fillRect/>
          </a:stretch>
        </p:blipFill>
        <p:spPr>
          <a:xfrm>
            <a:off x="3310128" y="1298448"/>
            <a:ext cx="1309421" cy="2743200"/>
          </a:xfrm>
          <a:prstGeom prst="rect">
            <a:avLst/>
          </a:prstGeom>
        </p:spPr>
      </p:pic>
      <p:sp>
        <p:nvSpPr>
          <p:cNvPr id="15" name="Text 10"/>
          <p:cNvSpPr txBox="1"/>
          <p:nvPr/>
        </p:nvSpPr>
        <p:spPr>
          <a:xfrm>
            <a:off x="3218688" y="4059936"/>
            <a:ext cx="1492301" cy="237744"/>
          </a:xfrm>
          <a:prstGeom prst="rect">
            <a:avLst/>
          </a:prstGeom>
          <a:noFill/>
          <a:ln/>
        </p:spPr>
        <p:txBody>
          <a:bodyPr wrap="square" lIns="0" tIns="0" rIns="0" bIns="0" rtlCol="0" anchor="ctr"/>
          <a:lstStyle/>
          <a:p>
            <a:pPr marL="0" indent="0" algn="ctr">
              <a:buNone/>
            </a:pPr>
            <a:r>
              <a:rPr lang="en-US" sz="950" dirty="0">
                <a:solidFill>
                  <a:srgbClr val="1A1A1A"/>
                </a:solidFill>
                <a:latin typeface="Pretendard SemiBold" pitchFamily="34" charset="0"/>
                <a:ea typeface="Pretendard SemiBold" pitchFamily="34" charset="-122"/>
                <a:cs typeface="Pretendard SemiBold" pitchFamily="34" charset="-120"/>
              </a:rPr>
              <a:t>③ 확신이 낮으면 빈칸</a:t>
            </a:r>
            <a:endParaRPr lang="en-US" sz="950" dirty="0"/>
          </a:p>
        </p:txBody>
      </p:sp>
      <p:sp>
        <p:nvSpPr>
          <p:cNvPr id="16" name="Text 11"/>
          <p:cNvSpPr txBox="1"/>
          <p:nvPr/>
        </p:nvSpPr>
        <p:spPr>
          <a:xfrm>
            <a:off x="4619549" y="2532888"/>
            <a:ext cx="208483" cy="274320"/>
          </a:xfrm>
          <a:prstGeom prst="rect">
            <a:avLst/>
          </a:prstGeom>
          <a:noFill/>
          <a:ln/>
        </p:spPr>
        <p:txBody>
          <a:bodyPr wrap="square" lIns="0" tIns="0" rIns="0" bIns="0" rtlCol="0" anchor="ctr"/>
          <a:lstStyle/>
          <a:p>
            <a:pPr marL="0" indent="0" algn="ctr">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7" name="Image 3" descr="C:\Users\user\AppData\Local\Temp\claude\C--Users-user-Desktop-itda\bf40759d-3db3-4682-9251-a5dfc70e5b9d\scratchpad\deck\img\dash_phone4.png"/>
          <p:cNvPicPr>
            <a:picLocks noChangeAspect="1"/>
          </p:cNvPicPr>
          <p:nvPr/>
        </p:nvPicPr>
        <p:blipFill>
          <a:blip r:embed="rId6"/>
          <a:stretch>
            <a:fillRect/>
          </a:stretch>
        </p:blipFill>
        <p:spPr>
          <a:xfrm>
            <a:off x="4828032" y="1298448"/>
            <a:ext cx="1309421" cy="2743200"/>
          </a:xfrm>
          <a:prstGeom prst="rect">
            <a:avLst/>
          </a:prstGeom>
        </p:spPr>
      </p:pic>
      <p:sp>
        <p:nvSpPr>
          <p:cNvPr id="18" name="Text 12"/>
          <p:cNvSpPr txBox="1"/>
          <p:nvPr/>
        </p:nvSpPr>
        <p:spPr>
          <a:xfrm>
            <a:off x="4736592" y="4059936"/>
            <a:ext cx="1492301" cy="237744"/>
          </a:xfrm>
          <a:prstGeom prst="rect">
            <a:avLst/>
          </a:prstGeom>
          <a:noFill/>
          <a:ln/>
        </p:spPr>
        <p:txBody>
          <a:bodyPr wrap="square" lIns="0" tIns="0" rIns="0" bIns="0" rtlCol="0" anchor="ctr"/>
          <a:lstStyle/>
          <a:p>
            <a:pPr marL="0" indent="0" algn="ctr">
              <a:buNone/>
            </a:pPr>
            <a:r>
              <a:rPr lang="en-US" sz="950" dirty="0">
                <a:solidFill>
                  <a:srgbClr val="1A1A1A"/>
                </a:solidFill>
                <a:latin typeface="Pretendard SemiBold" pitchFamily="34" charset="0"/>
                <a:ea typeface="Pretendard SemiBold" pitchFamily="34" charset="-122"/>
                <a:cs typeface="Pretendard SemiBold" pitchFamily="34" charset="-120"/>
              </a:rPr>
              <a:t>④ 날짜·남은 일수·원본</a:t>
            </a:r>
            <a:endParaRPr lang="en-US" sz="950" dirty="0"/>
          </a:p>
        </p:txBody>
      </p:sp>
      <p:sp>
        <p:nvSpPr>
          <p:cNvPr id="19" name="Text 13"/>
          <p:cNvSpPr txBox="1"/>
          <p:nvPr/>
        </p:nvSpPr>
        <p:spPr>
          <a:xfrm>
            <a:off x="6355080" y="1298448"/>
            <a:ext cx="2514600" cy="256032"/>
          </a:xfrm>
          <a:prstGeom prst="rect">
            <a:avLst/>
          </a:prstGeom>
          <a:noFill/>
          <a:ln/>
        </p:spPr>
        <p:txBody>
          <a:bodyPr wrap="square" lIns="0" tIns="0" rIns="0" bIns="0" rtlCol="0" anchor="t"/>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모델 결과별로 판매자에게 일어나는 일</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55080" y="1591056"/>
          <a:ext cx="2514600" cy="1676400"/>
        </p:xfrm>
        <a:graphic>
          <a:graphicData uri="http://schemas.openxmlformats.org/drawingml/2006/table">
            <a:tbl>
              <a:tblPr/>
              <a:tblGrid>
                <a:gridCol w="8686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329184">
                <a:tc>
                  <a:txBody>
                    <a:bodyPr/>
                    <a:lstStyle/>
                    <a:p>
                      <a:pPr marL="0" indent="0" algn="l">
                        <a:buNone/>
                      </a:pPr>
                      <a:r>
                        <a:rPr lang="en-US" sz="880" dirty="0">
                          <a:solidFill>
                            <a:srgbClr val="FFFFFF"/>
                          </a:solidFill>
                          <a:latin typeface="Pretendard SemiBold" pitchFamily="34" charset="0"/>
                          <a:ea typeface="Pretendard SemiBold" pitchFamily="34" charset="-122"/>
                          <a:cs typeface="Pretendard SemiBold" pitchFamily="34" charset="-120"/>
                        </a:rPr>
                        <a:t>모델 결과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880" dirty="0">
                          <a:solidFill>
                            <a:srgbClr val="FFFFFF"/>
                          </a:solidFill>
                          <a:latin typeface="Pretendard SemiBold" pitchFamily="34" charset="0"/>
                          <a:ea typeface="Pretendard SemiBold" pitchFamily="34" charset="-122"/>
                          <a:cs typeface="Pretendard SemiBold" pitchFamily="34" charset="-120"/>
                        </a:rPr>
                        <a:t>판매자에게 일어나는 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880" dirty="0">
                          <a:solidFill>
                            <a:srgbClr val="1A1A1A"/>
                          </a:solidFill>
                          <a:latin typeface="Pretendard SemiBold" pitchFamily="34" charset="0"/>
                          <a:ea typeface="Pretendard SemiBold" pitchFamily="34" charset="-122"/>
                          <a:cs typeface="Pretendard SemiBold" pitchFamily="34" charset="-120"/>
                        </a:rPr>
                        <a:t>맞게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880" dirty="0">
                          <a:solidFill>
                            <a:srgbClr val="1A1A1A"/>
                          </a:solidFill>
                          <a:latin typeface="Pretendard SemiBold" pitchFamily="34" charset="0"/>
                          <a:ea typeface="Pretendard SemiBold" pitchFamily="34" charset="-122"/>
                          <a:cs typeface="Pretendard SemiBold" pitchFamily="34" charset="-120"/>
                        </a:rPr>
                        <a:t>채워진 날짜를 확인</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880" dirty="0">
                          <a:solidFill>
                            <a:srgbClr val="1A1A1A"/>
                          </a:solidFill>
                          <a:latin typeface="Pretendard SemiBold" pitchFamily="34" charset="0"/>
                          <a:ea typeface="Pretendard SemiBold" pitchFamily="34" charset="-122"/>
                          <a:cs typeface="Pretendard SemiBold" pitchFamily="34" charset="-120"/>
                        </a:rPr>
                        <a:t>못 읽음 · 확신 낮음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880" dirty="0">
                          <a:solidFill>
                            <a:srgbClr val="1A1A1A"/>
                          </a:solidFill>
                          <a:latin typeface="Pretendard SemiBold" pitchFamily="34" charset="0"/>
                          <a:ea typeface="Pretendard SemiBold" pitchFamily="34" charset="-122"/>
                          <a:cs typeface="Pretendard SemiBold" pitchFamily="34" charset="-120"/>
                        </a:rPr>
                        <a:t>빈칸. 손으로 입력 (지금과 같음)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880" dirty="0">
                          <a:solidFill>
                            <a:srgbClr val="1A1A1A"/>
                          </a:solidFill>
                          <a:latin typeface="Pretendard SemiBold" pitchFamily="34" charset="0"/>
                          <a:ea typeface="Pretendard SemiBold" pitchFamily="34" charset="-122"/>
                          <a:cs typeface="Pretendard SemiBold" pitchFamily="34" charset="-120"/>
                        </a:rPr>
                        <a:t>이르게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880" dirty="0">
                          <a:solidFill>
                            <a:srgbClr val="8B0000"/>
                          </a:solidFill>
                          <a:latin typeface="Pretendard SemiBold" pitchFamily="34" charset="0"/>
                          <a:ea typeface="Pretendard SemiBold" pitchFamily="34" charset="-122"/>
                          <a:cs typeface="Pretendard SemiBold" pitchFamily="34" charset="-120"/>
                        </a:rPr>
                        <a:t>늦게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 안 고치면 남은 날이 많게 표시</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4"/>
                  </a:ext>
                </a:extLst>
              </a:tr>
            </a:tbl>
          </a:graphicData>
        </a:graphic>
      </p:graphicFrame>
      <p:sp>
        <p:nvSpPr>
          <p:cNvPr id="21" name="Shape 14"/>
          <p:cNvSpPr/>
          <p:nvPr/>
        </p:nvSpPr>
        <p:spPr>
          <a:xfrm>
            <a:off x="6355080" y="3456432"/>
            <a:ext cx="2514600" cy="841248"/>
          </a:xfrm>
          <a:prstGeom prst="roundRect">
            <a:avLst>
              <a:gd name="adj" fmla="val 8696"/>
            </a:avLst>
          </a:prstGeom>
          <a:solidFill>
            <a:srgbClr val="F2F2F2"/>
          </a:solidFill>
          <a:ln w="12700">
            <a:solidFill>
              <a:srgbClr val="F2F2F2"/>
            </a:solidFill>
            <a:prstDash val="solid"/>
          </a:ln>
        </p:spPr>
      </p:sp>
      <p:sp>
        <p:nvSpPr>
          <p:cNvPr id="22" name="Text 15"/>
          <p:cNvSpPr txBox="1"/>
          <p:nvPr/>
        </p:nvSpPr>
        <p:spPr>
          <a:xfrm>
            <a:off x="6464808" y="3493008"/>
            <a:ext cx="2295144" cy="768096"/>
          </a:xfrm>
          <a:prstGeom prst="rect">
            <a:avLst/>
          </a:prstGeom>
          <a:noFill/>
          <a:ln/>
        </p:spPr>
        <p:txBody>
          <a:bodyPr wrap="square" lIns="0" tIns="0" rIns="0" bIns="0" rtlCol="0" anchor="ctr"/>
          <a:lstStyle/>
          <a:p>
            <a:pPr marL="0" indent="0">
              <a:buNone/>
            </a:pPr>
            <a:r>
              <a:rPr lang="en-US" sz="930" dirty="0">
                <a:solidFill>
                  <a:srgbClr val="1A1A1A"/>
                </a:solidFill>
                <a:latin typeface="Pretendard SemiBold" pitchFamily="34" charset="0"/>
                <a:ea typeface="Pretendard SemiBold" pitchFamily="34" charset="-122"/>
                <a:cs typeface="Pretendard SemiBold" pitchFamily="34" charset="-120"/>
              </a:rPr>
              <a:t>판매자가 마지막에 확인하므로 정확도는 안전성이 아니라 </a:t>
            </a:r>
            <a:r>
              <a:rPr lang="en-US" sz="930" dirty="0">
                <a:solidFill>
                  <a:srgbClr val="8B0000"/>
                </a:solidFill>
                <a:latin typeface="Pretendard SemiBold" pitchFamily="34" charset="0"/>
                <a:ea typeface="Pretendard SemiBold" pitchFamily="34" charset="-122"/>
                <a:cs typeface="Pretendard SemiBold" pitchFamily="34" charset="-120"/>
              </a:rPr>
              <a:t>자동 입력 비율</a:t>
            </a:r>
            <a:r>
              <a:rPr lang="en-US" sz="930" dirty="0">
                <a:solidFill>
                  <a:srgbClr val="1A1A1A"/>
                </a:solidFill>
                <a:latin typeface="Pretendard SemiBold" pitchFamily="34" charset="0"/>
                <a:ea typeface="Pretendard SemiBold" pitchFamily="34" charset="-122"/>
                <a:cs typeface="Pretendard SemiBold" pitchFamily="34" charset="-120"/>
              </a:rPr>
              <a:t> 을 정한다. 속이려는 소수는 기존 사후 모니터링이 맡는다</a:t>
            </a:r>
            <a:endParaRPr lang="en-US" sz="930" dirty="0"/>
          </a:p>
        </p:txBody>
      </p:sp>
      <p:sp>
        <p:nvSpPr>
          <p:cNvPr id="23" name="Shape 1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4" name="Text 17"/>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포장 판독과 사진 기반 자동 입력은 각각 이미 있다. 우리는 둘을 </a:t>
            </a:r>
            <a:r>
              <a:rPr lang="en-US" sz="1250" dirty="0">
                <a:solidFill>
                  <a:srgbClr val="8B0000"/>
                </a:solidFill>
                <a:latin typeface="Pretendard SemiBold" pitchFamily="34" charset="0"/>
                <a:ea typeface="Pretendard SemiBold" pitchFamily="34" charset="-122"/>
                <a:cs typeface="Pretendard SemiBold" pitchFamily="34" charset="-120"/>
              </a:rPr>
              <a:t>게시 흐름에서 잇는 빈자리</a:t>
            </a:r>
            <a:r>
              <a:rPr lang="en-US" sz="1250" dirty="0">
                <a:solidFill>
                  <a:srgbClr val="1A1A1A"/>
                </a:solidFill>
                <a:latin typeface="Pretendard SemiBold" pitchFamily="34" charset="0"/>
                <a:ea typeface="Pretendard SemiBold" pitchFamily="34" charset="-122"/>
                <a:cs typeface="Pretendard SemiBold" pitchFamily="34" charset="-120"/>
              </a:rPr>
              <a:t> 를 채운다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r>
              <a:rPr lang="en-US" sz="1900" dirty="0">
                <a:solidFill>
                  <a:srgbClr val="8B0000"/>
                </a:solidFill>
                <a:latin typeface="Pretendard SemiBold" pitchFamily="34" charset="0"/>
                <a:ea typeface="Pretendard SemiBold" pitchFamily="34" charset="-122"/>
                <a:cs typeface="Pretendard SemiBold" pitchFamily="34" charset="-120"/>
              </a:rPr>
              <a:t>건당 0.2 ~ 5.8원, 도입 이유는 규제 대응</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1865376"/>
        </p:xfrm>
        <a:graphic>
          <a:graphicData uri="http://schemas.openxmlformats.org/drawingml/2006/table">
            <a:tbl>
              <a:tblPr/>
              <a:tblGrid>
                <a:gridCol w="9144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항목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내용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1차 대상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건강기능식품 카테고리 (미개봉 · 소비기한 이내 · 연 10회 이하)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규모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게시글 월 약 2.4만 건, 하루 약 800건 (식약처 자료)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구조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플랫폼 서버에서 추론. 모델 21MB, CPU 전용, 10초 제한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서버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하루 53분 ~ 2.4시간 = 서버 1대의 4 ~ 10%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비용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게시글 한 건당 0.2 ~ 5.8원. 라이선스·GPU·학습비 0원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도입 이유 : 비용 절감이 아니다</a:t>
            </a:r>
            <a:endParaRPr lang="en-US" sz="1200" dirty="0"/>
          </a:p>
        </p:txBody>
      </p:sp>
      <p:sp>
        <p:nvSpPr>
          <p:cNvPr id="9" name="Text 6"/>
          <p:cNvSpPr txBox="1"/>
          <p:nvPr/>
        </p:nvSpPr>
        <p:spPr>
          <a:xfrm>
            <a:off x="5715000" y="1252728"/>
            <a:ext cx="3017520" cy="1481328"/>
          </a:xfrm>
          <a:prstGeom prst="rect">
            <a:avLst/>
          </a:prstGeom>
          <a:noFill/>
          <a:ln/>
        </p:spPr>
        <p:txBody>
          <a:bodyPr wrap="square" lIns="0" tIns="0" rIns="0" bIns="0" rtlCol="0" anchor="t"/>
          <a:lstStyle/>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위반 처리비 절감으로는 본전이 안 된다 : 손익분기 780 ~ 1,900원, 사람 검토는 약 86원 (가정)</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건강기능식품 개인 간 거래는 시범사업. 게시글마다 남는 사진과 판독 기록이 관리 체계의 증거</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남은 일수 표시·자동 숨김은 날짜 칸만으로 되므로 OCR 효과로 세지 않았다</a:t>
            </a:r>
            <a:endParaRPr lang="en-US" sz="980" dirty="0"/>
          </a:p>
        </p:txBody>
      </p:sp>
      <p:sp>
        <p:nvSpPr>
          <p:cNvPr id="10" name="Text 7"/>
          <p:cNvSpPr txBox="1"/>
          <p:nvPr/>
        </p:nvSpPr>
        <p:spPr>
          <a:xfrm>
            <a:off x="274320" y="2880360"/>
            <a:ext cx="859536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자동 입력 기준 (직접 찍은 폰 사진 389장 실측)</a:t>
            </a:r>
            <a:endParaRPr lang="en-US" sz="12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136392"/>
          <a:ext cx="8595360" cy="1120140"/>
        </p:xfrm>
        <a:graphic>
          <a:graphicData uri="http://schemas.openxmlformats.org/drawingml/2006/table">
            <a:tbl>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224028">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자동 입력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채워지는 비율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채운 값의 정확도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틀린 값을 받는 판매자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24028">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기준 없음 (읽히면 채움)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24028">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44.7%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77.0%</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24028">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 + 10초 제한 (운영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40.6%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79.7%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960" dirty="0">
                          <a:solidFill>
                            <a:srgbClr val="8B0000"/>
                          </a:solidFill>
                          <a:latin typeface="Pretendard SemiBold" pitchFamily="34" charset="0"/>
                          <a:ea typeface="Pretendard SemiBold" pitchFamily="34" charset="-122"/>
                          <a:cs typeface="Pretendard SemiBold" pitchFamily="34" charset="-120"/>
                        </a:rPr>
                        <a:t>8.2%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r h="224028">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확신도 0.9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16.5%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87.5%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OCR 이 있어야 되는 것 : </a:t>
            </a:r>
            <a:r>
              <a:rPr lang="en-US" sz="1250" dirty="0">
                <a:solidFill>
                  <a:srgbClr val="8B0000"/>
                </a:solidFill>
                <a:latin typeface="Pretendard SemiBold" pitchFamily="34" charset="0"/>
                <a:ea typeface="Pretendard SemiBold" pitchFamily="34" charset="-122"/>
                <a:cs typeface="Pretendard SemiBold" pitchFamily="34" charset="-120"/>
              </a:rPr>
              <a:t>입력값과 사진의 대조</a:t>
            </a:r>
            <a:r>
              <a:rPr lang="en-US" sz="1250" dirty="0">
                <a:solidFill>
                  <a:srgbClr val="1A1A1A"/>
                </a:solidFill>
                <a:latin typeface="Pretendard SemiBold" pitchFamily="34" charset="0"/>
                <a:ea typeface="Pretendard SemiBold" pitchFamily="34" charset="-122"/>
                <a:cs typeface="Pretendard SemiBold" pitchFamily="34" charset="-120"/>
              </a:rPr>
              <a:t>, 날짜면이 찍혔는지 확인, 자동 입력과 수정값 축적</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r>
              <a:rPr lang="en-US" sz="1900" dirty="0">
                <a:solidFill>
                  <a:srgbClr val="8B0000"/>
                </a:solidFill>
                <a:latin typeface="Pretendard SemiBold" pitchFamily="34" charset="0"/>
                <a:ea typeface="Pretendard SemiBold" pitchFamily="34" charset="-122"/>
                <a:cs typeface="Pretendard SemiBold" pitchFamily="34" charset="-120"/>
              </a:rPr>
              <a:t>폰 사진에서는 다섯 장 중 한 장을 못 읽는다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틀리는 방향 (직접 찍은 폰 사진 389장)</a:t>
            </a:r>
            <a:endParaRPr lang="en-US" sz="1200" dirty="0"/>
          </a:p>
        </p:txBody>
      </p:sp>
      <p:graphicFrame>
        <p:nvGraphicFramePr>
          <p:cNvPr id="8" name="Chart 0"/>
          <p:cNvGraphicFramePr/>
          <p:nvPr/>
        </p:nvGraphicFramePr>
        <p:xfrm>
          <a:off x="365760" y="1234440"/>
          <a:ext cx="4023360" cy="16459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남은 한계</a:t>
            </a:r>
            <a:endParaRPr lang="en-US" sz="1200" dirty="0"/>
          </a:p>
        </p:txBody>
      </p:sp>
      <p:sp>
        <p:nvSpPr>
          <p:cNvPr id="11" name="Text 8"/>
          <p:cNvSpPr txBox="1"/>
          <p:nvPr/>
        </p:nvSpPr>
        <p:spPr>
          <a:xfrm>
            <a:off x="4800600" y="1252728"/>
            <a:ext cx="3931920" cy="1627632"/>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못 읽음 21.9% 는 봉인 500장(3.0%)의 약 일곱 배. 찍은 사람과 촬영 조건에 따라 크게 갈린다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389장은 어려운 유형 위주로 찍은 것. 실제 게시 사진으로 다시 재야 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조작·개봉 여부·카테고리를 바꿔 촬영을 피하는 것은 막지 못한다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판매자가 보지 않고 확인을 누르는 비율은 재지 못했다</a:t>
            </a:r>
            <a:endParaRPr lang="en-US" sz="100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촬영 단계에서 막는다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촬영 안내와 해상도·흐림 검사, 미달이면 다시 촬영</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판매자 수정값으로 재학습</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고친 값을 검수해 인식기 학습 데이터로</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확인을 동작으로</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버튼 대신 날짜의 '일' 칸을 다시 입력. 실제 수정 비율을 지표로</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규칙으로 닿는 오답은 거의 다 썼다. 남은 것은 </a:t>
            </a:r>
            <a:r>
              <a:rPr lang="en-US" sz="1250" dirty="0">
                <a:solidFill>
                  <a:srgbClr val="8B0000"/>
                </a:solidFill>
                <a:latin typeface="Pretendard SemiBold" pitchFamily="34" charset="0"/>
                <a:ea typeface="Pretendard SemiBold" pitchFamily="34" charset="-122"/>
                <a:cs typeface="Pretendard SemiBold" pitchFamily="34" charset="-120"/>
              </a:rPr>
              <a:t>인식 품질(각인·도트)과 저해상도</a:t>
            </a:r>
            <a:r>
              <a:rPr lang="en-US" sz="1250" dirty="0">
                <a:solidFill>
                  <a:srgbClr val="1A1A1A"/>
                </a:solidFill>
                <a:latin typeface="Pretendard SemiBold" pitchFamily="34" charset="0"/>
                <a:ea typeface="Pretendard SemiBold" pitchFamily="34" charset="-122"/>
                <a:cs typeface="Pretendard SemiBold" pitchFamily="34" charset="-120"/>
              </a:rPr>
              <a:t> 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1737360"/>
        </p:xfrm>
        <a:graphic>
          <a:graphicData uri="http://schemas.openxmlformats.org/drawingml/2006/table">
            <a:tbl>
              <a:tblPr/>
              <a:tblGrid>
                <a:gridCol w="28346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47472">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적용 분야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읽는 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바꿀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1단계 건강기능식품 → 2단계 가공식품 · 선물세트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대상 카테고리, 상품별 촬영</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 인식 → 제품 조회·회수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9자리 숫자 마스킹 규칙 재설계</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탐지 · 인식 (정확도 미측정)</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식품공장 출하 전 날짜 인쇄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대조 대상 (제조일 + 품목별 일수)</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놓칠 확률 한 장당 0.2%</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의약품 · 화학 제품 출하 표시물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읽기 · 대조 · 예외 처리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사람(판매자·검수자)이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marL="0" indent="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55 ~ 79%</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판매자가 직접 입력. 정확도는 안전성이 아니라 자동 입력 비율이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marL="0" indent="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6839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5204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1975104"/>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2918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구성 (지금 라벨로 채점)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64.9%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인식기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78.3% · 비병기 87.7%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직접 찍은 폰 사진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최종 (운영 수치 계산용)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21.9%, 자동 입력 41 ~ 45%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3806</Words>
  <Application>Microsoft Office PowerPoint</Application>
  <PresentationFormat>화면 슬라이드 쇼(16:9)</PresentationFormat>
  <Paragraphs>501</Paragraphs>
  <Slides>22</Slides>
  <Notes>22</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22</vt:i4>
      </vt:variant>
    </vt:vector>
  </HeadingPairs>
  <TitlesOfParts>
    <vt:vector size="25" baseType="lpstr">
      <vt:lpstr>Pretendard SemiBold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프로젝트 1팀 / 3</cp:lastModifiedBy>
  <cp:revision>2</cp:revision>
  <dcterms:created xsi:type="dcterms:W3CDTF">2026-09-29T08:20:13Z</dcterms:created>
  <dcterms:modified xsi:type="dcterms:W3CDTF">2026-09-29T08:20:23Z</dcterms:modified>
</cp:coreProperties>
</file>