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Lbls>
            <c:numFmt formatCode="0.0" sourceLinked="0"/>
            <c:txPr>
              <a:bodyPr/>
              <a:lstStyle/>
              <a:p>
                <a:pPr>
                  <a:defRPr b="0" i="0" strike="noStrike" sz="900" u="none">
                    <a:solidFill>
                      <a:srgbClr val="1A1A1A"/>
                    </a:solidFill>
                    <a:latin typeface="Pretendard SemiBold"/>
                  </a:defRPr>
                </a:pPr>
              </a:p>
            </c:txPr>
            <c:showLegendKey val="0"/>
            <c:showVal val="1"/>
            <c:showCatName val="0"/>
            <c:showSerName val="0"/>
            <c:showPercent val="0"/>
            <c:showBubbleSize val="0"/>
            <c:showLeaderLines val="0"/>
          </c:dLbls>
          <c:dPt>
            <c:idx val="0"/>
            <c:invertIfNegative val="0"/>
            <c:bubble3D val="0"/>
            <c:spPr>
              <a:solidFill>
                <a:srgbClr val="B9B9B9"/>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dPt>
            <c:idx val="7"/>
            <c:invertIfNegative val="0"/>
            <c:bubble3D val="0"/>
            <c:spPr>
              <a:solidFill>
                <a:srgbClr val="B9B9B9"/>
              </a:solidFill>
              <a:effectLst/>
            </c:spPr>
          </c:dPt>
          <c:dPt>
            <c:idx val="8"/>
            <c:invertIfNegative val="0"/>
            <c:bubble3D val="0"/>
            <c:spPr>
              <a:solidFill>
                <a:srgbClr val="B9B9B9"/>
              </a:solidFill>
              <a:effectLst/>
            </c:spPr>
          </c:dPt>
          <c:dPt>
            <c:idx val="9"/>
            <c:invertIfNegative val="0"/>
            <c:bubble3D val="0"/>
            <c:spPr>
              <a:solidFill>
                <a:srgbClr val="5A5A5A"/>
              </a:solidFill>
              <a:effectLst/>
            </c:spPr>
          </c:dPt>
          <c:dPt>
            <c:idx val="10"/>
            <c:invertIfNegative val="0"/>
            <c:bubble3D val="0"/>
            <c:spPr>
              <a:solidFill>
                <a:srgbClr val="8B0000"/>
              </a:solidFill>
              <a:effectLst/>
            </c:spPr>
          </c:dPt>
          <c:cat>
            <c:multiLvlStrRef>
              <c:f>Sheet1!$A$2:$A$12</c:f>
              <c:multiLvlStrCache>
                <c:ptCount val="11"/>
                <c:lvl>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lvl>
              </c:multiLvlStrCache>
            </c:multiLvlStrRef>
          </c:cat>
          <c:val>
            <c:numRef>
              <c:f>Sheet1!$B$2:$B$12</c:f>
              <c:numCache>
                <c:formatCode>General</c:formatCode>
                <c:ptCount val="11"/>
                <c:pt idx="0">
                  <c:v>39.1</c:v>
                </c:pt>
                <c:pt idx="1">
                  <c:v>44.4</c:v>
                </c:pt>
                <c:pt idx="2">
                  <c:v>60.9</c:v>
                </c:pt>
                <c:pt idx="3">
                  <c:v>71.2</c:v>
                </c:pt>
                <c:pt idx="4">
                  <c:v>73.6</c:v>
                </c:pt>
                <c:pt idx="5">
                  <c:v>77</c:v>
                </c:pt>
                <c:pt idx="6">
                  <c:v>78.4</c:v>
                </c:pt>
                <c:pt idx="7">
                  <c:v>81.8</c:v>
                </c:pt>
                <c:pt idx="8">
                  <c:v>83.2</c:v>
                </c:pt>
                <c:pt idx="9">
                  <c:v>84.2</c:v>
                </c:pt>
                <c:pt idx="10">
                  <c:v>86.2</c:v>
                </c:pt>
              </c:numCache>
            </c:numRef>
          </c:val>
        </c:ser>
        <c:dLbls>
          <c:numFmt formatCode="0.0" sourceLinked="0"/>
          <c:txPr>
            <a:bodyPr/>
            <a:lstStyle/>
            <a:p>
              <a:pPr>
                <a:defRPr b="0" i="0" strike="noStrike" sz="900" u="none">
                  <a:solidFill>
                    <a:srgbClr val="1A1A1A"/>
                  </a:solidFill>
                  <a:latin typeface="Pretendard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비율(%)</c:v>
                </c:pt>
              </c:strCache>
            </c:strRef>
          </c:tx>
          <c:spPr>
            <a:solidFill>
              <a:srgbClr val="8B0000"/>
            </a:solidFill>
            <a:effectLst/>
          </c:spPr>
          <c:invertIfNegative val="0"/>
          <c:dLbls>
            <c:numFmt formatCode="0.0" sourceLinked="0"/>
            <c:txPr>
              <a:bodyPr/>
              <a:lstStyle/>
              <a:p>
                <a:pPr>
                  <a:defRPr b="0" i="0" strike="noStrike" sz="1000" u="none">
                    <a:solidFill>
                      <a:srgbClr val="1A1A1A"/>
                    </a:solidFill>
                    <a:latin typeface="Pretendard SemiBold"/>
                  </a:defRPr>
                </a:pPr>
              </a:p>
            </c:txPr>
            <c:showLegendKey val="0"/>
            <c:showVal val="1"/>
            <c:showCatName val="0"/>
            <c:showSerName val="0"/>
            <c:showPercent val="0"/>
            <c:showBubbleSize val="0"/>
            <c:showLeaderLines val="0"/>
          </c:dLbls>
          <c:dPt>
            <c:idx val="0"/>
            <c:invertIfNegative val="0"/>
            <c:bubble3D val="0"/>
            <c:spPr>
              <a:solidFill>
                <a:srgbClr val="8B0000"/>
              </a:solidFill>
              <a:effectLst/>
            </c:spPr>
          </c:dPt>
          <c:dPt>
            <c:idx val="1"/>
            <c:invertIfNegative val="0"/>
            <c:bubble3D val="0"/>
            <c:spPr>
              <a:solidFill>
                <a:srgbClr val="9A9A9A"/>
              </a:solidFill>
              <a:effectLst/>
            </c:spPr>
          </c:dPt>
          <c:dPt>
            <c:idx val="2"/>
            <c:invertIfNegative val="0"/>
            <c:bubble3D val="0"/>
            <c:spPr>
              <a:solidFill>
                <a:srgbClr val="5A5A5A"/>
              </a:solidFill>
              <a:effectLst/>
            </c:spPr>
          </c:dPt>
          <c:cat>
            <c:multiLvlStrRef>
              <c:f>Sheet1!$A$2:$A$4</c:f>
              <c:multiLvlStrCache>
                <c:ptCount val="3"/>
                <c:lvl>
                  <c:pt idx="0">
                    <c:v>늦게 읽음 (남은 날이 많게 표시)</c:v>
                  </c:pt>
                  <c:pt idx="1">
                    <c:v>이르게 읽음</c:v>
                  </c:pt>
                  <c:pt idx="2">
                    <c:v>못 읽음 → 빈칸</c:v>
                  </c:pt>
                </c:lvl>
              </c:multiLvlStrCache>
            </c:multiLvlStrRef>
          </c:cat>
          <c:val>
            <c:numRef>
              <c:f>Sheet1!$B$2:$B$4</c:f>
              <c:numCache>
                <c:formatCode>General</c:formatCode>
                <c:ptCount val="3"/>
                <c:pt idx="0">
                  <c:v>4.9</c:v>
                </c:pt>
                <c:pt idx="1">
                  <c:v>15.8</c:v>
                </c:pt>
                <c:pt idx="2">
                  <c:v>21.9</c:v>
                </c:pt>
              </c:numCache>
            </c:numRef>
          </c:val>
        </c:ser>
        <c:dLbls>
          <c:numFmt formatCode="0.0" sourceLinked="0"/>
          <c:txPr>
            <a:bodyPr/>
            <a:lstStyle/>
            <a:p>
              <a:pPr>
                <a:defRPr b="0" i="0" strike="noStrike" sz="1000" u="none">
                  <a:solidFill>
                    <a:srgbClr val="1A1A1A"/>
                  </a:solidFill>
                  <a:latin typeface="Pretendard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A1A1A"/>
                </a:solidFill>
                <a:latin typeface="Pretendard SemiBold"/>
              </a:defRPr>
            </a:pPr>
            <a:endParaRPr lang="en-US"/>
          </a:p>
        </c:txPr>
        <c:crossAx val="2094734552"/>
        <c:crosses val="autoZero"/>
        <c:auto val="1"/>
        <c:lblAlgn val="ctr"/>
        <c:noMultiLvlLbl val="1"/>
      </c:catAx>
      <c:valAx>
        <c:axId val="2094734552"/>
        <c:scaling>
          <c:orientation val="minMax"/>
          <c:max val="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정확도를 판단할 기준부터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 446장을 다시 보니 라벨이 틀린 게 16장, 그중 11장은 모델이 맞은 경우였습니다.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규칙을 바꿔서 53장을 되찾았습니다. 이렇게 원인을 나눠 놓으니, 모델을 키우는 대신 원인마다 가장 간단한 처방을 고를 수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채택 판정에는 쓰지 않고 점수만 추적한 봉인 셋에서도 같이 올랐기 때문에 튜닝 셋에 과적합된 상승이 아니라고 판단합니다.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학습시킨 인식기를 다시 읽기 단계에 썼더니 점수는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개발 PC 두 대에서 스레드를 4개로 제한해 쟀을 때 장당 2.7초에서 4초, 500장에 한도의 55에서 79퍼센트입니다. 메모리는 0.83기가,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식품과 건강기능식품 게시글입니다. 소비기한은 판매자가 손으로 적고 구매자는 확인할 방법이 없습니다. 약사 단체 모니터링에서 적발된 위반 중 가장 많은 유형이 사용기한 확인 불가였고, 게시글은 한 달에 2만 4천 건인데 전담 모니터링 인력은 다섯 명으로 보도됐습니다. 화면은 시연용 설계안이고, 실제 앱을 만든 것은 아닙니다.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플랫폼에는 사진을 읽어 글을 자동으로 써 주는 기능이 이미 있습니다. 저희는 소비기한 판독을 그 게시 흐름에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이때 모델이 자신의 답을 얼마나 믿는지를 0부터 1 사이의 값으로 나타낸 것을 확신도라고 정의하겠습니다. 확신도가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아키텍처입니다. 지금은 서버 추론 하나만 돌아갑니다. 모델이 21메가바이트로 작아 폰 안에서 직접 돌리는 온디바이스도 가능할 걸로 보지만, 아직 재 보지 않아 다음 단계로 남겨 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손실 절감과 ROI입니다. 손익분기 처리비가 사람 검토 비용 86원의 9배에서 220배라, 저희는 비용 절감이 아니라 규제 대응을 도입 이유로 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어려운 조건의 폰 사진이 저희 약점입니다. 팀원 네 명이 어려운 유형 위주로 389장을 직접 찍어 돌렸더니 다섯 장 중 한 장은 읽지 못했습니다. 봉인 500장의 일곱 배입니다. 가장 위험한 것은 늦게 읽어서 남은 날이 많게 표시되는 경우로 4.9퍼센트입니다. 그래서 채운 값 옆에 늘 날짜 확대본을 보여 주고, 읽은 값만으로 게시를 막지 않습니다. 조작과 개봉 여부는 막지 못하고, 판매자가 보지 않고 확인을 누르는 비율은 재지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indent="0" marL="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indent="0" marL="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게시글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indent="0" marL="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EasyOCR 탐지기를 쓴 초기 구성은 4코어에서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446장을 사람이 다시 보고 라벨 오류 16장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389장 직접 촬영·라벨링.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algn="ct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indent="0" marL="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indent="0" marL="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16장 중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11장은 모델이 맞은 쪽</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indent="0" marL="0">
              <a:buNone/>
            </a:pPr>
            <a:r>
              <a:rPr lang="en-US" sz="950" dirty="0">
                <a:solidFill>
                  <a:srgbClr val="8B0000"/>
                </a:solidFill>
                <a:latin typeface="Pretendard SemiBold" pitchFamily="34" charset="0"/>
                <a:ea typeface="Pretendard SemiBold" pitchFamily="34" charset="-122"/>
                <a:cs typeface="Pretendard SemiBold" pitchFamily="34" charset="-120"/>
              </a:rPr>
              <a:t>■ </a:t>
            </a:r>
            <a:pPr indent="0" marL="0">
              <a:buNone/>
            </a:pP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indent="0" marL="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914400"/>
        </p:xfrm>
        <a:graphic>
          <a:graphicData uri="http://schemas.openxmlformats.org/drawingml/2006/table">
            <a:tbl>
              <a:tblPr/>
              <a:tblGrid>
                <a:gridCol w="1554480"/>
                <a:gridCol w="2651760"/>
                <a:gridCol w="3108960"/>
                <a:gridCol w="1280160"/>
              </a:tblGrid>
              <a:tr h="265176">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"읽기"</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pPr indent="0" marL="0">
              <a:buNone/>
            </a:pPr>
            <a:r>
              <a:rPr lang="en-US" sz="1200" dirty="0">
                <a:solidFill>
                  <a:srgbClr val="8B0000"/>
                </a:solidFill>
                <a:latin typeface="Pretendard SemiBold" pitchFamily="34" charset="0"/>
                <a:ea typeface="Pretendard SemiBold" pitchFamily="34" charset="-122"/>
                <a:cs typeface="Pretendard SemiBold" pitchFamily="34" charset="-120"/>
              </a:rPr>
              <a:t>603장</a:t>
            </a:r>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1차 후보를 지우지 못하게 해 +53 / −5</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1737360"/>
                <a:gridCol w="3246120"/>
                <a:gridCol w="2057400"/>
              </a:tblGrid>
              <a:tr h="329184">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10"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회복·퇴보 수</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descr=""/>
          <p:cNvGraphicFramePr/>
          <p:nvPr/>
        </p:nvGraphicFramePr>
        <p:xfrm>
          <a:off x="274320" y="868680"/>
          <a:ext cx="5577840" cy="3154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indent="0" marL="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914400"/>
        </p:xfrm>
        <a:graphic>
          <a:graphicData uri="http://schemas.openxmlformats.org/drawingml/2006/table">
            <a:tbl>
              <a:tblPr/>
              <a:tblGrid>
                <a:gridCol w="1828800"/>
                <a:gridCol w="1005840"/>
              </a:tblGrid>
              <a:tr h="265176">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82.3 → 86.7%</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2194560"/>
                <a:gridCol w="731520"/>
                <a:gridCol w="2926080"/>
              </a:tblGrid>
              <a:tr h="315468">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다시 읽기 규칙 (1차 후보를 지우지 못하게 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+63 / −5</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82.3 → 84.3%. 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해석 규칙 4개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+39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병기 64.9 → 78.3%</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주변 재탐지 · 확대 재시도 · 파인튜닝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+25 / −1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못 읽은 사진에만 비용을 쓴다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다시 읽기에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+86 / −64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점수가 올라도 맞던 답을 흔들면 버린다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합성 도트 글자 3,000장 추가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인식기 셋 다수결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 / −4, 장당 +0.43초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퇴보가 회복의 1/3 초과</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인식기로 한 번 더 읽기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판정용 +7 / −2,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시간이 한도의 94% 까지 차서 여유를 택함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점수를 올렸지만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퇴보 64장</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한도의 55 ~ 79%,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883664" cy="502920"/>
          </a:xfrm>
          <a:prstGeom prst="rect">
            <a:avLst/>
          </a:prstGeom>
          <a:noFill/>
          <a:ln/>
        </p:spPr>
        <p:txBody>
          <a:bodyPr wrap="square" lIns="0" tIns="0" rIns="0" bIns="0" rtlCol="0" anchor="ctr"/>
          <a:lstStyle/>
          <a:p>
            <a:pPr indent="0" marL="0">
              <a:buNone/>
            </a:pPr>
            <a:r>
              <a:rPr lang="en-US" sz="1800" dirty="0">
                <a:solidFill>
                  <a:srgbClr val="8B0000"/>
                </a:solidFill>
                <a:latin typeface="Pretendard SemiBold" pitchFamily="34" charset="0"/>
                <a:ea typeface="Pretendard SemiBold" pitchFamily="34" charset="-122"/>
                <a:cs typeface="Pretendard SemiBold" pitchFamily="34" charset="-120"/>
              </a:rPr>
              <a:t>2.7 ~ 4.0초</a:t>
            </a:r>
            <a:endParaRPr lang="en-US" sz="18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개발 PC 두 대, 4스레드</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883664" cy="502920"/>
          </a:xfrm>
          <a:prstGeom prst="rect">
            <a:avLst/>
          </a:prstGeom>
          <a:noFill/>
          <a:ln/>
        </p:spPr>
        <p:txBody>
          <a:bodyPr wrap="square" lIns="0" tIns="0" rIns="0" bIns="0" rtlCol="0" anchor="ctr"/>
          <a:lstStyle/>
          <a:p>
            <a:pPr indent="0" marL="0">
              <a:buNone/>
            </a:pPr>
            <a:r>
              <a:rPr lang="en-US" sz="1800" dirty="0">
                <a:solidFill>
                  <a:srgbClr val="8B0000"/>
                </a:solidFill>
                <a:latin typeface="Pretendard SemiBold" pitchFamily="34" charset="0"/>
                <a:ea typeface="Pretendard SemiBold" pitchFamily="34" charset="-122"/>
                <a:cs typeface="Pretendard SemiBold" pitchFamily="34" charset="-120"/>
              </a:rPr>
              <a:t>1,370 ~ 1,985초</a:t>
            </a:r>
            <a:endParaRPr lang="en-US" sz="18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500장</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55 ~ 79%</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883664" cy="502920"/>
          </a:xfrm>
          <a:prstGeom prst="rect">
            <a:avLst/>
          </a:prstGeom>
          <a:noFill/>
          <a:ln/>
        </p:spPr>
        <p:txBody>
          <a:bodyPr wrap="square" lIns="0" tIns="0" rIns="0" bIns="0" rtlCol="0" anchor="ctr"/>
          <a:lstStyle/>
          <a:p>
            <a:pPr indent="0" marL="0">
              <a:buNone/>
            </a:pPr>
            <a:r>
              <a:rPr lang="en-US" sz="2400" dirty="0">
                <a:solidFill>
                  <a:srgbClr val="8B0000"/>
                </a:solidFill>
                <a:latin typeface="Pretendard SemiBold" pitchFamily="34" charset="0"/>
                <a:ea typeface="Pretendard SemiBold" pitchFamily="34" charset="-122"/>
                <a:cs typeface="Pretendard SemiBold" pitchFamily="34" charset="-120"/>
              </a:rPr>
              <a:t>0.83GB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한도 8GB (500장 실측, macOS)</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883664" cy="502920"/>
          </a:xfrm>
          <a:prstGeom prst="rect">
            <a:avLst/>
          </a:prstGeom>
          <a:noFill/>
          <a:ln/>
        </p:spPr>
        <p:txBody>
          <a:bodyPr wrap="square" lIns="0" tIns="0" rIns="0" bIns="0" rtlCol="0" anchor="ctr"/>
          <a:lstStyle/>
          <a:p>
            <a:pPr indent="0" marL="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사진의 88% 는 1.8초에 끝나고, 재시도까지 간 12% 가 시간의 절반을 쓴다</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"느리면 0점"</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Users/choseoyoung/Desktop/itda3-CODE-subway/발표/src/img/demo_plain.png">    </p:cNvPr>
          <p:cNvPicPr>
            <a:picLocks noChangeAspect="1"/>
          </p:cNvPicPr>
          <p:nvPr/>
        </p:nvPicPr>
        <p:blipFill>
          <a:blip r:embed="rId1"/>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Users/choseoyoung/Desktop/itda3-CODE-subway/발표/src/img/demo_two.png">    </p:cNvPr>
          <p:cNvPicPr>
            <a:picLocks noChangeAspect="1"/>
          </p:cNvPicPr>
          <p:nvPr/>
        </p:nvPicPr>
        <p:blipFill>
          <a:blip r:embed="rId2"/>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Users/choseoyoung/Desktop/itda3-CODE-subway/발표/src/img/demo_dot.png">    </p:cNvPr>
          <p:cNvPicPr>
            <a:picLocks noChangeAspect="1"/>
          </p:cNvPicPr>
          <p:nvPr/>
        </p:nvPicPr>
        <p:blipFill>
          <a:blip r:embed="rId3"/>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Users/choseoyoung/Desktop/itda3-CODE-subway/발표/src/img/demo_none.png">    </p:cNvPr>
          <p:cNvPicPr>
            <a:picLocks noChangeAspect="1"/>
          </p:cNvPicPr>
          <p:nvPr/>
        </p:nvPicPr>
        <p:blipFill>
          <a:blip r:embed="rId4"/>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중고거래 식품·건강기능식품 게시글의 소비기한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50392"/>
            <a:ext cx="8595360" cy="246888"/>
          </a:xfrm>
          <a:prstGeom prst="rect">
            <a:avLst/>
          </a:prstGeom>
          <a:noFill/>
          <a:ln/>
        </p:spPr>
        <p:txBody>
          <a:bodyPr wrap="square" lIns="0" tIns="0" rIns="0" bIns="0" rtlCol="0" anchor="t"/>
          <a:lstStyle/>
          <a:p>
            <a:pPr indent="0" marL="0">
              <a:buNone/>
            </a:pPr>
            <a:r>
              <a:rPr lang="en-US" sz="1080" dirty="0">
                <a:solidFill>
                  <a:srgbClr val="1A1A1A"/>
                </a:solidFill>
                <a:latin typeface="Pretendard SemiBold" pitchFamily="34" charset="0"/>
                <a:ea typeface="Pretendard SemiBold" pitchFamily="34" charset="-122"/>
                <a:cs typeface="Pretendard SemiBold" pitchFamily="34" charset="-120"/>
              </a:rPr>
              <a:t>소비기한은 판매자가 손으로 적는다. 적발된 위반 375건 중 </a:t>
            </a:r>
            <a:pPr indent="0" marL="0">
              <a:buNone/>
            </a:pPr>
            <a:r>
              <a:rPr lang="en-US" sz="1080" dirty="0">
                <a:solidFill>
                  <a:srgbClr val="8B0000"/>
                </a:solidFill>
                <a:latin typeface="Pretendard SemiBold" pitchFamily="34" charset="0"/>
                <a:ea typeface="Pretendard SemiBold" pitchFamily="34" charset="-122"/>
                <a:cs typeface="Pretendard SemiBold" pitchFamily="34" charset="-120"/>
              </a:rPr>
              <a:t>211건이 사용기한 확인 불가·불일치</a:t>
            </a:r>
            <a:pPr indent="0" marL="0">
              <a:buNone/>
            </a:pPr>
            <a:r>
              <a:rPr lang="en-US" sz="1080" dirty="0">
                <a:solidFill>
                  <a:srgbClr val="1A1A1A"/>
                </a:solidFill>
                <a:latin typeface="Pretendard SemiBold" pitchFamily="34" charset="0"/>
                <a:ea typeface="Pretendard SemiBold" pitchFamily="34" charset="-122"/>
                <a:cs typeface="Pretendard SemiBold" pitchFamily="34" charset="-120"/>
              </a:rPr>
              <a:t>, 전담 모니터링 인력은 </a:t>
            </a:r>
            <a:pPr indent="0" marL="0">
              <a:buNone/>
            </a:pPr>
            <a:r>
              <a:rPr lang="en-US" sz="1080" dirty="0">
                <a:solidFill>
                  <a:srgbClr val="8B0000"/>
                </a:solidFill>
                <a:latin typeface="Pretendard SemiBold" pitchFamily="34" charset="0"/>
                <a:ea typeface="Pretendard SemiBold" pitchFamily="34" charset="-122"/>
                <a:cs typeface="Pretendard SemiBold" pitchFamily="34" charset="-120"/>
              </a:rPr>
              <a:t>5명</a:t>
            </a:r>
            <a:endParaRPr lang="en-US" sz="1080" dirty="0"/>
          </a:p>
        </p:txBody>
      </p:sp>
      <p:sp>
        <p:nvSpPr>
          <p:cNvPr id="7" name="Text 5"/>
          <p:cNvSpPr txBox="1"/>
          <p:nvPr/>
        </p:nvSpPr>
        <p:spPr>
          <a:xfrm>
            <a:off x="274320" y="1088136"/>
            <a:ext cx="8595360" cy="182880"/>
          </a:xfrm>
          <a:prstGeom prst="rect">
            <a:avLst/>
          </a:prstGeom>
          <a:noFill/>
          <a:ln/>
        </p:spPr>
        <p:txBody>
          <a:bodyPr wrap="square" lIns="0" tIns="0" rIns="0" bIns="0" rtlCol="0" anchor="t"/>
          <a:lstStyle/>
          <a:p>
            <a:pPr indent="0" marL="0">
              <a:buNone/>
            </a:pPr>
            <a:r>
              <a:rPr lang="en-US" sz="900" dirty="0">
                <a:solidFill>
                  <a:srgbClr val="6B6B6B"/>
                </a:solidFill>
                <a:latin typeface="Pretendard SemiBold" pitchFamily="34" charset="0"/>
                <a:ea typeface="Pretendard SemiBold" pitchFamily="34" charset="-122"/>
                <a:cs typeface="Pretendard SemiBold" pitchFamily="34" charset="-120"/>
              </a:rPr>
              <a:t>아래는 시연용으로 만든 서비스 화면(설계안)이며 실제 앱을 구현한 것은 아니다. 사진·판독값·확신도는 우리 파이프라인의 실제 출력이다</a:t>
            </a:r>
            <a:endParaRPr lang="en-US" sz="900" dirty="0"/>
          </a:p>
        </p:txBody>
      </p:sp>
      <p:pic>
        <p:nvPicPr>
          <p:cNvPr id="8" name="Image 0" descr="/Users/choseoyoung/Desktop/itda3-CODE-subway/발표/src/img/dash_phone1.png">    </p:cNvPr>
          <p:cNvPicPr>
            <a:picLocks noChangeAspect="1"/>
          </p:cNvPicPr>
          <p:nvPr/>
        </p:nvPicPr>
        <p:blipFill>
          <a:blip r:embed="rId1"/>
          <a:stretch>
            <a:fillRect/>
          </a:stretch>
        </p:blipFill>
        <p:spPr>
          <a:xfrm>
            <a:off x="274320" y="1298448"/>
            <a:ext cx="1309421" cy="2743200"/>
          </a:xfrm>
          <a:prstGeom prst="rect">
            <a:avLst/>
          </a:prstGeom>
        </p:spPr>
      </p:pic>
      <p:sp>
        <p:nvSpPr>
          <p:cNvPr id="9" name="Text 6"/>
          <p:cNvSpPr txBox="1"/>
          <p:nvPr/>
        </p:nvSpPr>
        <p:spPr>
          <a:xfrm>
            <a:off x="182880"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① 날짜면 촬영</a:t>
            </a:r>
            <a:endParaRPr lang="en-US" sz="950" dirty="0"/>
          </a:p>
        </p:txBody>
      </p:sp>
      <p:sp>
        <p:nvSpPr>
          <p:cNvPr id="10" name="Text 7"/>
          <p:cNvSpPr txBox="1"/>
          <p:nvPr/>
        </p:nvSpPr>
        <p:spPr>
          <a:xfrm>
            <a:off x="1583741"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1" name="Image 1" descr="/Users/choseoyoung/Desktop/itda3-CODE-subway/발표/src/img/dash_phone2.png">    </p:cNvPr>
          <p:cNvPicPr>
            <a:picLocks noChangeAspect="1"/>
          </p:cNvPicPr>
          <p:nvPr/>
        </p:nvPicPr>
        <p:blipFill>
          <a:blip r:embed="rId2"/>
          <a:stretch>
            <a:fillRect/>
          </a:stretch>
        </p:blipFill>
        <p:spPr>
          <a:xfrm>
            <a:off x="1792224" y="1298448"/>
            <a:ext cx="1309421" cy="2743200"/>
          </a:xfrm>
          <a:prstGeom prst="rect">
            <a:avLst/>
          </a:prstGeom>
        </p:spPr>
      </p:pic>
      <p:sp>
        <p:nvSpPr>
          <p:cNvPr id="12" name="Text 8"/>
          <p:cNvSpPr txBox="1"/>
          <p:nvPr/>
        </p:nvSpPr>
        <p:spPr>
          <a:xfrm>
            <a:off x="1700784"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② 확신하면 자동 입력</a:t>
            </a:r>
            <a:endParaRPr lang="en-US" sz="950" dirty="0"/>
          </a:p>
        </p:txBody>
      </p:sp>
      <p:sp>
        <p:nvSpPr>
          <p:cNvPr id="13" name="Text 9"/>
          <p:cNvSpPr txBox="1"/>
          <p:nvPr/>
        </p:nvSpPr>
        <p:spPr>
          <a:xfrm>
            <a:off x="3101645"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4" name="Image 2" descr="/Users/choseoyoung/Desktop/itda3-CODE-subway/발표/src/img/dash_phone3.png">    </p:cNvPr>
          <p:cNvPicPr>
            <a:picLocks noChangeAspect="1"/>
          </p:cNvPicPr>
          <p:nvPr/>
        </p:nvPicPr>
        <p:blipFill>
          <a:blip r:embed="rId3"/>
          <a:stretch>
            <a:fillRect/>
          </a:stretch>
        </p:blipFill>
        <p:spPr>
          <a:xfrm>
            <a:off x="3310128" y="1298448"/>
            <a:ext cx="1309421" cy="2743200"/>
          </a:xfrm>
          <a:prstGeom prst="rect">
            <a:avLst/>
          </a:prstGeom>
        </p:spPr>
      </p:pic>
      <p:sp>
        <p:nvSpPr>
          <p:cNvPr id="15" name="Text 10"/>
          <p:cNvSpPr txBox="1"/>
          <p:nvPr/>
        </p:nvSpPr>
        <p:spPr>
          <a:xfrm>
            <a:off x="3218688"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③ 확신이 낮으면 빈칸</a:t>
            </a:r>
            <a:endParaRPr lang="en-US" sz="950" dirty="0"/>
          </a:p>
        </p:txBody>
      </p:sp>
      <p:sp>
        <p:nvSpPr>
          <p:cNvPr id="16" name="Text 11"/>
          <p:cNvSpPr txBox="1"/>
          <p:nvPr/>
        </p:nvSpPr>
        <p:spPr>
          <a:xfrm>
            <a:off x="4619549"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7" name="Image 3" descr="/Users/choseoyoung/Desktop/itda3-CODE-subway/발표/src/img/dash_phone4.png">    </p:cNvPr>
          <p:cNvPicPr>
            <a:picLocks noChangeAspect="1"/>
          </p:cNvPicPr>
          <p:nvPr/>
        </p:nvPicPr>
        <p:blipFill>
          <a:blip r:embed="rId4"/>
          <a:stretch>
            <a:fillRect/>
          </a:stretch>
        </p:blipFill>
        <p:spPr>
          <a:xfrm>
            <a:off x="4828032" y="1298448"/>
            <a:ext cx="1309421" cy="2743200"/>
          </a:xfrm>
          <a:prstGeom prst="rect">
            <a:avLst/>
          </a:prstGeom>
        </p:spPr>
      </p:pic>
      <p:sp>
        <p:nvSpPr>
          <p:cNvPr id="18" name="Text 12"/>
          <p:cNvSpPr txBox="1"/>
          <p:nvPr/>
        </p:nvSpPr>
        <p:spPr>
          <a:xfrm>
            <a:off x="4736592"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④ 날짜·남은 일수·원본</a:t>
            </a:r>
            <a:endParaRPr lang="en-US" sz="950" dirty="0"/>
          </a:p>
        </p:txBody>
      </p:sp>
      <p:sp>
        <p:nvSpPr>
          <p:cNvPr id="19" name="Text 13"/>
          <p:cNvSpPr txBox="1"/>
          <p:nvPr/>
        </p:nvSpPr>
        <p:spPr>
          <a:xfrm>
            <a:off x="6355080" y="1298448"/>
            <a:ext cx="2514600" cy="256032"/>
          </a:xfrm>
          <a:prstGeom prst="rect">
            <a:avLst/>
          </a:prstGeom>
          <a:noFill/>
          <a:ln/>
        </p:spPr>
        <p:txBody>
          <a:bodyPr wrap="square" lIns="0" tIns="0" rIns="0" bIns="0" rtlCol="0" anchor="t"/>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모델 결과별로 판매자에게 일어나는 일</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355080" y="1591056"/>
          <a:ext cx="2514600" cy="914400"/>
        </p:xfrm>
        <a:graphic>
          <a:graphicData uri="http://schemas.openxmlformats.org/drawingml/2006/table">
            <a:tbl>
              <a:tblPr/>
              <a:tblGrid>
                <a:gridCol w="868680"/>
                <a:gridCol w="1645920"/>
              </a:tblGrid>
              <a:tr h="329184">
                <a:tc>
                  <a:txBody>
                    <a:bodyPr/>
                    <a:lstStyle/>
                    <a:p>
                      <a:pPr algn="l" indent="0" marL="0">
                        <a:buNone/>
                      </a:pPr>
                      <a:r>
                        <a:rPr lang="en-US" sz="880" dirty="0">
                          <a:solidFill>
                            <a:srgbClr val="FFFFFF"/>
                          </a:solidFill>
                          <a:latin typeface="Pretendard SemiBold" pitchFamily="34" charset="0"/>
                          <a:ea typeface="Pretendard SemiBold" pitchFamily="34" charset="-122"/>
                          <a:cs typeface="Pretendard SemiBold" pitchFamily="34" charset="-120"/>
                        </a:rPr>
                        <a:t>모델 결과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880" dirty="0">
                          <a:solidFill>
                            <a:srgbClr val="FFFFFF"/>
                          </a:solidFill>
                          <a:latin typeface="Pretendard SemiBold" pitchFamily="34" charset="0"/>
                          <a:ea typeface="Pretendard SemiBold" pitchFamily="34" charset="-122"/>
                          <a:cs typeface="Pretendard SemiBold" pitchFamily="34" charset="-120"/>
                        </a:rPr>
                        <a:t>판매자에게 일어나는 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맞게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채워진 날짜를 확인</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못 읽음 · 확신 낮음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빈칸. 손으로 입력 (지금과 같음)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이르게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8B0000"/>
                          </a:solidFill>
                          <a:latin typeface="Pretendard SemiBold" pitchFamily="34" charset="0"/>
                          <a:ea typeface="Pretendard SemiBold" pitchFamily="34" charset="-122"/>
                          <a:cs typeface="Pretendard SemiBold" pitchFamily="34" charset="-120"/>
                        </a:rPr>
                        <a:t>늦게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 안 고치면 남은 날이 많게 표시</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bl>
          </a:graphicData>
        </a:graphic>
      </p:graphicFrame>
      <p:sp>
        <p:nvSpPr>
          <p:cNvPr id="21" name="Shape 14"/>
          <p:cNvSpPr/>
          <p:nvPr/>
        </p:nvSpPr>
        <p:spPr>
          <a:xfrm>
            <a:off x="6355080" y="3456432"/>
            <a:ext cx="2514600" cy="841248"/>
          </a:xfrm>
          <a:prstGeom prst="roundRect">
            <a:avLst>
              <a:gd name="adj" fmla="val 8696"/>
            </a:avLst>
          </a:prstGeom>
          <a:solidFill>
            <a:srgbClr val="F2F2F2"/>
          </a:solidFill>
          <a:ln w="12700">
            <a:solidFill>
              <a:srgbClr val="F2F2F2"/>
            </a:solidFill>
            <a:prstDash val="solid"/>
          </a:ln>
        </p:spPr>
      </p:sp>
      <p:sp>
        <p:nvSpPr>
          <p:cNvPr id="22" name="Text 15"/>
          <p:cNvSpPr txBox="1"/>
          <p:nvPr/>
        </p:nvSpPr>
        <p:spPr>
          <a:xfrm>
            <a:off x="6464808" y="3493008"/>
            <a:ext cx="2295144" cy="768096"/>
          </a:xfrm>
          <a:prstGeom prst="rect">
            <a:avLst/>
          </a:prstGeom>
          <a:noFill/>
          <a:ln/>
        </p:spPr>
        <p:txBody>
          <a:bodyPr wrap="square" lIns="0" tIns="0" rIns="0" bIns="0" rtlCol="0" anchor="ctr"/>
          <a:lstStyle/>
          <a:p>
            <a:pPr indent="0" marL="0">
              <a:buNone/>
            </a:pPr>
            <a:r>
              <a:rPr lang="en-US" sz="930" dirty="0">
                <a:solidFill>
                  <a:srgbClr val="1A1A1A"/>
                </a:solidFill>
                <a:latin typeface="Pretendard SemiBold" pitchFamily="34" charset="0"/>
                <a:ea typeface="Pretendard SemiBold" pitchFamily="34" charset="-122"/>
                <a:cs typeface="Pretendard SemiBold" pitchFamily="34" charset="-120"/>
              </a:rPr>
              <a:t>판매자가 마지막에 확인하므로 정확도는 안전성이 아니라 </a:t>
            </a:r>
            <a:pPr indent="0" marL="0">
              <a:buNone/>
            </a:pPr>
            <a:r>
              <a:rPr lang="en-US" sz="930" dirty="0">
                <a:solidFill>
                  <a:srgbClr val="8B0000"/>
                </a:solidFill>
                <a:latin typeface="Pretendard SemiBold" pitchFamily="34" charset="0"/>
                <a:ea typeface="Pretendard SemiBold" pitchFamily="34" charset="-122"/>
                <a:cs typeface="Pretendard SemiBold" pitchFamily="34" charset="-120"/>
              </a:rPr>
              <a:t>자동 입력 비율</a:t>
            </a:r>
            <a:pPr indent="0" marL="0">
              <a:buNone/>
            </a:pPr>
            <a:r>
              <a:rPr lang="en-US" sz="930" dirty="0">
                <a:solidFill>
                  <a:srgbClr val="1A1A1A"/>
                </a:solidFill>
                <a:latin typeface="Pretendard SemiBold" pitchFamily="34" charset="0"/>
                <a:ea typeface="Pretendard SemiBold" pitchFamily="34" charset="-122"/>
                <a:cs typeface="Pretendard SemiBold" pitchFamily="34" charset="-120"/>
              </a:rPr>
              <a:t> 을 정한다. 속이려는 소수는 기존 사후 모니터링이 맡는다</a:t>
            </a:r>
            <a:endParaRPr lang="en-US" sz="930" dirty="0"/>
          </a:p>
        </p:txBody>
      </p:sp>
      <p:sp>
        <p:nvSpPr>
          <p:cNvPr id="23" name="Shape 1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4" name="Text 1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포장 판독과 사진 기반 자동 입력은 각각 이미 있다. 우리는 둘을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게시 흐름에서 잇는 빈자리</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를 채운다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건당 0.2 ~ 5.8원, 도입 이유는 규제 대응</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914400"/>
        </p:xfrm>
        <a:graphic>
          <a:graphicData uri="http://schemas.openxmlformats.org/drawingml/2006/table">
            <a:tbl>
              <a:tblPr/>
              <a:tblGrid>
                <a:gridCol w="914400"/>
                <a:gridCol w="4206240"/>
              </a:tblGrid>
              <a:tr h="310896">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(미개봉 · 소비기한 이내 · 연 10회 이하)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게시글 월 약 2.4만 건, 하루 약 800건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구조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플랫폼 서버에서 추론. 모델 21MB, CPU 전용, 10초 제한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서버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하루 53분 ~ 2.4시간 = 서버 1대의 4 ~ 10%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비용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게시글 한 건당 0.2 ~ 5.8원. 라이선스·GPU·학습비 0원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도입 이유 : 비용 절감이 아니다</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위반 처리비 절감으로는 본전이 안 된다 : 손익분기 780 ~ 1,900원, 사람 검토는 약 86원 (가정)</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건강기능식품 개인 간 거래는 시범사업. 게시글마다 남는 사진과 판독 기록이 관리 체계의 증거</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남은 일수 표시·자동 숨김은 날짜 칸만으로 되므로 OCR 효과로 세지 않았다</a:t>
            </a:r>
            <a:endParaRPr lang="en-US" sz="980" dirty="0"/>
          </a:p>
        </p:txBody>
      </p:sp>
      <p:sp>
        <p:nvSpPr>
          <p:cNvPr id="10" name="Text 7"/>
          <p:cNvSpPr txBox="1"/>
          <p:nvPr/>
        </p:nvSpPr>
        <p:spPr>
          <a:xfrm>
            <a:off x="274320" y="288036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자동 입력 기준 (직접 찍은 폰 사진 389장 실측)</a:t>
            </a:r>
            <a:endParaRPr lang="en-US" sz="12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136392"/>
          <a:ext cx="8595360" cy="914400"/>
        </p:xfrm>
        <a:graphic>
          <a:graphicData uri="http://schemas.openxmlformats.org/drawingml/2006/table">
            <a:tbl>
              <a:tblPr/>
              <a:tblGrid>
                <a:gridCol w="3108960"/>
                <a:gridCol w="1828800"/>
                <a:gridCol w="1828800"/>
                <a:gridCol w="1828800"/>
              </a:tblGrid>
              <a:tr h="224028">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자동 입력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채워지는 비율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기준 없음 (읽히면 채움)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44.7%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77.0%</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 + 10초 제한 (운영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40.6%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79.7%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8.2%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0.9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16.5%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87.5%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OCR 이 있어야 되는 것 :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입력값과 사진의 대조</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날짜면이 찍혔는지 확인, 자동 입력과 수정값 축적</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운영 아키텍처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서버는 지금, 온디바이스는 다음 단계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3063240"/>
          </a:xfrm>
          <a:prstGeom prst="roundRect">
            <a:avLst>
              <a:gd name="adj" fmla="val 2388"/>
            </a:avLst>
          </a:prstGeom>
          <a:solidFill>
            <a:srgbClr val="F2F2F2"/>
          </a:solidFill>
          <a:ln w="12700">
            <a:solidFill>
              <a:srgbClr val="F2F2F2"/>
            </a:solidFill>
            <a:prstDash val="solid"/>
          </a:ln>
        </p:spPr>
      </p:sp>
      <p:sp>
        <p:nvSpPr>
          <p:cNvPr id="7" name="Text 5"/>
          <p:cNvSpPr txBox="1"/>
          <p:nvPr/>
        </p:nvSpPr>
        <p:spPr>
          <a:xfrm>
            <a:off x="411480" y="1005840"/>
            <a:ext cx="3931920" cy="274320"/>
          </a:xfrm>
          <a:prstGeom prst="rect">
            <a:avLst/>
          </a:prstGeom>
          <a:noFill/>
          <a:ln/>
        </p:spPr>
        <p:txBody>
          <a:bodyPr wrap="square" lIns="0" tIns="0" rIns="0" bIns="0" rtlCol="0" anchor="t"/>
          <a:lstStyle/>
          <a:p>
            <a:pPr indent="0" marL="0">
              <a:buNone/>
            </a:pPr>
            <a:r>
              <a:rPr lang="en-US" sz="1300" dirty="0">
                <a:solidFill>
                  <a:srgbClr val="8B0000"/>
                </a:solidFill>
                <a:latin typeface="Pretendard SemiBold" pitchFamily="34" charset="0"/>
                <a:ea typeface="Pretendard SemiBold" pitchFamily="34" charset="-122"/>
                <a:cs typeface="Pretendard SemiBold" pitchFamily="34" charset="-120"/>
              </a:rPr>
              <a:t>지금 — 서버 추론</a:t>
            </a:r>
            <a:endParaRPr lang="en-US" sz="1300" dirty="0"/>
          </a:p>
        </p:txBody>
      </p:sp>
      <p:sp>
        <p:nvSpPr>
          <p:cNvPr id="8" name="Text 6"/>
          <p:cNvSpPr txBox="1"/>
          <p:nvPr/>
        </p:nvSpPr>
        <p:spPr>
          <a:xfrm>
            <a:off x="411480" y="1335024"/>
            <a:ext cx="3931920" cy="2514600"/>
          </a:xfrm>
          <a:prstGeom prst="rect">
            <a:avLst/>
          </a:prstGeom>
          <a:noFill/>
          <a:ln/>
        </p:spPr>
        <p:txBody>
          <a:bodyPr wrap="square" lIns="0" tIns="0" rIns="0" bIns="0" rtlCol="0" anchor="t"/>
          <a:lstStyle/>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판매자가 제목·가격을 쓰는 동안 서버가 사진을 읽는다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확신도 0.7 이상이고 10초 안에 읽혀야 칸을 채운다. 아니면 빈칸</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모델이 21MB라 가볍다. GPU도 외부 API도 필요 없고, 사진은 서버 밖으로 안 나간다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서버 한 대로 충분하다. 지금 쓰는 양은 그중 4 ~ 10%뿐이다</a:t>
            </a:r>
            <a:endParaRPr lang="en-US" sz="1030" dirty="0"/>
          </a:p>
        </p:txBody>
      </p:sp>
      <p:sp>
        <p:nvSpPr>
          <p:cNvPr id="9" name="Shape 7"/>
          <p:cNvSpPr/>
          <p:nvPr/>
        </p:nvSpPr>
        <p:spPr>
          <a:xfrm>
            <a:off x="4663440" y="914400"/>
            <a:ext cx="4206240" cy="3063240"/>
          </a:xfrm>
          <a:prstGeom prst="roundRect">
            <a:avLst>
              <a:gd name="adj" fmla="val 2388"/>
            </a:avLst>
          </a:prstGeom>
          <a:solidFill>
            <a:srgbClr val="F6E3E3"/>
          </a:solidFill>
          <a:ln w="12700">
            <a:solidFill>
              <a:srgbClr val="F6E3E3"/>
            </a:solidFill>
            <a:prstDash val="solid"/>
          </a:ln>
        </p:spPr>
      </p:sp>
      <p:sp>
        <p:nvSpPr>
          <p:cNvPr id="10" name="Text 8"/>
          <p:cNvSpPr txBox="1"/>
          <p:nvPr/>
        </p:nvSpPr>
        <p:spPr>
          <a:xfrm>
            <a:off x="4800600" y="1005840"/>
            <a:ext cx="3931920" cy="274320"/>
          </a:xfrm>
          <a:prstGeom prst="rect">
            <a:avLst/>
          </a:prstGeom>
          <a:noFill/>
          <a:ln/>
        </p:spPr>
        <p:txBody>
          <a:bodyPr wrap="square" lIns="0" tIns="0" rIns="0" bIns="0" rtlCol="0" anchor="t"/>
          <a:lstStyle/>
          <a:p>
            <a:pPr indent="0" marL="0">
              <a:buNone/>
            </a:pPr>
            <a:r>
              <a:rPr lang="en-US" sz="1300" dirty="0">
                <a:solidFill>
                  <a:srgbClr val="8B0000"/>
                </a:solidFill>
                <a:latin typeface="Pretendard SemiBold" pitchFamily="34" charset="0"/>
                <a:ea typeface="Pretendard SemiBold" pitchFamily="34" charset="-122"/>
                <a:cs typeface="Pretendard SemiBold" pitchFamily="34" charset="-120"/>
              </a:rPr>
              <a:t>다음 — 온디바이스 (폰 자체 추론)</a:t>
            </a:r>
            <a:endParaRPr lang="en-US" sz="1300" dirty="0"/>
          </a:p>
        </p:txBody>
      </p:sp>
      <p:sp>
        <p:nvSpPr>
          <p:cNvPr id="11" name="Text 9"/>
          <p:cNvSpPr txBox="1"/>
          <p:nvPr/>
        </p:nvSpPr>
        <p:spPr>
          <a:xfrm>
            <a:off x="4800600" y="1335024"/>
            <a:ext cx="3931920" cy="2514600"/>
          </a:xfrm>
          <a:prstGeom prst="rect">
            <a:avLst/>
          </a:prstGeom>
          <a:noFill/>
          <a:ln/>
        </p:spPr>
        <p:txBody>
          <a:bodyPr wrap="square" lIns="0" tIns="0" rIns="0" bIns="0" rtlCol="0" anchor="t"/>
          <a:lstStyle/>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폰 안에서 직접 돌리는 건 아직 안 해 봤다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모델이 작아서 될 것 같긴 하지만, 그건 추측이지 잰 값이 아니다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폰에서 장당 몇 초가 걸리는지, 배터리는 얼마나 쓰는지부터 재야 한다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되면 서버 비용이 거의 사라지고, 사진도 폰 밖으로 안 나간다</a:t>
            </a:r>
            <a:endParaRPr lang="en-US" sz="1030" dirty="0"/>
          </a:p>
        </p:txBody>
      </p:sp>
      <p:sp>
        <p:nvSpPr>
          <p:cNvPr id="12" name="Shape 10"/>
          <p:cNvSpPr/>
          <p:nvPr/>
        </p:nvSpPr>
        <p:spPr>
          <a:xfrm>
            <a:off x="274320" y="4160520"/>
            <a:ext cx="8595360" cy="384048"/>
          </a:xfrm>
          <a:prstGeom prst="roundRect">
            <a:avLst>
              <a:gd name="adj" fmla="val 19048"/>
            </a:avLst>
          </a:prstGeom>
          <a:solidFill>
            <a:srgbClr val="F2F2F2"/>
          </a:solidFill>
          <a:ln w="12700">
            <a:solidFill>
              <a:srgbClr val="F2F2F2"/>
            </a:solidFill>
            <a:prstDash val="solid"/>
          </a:ln>
        </p:spPr>
      </p:sp>
      <p:sp>
        <p:nvSpPr>
          <p:cNvPr id="13" name="Text 11"/>
          <p:cNvSpPr txBox="1"/>
          <p:nvPr/>
        </p:nvSpPr>
        <p:spPr>
          <a:xfrm>
            <a:off x="411480" y="416052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지금 돌아가는 건 서버 추론 하나뿐이다.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온디바이스는 가능성일 뿐, 된다고 말한 적 없다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손실 절감과 ROI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비용 절감으로는 본전이 안 된다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sp>
        <p:nvSpPr>
          <p:cNvPr id="6" name="Text 4"/>
          <p:cNvSpPr txBox="1"/>
          <p:nvPr/>
        </p:nvSpPr>
        <p:spPr>
          <a:xfrm>
            <a:off x="274320" y="91440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OCR이 있어야 되는 것 / 날짜 칸만 있으면 되는 것</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1188720"/>
          <a:ext cx="8595360" cy="914400"/>
        </p:xfrm>
        <a:graphic>
          <a:graphicData uri="http://schemas.openxmlformats.org/drawingml/2006/table">
            <a:tbl>
              <a:tblPr/>
              <a:tblGrid>
                <a:gridCol w="2468880"/>
                <a:gridCol w="1554480"/>
                <a:gridCol w="1005840"/>
                <a:gridCol w="3566160"/>
              </a:tblGrid>
              <a:tr h="310896">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편익</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누구에게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OCR 필요?</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입력값과 사진의 대조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틀린 입력이 판독값과 우연히 같아 지나갈 확률 0.2 ~ 0.4%</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날짜면이 찍혔는지 확인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메루카리는 이 확인을 사람이 한다</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입력 편의 · 판매자 수정값 축적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판매자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폰 사진 기준 자동 입력 41 ~ 45%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남은 일수 표시 · 기한 지난 글 자동 숨김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아니오</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 칸만 있으면 됨 — OCR 편익으로 세지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274320" y="283464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손익분기 : 위반 처리비 절감만으로는 본전이 안 된다</a:t>
            </a:r>
            <a:endParaRPr lang="en-US" sz="12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274320" y="3090672"/>
          <a:ext cx="8595360" cy="914400"/>
        </p:xfrm>
        <a:graphic>
          <a:graphicData uri="http://schemas.openxmlformats.org/drawingml/2006/table">
            <a:tbl>
              <a:tblPr/>
              <a:tblGrid>
                <a:gridCol w="2743200"/>
                <a:gridCol w="2011680"/>
                <a:gridCol w="1828800"/>
                <a:gridCol w="2011680"/>
              </a:tblGrid>
              <a:tr h="274320">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조건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연간 위반(가정 50% 포착)</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연간 서버비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손익분기 1건당 처리비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20개월 평균, 기존 서버 여유분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435건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17만원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약 780원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거래조건 강화 뒤 추정, 기존 서버 여유분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180건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17만원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약 1,900원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거래조건 강화 뒤 추정, 전용 서버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180건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169만원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약 1만 9천원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bl>
          </a:graphicData>
        </a:graphic>
      </p:graphicFrame>
      <p:sp>
        <p:nvSpPr>
          <p:cNvPr id="10" name="Shape 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사람이 30초 검토하면 약 86원. 손익분기 처리비는 이보다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9 ~ 220배 크다</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 도입 이유는 비용 절감이 아니라 규제 대응이다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폰 사진에서는 다섯 장 중 한 장을 못 읽는다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20</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틀리는 방향 (직접 찍은 폰 사진 389장)</a:t>
            </a:r>
            <a:endParaRPr lang="en-US" sz="1200" dirty="0"/>
          </a:p>
        </p:txBody>
      </p:sp>
      <p:graphicFrame>
        <p:nvGraphicFramePr>
          <p:cNvPr id="8" name="Chart 0" descr=""/>
          <p:cNvGraphicFramePr/>
          <p:nvPr/>
        </p:nvGraphicFramePr>
        <p:xfrm>
          <a:off x="365760" y="1234440"/>
          <a:ext cx="4023360" cy="16459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남은 한계</a:t>
            </a:r>
            <a:endParaRPr lang="en-US" sz="1200" dirty="0"/>
          </a:p>
        </p:txBody>
      </p:sp>
      <p:sp>
        <p:nvSpPr>
          <p:cNvPr id="11" name="Text 8"/>
          <p:cNvSpPr txBox="1"/>
          <p:nvPr/>
        </p:nvSpPr>
        <p:spPr>
          <a:xfrm>
            <a:off x="4800600" y="1252728"/>
            <a:ext cx="3931920" cy="1627632"/>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못 읽음 21.9% 는 봉인 500장(3.0%)의 약 일곱 배. 찍은 사람과 촬영 조건에 따라 크게 갈린다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389장은 어려운 유형 위주로 찍은 것. 실제 게시 사진으로 다시 재야 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조작·개봉 여부·카테고리를 바꿔 촬영을 피하는 것은 막지 못한다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판매자가 보지 않고 확인을 누르는 비율은 재지 못했다</a:t>
            </a:r>
            <a:endParaRPr lang="en-US" sz="100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촬영 안내와 해상도·흐림 검사, 미달이면 다시 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고친 값을 검수해 인식기 학습 데이터로</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확인을 동작으로</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버튼 대신 날짜의 '일' 칸을 다시 입력. 실제 수정 비율을 지표로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규칙으로 닿는 오답은 거의 다 썼다. 남은 것은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인식 품질(각인·도트)과 저해상도</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다</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834640"/>
                <a:gridCol w="1645920"/>
                <a:gridCol w="2194560"/>
                <a:gridCol w="1920240"/>
              </a:tblGrid>
              <a:tr h="347472">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1단계 건강기능식품 → 2단계 가공식품 · 선물세트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식품공장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대조 대상 (제조일 + 품목별 일수)</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놓칠 확률 한 장당 0.2%</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indent="0" marL="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55 ~ 79%</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indent="0" marL="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3840480"/>
                <a:gridCol w="2011680"/>
              </a:tblGrid>
              <a:tr h="352044">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2743200"/>
                <a:gridCol w="1097280"/>
                <a:gridCol w="1097280"/>
                <a:gridCol w="2103120"/>
              </a:tblGrid>
              <a:tr h="329184">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예선 구성 (지금 라벨로 채점)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64.9%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인식기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78.3% · 비병기 87.7%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직접 찍은 폰 사진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최종 (운영 수치 계산용)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21.9%, 자동 입력 41 ~ 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PptxGenJS</cp:lastModifiedBy>
  <cp:revision>1</cp:revision>
  <dcterms:created xsi:type="dcterms:W3CDTF">2026-10-02T01:28:22Z</dcterms:created>
  <dcterms:modified xsi:type="dcterms:W3CDTF">2026-10-02T01:28:22Z</dcterms:modified>
</cp:coreProperties>
</file>