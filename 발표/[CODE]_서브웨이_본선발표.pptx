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33D9-44D8-9ADA-22690DCFAE7F}"/>
              </c:ext>
            </c:extLst>
          </c:dPt>
          <c:dPt>
            <c:idx val="1"/>
            <c:invertIfNegative val="0"/>
            <c:bubble3D val="0"/>
            <c:extLst>
              <c:ext xmlns:c16="http://schemas.microsoft.com/office/drawing/2014/chart" uri="{C3380CC4-5D6E-409C-BE32-E72D297353CC}">
                <c16:uniqueId val="{00000003-33D9-44D8-9ADA-22690DCFAE7F}"/>
              </c:ext>
            </c:extLst>
          </c:dPt>
          <c:dPt>
            <c:idx val="2"/>
            <c:invertIfNegative val="0"/>
            <c:bubble3D val="0"/>
            <c:extLst>
              <c:ext xmlns:c16="http://schemas.microsoft.com/office/drawing/2014/chart" uri="{C3380CC4-5D6E-409C-BE32-E72D297353CC}">
                <c16:uniqueId val="{00000005-33D9-44D8-9ADA-22690DCFAE7F}"/>
              </c:ext>
            </c:extLst>
          </c:dPt>
          <c:dPt>
            <c:idx val="3"/>
            <c:invertIfNegative val="0"/>
            <c:bubble3D val="0"/>
            <c:extLst>
              <c:ext xmlns:c16="http://schemas.microsoft.com/office/drawing/2014/chart" uri="{C3380CC4-5D6E-409C-BE32-E72D297353CC}">
                <c16:uniqueId val="{00000007-33D9-44D8-9ADA-22690DCFAE7F}"/>
              </c:ext>
            </c:extLst>
          </c:dPt>
          <c:dPt>
            <c:idx val="4"/>
            <c:invertIfNegative val="0"/>
            <c:bubble3D val="0"/>
            <c:extLst>
              <c:ext xmlns:c16="http://schemas.microsoft.com/office/drawing/2014/chart" uri="{C3380CC4-5D6E-409C-BE32-E72D297353CC}">
                <c16:uniqueId val="{00000009-33D9-44D8-9ADA-22690DCFAE7F}"/>
              </c:ext>
            </c:extLst>
          </c:dPt>
          <c:dPt>
            <c:idx val="5"/>
            <c:invertIfNegative val="0"/>
            <c:bubble3D val="0"/>
            <c:extLst>
              <c:ext xmlns:c16="http://schemas.microsoft.com/office/drawing/2014/chart" uri="{C3380CC4-5D6E-409C-BE32-E72D297353CC}">
                <c16:uniqueId val="{0000000B-33D9-44D8-9ADA-22690DCFAE7F}"/>
              </c:ext>
            </c:extLst>
          </c:dPt>
          <c:dPt>
            <c:idx val="6"/>
            <c:invertIfNegative val="0"/>
            <c:bubble3D val="0"/>
            <c:extLst>
              <c:ext xmlns:c16="http://schemas.microsoft.com/office/drawing/2014/chart" uri="{C3380CC4-5D6E-409C-BE32-E72D297353CC}">
                <c16:uniqueId val="{0000000D-33D9-44D8-9ADA-22690DCFAE7F}"/>
              </c:ext>
            </c:extLst>
          </c:dPt>
          <c:dPt>
            <c:idx val="7"/>
            <c:invertIfNegative val="0"/>
            <c:bubble3D val="0"/>
            <c:extLst>
              <c:ext xmlns:c16="http://schemas.microsoft.com/office/drawing/2014/chart" uri="{C3380CC4-5D6E-409C-BE32-E72D297353CC}">
                <c16:uniqueId val="{0000000F-33D9-44D8-9ADA-22690DCFAE7F}"/>
              </c:ext>
            </c:extLst>
          </c:dPt>
          <c:dPt>
            <c:idx val="8"/>
            <c:invertIfNegative val="0"/>
            <c:bubble3D val="0"/>
            <c:extLst>
              <c:ext xmlns:c16="http://schemas.microsoft.com/office/drawing/2014/chart" uri="{C3380CC4-5D6E-409C-BE32-E72D297353CC}">
                <c16:uniqueId val="{00000011-33D9-44D8-9ADA-22690DCFAE7F}"/>
              </c:ext>
            </c:extLst>
          </c:dPt>
          <c:dPt>
            <c:idx val="9"/>
            <c:invertIfNegative val="0"/>
            <c:bubble3D val="0"/>
            <c:spPr>
              <a:solidFill>
                <a:srgbClr val="5A5A5A"/>
              </a:solidFill>
              <a:effectLst/>
            </c:spPr>
            <c:extLst>
              <c:ext xmlns:c16="http://schemas.microsoft.com/office/drawing/2014/chart" uri="{C3380CC4-5D6E-409C-BE32-E72D297353CC}">
                <c16:uniqueId val="{00000013-33D9-44D8-9ADA-22690DCFAE7F}"/>
              </c:ext>
            </c:extLst>
          </c:dPt>
          <c:dPt>
            <c:idx val="10"/>
            <c:invertIfNegative val="0"/>
            <c:bubble3D val="0"/>
            <c:spPr>
              <a:solidFill>
                <a:srgbClr val="8B0000"/>
              </a:solidFill>
              <a:effectLst/>
            </c:spPr>
            <c:extLst>
              <c:ext xmlns:c16="http://schemas.microsoft.com/office/drawing/2014/chart" uri="{C3380CC4-5D6E-409C-BE32-E72D297353CC}">
                <c16:uniqueId val="{00000015-33D9-44D8-9ADA-22690DCFAE7F}"/>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33D9-44D8-9ADA-22690DCFAE7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CEB9-422A-B33D-15C88AA1135D}"/>
              </c:ext>
            </c:extLst>
          </c:dPt>
          <c:dPt>
            <c:idx val="1"/>
            <c:invertIfNegative val="0"/>
            <c:bubble3D val="0"/>
            <c:spPr>
              <a:solidFill>
                <a:srgbClr val="8B0000"/>
              </a:solidFill>
              <a:effectLst/>
            </c:spPr>
            <c:extLst>
              <c:ext xmlns:c16="http://schemas.microsoft.com/office/drawing/2014/chart" uri="{C3380CC4-5D6E-409C-BE32-E72D297353CC}">
                <c16:uniqueId val="{00000003-CEB9-422A-B33D-15C88AA1135D}"/>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(새 사진 389장)</c:v>
                </c:pt>
              </c:strCache>
            </c:strRef>
          </c:cat>
          <c:val>
            <c:numRef>
              <c:f>Sheet1!$B$2:$B$3</c:f>
              <c:numCache>
                <c:formatCode>General</c:formatCode>
                <c:ptCount val="2"/>
                <c:pt idx="0">
                  <c:v>86.2</c:v>
                </c:pt>
                <c:pt idx="1">
                  <c:v>52.4</c:v>
                </c:pt>
              </c:numCache>
            </c:numRef>
          </c:val>
          <c:extLst>
            <c:ext xmlns:c16="http://schemas.microsoft.com/office/drawing/2014/chart" uri="{C3380CC4-5D6E-409C-BE32-E72D297353CC}">
              <c16:uniqueId val="{00000004-CEB9-422A-B33D-15C88AA1135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350221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 게시글입니다. 이번 추석 연휴에 당근에서 선물세트 거래량이 작년보다 50퍼센트 늘었습니다. 소비기한은 판매자가 손으로 적고 아무도 확인하지 않습니다. 화면을 보시겠습니다. 첫째, 판매자가 날짜면을 찍습니다. 둘째, 서버가 읽고 확신할 때만 날짜 칸을 채웁니다. 판매자는 날짜 확대본을 보며 확인하거나 고칩니다. 셋째, 게시글에는 읽은 날짜와 남은 일수, 날짜 원본이 붙습니다. 이 화면의 날짜는 저희 모델이 팀원이 찍은 사진에서 실제로 읽은 값입니다. 핵심은 판매자가 마지막에 확인한다는 점입니다. 모델이 틀려도 한 번 고치면 끝나고, 확신이 없으면 빈칸이니 지금보다 나빠지지 않습니다. 그래서 정확도는 안전성이 아니라 자동 입력 비율을 정합니다. 당근은 이미 인증마크를 OCR로 찾고 있습니다. 저희는 같은 사진에서 소비기한을 찾아 날짜로 확정합니다.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규칙이 가장 명확한 건강기능식품 카테고리입니다. 식약처 자료로 게시글이 월 2만 4천 건입니다. 하루 800장을 장당 3초로 읽으면 CPU 40분이라 비용은 사실상 0입니다. 아래 표가 중요합니다. 직접 찍은 폰 사진 389장으로 쟀을 때, 무조건 채우면 21퍼센트의 판매자가 틀린 값을 받습니다. 확신도 0.7 이상일 때만 채우면 절반 가까이 자동으로 채워지고 틀린 값은 10퍼센트로 줄어듭니다. 가치를 인력 절감으로 부풀리지는 않았습니다. 소비기한 위반은 전체 위반의 5퍼센트뿐이기 때문입니다. 대신 판매자가 고친 값이 공짜 라벨이 되어, 쓸수록 자동 입력 비율이 올라갑니다.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편의점에서 389장을 직접 찍어 돌렸더니 52퍼센트였고, 찍은 사람에 따라 44에서 70퍼센트까지 갈렸습니다. 가장 위험한 건 남은 날을 많게 읽는 경우로 4.9퍼센트입니다. 그래서 읽은 날짜가 제품 유형별 최대 기한을 넘으면 판독 불가로 처리하고, 자동 차단 대신 재확인 요청으로 설계했습니다. 선물세트처럼 여러 상품이 든 경우는 상품별로 찍게 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잔여기한 안내</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86.7%</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+7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5장보다 시간 여유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중고거래 식품, 잔여기한을 거래 정보로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명절 선물세트가 중고거래로 : 당근 추석 연휴 선물세트 거래량 </a:t>
            </a:r>
            <a:r>
              <a:rPr lang="en-US" sz="1150" dirty="0">
                <a:solidFill>
                  <a:srgbClr val="8B0000"/>
                </a:solidFill>
                <a:latin typeface="Pretendard SemiBold" pitchFamily="34" charset="0"/>
                <a:ea typeface="Pretendard SemiBold" pitchFamily="34" charset="-122"/>
                <a:cs typeface="Pretendard SemiBold" pitchFamily="34" charset="-120"/>
              </a:rPr>
              <a:t>+50%</a:t>
            </a:r>
            <a:r>
              <a:rPr lang="en-US" sz="1150" dirty="0">
                <a:solidFill>
                  <a:srgbClr val="1A1A1A"/>
                </a:solidFill>
                <a:latin typeface="Pretendard SemiBold" pitchFamily="34" charset="0"/>
                <a:ea typeface="Pretendard SemiBold" pitchFamily="34" charset="-122"/>
                <a:cs typeface="Pretendard SemiBold" pitchFamily="34" charset="-120"/>
              </a:rPr>
              <a:t> (전년 대비). 그런데 소비기한은 판매자가 손으로 적는다</a:t>
            </a:r>
            <a:endParaRPr lang="en-US" sz="1150" dirty="0"/>
          </a:p>
        </p:txBody>
      </p:sp>
      <p:sp>
        <p:nvSpPr>
          <p:cNvPr id="7" name="Shape 5"/>
          <p:cNvSpPr/>
          <p:nvPr/>
        </p:nvSpPr>
        <p:spPr>
          <a:xfrm>
            <a:off x="260604" y="1266444"/>
            <a:ext cx="1399032" cy="2770632"/>
          </a:xfrm>
          <a:prstGeom prst="rect">
            <a:avLst/>
          </a:prstGeom>
          <a:solidFill>
            <a:srgbClr val="FFFFFF"/>
          </a:solidFill>
          <a:ln w="9525">
            <a:solidFill>
              <a:srgbClr val="BDBDBD"/>
            </a:solidFill>
            <a:prstDash val="solid"/>
          </a:ln>
        </p:spPr>
      </p:sp>
      <p:pic>
        <p:nvPicPr>
          <p:cNvPr id="8" name="Image 0" descr="C:\Users\user\AppData\Local\Temp\claude\C--Users-user-Desktop-itda\bf40759d-3db3-4682-9251-a5dfc70e5b9d\scratchpad\deck\img\screen1_capture.png"/>
          <p:cNvPicPr>
            <a:picLocks noChangeAspect="1"/>
          </p:cNvPicPr>
          <p:nvPr/>
        </p:nvPicPr>
        <p:blipFill>
          <a:blip r:embed="rId3"/>
          <a:stretch>
            <a:fillRect/>
          </a:stretch>
        </p:blipFill>
        <p:spPr>
          <a:xfrm>
            <a:off x="274320" y="1280160"/>
            <a:ext cx="1371600" cy="2743200"/>
          </a:xfrm>
          <a:prstGeom prst="rect">
            <a:avLst/>
          </a:prstGeom>
        </p:spPr>
      </p:pic>
      <p:sp>
        <p:nvSpPr>
          <p:cNvPr id="9" name="Text 6"/>
          <p:cNvSpPr txBox="1"/>
          <p:nvPr/>
        </p:nvSpPr>
        <p:spPr>
          <a:xfrm>
            <a:off x="182880" y="4059936"/>
            <a:ext cx="1554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① 날짜면 촬영</a:t>
            </a:r>
            <a:endParaRPr lang="en-US" sz="1000" dirty="0"/>
          </a:p>
        </p:txBody>
      </p:sp>
      <p:sp>
        <p:nvSpPr>
          <p:cNvPr id="10" name="Text 7"/>
          <p:cNvSpPr txBox="1"/>
          <p:nvPr/>
        </p:nvSpPr>
        <p:spPr>
          <a:xfrm>
            <a:off x="1645920" y="2514600"/>
            <a:ext cx="201168"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sp>
        <p:nvSpPr>
          <p:cNvPr id="11" name="Shape 8"/>
          <p:cNvSpPr/>
          <p:nvPr/>
        </p:nvSpPr>
        <p:spPr>
          <a:xfrm>
            <a:off x="1833372" y="1266444"/>
            <a:ext cx="1399032" cy="2770632"/>
          </a:xfrm>
          <a:prstGeom prst="rect">
            <a:avLst/>
          </a:prstGeom>
          <a:solidFill>
            <a:srgbClr val="FFFFFF"/>
          </a:solidFill>
          <a:ln w="9525">
            <a:solidFill>
              <a:srgbClr val="BDBDBD"/>
            </a:solidFill>
            <a:prstDash val="solid"/>
          </a:ln>
        </p:spPr>
      </p:sp>
      <p:pic>
        <p:nvPicPr>
          <p:cNvPr id="12" name="Image 1" descr="C:\Users\user\AppData\Local\Temp\claude\C--Users-user-Desktop-itda\bf40759d-3db3-4682-9251-a5dfc70e5b9d\scratchpad\deck\img\screen2_confirm.png"/>
          <p:cNvPicPr>
            <a:picLocks noChangeAspect="1"/>
          </p:cNvPicPr>
          <p:nvPr/>
        </p:nvPicPr>
        <p:blipFill>
          <a:blip r:embed="rId4"/>
          <a:stretch>
            <a:fillRect/>
          </a:stretch>
        </p:blipFill>
        <p:spPr>
          <a:xfrm>
            <a:off x="1847088" y="1280160"/>
            <a:ext cx="1371600" cy="2743200"/>
          </a:xfrm>
          <a:prstGeom prst="rect">
            <a:avLst/>
          </a:prstGeom>
        </p:spPr>
      </p:pic>
      <p:sp>
        <p:nvSpPr>
          <p:cNvPr id="13" name="Text 9"/>
          <p:cNvSpPr txBox="1"/>
          <p:nvPr/>
        </p:nvSpPr>
        <p:spPr>
          <a:xfrm>
            <a:off x="1755648" y="4059936"/>
            <a:ext cx="1554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② 확신할 때만 자동 입력</a:t>
            </a:r>
            <a:endParaRPr lang="en-US" sz="1000" dirty="0"/>
          </a:p>
        </p:txBody>
      </p:sp>
      <p:sp>
        <p:nvSpPr>
          <p:cNvPr id="14" name="Text 10"/>
          <p:cNvSpPr txBox="1"/>
          <p:nvPr/>
        </p:nvSpPr>
        <p:spPr>
          <a:xfrm>
            <a:off x="3218688" y="2514600"/>
            <a:ext cx="201168" cy="274320"/>
          </a:xfrm>
          <a:prstGeom prst="rect">
            <a:avLst/>
          </a:prstGeom>
          <a:noFill/>
          <a:ln/>
        </p:spPr>
        <p:txBody>
          <a:bodyPr wrap="square" lIns="0" tIns="0" rIns="0" bIns="0" rtlCol="0" anchor="ctr"/>
          <a:lstStyle/>
          <a:p>
            <a:pPr marL="0" indent="0" algn="ctr">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sp>
        <p:nvSpPr>
          <p:cNvPr id="15" name="Shape 11"/>
          <p:cNvSpPr/>
          <p:nvPr/>
        </p:nvSpPr>
        <p:spPr>
          <a:xfrm>
            <a:off x="3406140" y="1266444"/>
            <a:ext cx="1399032" cy="2770632"/>
          </a:xfrm>
          <a:prstGeom prst="rect">
            <a:avLst/>
          </a:prstGeom>
          <a:solidFill>
            <a:srgbClr val="FFFFFF"/>
          </a:solidFill>
          <a:ln w="9525">
            <a:solidFill>
              <a:srgbClr val="BDBDBD"/>
            </a:solidFill>
            <a:prstDash val="solid"/>
          </a:ln>
        </p:spPr>
      </p:sp>
      <p:pic>
        <p:nvPicPr>
          <p:cNvPr id="16" name="Image 2" descr="C:\Users\user\AppData\Local\Temp\claude\C--Users-user-Desktop-itda\bf40759d-3db3-4682-9251-a5dfc70e5b9d\scratchpad\deck\img\screen3_listing.png"/>
          <p:cNvPicPr>
            <a:picLocks noChangeAspect="1"/>
          </p:cNvPicPr>
          <p:nvPr/>
        </p:nvPicPr>
        <p:blipFill>
          <a:blip r:embed="rId5"/>
          <a:stretch>
            <a:fillRect/>
          </a:stretch>
        </p:blipFill>
        <p:spPr>
          <a:xfrm>
            <a:off x="3419856" y="1280160"/>
            <a:ext cx="1371600" cy="2743200"/>
          </a:xfrm>
          <a:prstGeom prst="rect">
            <a:avLst/>
          </a:prstGeom>
        </p:spPr>
      </p:pic>
      <p:sp>
        <p:nvSpPr>
          <p:cNvPr id="17" name="Text 12"/>
          <p:cNvSpPr txBox="1"/>
          <p:nvPr/>
        </p:nvSpPr>
        <p:spPr>
          <a:xfrm>
            <a:off x="3328416" y="4059936"/>
            <a:ext cx="1554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③ 남은 일수와 원본 표시</a:t>
            </a:r>
            <a:endParaRPr lang="en-US" sz="1000" dirty="0"/>
          </a:p>
        </p:txBody>
      </p:sp>
      <p:sp>
        <p:nvSpPr>
          <p:cNvPr id="18" name="Shape 13"/>
          <p:cNvSpPr/>
          <p:nvPr/>
        </p:nvSpPr>
        <p:spPr>
          <a:xfrm>
            <a:off x="5015484" y="1266444"/>
            <a:ext cx="3867912" cy="2342693"/>
          </a:xfrm>
          <a:prstGeom prst="rect">
            <a:avLst/>
          </a:prstGeom>
          <a:solidFill>
            <a:srgbClr val="FFFFFF"/>
          </a:solidFill>
          <a:ln w="9525">
            <a:solidFill>
              <a:srgbClr val="BDBDBD"/>
            </a:solidFill>
            <a:prstDash val="solid"/>
          </a:ln>
        </p:spPr>
      </p:sp>
      <p:pic>
        <p:nvPicPr>
          <p:cNvPr id="19" name="Image 3" descr="C:\Users\user\AppData\Local\Temp\claude\C--Users-user-Desktop-itda\bf40759d-3db3-4682-9251-a5dfc70e5b9d\scratchpad\deck\img\screen4_dashboard.png"/>
          <p:cNvPicPr>
            <a:picLocks noChangeAspect="1"/>
          </p:cNvPicPr>
          <p:nvPr/>
        </p:nvPicPr>
        <p:blipFill>
          <a:blip r:embed="rId6"/>
          <a:stretch>
            <a:fillRect/>
          </a:stretch>
        </p:blipFill>
        <p:spPr>
          <a:xfrm>
            <a:off x="5029200" y="1280160"/>
            <a:ext cx="3840480" cy="2315261"/>
          </a:xfrm>
          <a:prstGeom prst="rect">
            <a:avLst/>
          </a:prstGeom>
        </p:spPr>
      </p:pic>
      <p:sp>
        <p:nvSpPr>
          <p:cNvPr id="20" name="Text 14"/>
          <p:cNvSpPr txBox="1"/>
          <p:nvPr/>
        </p:nvSpPr>
        <p:spPr>
          <a:xfrm>
            <a:off x="5029200" y="3639312"/>
            <a:ext cx="3840480" cy="237744"/>
          </a:xfrm>
          <a:prstGeom prst="rect">
            <a:avLst/>
          </a:prstGeom>
          <a:noFill/>
          <a:ln/>
        </p:spPr>
        <p:txBody>
          <a:bodyPr wrap="square" lIns="0" tIns="0" rIns="0" bIns="0" rtlCol="0" anchor="ctr"/>
          <a:lstStyle/>
          <a:p>
            <a:pPr marL="0" indent="0" algn="ctr">
              <a:buNone/>
            </a:pPr>
            <a:r>
              <a:rPr lang="en-US" sz="1000" dirty="0">
                <a:solidFill>
                  <a:srgbClr val="1A1A1A"/>
                </a:solidFill>
                <a:latin typeface="Pretendard SemiBold" pitchFamily="34" charset="0"/>
                <a:ea typeface="Pretendard SemiBold" pitchFamily="34" charset="-122"/>
                <a:cs typeface="Pretendard SemiBold" pitchFamily="34" charset="-120"/>
              </a:rPr>
              <a:t>④ 운영 화면 : 수치는 직접 촬영 389장의 실제 판독 결과</a:t>
            </a:r>
            <a:endParaRPr lang="en-US" sz="1000" dirty="0"/>
          </a:p>
        </p:txBody>
      </p:sp>
      <p:sp>
        <p:nvSpPr>
          <p:cNvPr id="21" name="Shape 15"/>
          <p:cNvSpPr/>
          <p:nvPr/>
        </p:nvSpPr>
        <p:spPr>
          <a:xfrm>
            <a:off x="5029200" y="3904488"/>
            <a:ext cx="3840480" cy="329184"/>
          </a:xfrm>
          <a:prstGeom prst="roundRect">
            <a:avLst>
              <a:gd name="adj" fmla="val 22222"/>
            </a:avLst>
          </a:prstGeom>
          <a:solidFill>
            <a:srgbClr val="F2F2F2"/>
          </a:solidFill>
          <a:ln w="12700">
            <a:solidFill>
              <a:srgbClr val="F2F2F2"/>
            </a:solidFill>
            <a:prstDash val="solid"/>
          </a:ln>
        </p:spPr>
      </p:sp>
      <p:sp>
        <p:nvSpPr>
          <p:cNvPr id="22" name="Text 16"/>
          <p:cNvSpPr txBox="1"/>
          <p:nvPr/>
        </p:nvSpPr>
        <p:spPr>
          <a:xfrm>
            <a:off x="5029200" y="3904488"/>
            <a:ext cx="3840480" cy="329184"/>
          </a:xfrm>
          <a:prstGeom prst="rect">
            <a:avLst/>
          </a:prstGeom>
          <a:noFill/>
          <a:ln/>
        </p:spPr>
        <p:txBody>
          <a:bodyPr wrap="square" lIns="0" tIns="0" rIns="0" bIns="0" rtlCol="0" anchor="ctr"/>
          <a:lstStyle/>
          <a:p>
            <a:pPr marL="0" indent="0" algn="ctr">
              <a:buNone/>
            </a:pPr>
            <a:r>
              <a:rPr lang="en-US" sz="1050" dirty="0">
                <a:solidFill>
                  <a:srgbClr val="1A1A1A"/>
                </a:solidFill>
                <a:latin typeface="Pretendard SemiBold" pitchFamily="34" charset="0"/>
                <a:ea typeface="Pretendard SemiBold" pitchFamily="34" charset="-122"/>
                <a:cs typeface="Pretendard SemiBold" pitchFamily="34" charset="-120"/>
              </a:rPr>
              <a:t>판매자가 마지막에 확인 → 정확도는 </a:t>
            </a:r>
            <a:r>
              <a:rPr lang="en-US" sz="1050" dirty="0">
                <a:solidFill>
                  <a:srgbClr val="8B0000"/>
                </a:solidFill>
                <a:latin typeface="Pretendard SemiBold" pitchFamily="34" charset="0"/>
                <a:ea typeface="Pretendard SemiBold" pitchFamily="34" charset="-122"/>
                <a:cs typeface="Pretendard SemiBold" pitchFamily="34" charset="-120"/>
              </a:rPr>
              <a:t>자동 입력 비율</a:t>
            </a:r>
            <a:r>
              <a:rPr lang="en-US" sz="1050" dirty="0">
                <a:solidFill>
                  <a:srgbClr val="1A1A1A"/>
                </a:solidFill>
                <a:latin typeface="Pretendard SemiBold" pitchFamily="34" charset="0"/>
                <a:ea typeface="Pretendard SemiBold" pitchFamily="34" charset="-122"/>
                <a:cs typeface="Pretendard SemiBold" pitchFamily="34" charset="-120"/>
              </a:rPr>
              <a:t> 을 정한다</a:t>
            </a:r>
            <a:endParaRPr lang="en-US" sz="1050" dirty="0"/>
          </a:p>
        </p:txBody>
      </p:sp>
      <p:sp>
        <p:nvSpPr>
          <p:cNvPr id="23" name="Shape 1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4" name="Text 1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당근은 이미 사진에서 인증마크를 OCR 로 찾는다. 우리는 같은 사진에서 </a:t>
            </a:r>
            <a:r>
              <a:rPr lang="en-US" sz="1250" dirty="0">
                <a:solidFill>
                  <a:srgbClr val="8B0000"/>
                </a:solidFill>
                <a:latin typeface="Pretendard SemiBold" pitchFamily="34" charset="0"/>
                <a:ea typeface="Pretendard SemiBold" pitchFamily="34" charset="-122"/>
                <a:cs typeface="Pretendard SemiBold" pitchFamily="34" charset="-120"/>
              </a:rPr>
              <a:t>소비기한을 찾아 날짜로 확정</a:t>
            </a:r>
            <a:r>
              <a:rPr lang="en-US" sz="1250" dirty="0">
                <a:solidFill>
                  <a:srgbClr val="1A1A1A"/>
                </a:solidFill>
                <a:latin typeface="Pretendard SemiBold" pitchFamily="34" charset="0"/>
                <a:ea typeface="Pretendard SemiBold" pitchFamily="34" charset="-122"/>
                <a:cs typeface="Pretendard SemiBold" pitchFamily="34" charset="-120"/>
              </a:rPr>
              <a:t> 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이미 도는 OCR 옆에 CPU 한 대</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9144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(미개봉·소비기한 이내, 필수 기재)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월 약 2.4만 건 (20개월 게시글 48만 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처리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게시할 때 1장, 장당 약 3초 → 하루 800장 ≈ CPU 40분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모델</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21MB, GPU 없음 · 서버 또는 폰 온디바이스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판정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기한 경과로 읽히면 재확인 요청 (자동 차단 안 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비용과 가치</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비용 ≈ 0 : 라이선스 0원, GPU 0대, 서버 CPU 일부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가치 : 잔여기한 안내·검색, 입력 편의, 기한 경과 글 자동 숨김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인력 절감으로 부풀리지 않는다 : 소비기한 위반은 전체 위반의 5% (725 / 14,729건)</a:t>
            </a:r>
            <a:endParaRPr lang="en-US" sz="102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자동 입력 기준 (판매자 폰 사진을 흉내 낸 직접 촬영 389장 실측)</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자동 입력 기준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채워지는 비율</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읽히면 무조건 채움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0.7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10%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0.9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판매자가 고친 값이 </a:t>
            </a:r>
            <a:r>
              <a:rPr lang="en-US" sz="1250" dirty="0">
                <a:solidFill>
                  <a:srgbClr val="8B0000"/>
                </a:solidFill>
                <a:latin typeface="Pretendard SemiBold" pitchFamily="34" charset="0"/>
                <a:ea typeface="Pretendard SemiBold" pitchFamily="34" charset="-122"/>
                <a:cs typeface="Pretendard SemiBold" pitchFamily="34" charset="-120"/>
              </a:rPr>
              <a:t>공짜 라벨</a:t>
            </a:r>
            <a:r>
              <a:rPr lang="en-US" sz="1250" dirty="0">
                <a:solidFill>
                  <a:srgbClr val="1A1A1A"/>
                </a:solidFill>
                <a:latin typeface="Pretendard SemiBold" pitchFamily="34" charset="0"/>
                <a:ea typeface="Pretendard SemiBold" pitchFamily="34" charset="-122"/>
                <a:cs typeface="Pretendard SemiBold" pitchFamily="34" charset="-120"/>
              </a:rPr>
              <a:t> 이 되어, 쓸수록 자동 입력 비율이 오른다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판매자 폰 사진에서는 52%</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389장 (팀원 4명, 약점 유형 위주)</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남은 날을 많게 읽는 경우 4.9% (중앙 +63일) → 제품 유형별 최대 기한을 넘으면 판독 불가</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스티커 위조·다른 상품 촬영은 못 막는다 → 사후 모니터링 몫</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선물세트는 날짜가 여러 개 → 상품별로 찍고 가장 이른 날짜를 표시</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확신할 때만 채운다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빈칸이면 지금처럼 손으로 입력. 손해가 없다</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고칠 때마다 라벨이 생겨 자동 입력 비율 상승</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차단 대신 안내</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재확인만 요청하고 최종 판단은 기존 검토에</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새 사진은 찍은 사람에 따라 </a:t>
            </a:r>
            <a:r>
              <a:rPr lang="en-US" sz="1250" dirty="0">
                <a:solidFill>
                  <a:srgbClr val="8B0000"/>
                </a:solidFill>
                <a:latin typeface="Pretendard SemiBold" pitchFamily="34" charset="0"/>
                <a:ea typeface="Pretendard SemiBold" pitchFamily="34" charset="-122"/>
                <a:cs typeface="Pretendard SemiBold" pitchFamily="34" charset="-120"/>
              </a:rPr>
              <a:t>44 ~ 70%</a:t>
            </a:r>
            <a:r>
              <a:rPr lang="en-US" sz="1250" dirty="0">
                <a:solidFill>
                  <a:srgbClr val="1A1A1A"/>
                </a:solidFill>
                <a:latin typeface="Pretendard SemiBold" pitchFamily="34" charset="0"/>
                <a:ea typeface="Pretendard SemiBold" pitchFamily="34" charset="-122"/>
                <a:cs typeface="Pretendard SemiBold" pitchFamily="34" charset="-120"/>
              </a:rPr>
              <a:t> : 촬영 안내(날짜를 가운데, 가까이)가 정확도를 좌우한다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가공식품 · 명절 선물세트 카테고리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 현장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대조 대상 (공장의 기대값)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2차 의견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78.3%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52.4%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62.8%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 위주, 미인식 22%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3645</Words>
  <Application>Microsoft Office PowerPoint</Application>
  <PresentationFormat>화면 슬라이드 쇼(16:9)</PresentationFormat>
  <Paragraphs>490</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Arial</vt:lpstr>
      <vt:lpstr>Pretendard SemiBold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2026-09-29T03:39:45Z</dcterms:created>
  <dcterms:modified xsi:type="dcterms:W3CDTF">2026-09-29T03:40:11Z</dcterms:modified>
</cp:coreProperties>
</file>