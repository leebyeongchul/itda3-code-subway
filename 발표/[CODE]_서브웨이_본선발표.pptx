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AE46-4E19-9B73-EA932D60F464}"/>
              </c:ext>
            </c:extLst>
          </c:dPt>
          <c:dPt>
            <c:idx val="1"/>
            <c:invertIfNegative val="0"/>
            <c:bubble3D val="0"/>
            <c:extLst>
              <c:ext xmlns:c16="http://schemas.microsoft.com/office/drawing/2014/chart" uri="{C3380CC4-5D6E-409C-BE32-E72D297353CC}">
                <c16:uniqueId val="{00000003-AE46-4E19-9B73-EA932D60F464}"/>
              </c:ext>
            </c:extLst>
          </c:dPt>
          <c:dPt>
            <c:idx val="2"/>
            <c:invertIfNegative val="0"/>
            <c:bubble3D val="0"/>
            <c:extLst>
              <c:ext xmlns:c16="http://schemas.microsoft.com/office/drawing/2014/chart" uri="{C3380CC4-5D6E-409C-BE32-E72D297353CC}">
                <c16:uniqueId val="{00000005-AE46-4E19-9B73-EA932D60F464}"/>
              </c:ext>
            </c:extLst>
          </c:dPt>
          <c:dPt>
            <c:idx val="3"/>
            <c:invertIfNegative val="0"/>
            <c:bubble3D val="0"/>
            <c:extLst>
              <c:ext xmlns:c16="http://schemas.microsoft.com/office/drawing/2014/chart" uri="{C3380CC4-5D6E-409C-BE32-E72D297353CC}">
                <c16:uniqueId val="{00000007-AE46-4E19-9B73-EA932D60F464}"/>
              </c:ext>
            </c:extLst>
          </c:dPt>
          <c:dPt>
            <c:idx val="4"/>
            <c:invertIfNegative val="0"/>
            <c:bubble3D val="0"/>
            <c:extLst>
              <c:ext xmlns:c16="http://schemas.microsoft.com/office/drawing/2014/chart" uri="{C3380CC4-5D6E-409C-BE32-E72D297353CC}">
                <c16:uniqueId val="{00000009-AE46-4E19-9B73-EA932D60F464}"/>
              </c:ext>
            </c:extLst>
          </c:dPt>
          <c:dPt>
            <c:idx val="5"/>
            <c:invertIfNegative val="0"/>
            <c:bubble3D val="0"/>
            <c:extLst>
              <c:ext xmlns:c16="http://schemas.microsoft.com/office/drawing/2014/chart" uri="{C3380CC4-5D6E-409C-BE32-E72D297353CC}">
                <c16:uniqueId val="{0000000B-AE46-4E19-9B73-EA932D60F464}"/>
              </c:ext>
            </c:extLst>
          </c:dPt>
          <c:dPt>
            <c:idx val="6"/>
            <c:invertIfNegative val="0"/>
            <c:bubble3D val="0"/>
            <c:extLst>
              <c:ext xmlns:c16="http://schemas.microsoft.com/office/drawing/2014/chart" uri="{C3380CC4-5D6E-409C-BE32-E72D297353CC}">
                <c16:uniqueId val="{0000000D-AE46-4E19-9B73-EA932D60F464}"/>
              </c:ext>
            </c:extLst>
          </c:dPt>
          <c:dPt>
            <c:idx val="7"/>
            <c:invertIfNegative val="0"/>
            <c:bubble3D val="0"/>
            <c:extLst>
              <c:ext xmlns:c16="http://schemas.microsoft.com/office/drawing/2014/chart" uri="{C3380CC4-5D6E-409C-BE32-E72D297353CC}">
                <c16:uniqueId val="{0000000F-AE46-4E19-9B73-EA932D60F464}"/>
              </c:ext>
            </c:extLst>
          </c:dPt>
          <c:dPt>
            <c:idx val="8"/>
            <c:invertIfNegative val="0"/>
            <c:bubble3D val="0"/>
            <c:extLst>
              <c:ext xmlns:c16="http://schemas.microsoft.com/office/drawing/2014/chart" uri="{C3380CC4-5D6E-409C-BE32-E72D297353CC}">
                <c16:uniqueId val="{00000011-AE46-4E19-9B73-EA932D60F464}"/>
              </c:ext>
            </c:extLst>
          </c:dPt>
          <c:dPt>
            <c:idx val="9"/>
            <c:invertIfNegative val="0"/>
            <c:bubble3D val="0"/>
            <c:spPr>
              <a:solidFill>
                <a:srgbClr val="5A5A5A"/>
              </a:solidFill>
              <a:effectLst/>
            </c:spPr>
            <c:extLst>
              <c:ext xmlns:c16="http://schemas.microsoft.com/office/drawing/2014/chart" uri="{C3380CC4-5D6E-409C-BE32-E72D297353CC}">
                <c16:uniqueId val="{00000013-AE46-4E19-9B73-EA932D60F464}"/>
              </c:ext>
            </c:extLst>
          </c:dPt>
          <c:dPt>
            <c:idx val="10"/>
            <c:invertIfNegative val="0"/>
            <c:bubble3D val="0"/>
            <c:spPr>
              <a:solidFill>
                <a:srgbClr val="8B0000"/>
              </a:solidFill>
              <a:effectLst/>
            </c:spPr>
            <c:extLst>
              <c:ext xmlns:c16="http://schemas.microsoft.com/office/drawing/2014/chart" uri="{C3380CC4-5D6E-409C-BE32-E72D297353CC}">
                <c16:uniqueId val="{00000015-AE46-4E19-9B73-EA932D60F464}"/>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AE46-4E19-9B73-EA932D60F46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27AD-4667-82F2-B45EBA51D9E7}"/>
              </c:ext>
            </c:extLst>
          </c:dPt>
          <c:dPt>
            <c:idx val="1"/>
            <c:invertIfNegative val="0"/>
            <c:bubble3D val="0"/>
            <c:spPr>
              <a:solidFill>
                <a:srgbClr val="8B0000"/>
              </a:solidFill>
              <a:effectLst/>
            </c:spPr>
            <c:extLst>
              <c:ext xmlns:c16="http://schemas.microsoft.com/office/drawing/2014/chart" uri="{C3380CC4-5D6E-409C-BE32-E72D297353CC}">
                <c16:uniqueId val="{00000003-27AD-4667-82F2-B45EBA51D9E7}"/>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(새 사진 389장)</c:v>
                </c:pt>
              </c:strCache>
            </c:strRef>
          </c:cat>
          <c:val>
            <c:numRef>
              <c:f>Sheet1!$B$2:$B$3</c:f>
              <c:numCache>
                <c:formatCode>General</c:formatCode>
                <c:ptCount val="2"/>
                <c:pt idx="0">
                  <c:v>86.2</c:v>
                </c:pt>
                <c:pt idx="1">
                  <c:v>52.4</c:v>
                </c:pt>
              </c:numCache>
            </c:numRef>
          </c:val>
          <c:extLst>
            <c:ext xmlns:c16="http://schemas.microsoft.com/office/drawing/2014/chart" uri="{C3380CC4-5D6E-409C-BE32-E72D297353CC}">
              <c16:uniqueId val="{00000004-27AD-4667-82F2-B45EBA51D9E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183014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물류 현장에서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86.0으로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현장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현장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신선식품 물류센터의 입고 검수입니다. 공급사가 신고한 기한과 실제 상품의 기한이 맞는지는 지금 사람이 눈으로 확인합니다. 검수자가 로트별로 대표 상품을 찍으면 OCR이 읽고, 읽은 값을 공급사 신고값과 대조합니다. 일치하면 자동 통과, 어긋나거나 못 읽은 건만 사람에게 갑니다. 여기서 중요한 점은, OCR이 틀리게 읽어도 신고값과 어긋나기 때문에 사람에게 간다는 겁니다. 즉 정확도는 안전성이 아니라 자동화율을 결정합니다. 정말 위험한 건 못 읽는 게 아니라 틀린 값을 자신 있게 내는 것이고, 그래서 저희는 확신이 없으면 NONE을 내도록 설계했습니다.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전체가 21메가바이트이고 GPU가 필요 없어서, 검수 단말에 넣으면 통신이 안 되는 냉동 구역에서도 동작하고, 서버 한 대에 두면 시간당 1,200장을 처리합니다. 라이선스 0원, GPU 0대이고, 남는 비용은 사람이 확인하는 인건비입니다. 하루 2,000로트를 건당 20초씩 본다고 가정하면 지금은 하루 11시간입니다. 도입 후에는 예외 400건만 보면 됩니다. 건당 8초는 저희가 오답 446장을 다시 볼 때 잰 실측값이고, 로트 수와 현재 확인 시간은 가정입니다.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한계를 말씀드리겠습니다. 저희는 86퍼센트라는 숫자를 그대로 믿지 않았습니다. 오답이 몰린 도트 인쇄, 각인, 두 날짜 병기 위주로 팀원 네 명이 편의점에서 389장을 직접 찍었고, 모델이 한 번도 본 적 없는 그 사진에 돌렸더니 52퍼센트, 미인식이 22퍼센트였습니다. 찍은 사람에 따라 44에서 70퍼센트까지 갈렸습니다. 약점의 실제 크기는 이만큼입니다. 남은 오답은 규칙이 아니라 인식 품질의 문제라서, 촬영 단계에서 날짜를 가까이 찍게 안내하고, 못 읽은 날짜 줄을 사람이 골라 재학습하는 방향으로 보완합니다.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구조는 식품에만 쓰이지 않습니다. 의약품이나 화학 제품의 출하 표시물에서 제조번호와 사용기한을 검증하는 일도 같은 구조입니다. 모델은 글자를 읽는 일만 하고 도메인 지식은 규칙 문서에 있기 때문에, 형식 규칙만 바꾸면 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말하는 시스템이기 때문에, 현장에서 사람과 함께 일할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물류 입고 검수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86.0%</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보류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시간 +18%, 기여가 사라짐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사람 확인</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현장에서는 이 건만 사람에게 간다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물류센터 입고 검수</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신선식품 물류센터 입고 검수</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센터는 기한이 빠른 상품부터 출고한다. 그런데 </a:t>
            </a:r>
            <a:r>
              <a:rPr lang="en-US" sz="1200" dirty="0">
                <a:solidFill>
                  <a:srgbClr val="8B0000"/>
                </a:solidFill>
                <a:latin typeface="Pretendard SemiBold" pitchFamily="34" charset="0"/>
                <a:ea typeface="Pretendard SemiBold" pitchFamily="34" charset="-122"/>
                <a:cs typeface="Pretendard SemiBold" pitchFamily="34" charset="-120"/>
              </a:rPr>
              <a:t>공급사가 신고한 기한과 실물이 맞는지</a:t>
            </a:r>
            <a:r>
              <a:rPr lang="en-US" sz="1200" dirty="0">
                <a:solidFill>
                  <a:srgbClr val="1A1A1A"/>
                </a:solidFill>
                <a:latin typeface="Pretendard SemiBold" pitchFamily="34" charset="0"/>
                <a:ea typeface="Pretendard SemiBold" pitchFamily="34" charset="-122"/>
                <a:cs typeface="Pretendard SemiBold" pitchFamily="34" charset="-120"/>
              </a:rPr>
              <a:t> 는 지금 사람이 눈으로 확인한다</a:t>
            </a:r>
            <a:endParaRPr lang="en-US" sz="1200" dirty="0"/>
          </a:p>
        </p:txBody>
      </p:sp>
      <p:sp>
        <p:nvSpPr>
          <p:cNvPr id="7" name="Shape 5"/>
          <p:cNvSpPr/>
          <p:nvPr/>
        </p:nvSpPr>
        <p:spPr>
          <a:xfrm>
            <a:off x="274320" y="1371600"/>
            <a:ext cx="1691640" cy="1097280"/>
          </a:xfrm>
          <a:prstGeom prst="roundRect">
            <a:avLst>
              <a:gd name="adj" fmla="val 5000"/>
            </a:avLst>
          </a:prstGeom>
          <a:solidFill>
            <a:srgbClr val="3A3A3A"/>
          </a:solidFill>
          <a:ln w="12700">
            <a:solidFill>
              <a:srgbClr val="3A3A3A"/>
            </a:solidFill>
            <a:prstDash val="solid"/>
          </a:ln>
        </p:spPr>
      </p:sp>
      <p:sp>
        <p:nvSpPr>
          <p:cNvPr id="8" name="Text 6"/>
          <p:cNvSpPr txBox="1"/>
          <p:nvPr/>
        </p:nvSpPr>
        <p:spPr>
          <a:xfrm>
            <a:off x="27432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촬영</a:t>
            </a:r>
            <a:endParaRPr lang="en-US" sz="1300" dirty="0"/>
          </a:p>
        </p:txBody>
      </p:sp>
      <p:sp>
        <p:nvSpPr>
          <p:cNvPr id="9" name="Text 7"/>
          <p:cNvSpPr txBox="1"/>
          <p:nvPr/>
        </p:nvSpPr>
        <p:spPr>
          <a:xfrm>
            <a:off x="32004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검수자가 로트별</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대표 상품 표시면 촬영</a:t>
            </a:r>
            <a:endParaRPr lang="en-US" sz="980" dirty="0"/>
          </a:p>
        </p:txBody>
      </p:sp>
      <p:sp>
        <p:nvSpPr>
          <p:cNvPr id="10" name="Text 8"/>
          <p:cNvSpPr txBox="1"/>
          <p:nvPr/>
        </p:nvSpPr>
        <p:spPr>
          <a:xfrm>
            <a:off x="196596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1" name="Shape 9"/>
          <p:cNvSpPr/>
          <p:nvPr/>
        </p:nvSpPr>
        <p:spPr>
          <a:xfrm>
            <a:off x="2148840" y="1371600"/>
            <a:ext cx="1691640" cy="1097280"/>
          </a:xfrm>
          <a:prstGeom prst="roundRect">
            <a:avLst>
              <a:gd name="adj" fmla="val 5000"/>
            </a:avLst>
          </a:prstGeom>
          <a:solidFill>
            <a:srgbClr val="3A3A3A"/>
          </a:solidFill>
          <a:ln w="12700">
            <a:solidFill>
              <a:srgbClr val="3A3A3A"/>
            </a:solidFill>
            <a:prstDash val="solid"/>
          </a:ln>
        </p:spPr>
      </p:sp>
      <p:sp>
        <p:nvSpPr>
          <p:cNvPr id="12" name="Text 10"/>
          <p:cNvSpPr txBox="1"/>
          <p:nvPr/>
        </p:nvSpPr>
        <p:spPr>
          <a:xfrm>
            <a:off x="214884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OCR</a:t>
            </a:r>
            <a:endParaRPr lang="en-US" sz="1300" dirty="0"/>
          </a:p>
        </p:txBody>
      </p:sp>
      <p:sp>
        <p:nvSpPr>
          <p:cNvPr id="13" name="Text 11"/>
          <p:cNvSpPr txBox="1"/>
          <p:nvPr/>
        </p:nvSpPr>
        <p:spPr>
          <a:xfrm>
            <a:off x="219456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온디바이스 또는</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센터 내 CPU 서버</a:t>
            </a:r>
            <a:endParaRPr lang="en-US" sz="980" dirty="0"/>
          </a:p>
        </p:txBody>
      </p:sp>
      <p:sp>
        <p:nvSpPr>
          <p:cNvPr id="14" name="Text 12"/>
          <p:cNvSpPr txBox="1"/>
          <p:nvPr/>
        </p:nvSpPr>
        <p:spPr>
          <a:xfrm>
            <a:off x="384048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5" name="Shape 13"/>
          <p:cNvSpPr/>
          <p:nvPr/>
        </p:nvSpPr>
        <p:spPr>
          <a:xfrm>
            <a:off x="4023360" y="1371600"/>
            <a:ext cx="1691640" cy="1097280"/>
          </a:xfrm>
          <a:prstGeom prst="roundRect">
            <a:avLst>
              <a:gd name="adj" fmla="val 5000"/>
            </a:avLst>
          </a:prstGeom>
          <a:solidFill>
            <a:srgbClr val="3A3A3A"/>
          </a:solidFill>
          <a:ln w="12700">
            <a:solidFill>
              <a:srgbClr val="3A3A3A"/>
            </a:solidFill>
            <a:prstDash val="solid"/>
          </a:ln>
        </p:spPr>
      </p:sp>
      <p:sp>
        <p:nvSpPr>
          <p:cNvPr id="16" name="Text 14"/>
          <p:cNvSpPr txBox="1"/>
          <p:nvPr/>
        </p:nvSpPr>
        <p:spPr>
          <a:xfrm>
            <a:off x="402336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대조</a:t>
            </a:r>
            <a:endParaRPr lang="en-US" sz="1300" dirty="0"/>
          </a:p>
        </p:txBody>
      </p:sp>
      <p:sp>
        <p:nvSpPr>
          <p:cNvPr id="17" name="Text 15"/>
          <p:cNvSpPr txBox="1"/>
          <p:nvPr/>
        </p:nvSpPr>
        <p:spPr>
          <a:xfrm>
            <a:off x="406908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읽은 값 vs 공급사 신고값</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잔여기한 기준 계산</a:t>
            </a:r>
            <a:endParaRPr lang="en-US" sz="980" dirty="0"/>
          </a:p>
        </p:txBody>
      </p:sp>
      <p:sp>
        <p:nvSpPr>
          <p:cNvPr id="18" name="Text 16"/>
          <p:cNvSpPr txBox="1"/>
          <p:nvPr/>
        </p:nvSpPr>
        <p:spPr>
          <a:xfrm>
            <a:off x="571500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9" name="Shape 17"/>
          <p:cNvSpPr/>
          <p:nvPr/>
        </p:nvSpPr>
        <p:spPr>
          <a:xfrm>
            <a:off x="5897880" y="1188720"/>
            <a:ext cx="2971800" cy="658368"/>
          </a:xfrm>
          <a:prstGeom prst="roundRect">
            <a:avLst>
              <a:gd name="adj" fmla="val 8333"/>
            </a:avLst>
          </a:prstGeom>
          <a:solidFill>
            <a:srgbClr val="F2F2F2"/>
          </a:solidFill>
          <a:ln w="12700">
            <a:solidFill>
              <a:srgbClr val="F2F2F2"/>
            </a:solidFill>
            <a:prstDash val="solid"/>
          </a:ln>
        </p:spPr>
      </p:sp>
      <p:sp>
        <p:nvSpPr>
          <p:cNvPr id="20" name="Text 18"/>
          <p:cNvSpPr txBox="1"/>
          <p:nvPr/>
        </p:nvSpPr>
        <p:spPr>
          <a:xfrm>
            <a:off x="6035040" y="1188720"/>
            <a:ext cx="2743200" cy="658368"/>
          </a:xfrm>
          <a:prstGeom prst="rect">
            <a:avLst/>
          </a:prstGeom>
          <a:noFill/>
          <a:ln/>
        </p:spPr>
        <p:txBody>
          <a:bodyPr wrap="square" lIns="0" tIns="0" rIns="0" bIns="0" rtlCol="0" anchor="ctr"/>
          <a:lstStyle/>
          <a:p>
            <a:pPr marL="0" indent="0">
              <a:buNone/>
            </a:pPr>
            <a:r>
              <a:rPr lang="en-US" sz="1150" dirty="0">
                <a:solidFill>
                  <a:srgbClr val="8B0000"/>
                </a:solidFill>
                <a:latin typeface="Pretendard SemiBold" pitchFamily="34" charset="0"/>
                <a:ea typeface="Pretendard SemiBold" pitchFamily="34" charset="-122"/>
                <a:cs typeface="Pretendard SemiBold" pitchFamily="34" charset="-120"/>
              </a:rPr>
              <a:t>일치</a:t>
            </a:r>
            <a:r>
              <a:rPr lang="en-US" sz="1150" dirty="0">
                <a:solidFill>
                  <a:srgbClr val="1A1A1A"/>
                </a:solidFill>
                <a:latin typeface="Pretendard SemiBold" pitchFamily="34" charset="0"/>
                <a:ea typeface="Pretendard SemiBold" pitchFamily="34" charset="-122"/>
                <a:cs typeface="Pretendard SemiBold" pitchFamily="34" charset="-120"/>
              </a:rPr>
              <a:t>  →  자동 통과 (약 80%)</a:t>
            </a:r>
            <a:endParaRPr lang="en-US" sz="1150" dirty="0"/>
          </a:p>
        </p:txBody>
      </p:sp>
      <p:sp>
        <p:nvSpPr>
          <p:cNvPr id="21" name="Shape 19"/>
          <p:cNvSpPr/>
          <p:nvPr/>
        </p:nvSpPr>
        <p:spPr>
          <a:xfrm>
            <a:off x="5897880" y="1938528"/>
            <a:ext cx="2971800" cy="658368"/>
          </a:xfrm>
          <a:prstGeom prst="roundRect">
            <a:avLst>
              <a:gd name="adj" fmla="val 8333"/>
            </a:avLst>
          </a:prstGeom>
          <a:solidFill>
            <a:srgbClr val="F6E3E3"/>
          </a:solidFill>
          <a:ln w="12700">
            <a:solidFill>
              <a:srgbClr val="F6E3E3"/>
            </a:solidFill>
            <a:prstDash val="solid"/>
          </a:ln>
        </p:spPr>
      </p:sp>
      <p:sp>
        <p:nvSpPr>
          <p:cNvPr id="22" name="Text 20"/>
          <p:cNvSpPr txBox="1"/>
          <p:nvPr/>
        </p:nvSpPr>
        <p:spPr>
          <a:xfrm>
            <a:off x="6035040" y="1938528"/>
            <a:ext cx="2743200" cy="658368"/>
          </a:xfrm>
          <a:prstGeom prst="rect">
            <a:avLst/>
          </a:prstGeom>
          <a:noFill/>
          <a:ln/>
        </p:spPr>
        <p:txBody>
          <a:bodyPr wrap="square" lIns="0" tIns="0" rIns="0" bIns="0" rtlCol="0" anchor="ctr"/>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불일치 · 미인식 · 기준 미달</a:t>
            </a:r>
            <a:endParaRPr lang="en-US" sz="1100" dirty="0"/>
          </a:p>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  사람 확인 대기열</a:t>
            </a:r>
            <a:endParaRPr lang="en-US" sz="1100" dirty="0"/>
          </a:p>
        </p:txBody>
      </p:sp>
      <p:sp>
        <p:nvSpPr>
          <p:cNvPr id="23" name="Shape 21"/>
          <p:cNvSpPr/>
          <p:nvPr/>
        </p:nvSpPr>
        <p:spPr>
          <a:xfrm>
            <a:off x="274320" y="2788920"/>
            <a:ext cx="4206240" cy="1417320"/>
          </a:xfrm>
          <a:prstGeom prst="roundRect">
            <a:avLst>
              <a:gd name="adj" fmla="val 5161"/>
            </a:avLst>
          </a:prstGeom>
          <a:solidFill>
            <a:srgbClr val="F2F2F2"/>
          </a:solidFill>
          <a:ln w="12700">
            <a:solidFill>
              <a:srgbClr val="F2F2F2"/>
            </a:solidFill>
            <a:prstDash val="solid"/>
          </a:ln>
        </p:spPr>
      </p:sp>
      <p:sp>
        <p:nvSpPr>
          <p:cNvPr id="24" name="Text 22"/>
          <p:cNvSpPr txBox="1"/>
          <p:nvPr/>
        </p:nvSpPr>
        <p:spPr>
          <a:xfrm>
            <a:off x="41148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이 구조의 핵심</a:t>
            </a:r>
            <a:endParaRPr lang="en-US" sz="1200" dirty="0"/>
          </a:p>
        </p:txBody>
      </p:sp>
      <p:sp>
        <p:nvSpPr>
          <p:cNvPr id="25" name="Text 23"/>
          <p:cNvSpPr txBox="1"/>
          <p:nvPr/>
        </p:nvSpPr>
        <p:spPr>
          <a:xfrm>
            <a:off x="411480" y="3127248"/>
            <a:ext cx="3931920" cy="1051560"/>
          </a:xfrm>
          <a:prstGeom prst="rect">
            <a:avLst/>
          </a:prstGeom>
          <a:noFill/>
          <a:ln/>
        </p:spPr>
        <p:txBody>
          <a:bodyPr wrap="square" lIns="0" tIns="0" rIns="0" bIns="0" rtlCol="0" anchor="t"/>
          <a:lstStyle/>
          <a:p>
            <a:pPr marL="0" indent="0">
              <a:buNone/>
            </a:pPr>
            <a:r>
              <a:rPr lang="en-US" sz="1080" dirty="0">
                <a:solidFill>
                  <a:srgbClr val="1A1A1A"/>
                </a:solidFill>
                <a:latin typeface="Pretendard SemiBold" pitchFamily="34" charset="0"/>
                <a:ea typeface="Pretendard SemiBold" pitchFamily="34" charset="-122"/>
                <a:cs typeface="Pretendard SemiBold" pitchFamily="34" charset="-120"/>
              </a:rPr>
              <a:t>OCR이 잘못 읽어도 신고값과 어긋나 사람에게 간다. 그래서 정확도는 </a:t>
            </a:r>
            <a:r>
              <a:rPr lang="en-US" sz="1080" dirty="0">
                <a:solidFill>
                  <a:srgbClr val="8B0000"/>
                </a:solidFill>
                <a:latin typeface="Pretendard SemiBold" pitchFamily="34" charset="0"/>
                <a:ea typeface="Pretendard SemiBold" pitchFamily="34" charset="-122"/>
                <a:cs typeface="Pretendard SemiBold" pitchFamily="34" charset="-120"/>
              </a:rPr>
              <a:t>안전성이 아니라 자동화율</a:t>
            </a:r>
            <a:r>
              <a:rPr lang="en-US" sz="1080" dirty="0">
                <a:solidFill>
                  <a:srgbClr val="1A1A1A"/>
                </a:solidFill>
                <a:latin typeface="Pretendard SemiBold" pitchFamily="34" charset="0"/>
                <a:ea typeface="Pretendard SemiBold" pitchFamily="34" charset="-122"/>
                <a:cs typeface="Pretendard SemiBold" pitchFamily="34" charset="-120"/>
              </a:rPr>
              <a:t> 을 결정한다. 위험한 것은 "못 읽음" 이 아니라 "틀린 값을 자신 있게 냄" 이고, 우리는 그래서 NONE 을 설계했다</a:t>
            </a:r>
            <a:endParaRPr lang="en-US" sz="1080" dirty="0"/>
          </a:p>
        </p:txBody>
      </p:sp>
      <p:sp>
        <p:nvSpPr>
          <p:cNvPr id="26" name="Shape 24"/>
          <p:cNvSpPr/>
          <p:nvPr/>
        </p:nvSpPr>
        <p:spPr>
          <a:xfrm>
            <a:off x="4663440" y="2788920"/>
            <a:ext cx="4206240" cy="1417320"/>
          </a:xfrm>
          <a:prstGeom prst="roundRect">
            <a:avLst>
              <a:gd name="adj" fmla="val 5161"/>
            </a:avLst>
          </a:prstGeom>
          <a:solidFill>
            <a:srgbClr val="F2F2F2"/>
          </a:solidFill>
          <a:ln w="12700">
            <a:solidFill>
              <a:srgbClr val="F2F2F2"/>
            </a:solidFill>
            <a:prstDash val="solid"/>
          </a:ln>
        </p:spPr>
      </p:sp>
      <p:sp>
        <p:nvSpPr>
          <p:cNvPr id="27" name="Text 25"/>
          <p:cNvSpPr txBox="1"/>
          <p:nvPr/>
        </p:nvSpPr>
        <p:spPr>
          <a:xfrm>
            <a:off x="480060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운영에서 더 세지는 신호</a:t>
            </a:r>
            <a:endParaRPr lang="en-US" sz="1200" dirty="0"/>
          </a:p>
        </p:txBody>
      </p:sp>
      <p:sp>
        <p:nvSpPr>
          <p:cNvPr id="28" name="Text 26"/>
          <p:cNvSpPr txBox="1"/>
          <p:nvPr/>
        </p:nvSpPr>
        <p:spPr>
          <a:xfrm>
            <a:off x="4800600" y="312724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읽은 날짜가 오늘보다 이르면 경고 (대회 데이터에서 이 신호의 오답률 72%)</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제조·포장 키워드만 읽히면 경고 (오답률 57%)</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사람이 고친 값은 이력과 함께 재학습 데이터로</a:t>
            </a:r>
            <a:endParaRPr lang="en-US" sz="105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기한 정보가 담긴 QR 이 없는 상품을 맡는 </a:t>
            </a:r>
            <a:r>
              <a:rPr lang="en-US" sz="1250" dirty="0">
                <a:solidFill>
                  <a:srgbClr val="8B0000"/>
                </a:solidFill>
                <a:latin typeface="Pretendard SemiBold" pitchFamily="34" charset="0"/>
                <a:ea typeface="Pretendard SemiBold" pitchFamily="34" charset="-122"/>
                <a:cs typeface="Pretendard SemiBold" pitchFamily="34" charset="-120"/>
              </a:rPr>
              <a:t>보완 수단</a:t>
            </a:r>
            <a:r>
              <a:rPr lang="en-US" sz="1250" dirty="0">
                <a:solidFill>
                  <a:srgbClr val="1A1A1A"/>
                </a:solidFill>
                <a:latin typeface="Pretendard SemiBold" pitchFamily="34" charset="0"/>
                <a:ea typeface="Pretendard SemiBold" pitchFamily="34" charset="-122"/>
                <a:cs typeface="Pretendard SemiBold" pitchFamily="34" charset="-120"/>
              </a:rPr>
              <a:t> : 제조사 수천 곳이 아니라 읽는 쪽 한 곳만 바뀌면 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CPU 한 대로 시작한다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온디바이스 (검수 단말)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센터 내 서버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환경</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핸디 단말·태블릿 CPU</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4코어 CPU 서버 1대, GPU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모델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탐지 5MB + 인식 8MB × 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동일 (총 21MB)</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네트워크</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불필요 (오프라인 동작 검증)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센터 내부망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처리량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장당 약 3초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시간당 약 1,200장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적합한 곳</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냉장·냉동 구역, 통신 음영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검수대 고정 촬영, 이력 집계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 구조</a:t>
            </a:r>
            <a:endParaRPr lang="en-US" sz="1200" dirty="0"/>
          </a:p>
        </p:txBody>
      </p:sp>
      <p:sp>
        <p:nvSpPr>
          <p:cNvPr id="9" name="Text 6"/>
          <p:cNvSpPr txBox="1"/>
          <p:nvPr/>
        </p:nvSpPr>
        <p:spPr>
          <a:xfrm>
            <a:off x="5715000" y="1252728"/>
            <a:ext cx="30175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라이선스 0원 (오픈소스 모델, 외부 API 없음)</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GPU 0대, 학습 비용 0원</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서버 1대 또는 기존 단말 활용</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남는 비용은 사람 확인 인건비</a:t>
            </a:r>
            <a:endParaRPr lang="en-US" sz="105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절감 효과 계산 (가정을 명시한 추정)</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0116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항목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가정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계산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결과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현재 : 전수 육안 확인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하루 2,000 로트, 건당 20초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2,000 × 20초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하루 11.1시간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도입 후 : 예외만 확인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자동 통과 80%, 확인 건당 8초 (실측)</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400 × 8초 + 촬영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하루 0.9시간 + 촬영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실측 근거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오답 446장 점검에 61분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장당 평균 8초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불일치율 15.6%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로트 수·건당 시간은 가정값. </a:t>
            </a:r>
            <a:r>
              <a:rPr lang="en-US" sz="1250" dirty="0">
                <a:solidFill>
                  <a:srgbClr val="8B0000"/>
                </a:solidFill>
                <a:latin typeface="Pretendard SemiBold" pitchFamily="34" charset="0"/>
                <a:ea typeface="Pretendard SemiBold" pitchFamily="34" charset="-122"/>
                <a:cs typeface="Pretendard SemiBold" pitchFamily="34" charset="-120"/>
              </a:rPr>
              <a:t>확인 건당 8초와 불일치율은 우리가 직접 잰 값</a:t>
            </a:r>
            <a:r>
              <a:rPr lang="en-US" sz="1250" dirty="0">
                <a:solidFill>
                  <a:srgbClr val="1A1A1A"/>
                </a:solidFill>
                <a:latin typeface="Pretendard SemiBold" pitchFamily="34" charset="0"/>
                <a:ea typeface="Pretendard SemiBold" pitchFamily="34" charset="-122"/>
                <a:cs typeface="Pretendard SemiBold" pitchFamily="34" charset="-120"/>
              </a:rPr>
              <a:t> 이다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직접 찍은 새 사진에서는 52%</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389장 (팀원 4명, 약점 유형 위주)</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도트 인쇄·각인 : 규칙으로는 끝. 인식기 학습 데이터가 답</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작은 사진 (전체의 33%) : 글자 8~12픽셀, 확대·해상도 상향 모두 효과 없음</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제조일자만 있는 사진 (정답 NONE) : 한글 단서가 필요해 미지원, 0.5% 미만</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"날짜를 가운데, 가까이" 가이드와 반사 감지 재촬영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어려운 크롭을 사람이 고른다</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미인식 사진의 날짜 줄을 검수해 재학습</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경고를 붙인다</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답은 바꾸지 않고 의심 신호에 사람 확인 표시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새 사진은 찍은 사람에 따라 </a:t>
            </a:r>
            <a:r>
              <a:rPr lang="en-US" sz="1250" dirty="0">
                <a:solidFill>
                  <a:srgbClr val="8B0000"/>
                </a:solidFill>
                <a:latin typeface="Pretendard SemiBold" pitchFamily="34" charset="0"/>
                <a:ea typeface="Pretendard SemiBold" pitchFamily="34" charset="-122"/>
                <a:cs typeface="Pretendard SemiBold" pitchFamily="34" charset="-120"/>
              </a:rPr>
              <a:t>44 ~ 70%</a:t>
            </a:r>
            <a:r>
              <a:rPr lang="en-US" sz="1250" dirty="0">
                <a:solidFill>
                  <a:srgbClr val="1A1A1A"/>
                </a:solidFill>
                <a:latin typeface="Pretendard SemiBold" pitchFamily="34" charset="0"/>
                <a:ea typeface="Pretendard SemiBold" pitchFamily="34" charset="-122"/>
                <a:cs typeface="Pretendard SemiBold" pitchFamily="34" charset="-120"/>
              </a:rPr>
              <a:t> : 무엇을 어떻게 찍느냐가 정확도를 크게 좌우한다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적용 분야</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읽는 값</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바꿀 것</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의약품·화학 제품 출하 표시물 검증</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읽기 · 신고값 대조 · 예외 처리</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온라인 식품 발송 시점 기한 검증</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소비기한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대조 대상 (판매 페이지 약속)</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단체급식 식재료 검수일지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소비기한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출력 양식 (검수일지)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고압가스 용기 · 소화기 점검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재검사 기한 · 제조연월</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형식 규칙, 각인 전처리</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탐지 · 폴백 구조</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현장에서는 정확도가 안전성이 아니라 자동화율이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규칙 + 한국어 2차 의견</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77.9%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52.4%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62.8%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 위주, 미인식 22%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3670</Words>
  <Application>Microsoft Office PowerPoint</Application>
  <PresentationFormat>화면 슬라이드 쇼(16:9)</PresentationFormat>
  <Paragraphs>511</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Pretendard SemiBold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2026-09-28T12:14:14Z</dcterms:created>
  <dcterms:modified xsi:type="dcterms:W3CDTF">2026-09-28T12:14:32Z</dcterms:modified>
</cp:coreProperties>
</file>